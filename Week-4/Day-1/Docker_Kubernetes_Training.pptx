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302" r:id="rId4"/>
    <p:sldId id="258" r:id="rId5"/>
    <p:sldId id="303" r:id="rId6"/>
    <p:sldId id="259" r:id="rId7"/>
    <p:sldId id="260" r:id="rId8"/>
    <p:sldId id="261" r:id="rId9"/>
    <p:sldId id="319" r:id="rId10"/>
    <p:sldId id="262" r:id="rId11"/>
    <p:sldId id="263" r:id="rId12"/>
    <p:sldId id="304" r:id="rId13"/>
    <p:sldId id="305" r:id="rId14"/>
    <p:sldId id="264" r:id="rId15"/>
    <p:sldId id="265" r:id="rId16"/>
    <p:sldId id="306" r:id="rId17"/>
    <p:sldId id="272" r:id="rId18"/>
    <p:sldId id="273" r:id="rId19"/>
    <p:sldId id="307" r:id="rId20"/>
    <p:sldId id="308" r:id="rId21"/>
    <p:sldId id="274" r:id="rId22"/>
    <p:sldId id="309" r:id="rId23"/>
    <p:sldId id="275" r:id="rId24"/>
    <p:sldId id="276" r:id="rId25"/>
    <p:sldId id="310" r:id="rId26"/>
    <p:sldId id="311" r:id="rId27"/>
    <p:sldId id="312" r:id="rId28"/>
    <p:sldId id="277" r:id="rId29"/>
    <p:sldId id="278" r:id="rId30"/>
    <p:sldId id="285" r:id="rId31"/>
    <p:sldId id="287" r:id="rId32"/>
    <p:sldId id="288" r:id="rId33"/>
    <p:sldId id="291" r:id="rId34"/>
    <p:sldId id="313" r:id="rId35"/>
    <p:sldId id="314" r:id="rId36"/>
    <p:sldId id="315" r:id="rId37"/>
    <p:sldId id="297" r:id="rId38"/>
    <p:sldId id="298" r:id="rId39"/>
    <p:sldId id="316" r:id="rId40"/>
    <p:sldId id="299" r:id="rId41"/>
    <p:sldId id="301" r:id="rId42"/>
    <p:sldId id="317" r:id="rId43"/>
    <p:sldId id="318" r:id="rId4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1522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00334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7818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Freeform 10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44741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8096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1990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7133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2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8096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91990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2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91990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73201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3869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02217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768096" y="471509"/>
            <a:ext cx="329184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822960"/>
            <a:ext cx="4258818" cy="518464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096" y="2257506"/>
            <a:ext cx="329184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15220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8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9141714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7950" y="4960138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89804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86697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762000"/>
            <a:ext cx="1971675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951" y="762000"/>
            <a:ext cx="5686425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7543800" y="173563"/>
            <a:ext cx="0" cy="6858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5169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286000"/>
            <a:ext cx="7290055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8097" y="6470704"/>
            <a:ext cx="161560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32200" y="6470704"/>
            <a:ext cx="4426094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8000" y="6470704"/>
            <a:ext cx="73025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5715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08680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Containerization Fundamentals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of containerization concepts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Docker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Docker is an open-source </a:t>
            </a:r>
            <a:r>
              <a:rPr lang="en-US" b="1" dirty="0"/>
              <a:t>containerization platform</a:t>
            </a:r>
            <a:r>
              <a:rPr lang="en-US" dirty="0"/>
              <a:t> that enables developers to </a:t>
            </a:r>
            <a:r>
              <a:rPr lang="en-US" b="1" dirty="0"/>
              <a:t>build, package, and run applications</a:t>
            </a:r>
            <a:r>
              <a:rPr lang="en-US" dirty="0"/>
              <a:t> in isolated environments called </a:t>
            </a:r>
            <a:r>
              <a:rPr lang="en-US" b="1" dirty="0"/>
              <a:t>containers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“Build once, run anywhere”</a:t>
            </a:r>
          </a:p>
          <a:p>
            <a:r>
              <a:rPr lang="en-US" dirty="0"/>
              <a:t>Applications + dependencies + runtime are packaged together → no environment issues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C8ECEA-7866-9BC1-F90C-AE2A01469C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How Docker 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0DA9CD-DBD3-1EE4-B5FA-375C028221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Uses OS-level virtualization (not full VMs)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Runs on Docker Engine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Core components: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Docker Client → CLI (docker run, docker build)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Docker Daemon → builds &amp; runs containers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Images → blueprint (read-only template)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Containers → running instance of image</a:t>
            </a:r>
          </a:p>
        </p:txBody>
      </p:sp>
    </p:spTree>
    <p:extLst>
      <p:ext uri="{BB962C8B-B14F-4D97-AF65-F5344CB8AC3E}">
        <p14:creationId xmlns:p14="http://schemas.microsoft.com/office/powerpoint/2010/main" val="29217358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Why Containerization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8096" y="1885950"/>
            <a:ext cx="7290055" cy="4857750"/>
          </a:xfrm>
        </p:spPr>
        <p:txBody>
          <a:bodyPr>
            <a:normAutofit/>
          </a:bodyPr>
          <a:lstStyle/>
          <a:p>
            <a:r>
              <a:rPr lang="en-US" dirty="0"/>
              <a:t>Containerization (using platforms like Docker) packages an application along with all its dependencies into a </a:t>
            </a:r>
            <a:r>
              <a:rPr lang="en-US" b="1" dirty="0"/>
              <a:t>single, isolated unit (container)</a:t>
            </a:r>
            <a:r>
              <a:rPr lang="en-US" dirty="0"/>
              <a:t> that can run anywhere.</a:t>
            </a:r>
          </a:p>
          <a:p>
            <a:r>
              <a:rPr lang="en-IN" dirty="0"/>
              <a:t>1. Lightweight</a:t>
            </a:r>
          </a:p>
          <a:p>
            <a:pPr lvl="1"/>
            <a:r>
              <a:rPr lang="en-IN" dirty="0"/>
              <a:t>Containers share the host OS kernel (no full OS like VMs)</a:t>
            </a:r>
          </a:p>
          <a:p>
            <a:pPr lvl="1"/>
            <a:r>
              <a:rPr lang="en-IN" dirty="0"/>
              <a:t>Much smaller size (MBs vs GBs)</a:t>
            </a:r>
          </a:p>
          <a:p>
            <a:pPr lvl="1"/>
            <a:r>
              <a:rPr lang="en-IN" dirty="0"/>
              <a:t>Faster startup (seconds vs minutes)</a:t>
            </a:r>
          </a:p>
          <a:p>
            <a:r>
              <a:rPr lang="en-IN" dirty="0"/>
              <a:t>2. Portability</a:t>
            </a:r>
          </a:p>
          <a:p>
            <a:pPr lvl="1"/>
            <a:r>
              <a:rPr lang="en-US" dirty="0"/>
              <a:t>Runs the same across:</a:t>
            </a:r>
          </a:p>
          <a:p>
            <a:pPr lvl="1"/>
            <a:r>
              <a:rPr lang="en-US" dirty="0"/>
              <a:t>Developer laptop</a:t>
            </a:r>
          </a:p>
          <a:p>
            <a:pPr lvl="1"/>
            <a:r>
              <a:rPr lang="en-US" dirty="0"/>
              <a:t>Testing environment</a:t>
            </a:r>
          </a:p>
          <a:p>
            <a:pPr lvl="1"/>
            <a:r>
              <a:rPr lang="en-US" dirty="0"/>
              <a:t>Production / Cloud (AWS, Azure, GCP)</a:t>
            </a:r>
          </a:p>
          <a:p>
            <a:pPr lvl="1"/>
            <a:r>
              <a:rPr lang="en-US" dirty="0"/>
              <a:t>No dependency mismatch → “Build once, run anywhere”</a:t>
            </a:r>
            <a:endParaRPr lang="en-IN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D70BCF-FC38-64E1-5B1C-5CF173B292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096" y="952500"/>
            <a:ext cx="7290055" cy="5356860"/>
          </a:xfrm>
        </p:spPr>
        <p:txBody>
          <a:bodyPr>
            <a:normAutofit/>
          </a:bodyPr>
          <a:lstStyle/>
          <a:p>
            <a:r>
              <a:rPr lang="en-US" b="1" dirty="0"/>
              <a:t>3. Faster Deployment</a:t>
            </a:r>
          </a:p>
          <a:p>
            <a:r>
              <a:rPr lang="en-US" dirty="0"/>
              <a:t>Containers can be: </a:t>
            </a:r>
          </a:p>
          <a:p>
            <a:pPr lvl="1"/>
            <a:r>
              <a:rPr lang="en-US" dirty="0"/>
              <a:t>Built quickly </a:t>
            </a:r>
          </a:p>
          <a:p>
            <a:pPr lvl="1"/>
            <a:r>
              <a:rPr lang="en-US" dirty="0"/>
              <a:t>Deployed instantly </a:t>
            </a:r>
          </a:p>
          <a:p>
            <a:pPr lvl="1"/>
            <a:r>
              <a:rPr lang="en-US" dirty="0"/>
              <a:t>Scaled automatically </a:t>
            </a:r>
            <a:endParaRPr lang="en-IN" dirty="0"/>
          </a:p>
          <a:p>
            <a:r>
              <a:rPr lang="en-IN" dirty="0"/>
              <a:t>4. Consistent Environments</a:t>
            </a:r>
          </a:p>
          <a:p>
            <a:pPr lvl="1"/>
            <a:r>
              <a:rPr lang="en-US" dirty="0"/>
              <a:t>Eliminates:</a:t>
            </a:r>
          </a:p>
          <a:p>
            <a:pPr lvl="1"/>
            <a:r>
              <a:rPr lang="en-US" dirty="0"/>
              <a:t>“Works on my machine” issues</a:t>
            </a:r>
          </a:p>
          <a:p>
            <a:pPr lvl="1"/>
            <a:r>
              <a:rPr lang="en-US" dirty="0"/>
              <a:t>Version conflicts (Python, Node, libraries)</a:t>
            </a:r>
          </a:p>
          <a:p>
            <a:pPr lvl="1"/>
            <a:r>
              <a:rPr lang="en-US" dirty="0"/>
              <a:t>Same container image = same behavior everywhere</a:t>
            </a:r>
          </a:p>
          <a:p>
            <a:pPr lvl="1"/>
            <a:endParaRPr lang="en-US" dirty="0"/>
          </a:p>
          <a:p>
            <a:pPr marL="128016" lvl="1" indent="0">
              <a:buNone/>
            </a:pPr>
            <a:r>
              <a:rPr lang="en-US" dirty="0"/>
              <a:t>Perfect for </a:t>
            </a:r>
            <a:r>
              <a:rPr lang="en-US" b="1" dirty="0"/>
              <a:t>CI/CD pipelines and microservices</a:t>
            </a:r>
          </a:p>
          <a:p>
            <a:pPr>
              <a:buNone/>
            </a:pPr>
            <a:r>
              <a:rPr lang="en-US" b="1" dirty="0"/>
              <a:t>5. Better Resource Utilization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Multiple containers run on same host efficiently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Higher density compared to VMs → cost savings</a:t>
            </a:r>
          </a:p>
          <a:p>
            <a:pPr marL="128016" lvl="1" indent="0">
              <a:buNone/>
            </a:pPr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84443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VM vs Container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VMs use hypervisor; containers share OS kernel, faster and lightweight.</a:t>
            </a:r>
            <a:endParaRPr lang="en-US" dirty="0"/>
          </a:p>
          <a:p>
            <a:endParaRPr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93552B2-9F63-69FB-3744-86414962D3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2386162"/>
              </p:ext>
            </p:extLst>
          </p:nvPr>
        </p:nvGraphicFramePr>
        <p:xfrm>
          <a:off x="768350" y="3095624"/>
          <a:ext cx="7289799" cy="341490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429933">
                  <a:extLst>
                    <a:ext uri="{9D8B030D-6E8A-4147-A177-3AD203B41FA5}">
                      <a16:colId xmlns:a16="http://schemas.microsoft.com/office/drawing/2014/main" val="3480481220"/>
                    </a:ext>
                  </a:extLst>
                </a:gridCol>
                <a:gridCol w="2429933">
                  <a:extLst>
                    <a:ext uri="{9D8B030D-6E8A-4147-A177-3AD203B41FA5}">
                      <a16:colId xmlns:a16="http://schemas.microsoft.com/office/drawing/2014/main" val="1208199194"/>
                    </a:ext>
                  </a:extLst>
                </a:gridCol>
                <a:gridCol w="2429933">
                  <a:extLst>
                    <a:ext uri="{9D8B030D-6E8A-4147-A177-3AD203B41FA5}">
                      <a16:colId xmlns:a16="http://schemas.microsoft.com/office/drawing/2014/main" val="2878486914"/>
                    </a:ext>
                  </a:extLst>
                </a:gridCol>
              </a:tblGrid>
              <a:tr h="42686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Feature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Virtual Machine (VM)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Container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300836541"/>
                  </a:ext>
                </a:extLst>
              </a:tr>
              <a:tr h="42686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OS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Full OS per VM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Shared host OS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368554314"/>
                  </a:ext>
                </a:extLst>
              </a:tr>
              <a:tr h="42686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Size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Heavy (GBs)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Lightweight (MBs)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965003473"/>
                  </a:ext>
                </a:extLst>
              </a:tr>
              <a:tr h="42686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Startup Time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Minutes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Seconds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655886173"/>
                  </a:ext>
                </a:extLst>
              </a:tr>
              <a:tr h="42686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Performance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Slower (more overhead)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Faster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219854584"/>
                  </a:ext>
                </a:extLst>
              </a:tr>
              <a:tr h="42686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Resource Usage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High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Low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12462705"/>
                  </a:ext>
                </a:extLst>
              </a:tr>
              <a:tr h="42686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Isolation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Strong (full OS)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Process-level isolation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707163590"/>
                  </a:ext>
                </a:extLst>
              </a:tr>
              <a:tr h="42686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Portability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Limited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 dirty="0">
                          <a:effectLst/>
                        </a:rPr>
                        <a:t>High (runs anywhere)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41299041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Docker Image is a read-only, immutable template used to create containers</a:t>
            </a:r>
          </a:p>
          <a:p>
            <a:r>
              <a:rPr lang="en-US" dirty="0"/>
              <a:t>It contains:</a:t>
            </a:r>
          </a:p>
          <a:p>
            <a:r>
              <a:rPr lang="en-US" dirty="0"/>
              <a:t>Application code</a:t>
            </a:r>
          </a:p>
          <a:p>
            <a:r>
              <a:rPr lang="en-US" dirty="0"/>
              <a:t>Runtime (e.g., Python, Node)</a:t>
            </a:r>
          </a:p>
          <a:p>
            <a:r>
              <a:rPr lang="en-US" dirty="0"/>
              <a:t>Libraries &amp; dependencies</a:t>
            </a:r>
          </a:p>
          <a:p>
            <a:r>
              <a:rPr lang="en-US" dirty="0"/>
              <a:t>System tools</a:t>
            </a:r>
          </a:p>
          <a:p>
            <a:r>
              <a:rPr lang="en-US" dirty="0"/>
              <a:t>Managed using platforms like Docker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Containers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Docker Container is a running instance of a Docker Image</a:t>
            </a:r>
          </a:p>
          <a:p>
            <a:r>
              <a:rPr lang="en-US" dirty="0"/>
              <a:t>It is a lightweight, isolated environment where the application executes</a:t>
            </a:r>
          </a:p>
          <a:p>
            <a:r>
              <a:rPr lang="en-US" dirty="0"/>
              <a:t>Managed using Docker</a:t>
            </a:r>
          </a:p>
          <a:p>
            <a:r>
              <a:rPr lang="en-US" dirty="0"/>
              <a:t>Key Characteristics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Lightweight → shares host OS kernel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Fast startup → starts in seconds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Isolated → separate processes, filesystem, network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Ephemeral → can be stopped, deleted, and recreated anytime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Scalable → multiple containers can run from same image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E73207-6233-7F86-AC2C-5A715E520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Container vs Image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6CAF488-6B60-1333-94EE-8954CAC17D7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34246535"/>
              </p:ext>
            </p:extLst>
          </p:nvPr>
        </p:nvGraphicFramePr>
        <p:xfrm>
          <a:off x="768350" y="2638425"/>
          <a:ext cx="7289799" cy="318135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429933">
                  <a:extLst>
                    <a:ext uri="{9D8B030D-6E8A-4147-A177-3AD203B41FA5}">
                      <a16:colId xmlns:a16="http://schemas.microsoft.com/office/drawing/2014/main" val="2810414306"/>
                    </a:ext>
                  </a:extLst>
                </a:gridCol>
                <a:gridCol w="2429933">
                  <a:extLst>
                    <a:ext uri="{9D8B030D-6E8A-4147-A177-3AD203B41FA5}">
                      <a16:colId xmlns:a16="http://schemas.microsoft.com/office/drawing/2014/main" val="954947526"/>
                    </a:ext>
                  </a:extLst>
                </a:gridCol>
                <a:gridCol w="2429933">
                  <a:extLst>
                    <a:ext uri="{9D8B030D-6E8A-4147-A177-3AD203B41FA5}">
                      <a16:colId xmlns:a16="http://schemas.microsoft.com/office/drawing/2014/main" val="784568405"/>
                    </a:ext>
                  </a:extLst>
                </a:gridCol>
              </a:tblGrid>
              <a:tr h="45447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Feature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Docker Image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Docker Container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804674846"/>
                  </a:ext>
                </a:extLst>
              </a:tr>
              <a:tr h="45447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Nature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Static (read-only)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Dynamic (running)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816555791"/>
                  </a:ext>
                </a:extLst>
              </a:tr>
              <a:tr h="45447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State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Immutable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Mutable (runtime changes)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585653134"/>
                  </a:ext>
                </a:extLst>
              </a:tr>
              <a:tr h="45447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Purpose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Blueprint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Execution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389553900"/>
                  </a:ext>
                </a:extLst>
              </a:tr>
              <a:tr h="45447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Creation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Built using Dockerfile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Created from image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810280619"/>
                  </a:ext>
                </a:extLst>
              </a:tr>
              <a:tr h="45447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Storage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Stored in registry/local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Runs on host system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127131216"/>
                  </a:ext>
                </a:extLst>
              </a:tr>
              <a:tr h="45447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Lifecycle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Build → Push → Pull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 dirty="0">
                          <a:effectLst/>
                        </a:rPr>
                        <a:t>Run → Stop → Delete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1122233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783880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1AEB8A9-B768-4E30-BA55-D919E66873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7500" y="-2"/>
            <a:ext cx="3052451" cy="685800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2529" y="640080"/>
            <a:ext cx="2572391" cy="5613236"/>
          </a:xfrm>
        </p:spPr>
        <p:txBody>
          <a:bodyPr anchor="ctr">
            <a:normAutofit/>
          </a:bodyPr>
          <a:lstStyle/>
          <a:p>
            <a:r>
              <a:rPr lang="en-IN">
                <a:solidFill>
                  <a:srgbClr val="FFFFFF"/>
                </a:solidFill>
              </a:rPr>
              <a:t>Layers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24863" y="640080"/>
            <a:ext cx="5379104" cy="3745107"/>
          </a:xfrm>
        </p:spPr>
        <p:txBody>
          <a:bodyPr>
            <a:normAutofit/>
          </a:bodyPr>
          <a:lstStyle/>
          <a:p>
            <a:r>
              <a:rPr lang="en-US" dirty="0"/>
              <a:t>Layers are incremental, read-only changes that together form a Docker Image</a:t>
            </a:r>
          </a:p>
          <a:p>
            <a:r>
              <a:rPr lang="en-US" dirty="0"/>
              <a:t>Each instruction in a </a:t>
            </a:r>
            <a:r>
              <a:rPr lang="en-US" dirty="0" err="1"/>
              <a:t>Dockerfile</a:t>
            </a:r>
            <a:r>
              <a:rPr lang="en-US" dirty="0"/>
              <a:t> creates a new layer</a:t>
            </a:r>
          </a:p>
          <a:p>
            <a:r>
              <a:rPr lang="en-US" dirty="0"/>
              <a:t>Managed by Docker using a union filesystem</a:t>
            </a:r>
          </a:p>
          <a:p>
            <a:r>
              <a:rPr lang="en-US" dirty="0"/>
              <a:t>Key Characteristics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Immutable → layers cannot be modified once created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Cached → reused if no changes → faster builds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Shared → multiple images reuse common layers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Efficient storage → only changes are stored</a:t>
            </a:r>
          </a:p>
          <a:p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32467E6-8111-CA74-865C-BE205FD503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0870" y="4645286"/>
            <a:ext cx="5373098" cy="150157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Docker Core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8096" y="2084832"/>
            <a:ext cx="7290055" cy="4620768"/>
          </a:xfrm>
        </p:spPr>
        <p:txBody>
          <a:bodyPr>
            <a:normAutofit/>
          </a:bodyPr>
          <a:lstStyle/>
          <a:p>
            <a:r>
              <a:rPr lang="en-US" dirty="0"/>
              <a:t>The </a:t>
            </a:r>
            <a:r>
              <a:rPr lang="en-US" b="1" dirty="0"/>
              <a:t>Docker Core Workflow</a:t>
            </a:r>
            <a:r>
              <a:rPr lang="en-US" dirty="0"/>
              <a:t> is the step-by-step process of </a:t>
            </a:r>
            <a:r>
              <a:rPr lang="en-US" b="1" dirty="0"/>
              <a:t>building, running, and managing containers</a:t>
            </a:r>
            <a:r>
              <a:rPr lang="en-US" dirty="0"/>
              <a:t> using Docker. </a:t>
            </a:r>
          </a:p>
          <a:p>
            <a:r>
              <a:rPr lang="en-US" b="1" dirty="0"/>
              <a:t>End-to-End Workflow</a:t>
            </a:r>
          </a:p>
          <a:p>
            <a:r>
              <a:rPr lang="en-US" b="1" dirty="0"/>
              <a:t>Write Code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Application (Python, Node, .NET, etc.) </a:t>
            </a:r>
          </a:p>
          <a:p>
            <a:r>
              <a:rPr lang="en-US" b="1" dirty="0"/>
              <a:t>Create </a:t>
            </a:r>
            <a:r>
              <a:rPr lang="en-US" b="1" dirty="0" err="1"/>
              <a:t>Dockerfile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Defines how the image is built </a:t>
            </a:r>
          </a:p>
          <a:p>
            <a:pPr lvl="1"/>
            <a:r>
              <a:rPr lang="en-US" dirty="0"/>
              <a:t>Includes base image, dependencies, commands </a:t>
            </a:r>
          </a:p>
          <a:p>
            <a:r>
              <a:rPr lang="en-US" b="1" dirty="0"/>
              <a:t>Build Image</a:t>
            </a:r>
            <a:endParaRPr lang="en-US" dirty="0"/>
          </a:p>
          <a:p>
            <a:r>
              <a:rPr lang="en-IN" dirty="0"/>
              <a:t>docker build -t my-app .</a:t>
            </a:r>
          </a:p>
          <a:p>
            <a:r>
              <a:rPr lang="en-IN" dirty="0"/>
              <a:t>Converts </a:t>
            </a:r>
            <a:r>
              <a:rPr lang="en-IN" dirty="0" err="1"/>
              <a:t>Dockerfile</a:t>
            </a:r>
            <a:r>
              <a:rPr lang="en-IN" dirty="0"/>
              <a:t> → Image</a:t>
            </a: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0D616F-F0FE-5046-0703-7AC71EAAE6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096" y="647700"/>
            <a:ext cx="7290055" cy="5661660"/>
          </a:xfrm>
        </p:spPr>
        <p:txBody>
          <a:bodyPr>
            <a:normAutofit/>
          </a:bodyPr>
          <a:lstStyle/>
          <a:p>
            <a:r>
              <a:rPr lang="en-IN" dirty="0"/>
              <a:t>Run Container</a:t>
            </a:r>
          </a:p>
          <a:p>
            <a:r>
              <a:rPr lang="en-US" dirty="0"/>
              <a:t>docker run -d -p 5000:5000 my-app</a:t>
            </a:r>
          </a:p>
          <a:p>
            <a:r>
              <a:rPr lang="en-IN" dirty="0"/>
              <a:t>Starts application in isolated environment</a:t>
            </a:r>
          </a:p>
          <a:p>
            <a:r>
              <a:rPr lang="en-IN" b="1" dirty="0"/>
              <a:t>Test &amp; Debug</a:t>
            </a:r>
            <a:r>
              <a:rPr lang="en-IN" dirty="0"/>
              <a:t> </a:t>
            </a:r>
          </a:p>
          <a:p>
            <a:r>
              <a:rPr lang="en-US" dirty="0"/>
              <a:t>docker </a:t>
            </a:r>
            <a:r>
              <a:rPr lang="en-US" dirty="0" err="1"/>
              <a:t>ps</a:t>
            </a:r>
            <a:br>
              <a:rPr lang="en-US" dirty="0"/>
            </a:br>
            <a:r>
              <a:rPr lang="en-US" dirty="0"/>
              <a:t>docker logs &lt;</a:t>
            </a:r>
            <a:r>
              <a:rPr lang="en-US" dirty="0" err="1"/>
              <a:t>container_id</a:t>
            </a:r>
            <a:r>
              <a:rPr lang="en-US" dirty="0"/>
              <a:t>&gt;</a:t>
            </a:r>
            <a:br>
              <a:rPr lang="en-US" dirty="0"/>
            </a:br>
            <a:r>
              <a:rPr lang="en-US" dirty="0"/>
              <a:t>docker exec -it &lt;</a:t>
            </a:r>
            <a:r>
              <a:rPr lang="en-US" dirty="0" err="1"/>
              <a:t>container_id</a:t>
            </a:r>
            <a:r>
              <a:rPr lang="en-US" dirty="0"/>
              <a:t>&gt; bash</a:t>
            </a:r>
          </a:p>
          <a:p>
            <a:r>
              <a:rPr lang="en-IN" dirty="0"/>
              <a:t>Push to Registry</a:t>
            </a:r>
          </a:p>
          <a:p>
            <a:r>
              <a:rPr lang="en-US" dirty="0"/>
              <a:t>Upload image to registry (e.g., Docker Hub)</a:t>
            </a:r>
          </a:p>
          <a:p>
            <a:r>
              <a:rPr lang="en-IN" dirty="0"/>
              <a:t>docker push username/my-app</a:t>
            </a:r>
          </a:p>
          <a:p>
            <a:r>
              <a:rPr lang="en-IN" b="1" dirty="0"/>
              <a:t>Deploy Anywhere</a:t>
            </a:r>
            <a:r>
              <a:rPr lang="en-IN" dirty="0"/>
              <a:t> </a:t>
            </a:r>
          </a:p>
          <a:p>
            <a:r>
              <a:rPr lang="en-IN" dirty="0"/>
              <a:t>Cloud (AWS, Azure, GCP) </a:t>
            </a:r>
          </a:p>
          <a:p>
            <a:r>
              <a:rPr lang="en-IN" dirty="0"/>
              <a:t>Kubernetes / Docker Compose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597888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7422F06-6017-4361-8872-E0E2CEB20B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86149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E31B2E-DE3A-5D4C-D3E6-EBF3A6FC1F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1" y="643467"/>
            <a:ext cx="2561709" cy="5571066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Docker Commands</a:t>
            </a:r>
            <a:endParaRPr lang="en-IN">
              <a:solidFill>
                <a:srgbClr val="FFFFFF"/>
              </a:solidFill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214268B-EDD8-6289-BD3E-34D339CEDA5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30645902"/>
              </p:ext>
            </p:extLst>
          </p:nvPr>
        </p:nvGraphicFramePr>
        <p:xfrm>
          <a:off x="3790950" y="954088"/>
          <a:ext cx="4487604" cy="492125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194632">
                  <a:extLst>
                    <a:ext uri="{9D8B030D-6E8A-4147-A177-3AD203B41FA5}">
                      <a16:colId xmlns:a16="http://schemas.microsoft.com/office/drawing/2014/main" val="3745025894"/>
                    </a:ext>
                  </a:extLst>
                </a:gridCol>
                <a:gridCol w="2292972">
                  <a:extLst>
                    <a:ext uri="{9D8B030D-6E8A-4147-A177-3AD203B41FA5}">
                      <a16:colId xmlns:a16="http://schemas.microsoft.com/office/drawing/2014/main" val="3072351813"/>
                    </a:ext>
                  </a:extLst>
                </a:gridCol>
              </a:tblGrid>
              <a:tr h="61515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900">
                          <a:effectLst/>
                        </a:rPr>
                        <a:t>Step</a:t>
                      </a:r>
                      <a:endParaRPr lang="en-IN" sz="2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4825" marR="24825" marT="24825" marB="248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900">
                          <a:effectLst/>
                        </a:rPr>
                        <a:t>Command</a:t>
                      </a:r>
                      <a:endParaRPr lang="en-IN" sz="2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4825" marR="24825" marT="24825" marB="24825" anchor="ctr"/>
                </a:tc>
                <a:extLst>
                  <a:ext uri="{0D108BD9-81ED-4DB2-BD59-A6C34878D82A}">
                    <a16:rowId xmlns:a16="http://schemas.microsoft.com/office/drawing/2014/main" val="595834120"/>
                  </a:ext>
                </a:extLst>
              </a:tr>
              <a:tr h="61515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900">
                          <a:effectLst/>
                        </a:rPr>
                        <a:t>Build</a:t>
                      </a:r>
                      <a:endParaRPr lang="en-IN" sz="2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4825" marR="24825" marT="24825" marB="248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900">
                          <a:effectLst/>
                        </a:rPr>
                        <a:t>docker build</a:t>
                      </a:r>
                      <a:endParaRPr lang="en-IN" sz="2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4825" marR="24825" marT="24825" marB="24825" anchor="ctr"/>
                </a:tc>
                <a:extLst>
                  <a:ext uri="{0D108BD9-81ED-4DB2-BD59-A6C34878D82A}">
                    <a16:rowId xmlns:a16="http://schemas.microsoft.com/office/drawing/2014/main" val="1853884951"/>
                  </a:ext>
                </a:extLst>
              </a:tr>
              <a:tr h="61515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900">
                          <a:effectLst/>
                        </a:rPr>
                        <a:t>Run</a:t>
                      </a:r>
                      <a:endParaRPr lang="en-IN" sz="2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4825" marR="24825" marT="24825" marB="248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900">
                          <a:effectLst/>
                        </a:rPr>
                        <a:t>docker run</a:t>
                      </a:r>
                      <a:endParaRPr lang="en-IN" sz="2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4825" marR="24825" marT="24825" marB="24825" anchor="ctr"/>
                </a:tc>
                <a:extLst>
                  <a:ext uri="{0D108BD9-81ED-4DB2-BD59-A6C34878D82A}">
                    <a16:rowId xmlns:a16="http://schemas.microsoft.com/office/drawing/2014/main" val="936570247"/>
                  </a:ext>
                </a:extLst>
              </a:tr>
              <a:tr h="61515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900">
                          <a:effectLst/>
                        </a:rPr>
                        <a:t>List</a:t>
                      </a:r>
                      <a:endParaRPr lang="en-IN" sz="2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4825" marR="24825" marT="24825" marB="248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900">
                          <a:effectLst/>
                        </a:rPr>
                        <a:t>docker ps</a:t>
                      </a:r>
                      <a:endParaRPr lang="en-IN" sz="2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4825" marR="24825" marT="24825" marB="24825" anchor="ctr"/>
                </a:tc>
                <a:extLst>
                  <a:ext uri="{0D108BD9-81ED-4DB2-BD59-A6C34878D82A}">
                    <a16:rowId xmlns:a16="http://schemas.microsoft.com/office/drawing/2014/main" val="752203463"/>
                  </a:ext>
                </a:extLst>
              </a:tr>
              <a:tr h="61515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900">
                          <a:effectLst/>
                        </a:rPr>
                        <a:t>Logs</a:t>
                      </a:r>
                      <a:endParaRPr lang="en-IN" sz="2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4825" marR="24825" marT="24825" marB="248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900">
                          <a:effectLst/>
                        </a:rPr>
                        <a:t>docker logs</a:t>
                      </a:r>
                      <a:endParaRPr lang="en-IN" sz="2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4825" marR="24825" marT="24825" marB="24825" anchor="ctr"/>
                </a:tc>
                <a:extLst>
                  <a:ext uri="{0D108BD9-81ED-4DB2-BD59-A6C34878D82A}">
                    <a16:rowId xmlns:a16="http://schemas.microsoft.com/office/drawing/2014/main" val="3108299414"/>
                  </a:ext>
                </a:extLst>
              </a:tr>
              <a:tr h="61515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900">
                          <a:effectLst/>
                        </a:rPr>
                        <a:t>Execute</a:t>
                      </a:r>
                      <a:endParaRPr lang="en-IN" sz="2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4825" marR="24825" marT="24825" marB="248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900">
                          <a:effectLst/>
                        </a:rPr>
                        <a:t>docker exec</a:t>
                      </a:r>
                      <a:endParaRPr lang="en-IN" sz="2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4825" marR="24825" marT="24825" marB="24825" anchor="ctr"/>
                </a:tc>
                <a:extLst>
                  <a:ext uri="{0D108BD9-81ED-4DB2-BD59-A6C34878D82A}">
                    <a16:rowId xmlns:a16="http://schemas.microsoft.com/office/drawing/2014/main" val="2691904705"/>
                  </a:ext>
                </a:extLst>
              </a:tr>
              <a:tr h="61515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900">
                          <a:effectLst/>
                        </a:rPr>
                        <a:t>Stop</a:t>
                      </a:r>
                      <a:endParaRPr lang="en-IN" sz="2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4825" marR="24825" marT="24825" marB="248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900">
                          <a:effectLst/>
                        </a:rPr>
                        <a:t>docker stop</a:t>
                      </a:r>
                      <a:endParaRPr lang="en-IN" sz="2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4825" marR="24825" marT="24825" marB="24825" anchor="ctr"/>
                </a:tc>
                <a:extLst>
                  <a:ext uri="{0D108BD9-81ED-4DB2-BD59-A6C34878D82A}">
                    <a16:rowId xmlns:a16="http://schemas.microsoft.com/office/drawing/2014/main" val="2526403943"/>
                  </a:ext>
                </a:extLst>
              </a:tr>
              <a:tr h="61515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900">
                          <a:effectLst/>
                        </a:rPr>
                        <a:t>Push</a:t>
                      </a:r>
                      <a:endParaRPr lang="en-IN" sz="2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4825" marR="24825" marT="24825" marB="248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900" dirty="0">
                          <a:effectLst/>
                        </a:rPr>
                        <a:t>docker push</a:t>
                      </a:r>
                      <a:endParaRPr lang="en-IN" sz="2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4825" marR="24825" marT="24825" marB="24825" anchor="ctr"/>
                </a:tc>
                <a:extLst>
                  <a:ext uri="{0D108BD9-81ED-4DB2-BD59-A6C34878D82A}">
                    <a16:rowId xmlns:a16="http://schemas.microsoft.com/office/drawing/2014/main" val="16571067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964405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Docker Installation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Install Docker Desktop or Engine depending on OS.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Dockerfile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b="1" dirty="0" err="1"/>
              <a:t>Dockerfile</a:t>
            </a:r>
            <a:r>
              <a:rPr lang="en-US" dirty="0"/>
              <a:t> is a </a:t>
            </a:r>
            <a:r>
              <a:rPr lang="en-US" b="1" dirty="0"/>
              <a:t>text file with step-by-step instructions</a:t>
            </a:r>
            <a:r>
              <a:rPr lang="en-US" dirty="0"/>
              <a:t> used to build a Docker Image </a:t>
            </a:r>
          </a:p>
          <a:p>
            <a:r>
              <a:rPr lang="en-US" dirty="0"/>
              <a:t>It automates the image creation process using Docker </a:t>
            </a:r>
          </a:p>
          <a:p>
            <a:r>
              <a:rPr lang="en-IN" b="1" dirty="0"/>
              <a:t>Purpose</a:t>
            </a:r>
          </a:p>
          <a:p>
            <a:r>
              <a:rPr lang="en-IN" dirty="0"/>
              <a:t>Define application environment </a:t>
            </a:r>
          </a:p>
          <a:p>
            <a:r>
              <a:rPr lang="en-IN" dirty="0"/>
              <a:t>Install dependencies </a:t>
            </a:r>
          </a:p>
          <a:p>
            <a:r>
              <a:rPr lang="en-IN" dirty="0"/>
              <a:t>Configure runtime </a:t>
            </a:r>
          </a:p>
          <a:p>
            <a:r>
              <a:rPr lang="en-IN" dirty="0"/>
              <a:t>Ensure consistent builds across systems 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39DB0E-182C-8557-B3E9-31767A1125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Common Instructions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D2601C9-569F-8971-BA32-B3E8B213734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26657979"/>
              </p:ext>
            </p:extLst>
          </p:nvPr>
        </p:nvGraphicFramePr>
        <p:xfrm>
          <a:off x="768350" y="2352676"/>
          <a:ext cx="7289800" cy="423862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644900">
                  <a:extLst>
                    <a:ext uri="{9D8B030D-6E8A-4147-A177-3AD203B41FA5}">
                      <a16:colId xmlns:a16="http://schemas.microsoft.com/office/drawing/2014/main" val="929242413"/>
                    </a:ext>
                  </a:extLst>
                </a:gridCol>
                <a:gridCol w="3644900">
                  <a:extLst>
                    <a:ext uri="{9D8B030D-6E8A-4147-A177-3AD203B41FA5}">
                      <a16:colId xmlns:a16="http://schemas.microsoft.com/office/drawing/2014/main" val="4202425044"/>
                    </a:ext>
                  </a:extLst>
                </a:gridCol>
              </a:tblGrid>
              <a:tr h="47095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Instruction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Purpose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800274768"/>
                  </a:ext>
                </a:extLst>
              </a:tr>
              <a:tr h="47095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FROM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Base image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720744056"/>
                  </a:ext>
                </a:extLst>
              </a:tr>
              <a:tr h="47095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WORKDIR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Set working directory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70121016"/>
                  </a:ext>
                </a:extLst>
              </a:tr>
              <a:tr h="47095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COPY / ADD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Copy files into image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554407319"/>
                  </a:ext>
                </a:extLst>
              </a:tr>
              <a:tr h="47095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RUN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Execute commands during build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985109722"/>
                  </a:ext>
                </a:extLst>
              </a:tr>
              <a:tr h="47095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CMD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Default command at runtime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438070459"/>
                  </a:ext>
                </a:extLst>
              </a:tr>
              <a:tr h="47095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ENTRYPOINT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Main container command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716137346"/>
                  </a:ext>
                </a:extLst>
              </a:tr>
              <a:tr h="47095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ENV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Set environment variables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205462732"/>
                  </a:ext>
                </a:extLst>
              </a:tr>
              <a:tr h="47095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EXPOSE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 dirty="0">
                          <a:effectLst/>
                        </a:rPr>
                        <a:t>Define port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6656432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728206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Environment 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Environment Variables are key–value pairs used to pass configuration into a container at runtime or build time</a:t>
            </a:r>
          </a:p>
          <a:p>
            <a:r>
              <a:rPr lang="en-US" dirty="0"/>
              <a:t>Supported and managed via Docker</a:t>
            </a:r>
          </a:p>
          <a:p>
            <a:r>
              <a:rPr lang="en-IN" b="1" dirty="0"/>
              <a:t>Why Use Environment Variables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Separate </a:t>
            </a:r>
            <a:r>
              <a:rPr lang="en-IN" b="1" dirty="0"/>
              <a:t>configuration from code</a:t>
            </a:r>
            <a:r>
              <a:rPr lang="en-IN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Avoid hardcoding sensitive data (passwords, API keys)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Enable flexibility across environments (Dev / Test / Prod)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Volumes &amp; Bind Mounts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8096" y="2285999"/>
            <a:ext cx="7290055" cy="4429125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Volumes &amp; Bind Mounts</a:t>
            </a:r>
            <a:r>
              <a:rPr lang="en-US" dirty="0"/>
              <a:t> are mechanisms to </a:t>
            </a:r>
            <a:r>
              <a:rPr lang="en-US" b="1" dirty="0"/>
              <a:t>persist and share data</a:t>
            </a:r>
            <a:r>
              <a:rPr lang="en-US" dirty="0"/>
              <a:t> between containers and the host system in Docker</a:t>
            </a:r>
          </a:p>
          <a:p>
            <a:r>
              <a:rPr lang="en-US" b="1" dirty="0"/>
              <a:t>Why Needed</a:t>
            </a:r>
          </a:p>
          <a:p>
            <a:r>
              <a:rPr lang="en-US" dirty="0"/>
              <a:t>Containers are </a:t>
            </a:r>
            <a:r>
              <a:rPr lang="en-US" b="1" dirty="0"/>
              <a:t>ephemeral</a:t>
            </a:r>
            <a:r>
              <a:rPr lang="en-US" dirty="0"/>
              <a:t> (data lost when stopped/removed) </a:t>
            </a:r>
          </a:p>
          <a:p>
            <a:r>
              <a:rPr lang="en-US" dirty="0"/>
              <a:t>These mechanisms ensure </a:t>
            </a:r>
            <a:r>
              <a:rPr lang="en-US" b="1" dirty="0"/>
              <a:t>data persistence and sharing</a:t>
            </a:r>
          </a:p>
          <a:p>
            <a:r>
              <a:rPr lang="en-US" b="1" dirty="0"/>
              <a:t>Docker Volumes</a:t>
            </a:r>
          </a:p>
          <a:p>
            <a:r>
              <a:rPr lang="en-US" dirty="0"/>
              <a:t>Managed by Docker </a:t>
            </a:r>
          </a:p>
          <a:p>
            <a:r>
              <a:rPr lang="en-US" dirty="0"/>
              <a:t>Stored in Docker’s internal directory </a:t>
            </a:r>
          </a:p>
          <a:p>
            <a:r>
              <a:rPr lang="en-US" dirty="0"/>
              <a:t>Independent of container lifecycle</a:t>
            </a:r>
          </a:p>
          <a:p>
            <a:r>
              <a:rPr lang="en-IN" dirty="0"/>
              <a:t>docker volume create </a:t>
            </a:r>
            <a:r>
              <a:rPr lang="en-IN" dirty="0" err="1"/>
              <a:t>myvolume</a:t>
            </a:r>
            <a:br>
              <a:rPr lang="en-IN" dirty="0"/>
            </a:br>
            <a:r>
              <a:rPr lang="en-IN" dirty="0"/>
              <a:t>docker run -v </a:t>
            </a:r>
            <a:r>
              <a:rPr lang="en-IN" dirty="0" err="1"/>
              <a:t>myvolume</a:t>
            </a:r>
            <a:r>
              <a:rPr lang="en-IN" dirty="0"/>
              <a:t>:/data nginx</a:t>
            </a:r>
            <a:endParaRPr lang="en-US" dirty="0"/>
          </a:p>
          <a:p>
            <a:endParaRPr lang="en-US" dirty="0"/>
          </a:p>
          <a:p>
            <a:endParaRPr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AEC342-ADDF-52C6-3485-BCF726B7B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AC37E8-B2B6-311E-9EBC-836595F6DA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Bind Mounts</a:t>
            </a:r>
          </a:p>
          <a:p>
            <a:r>
              <a:rPr lang="en-US" dirty="0"/>
              <a:t>Directly map </a:t>
            </a:r>
            <a:r>
              <a:rPr lang="en-US" b="1" dirty="0"/>
              <a:t>host directory → container directory</a:t>
            </a:r>
            <a:endParaRPr lang="en-US" dirty="0"/>
          </a:p>
          <a:p>
            <a:r>
              <a:rPr lang="en-IN" dirty="0"/>
              <a:t>docker run -v $(</a:t>
            </a:r>
            <a:r>
              <a:rPr lang="en-IN" dirty="0" err="1"/>
              <a:t>pwd</a:t>
            </a:r>
            <a:r>
              <a:rPr lang="en-IN" dirty="0"/>
              <a:t>):/app python-app</a:t>
            </a:r>
          </a:p>
          <a:p>
            <a:endParaRPr lang="en-IN" dirty="0"/>
          </a:p>
          <a:p>
            <a:r>
              <a:rPr lang="en-US" dirty="0"/>
              <a:t>Real-time file sync</a:t>
            </a:r>
          </a:p>
          <a:p>
            <a:r>
              <a:rPr lang="en-US" dirty="0"/>
              <a:t>Useful for development</a:t>
            </a:r>
          </a:p>
          <a:p>
            <a:r>
              <a:rPr lang="en-US" dirty="0"/>
              <a:t>Depends on host file structure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472783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BDBD23-5ED3-E5BE-BAA8-449B806D3D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Volume vs Bind Mount</a:t>
            </a:r>
            <a:endParaRPr lang="en-IN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B8E989F7-5BA5-4BA2-1A57-3C89993F313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95775463"/>
              </p:ext>
            </p:extLst>
          </p:nvPr>
        </p:nvGraphicFramePr>
        <p:xfrm>
          <a:off x="768350" y="2724150"/>
          <a:ext cx="7289799" cy="354863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429933">
                  <a:extLst>
                    <a:ext uri="{9D8B030D-6E8A-4147-A177-3AD203B41FA5}">
                      <a16:colId xmlns:a16="http://schemas.microsoft.com/office/drawing/2014/main" val="1373397603"/>
                    </a:ext>
                  </a:extLst>
                </a:gridCol>
                <a:gridCol w="2429933">
                  <a:extLst>
                    <a:ext uri="{9D8B030D-6E8A-4147-A177-3AD203B41FA5}">
                      <a16:colId xmlns:a16="http://schemas.microsoft.com/office/drawing/2014/main" val="340773002"/>
                    </a:ext>
                  </a:extLst>
                </a:gridCol>
                <a:gridCol w="2429933">
                  <a:extLst>
                    <a:ext uri="{9D8B030D-6E8A-4147-A177-3AD203B41FA5}">
                      <a16:colId xmlns:a16="http://schemas.microsoft.com/office/drawing/2014/main" val="2828971246"/>
                    </a:ext>
                  </a:extLst>
                </a:gridCol>
              </a:tblGrid>
              <a:tr h="59143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Feature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Volume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Bind Mount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718177715"/>
                  </a:ext>
                </a:extLst>
              </a:tr>
              <a:tr h="59143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Managed by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Docker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User/Host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83709004"/>
                  </a:ext>
                </a:extLst>
              </a:tr>
              <a:tr h="59143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Location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Docker storage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Host filesystem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805847513"/>
                  </a:ext>
                </a:extLst>
              </a:tr>
              <a:tr h="59143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Portability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High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Low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287517308"/>
                  </a:ext>
                </a:extLst>
              </a:tr>
              <a:tr h="59143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Use Case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Production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Development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157291808"/>
                  </a:ext>
                </a:extLst>
              </a:tr>
              <a:tr h="59143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Security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More secure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 dirty="0">
                          <a:effectLst/>
                        </a:rPr>
                        <a:t>Less secure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576654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158020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Networking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Docker Networking enables communication:</a:t>
            </a:r>
          </a:p>
          <a:p>
            <a:r>
              <a:rPr lang="en-US" dirty="0"/>
              <a:t>Between containers</a:t>
            </a:r>
          </a:p>
          <a:p>
            <a:r>
              <a:rPr lang="en-US" dirty="0"/>
              <a:t>Between container ↔ host</a:t>
            </a:r>
          </a:p>
          <a:p>
            <a:r>
              <a:rPr lang="en-US" dirty="0"/>
              <a:t>Between container ↔ external world</a:t>
            </a:r>
          </a:p>
          <a:p>
            <a:r>
              <a:rPr lang="en-US" dirty="0"/>
              <a:t>Managed by Docker</a:t>
            </a:r>
          </a:p>
          <a:p>
            <a:r>
              <a:rPr lang="en-US" b="1" dirty="0"/>
              <a:t>Why Networking is Important</a:t>
            </a:r>
          </a:p>
          <a:p>
            <a:r>
              <a:rPr lang="en-US" dirty="0"/>
              <a:t>Connect microservices (e.g., app ↔ database) </a:t>
            </a:r>
          </a:p>
          <a:p>
            <a:r>
              <a:rPr lang="en-US" dirty="0"/>
              <a:t>Expose applications to users </a:t>
            </a:r>
          </a:p>
          <a:p>
            <a:r>
              <a:rPr lang="en-US" dirty="0"/>
              <a:t>Enable distributed systems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D99037-DE8E-4F51-8237-8A3D3EFB10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NETWORK TYPES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F9D9E8-F1C6-01BB-28EB-5AA57D0814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096" y="2286000"/>
            <a:ext cx="7290055" cy="4572000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 1. Bridge Network (Default)</a:t>
            </a:r>
          </a:p>
          <a:p>
            <a:r>
              <a:rPr lang="en-US" dirty="0"/>
              <a:t>Used when no network specified </a:t>
            </a:r>
          </a:p>
          <a:p>
            <a:r>
              <a:rPr lang="en-US" dirty="0"/>
              <a:t>Containers communicate via </a:t>
            </a:r>
            <a:r>
              <a:rPr lang="en-US" b="1" dirty="0"/>
              <a:t>IP or container name</a:t>
            </a:r>
            <a:endParaRPr lang="en-US" dirty="0"/>
          </a:p>
          <a:p>
            <a:r>
              <a:rPr lang="en-US" b="1" dirty="0"/>
              <a:t>2. Host Network</a:t>
            </a:r>
          </a:p>
          <a:p>
            <a:r>
              <a:rPr lang="en-US" dirty="0"/>
              <a:t>Container shares host network </a:t>
            </a:r>
          </a:p>
          <a:p>
            <a:r>
              <a:rPr lang="en-US" dirty="0"/>
              <a:t>No isolation (same IP as host)</a:t>
            </a:r>
          </a:p>
          <a:p>
            <a:r>
              <a:rPr lang="en-IN" b="1" dirty="0"/>
              <a:t>3. None Network</a:t>
            </a:r>
          </a:p>
          <a:p>
            <a:r>
              <a:rPr lang="en-IN" dirty="0"/>
              <a:t>No network access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706659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Hands-on Python App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Create simple Python app and containerize it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Docker in Production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Run containers built with Docker </a:t>
            </a:r>
            <a:r>
              <a:rPr lang="en-US" b="1" dirty="0"/>
              <a:t>securely, efficiently, and reliably</a:t>
            </a:r>
            <a:r>
              <a:rPr lang="en-US" dirty="0"/>
              <a:t> in real-world environments.</a:t>
            </a:r>
          </a:p>
          <a:p>
            <a:r>
              <a:rPr lang="en-US" b="1" dirty="0"/>
              <a:t>1. Optimize Docker Images</a:t>
            </a:r>
          </a:p>
          <a:p>
            <a:r>
              <a:rPr lang="en-US" dirty="0"/>
              <a:t>Use </a:t>
            </a:r>
            <a:r>
              <a:rPr lang="en-US" b="1" dirty="0"/>
              <a:t>small base images</a:t>
            </a:r>
            <a:r>
              <a:rPr lang="en-US" dirty="0"/>
              <a:t> (alpine, slim variants) </a:t>
            </a:r>
          </a:p>
          <a:p>
            <a:r>
              <a:rPr lang="en-US" dirty="0"/>
              <a:t>Remove unnecessary packages </a:t>
            </a:r>
          </a:p>
          <a:p>
            <a:r>
              <a:rPr lang="en-US" dirty="0"/>
              <a:t>Use </a:t>
            </a:r>
            <a:r>
              <a:rPr lang="en-US" b="1" dirty="0"/>
              <a:t>multi-stage builds</a:t>
            </a:r>
            <a:r>
              <a:rPr lang="en-US" dirty="0"/>
              <a:t> to reduce size </a:t>
            </a:r>
          </a:p>
          <a:p>
            <a:r>
              <a:rPr lang="en-US" dirty="0"/>
              <a:t>Keep images </a:t>
            </a:r>
            <a:r>
              <a:rPr lang="en-US" b="1" dirty="0"/>
              <a:t>lean &amp; fast</a:t>
            </a:r>
            <a:endParaRPr lang="en-US" dirty="0"/>
          </a:p>
          <a:p>
            <a:r>
              <a:rPr lang="en-US" b="1" dirty="0"/>
              <a:t>2.Use Multi-Stage Builds</a:t>
            </a:r>
          </a:p>
          <a:p>
            <a:r>
              <a:rPr lang="en-US" dirty="0"/>
              <a:t>Separate </a:t>
            </a:r>
            <a:r>
              <a:rPr lang="en-US" b="1" dirty="0"/>
              <a:t>build stage</a:t>
            </a:r>
            <a:r>
              <a:rPr lang="en-US" dirty="0"/>
              <a:t> and </a:t>
            </a:r>
            <a:r>
              <a:rPr lang="en-US" b="1" dirty="0"/>
              <a:t>runtime stage</a:t>
            </a:r>
            <a:r>
              <a:rPr lang="en-US" dirty="0"/>
              <a:t> </a:t>
            </a:r>
          </a:p>
          <a:p>
            <a:r>
              <a:rPr lang="en-US" dirty="0"/>
              <a:t>Only copy required artifacts → smaller, secure images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9E51BB-8BCE-D10A-7913-B069BE60E2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096" y="542925"/>
            <a:ext cx="7290055" cy="5766435"/>
          </a:xfrm>
        </p:spPr>
        <p:txBody>
          <a:bodyPr/>
          <a:lstStyle/>
          <a:p>
            <a:r>
              <a:rPr lang="en-US" b="1" dirty="0"/>
              <a:t>3. Security Best Practices</a:t>
            </a:r>
          </a:p>
          <a:p>
            <a:r>
              <a:rPr lang="en-US" dirty="0"/>
              <a:t>Avoid running containers as </a:t>
            </a:r>
            <a:r>
              <a:rPr lang="en-US" b="1" dirty="0"/>
              <a:t>root</a:t>
            </a:r>
            <a:r>
              <a:rPr lang="en-US" dirty="0"/>
              <a:t> </a:t>
            </a:r>
          </a:p>
          <a:p>
            <a:r>
              <a:rPr lang="en-US" dirty="0"/>
              <a:t>Scan images for vulnerabilities</a:t>
            </a:r>
          </a:p>
          <a:p>
            <a:r>
              <a:rPr lang="en-US" dirty="0"/>
              <a:t>Use trusted base images only</a:t>
            </a:r>
          </a:p>
          <a:p>
            <a:r>
              <a:rPr lang="en-US" dirty="0"/>
              <a:t>Store secrets securely (not in </a:t>
            </a:r>
            <a:r>
              <a:rPr lang="en-US" dirty="0" err="1"/>
              <a:t>Dockerfile</a:t>
            </a:r>
            <a:r>
              <a:rPr lang="en-US" dirty="0"/>
              <a:t>)</a:t>
            </a:r>
          </a:p>
          <a:p>
            <a:r>
              <a:rPr lang="en-US" b="1" dirty="0"/>
              <a:t>4. Use .</a:t>
            </a:r>
            <a:r>
              <a:rPr lang="en-US" b="1" dirty="0" err="1"/>
              <a:t>dockerignore</a:t>
            </a:r>
            <a:endParaRPr lang="en-US" b="1" dirty="0"/>
          </a:p>
          <a:p>
            <a:r>
              <a:rPr lang="en-US" dirty="0"/>
              <a:t>Exclude unnecessary files:</a:t>
            </a:r>
          </a:p>
          <a:p>
            <a:r>
              <a:rPr lang="en-US" dirty="0"/>
              <a:t>→ Reduces image size &amp; improves build speed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3005838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AF5626-653E-85E3-31BF-68677F5BFD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096" y="752475"/>
            <a:ext cx="7290055" cy="5556885"/>
          </a:xfrm>
        </p:spPr>
        <p:txBody>
          <a:bodyPr>
            <a:normAutofit fontScale="92500" lnSpcReduction="20000"/>
          </a:bodyPr>
          <a:lstStyle/>
          <a:p>
            <a:r>
              <a:rPr lang="en-IN" b="1" dirty="0"/>
              <a:t>5. Manage Configuration Properly</a:t>
            </a:r>
          </a:p>
          <a:p>
            <a:r>
              <a:rPr lang="en-IN" dirty="0"/>
              <a:t>Use </a:t>
            </a:r>
            <a:r>
              <a:rPr lang="en-IN" b="1" dirty="0"/>
              <a:t>environment variables</a:t>
            </a:r>
            <a:r>
              <a:rPr lang="en-IN" dirty="0"/>
              <a:t> for configs </a:t>
            </a:r>
          </a:p>
          <a:p>
            <a:r>
              <a:rPr lang="en-IN" dirty="0"/>
              <a:t>Separate config from code </a:t>
            </a:r>
          </a:p>
          <a:p>
            <a:r>
              <a:rPr lang="en-IN" dirty="0"/>
              <a:t>Use secret management tools (Vault, cloud secrets) </a:t>
            </a:r>
          </a:p>
          <a:p>
            <a:r>
              <a:rPr lang="en-IN" b="1" dirty="0"/>
              <a:t>6. Logging &amp; Monitoring</a:t>
            </a:r>
          </a:p>
          <a:p>
            <a:r>
              <a:rPr lang="en-IN" dirty="0"/>
              <a:t>Use centralized logging (ELK, CloudWatch) </a:t>
            </a:r>
          </a:p>
          <a:p>
            <a:r>
              <a:rPr lang="en-IN" dirty="0"/>
              <a:t>Avoid storing logs inside container </a:t>
            </a:r>
          </a:p>
          <a:p>
            <a:r>
              <a:rPr lang="en-IN" dirty="0"/>
              <a:t>Monitor CPU, memory, health</a:t>
            </a:r>
          </a:p>
          <a:p>
            <a:r>
              <a:rPr lang="en-IN" b="1" dirty="0"/>
              <a:t>7. Use Docker Compose / Orchestration</a:t>
            </a:r>
          </a:p>
          <a:p>
            <a:r>
              <a:rPr lang="en-IN" dirty="0"/>
              <a:t>For multi-container apps → Docker Compose </a:t>
            </a:r>
          </a:p>
          <a:p>
            <a:r>
              <a:rPr lang="en-IN" dirty="0"/>
              <a:t>For scaling → use Kubernetes </a:t>
            </a:r>
          </a:p>
          <a:p>
            <a:r>
              <a:rPr lang="en-IN" b="1" dirty="0"/>
              <a:t>8. Tag &amp; Version Images Properly</a:t>
            </a:r>
          </a:p>
          <a:p>
            <a:r>
              <a:rPr lang="en-IN" dirty="0"/>
              <a:t>Avoid latest in production </a:t>
            </a:r>
          </a:p>
          <a:p>
            <a:r>
              <a:rPr lang="en-IN" dirty="0"/>
              <a:t>Use version tags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4231259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5C532-3D3E-066A-A3AF-886DB6C3FC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FLOW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49018B-485B-A0D3-A612-1B7A8BB55C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Real-World Flow</a:t>
            </a:r>
          </a:p>
          <a:p>
            <a:r>
              <a:rPr lang="en-US" dirty="0"/>
              <a:t>Code → Build optimized image → Scan → Push to registry → Deploy → Monitor → Scale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8347464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Docker Compose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Docker Compose is a tool that allows you to define and run multi-container applications using a single YAML file</a:t>
            </a:r>
          </a:p>
          <a:p>
            <a:r>
              <a:rPr lang="en-US" dirty="0"/>
              <a:t>Works with Docker to simplify managing multiple services</a:t>
            </a:r>
          </a:p>
          <a:p>
            <a:r>
              <a:rPr lang="en-US" b="1" dirty="0"/>
              <a:t>Why Use Docker Compose</a:t>
            </a:r>
          </a:p>
          <a:p>
            <a:r>
              <a:rPr lang="en-US" dirty="0"/>
              <a:t>Run entire application stack with </a:t>
            </a:r>
            <a:r>
              <a:rPr lang="en-US" b="1" dirty="0"/>
              <a:t>one command</a:t>
            </a:r>
            <a:r>
              <a:rPr lang="en-US" dirty="0"/>
              <a:t> </a:t>
            </a:r>
          </a:p>
          <a:p>
            <a:r>
              <a:rPr lang="en-US" dirty="0"/>
              <a:t>Manage multiple services (Web, DB, Cache) easily </a:t>
            </a:r>
          </a:p>
          <a:p>
            <a:r>
              <a:rPr lang="en-US" dirty="0"/>
              <a:t>Automatic networking between containers </a:t>
            </a:r>
          </a:p>
          <a:p>
            <a:r>
              <a:rPr lang="en-US" dirty="0"/>
              <a:t>Ideal for </a:t>
            </a:r>
            <a:r>
              <a:rPr lang="en-US" b="1" dirty="0"/>
              <a:t>development &amp; testing environments</a:t>
            </a:r>
            <a:r>
              <a:rPr lang="en-US" dirty="0"/>
              <a:t> 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Registries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8096" y="2285999"/>
            <a:ext cx="7290055" cy="4391025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  A </a:t>
            </a:r>
            <a:r>
              <a:rPr lang="en-US" b="1" dirty="0"/>
              <a:t>Docker Registry</a:t>
            </a:r>
            <a:r>
              <a:rPr lang="en-US" dirty="0"/>
              <a:t> is a centralized system to </a:t>
            </a:r>
            <a:r>
              <a:rPr lang="en-US" b="1" dirty="0"/>
              <a:t>store, manage, and distribute Docker images</a:t>
            </a:r>
            <a:r>
              <a:rPr lang="en-US" dirty="0"/>
              <a:t> </a:t>
            </a:r>
          </a:p>
          <a:p>
            <a:r>
              <a:rPr lang="en-US" dirty="0"/>
              <a:t>Used with Docker to </a:t>
            </a:r>
            <a:r>
              <a:rPr lang="en-US" b="1" dirty="0"/>
              <a:t>push and pull images</a:t>
            </a:r>
            <a:r>
              <a:rPr lang="en-US" dirty="0"/>
              <a:t> </a:t>
            </a:r>
          </a:p>
          <a:p>
            <a:r>
              <a:rPr lang="en-US" b="1" dirty="0"/>
              <a:t>Types of Registries</a:t>
            </a:r>
          </a:p>
          <a:p>
            <a:r>
              <a:rPr lang="en-US" b="1" dirty="0"/>
              <a:t>1. Public Registry</a:t>
            </a:r>
          </a:p>
          <a:p>
            <a:pPr lvl="1"/>
            <a:r>
              <a:rPr lang="en-US" dirty="0"/>
              <a:t>Accessible to everyone </a:t>
            </a:r>
          </a:p>
          <a:p>
            <a:pPr lvl="1"/>
            <a:r>
              <a:rPr lang="en-US" dirty="0"/>
              <a:t>Example: Docker Hub </a:t>
            </a:r>
          </a:p>
          <a:p>
            <a:r>
              <a:rPr lang="en-US" b="1" dirty="0"/>
              <a:t>2. Private Registry</a:t>
            </a:r>
          </a:p>
          <a:p>
            <a:pPr lvl="1"/>
            <a:r>
              <a:rPr lang="en-US" dirty="0"/>
              <a:t>Secure, restricted access </a:t>
            </a:r>
          </a:p>
          <a:p>
            <a:pPr lvl="1"/>
            <a:r>
              <a:rPr lang="en-US" dirty="0"/>
              <a:t>Used in enterprises for internal applications </a:t>
            </a:r>
          </a:p>
          <a:p>
            <a:r>
              <a:rPr lang="en-US" dirty="0"/>
              <a:t>Examples:</a:t>
            </a:r>
          </a:p>
          <a:p>
            <a:pPr lvl="1"/>
            <a:r>
              <a:rPr lang="en-US" dirty="0"/>
              <a:t>Amazon ECR </a:t>
            </a:r>
          </a:p>
          <a:p>
            <a:pPr lvl="1"/>
            <a:r>
              <a:rPr lang="en-US" dirty="0"/>
              <a:t>Google Container Registry </a:t>
            </a:r>
          </a:p>
          <a:p>
            <a:pPr lvl="1"/>
            <a:r>
              <a:rPr lang="en-US" dirty="0"/>
              <a:t>Azure Container Registry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Kubernetes Fundamentals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Kubernetes (K8s) is an open-source platform used to </a:t>
            </a:r>
            <a:r>
              <a:rPr lang="en-US" b="1" dirty="0"/>
              <a:t>automate deployment, scaling, and management of containerized applications</a:t>
            </a:r>
            <a:r>
              <a:rPr lang="en-US" dirty="0"/>
              <a:t> 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dirty="0"/>
              <a:t>Why Kubernetes</a:t>
            </a:r>
          </a:p>
          <a:p>
            <a:r>
              <a:rPr lang="en-US" dirty="0"/>
              <a:t>Handles </a:t>
            </a:r>
            <a:r>
              <a:rPr lang="en-US" b="1" dirty="0"/>
              <a:t>container orchestration at scale</a:t>
            </a:r>
            <a:r>
              <a:rPr lang="en-US" dirty="0"/>
              <a:t> </a:t>
            </a:r>
          </a:p>
          <a:p>
            <a:r>
              <a:rPr lang="en-US" dirty="0"/>
              <a:t>Provides: </a:t>
            </a:r>
          </a:p>
          <a:p>
            <a:pPr lvl="1"/>
            <a:r>
              <a:rPr lang="en-US" dirty="0"/>
              <a:t>Auto-scaling </a:t>
            </a:r>
          </a:p>
          <a:p>
            <a:pPr lvl="1"/>
            <a:r>
              <a:rPr lang="en-US" dirty="0"/>
              <a:t>Self-healing (restart failed containers) </a:t>
            </a:r>
          </a:p>
          <a:p>
            <a:pPr lvl="1"/>
            <a:r>
              <a:rPr lang="en-US" dirty="0"/>
              <a:t>Load balancing </a:t>
            </a:r>
          </a:p>
          <a:p>
            <a:pPr lvl="1"/>
            <a:r>
              <a:rPr lang="en-US" dirty="0"/>
              <a:t>Rolling updates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b="1" dirty="0"/>
              <a:t>Cluster Architecture</a:t>
            </a:r>
          </a:p>
          <a:p>
            <a:r>
              <a:rPr lang="en-IN" b="1" dirty="0"/>
              <a:t>1. Control Plane (Master Node)</a:t>
            </a:r>
          </a:p>
          <a:p>
            <a:r>
              <a:rPr lang="en-IN" b="1" dirty="0"/>
              <a:t>API Server</a:t>
            </a:r>
            <a:r>
              <a:rPr lang="en-IN" dirty="0"/>
              <a:t> → Entry point for all requests </a:t>
            </a:r>
          </a:p>
          <a:p>
            <a:r>
              <a:rPr lang="en-IN" b="1" dirty="0"/>
              <a:t>Scheduler</a:t>
            </a:r>
            <a:r>
              <a:rPr lang="en-IN" dirty="0"/>
              <a:t> → Assigns pods to nodes </a:t>
            </a:r>
          </a:p>
          <a:p>
            <a:r>
              <a:rPr lang="en-IN" b="1" dirty="0"/>
              <a:t>Controller Manager</a:t>
            </a:r>
            <a:r>
              <a:rPr lang="en-IN" dirty="0"/>
              <a:t> → Maintains desired state </a:t>
            </a:r>
          </a:p>
          <a:p>
            <a:r>
              <a:rPr lang="en-IN" b="1" dirty="0" err="1"/>
              <a:t>etcd</a:t>
            </a:r>
            <a:r>
              <a:rPr lang="en-IN" dirty="0"/>
              <a:t> → Stores cluster data </a:t>
            </a:r>
          </a:p>
          <a:p>
            <a:r>
              <a:rPr lang="en-IN" b="1" dirty="0"/>
              <a:t>2. Worker Nodes</a:t>
            </a:r>
          </a:p>
          <a:p>
            <a:r>
              <a:rPr lang="en-IN" b="1" dirty="0" err="1"/>
              <a:t>Kubelet</a:t>
            </a:r>
            <a:r>
              <a:rPr lang="en-IN" dirty="0"/>
              <a:t> → Communicates with control plane </a:t>
            </a:r>
          </a:p>
          <a:p>
            <a:r>
              <a:rPr lang="en-IN" b="1" dirty="0"/>
              <a:t>Container Runtime</a:t>
            </a:r>
            <a:r>
              <a:rPr lang="en-IN" dirty="0"/>
              <a:t> (Docker/</a:t>
            </a:r>
            <a:r>
              <a:rPr lang="en-IN" dirty="0" err="1"/>
              <a:t>containerd</a:t>
            </a:r>
            <a:r>
              <a:rPr lang="en-IN" dirty="0"/>
              <a:t>) </a:t>
            </a:r>
          </a:p>
          <a:p>
            <a:r>
              <a:rPr lang="en-IN" dirty="0"/>
              <a:t>Runs application workloads (Pods)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A8EC506-B1DA-46A1-B44D-774E68468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1" name="Oval 5">
            <a:extLst>
              <a:ext uri="{FF2B5EF4-FFF2-40B4-BE49-F238E27FC236}">
                <a16:creationId xmlns:a16="http://schemas.microsoft.com/office/drawing/2014/main" id="{BFF30785-305E-45D7-984F-5AA93D3CA5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5E01FA5-D766-43CA-A83D-E7CF3F04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42DD0C21-8FEE-4C18-8789-CC8ABE206F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4572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4B51757-7607-4CEA-A0EE-3C5BDC2C1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571998"/>
            <a:ext cx="9141714" cy="228554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7"/>
            <a:ext cx="5829300" cy="146304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5000" kern="1200" cap="all" spc="200" baseline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Core Components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EF39256-F095-41C8-8707-6C1A665E8F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6304880" y="5220212"/>
            <a:ext cx="0" cy="914400"/>
          </a:xfrm>
          <a:prstGeom prst="line">
            <a:avLst/>
          </a:prstGeom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94B4751-2356-F6AD-DF5B-472B7BCBBF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7942465"/>
              </p:ext>
            </p:extLst>
          </p:nvPr>
        </p:nvGraphicFramePr>
        <p:xfrm>
          <a:off x="475707" y="901898"/>
          <a:ext cx="8188234" cy="2782825"/>
        </p:xfrm>
        <a:graphic>
          <a:graphicData uri="http://schemas.openxmlformats.org/drawingml/2006/table">
            <a:tbl>
              <a:tblPr firstRow="1" firstCol="1" bandRow="1">
                <a:tableStyleId>{8799B23B-EC83-4686-B30A-512413B5E67A}</a:tableStyleId>
              </a:tblPr>
              <a:tblGrid>
                <a:gridCol w="2040882">
                  <a:extLst>
                    <a:ext uri="{9D8B030D-6E8A-4147-A177-3AD203B41FA5}">
                      <a16:colId xmlns:a16="http://schemas.microsoft.com/office/drawing/2014/main" val="4115431225"/>
                    </a:ext>
                  </a:extLst>
                </a:gridCol>
                <a:gridCol w="6147352">
                  <a:extLst>
                    <a:ext uri="{9D8B030D-6E8A-4147-A177-3AD203B41FA5}">
                      <a16:colId xmlns:a16="http://schemas.microsoft.com/office/drawing/2014/main" val="2893573041"/>
                    </a:ext>
                  </a:extLst>
                </a:gridCol>
              </a:tblGrid>
              <a:tr h="55656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600">
                          <a:effectLst/>
                        </a:rPr>
                        <a:t>Component</a:t>
                      </a:r>
                      <a:endParaRPr lang="en-IN" sz="2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2460" marR="22460" marT="22460" marB="2246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600">
                          <a:effectLst/>
                        </a:rPr>
                        <a:t>Description</a:t>
                      </a:r>
                      <a:endParaRPr lang="en-IN" sz="2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2460" marR="22460" marT="22460" marB="22460" anchor="ctr"/>
                </a:tc>
                <a:extLst>
                  <a:ext uri="{0D108BD9-81ED-4DB2-BD59-A6C34878D82A}">
                    <a16:rowId xmlns:a16="http://schemas.microsoft.com/office/drawing/2014/main" val="3176291620"/>
                  </a:ext>
                </a:extLst>
              </a:tr>
              <a:tr h="55656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600">
                          <a:effectLst/>
                        </a:rPr>
                        <a:t>Pod</a:t>
                      </a:r>
                      <a:endParaRPr lang="en-IN" sz="2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2460" marR="22460" marT="22460" marB="2246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600">
                          <a:effectLst/>
                        </a:rPr>
                        <a:t>Smallest deployable unit (1+ containers)</a:t>
                      </a:r>
                      <a:endParaRPr lang="en-IN" sz="2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2460" marR="22460" marT="22460" marB="22460" anchor="ctr"/>
                </a:tc>
                <a:extLst>
                  <a:ext uri="{0D108BD9-81ED-4DB2-BD59-A6C34878D82A}">
                    <a16:rowId xmlns:a16="http://schemas.microsoft.com/office/drawing/2014/main" val="2972727088"/>
                  </a:ext>
                </a:extLst>
              </a:tr>
              <a:tr h="55656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600">
                          <a:effectLst/>
                        </a:rPr>
                        <a:t>ReplicaSet</a:t>
                      </a:r>
                      <a:endParaRPr lang="en-IN" sz="2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2460" marR="22460" marT="22460" marB="2246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600">
                          <a:effectLst/>
                        </a:rPr>
                        <a:t>Ensures desired number of pods</a:t>
                      </a:r>
                      <a:endParaRPr lang="en-IN" sz="2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2460" marR="22460" marT="22460" marB="22460" anchor="ctr"/>
                </a:tc>
                <a:extLst>
                  <a:ext uri="{0D108BD9-81ED-4DB2-BD59-A6C34878D82A}">
                    <a16:rowId xmlns:a16="http://schemas.microsoft.com/office/drawing/2014/main" val="1710580727"/>
                  </a:ext>
                </a:extLst>
              </a:tr>
              <a:tr h="55656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600">
                          <a:effectLst/>
                        </a:rPr>
                        <a:t>Deployment</a:t>
                      </a:r>
                      <a:endParaRPr lang="en-IN" sz="2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2460" marR="22460" marT="22460" marB="2246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600">
                          <a:effectLst/>
                        </a:rPr>
                        <a:t>Manages updates &amp; scaling</a:t>
                      </a:r>
                      <a:endParaRPr lang="en-IN" sz="2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2460" marR="22460" marT="22460" marB="22460" anchor="ctr"/>
                </a:tc>
                <a:extLst>
                  <a:ext uri="{0D108BD9-81ED-4DB2-BD59-A6C34878D82A}">
                    <a16:rowId xmlns:a16="http://schemas.microsoft.com/office/drawing/2014/main" val="1154542619"/>
                  </a:ext>
                </a:extLst>
              </a:tr>
              <a:tr h="55656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600">
                          <a:effectLst/>
                        </a:rPr>
                        <a:t>Service</a:t>
                      </a:r>
                      <a:endParaRPr lang="en-IN" sz="2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2460" marR="22460" marT="22460" marB="2246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600">
                          <a:effectLst/>
                        </a:rPr>
                        <a:t>Exposes application to network</a:t>
                      </a:r>
                      <a:endParaRPr lang="en-IN" sz="2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2460" marR="22460" marT="22460" marB="22460" anchor="ctr"/>
                </a:tc>
                <a:extLst>
                  <a:ext uri="{0D108BD9-81ED-4DB2-BD59-A6C34878D82A}">
                    <a16:rowId xmlns:a16="http://schemas.microsoft.com/office/drawing/2014/main" val="126290448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Kubernetes Networking &amp; Config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Kubernetes, </a:t>
            </a:r>
            <a:r>
              <a:rPr lang="en-US" b="1" dirty="0"/>
              <a:t>Networking &amp; Configuration</a:t>
            </a:r>
            <a:r>
              <a:rPr lang="en-US" dirty="0"/>
              <a:t> enable:</a:t>
            </a:r>
          </a:p>
          <a:p>
            <a:r>
              <a:rPr lang="en-US" dirty="0"/>
              <a:t>Communication between Pods, Services, and external users </a:t>
            </a:r>
          </a:p>
          <a:p>
            <a:r>
              <a:rPr lang="en-US" dirty="0"/>
              <a:t>Management of application configuration and sensitive data</a:t>
            </a:r>
          </a:p>
          <a:p>
            <a:endParaRPr lang="en-US" dirty="0"/>
          </a:p>
          <a:p>
            <a:r>
              <a:rPr lang="en-US" b="1" dirty="0"/>
              <a:t>1. Kubernetes Networking</a:t>
            </a:r>
          </a:p>
          <a:p>
            <a:r>
              <a:rPr lang="en-US" b="1" dirty="0"/>
              <a:t>Pod-to-Pod Communication</a:t>
            </a:r>
          </a:p>
          <a:p>
            <a:r>
              <a:rPr lang="en-US" dirty="0"/>
              <a:t>Every Pod gets a </a:t>
            </a:r>
            <a:r>
              <a:rPr lang="en-US" b="1" dirty="0"/>
              <a:t>unique IP</a:t>
            </a:r>
            <a:r>
              <a:rPr lang="en-US" dirty="0"/>
              <a:t> </a:t>
            </a:r>
          </a:p>
          <a:p>
            <a:r>
              <a:rPr lang="en-US" dirty="0"/>
              <a:t>Pods communicate </a:t>
            </a:r>
            <a:r>
              <a:rPr lang="en-US" b="1" dirty="0"/>
              <a:t>directly without NAT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CA4C6-BB4D-63C4-45E5-32D2F5D81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Services (Expose Applications)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76DEF63-BF5D-6F7E-C89B-21EF6047396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83488024"/>
              </p:ext>
            </p:extLst>
          </p:nvPr>
        </p:nvGraphicFramePr>
        <p:xfrm>
          <a:off x="768350" y="2266949"/>
          <a:ext cx="7289800" cy="408622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765300">
                  <a:extLst>
                    <a:ext uri="{9D8B030D-6E8A-4147-A177-3AD203B41FA5}">
                      <a16:colId xmlns:a16="http://schemas.microsoft.com/office/drawing/2014/main" val="3938884288"/>
                    </a:ext>
                  </a:extLst>
                </a:gridCol>
                <a:gridCol w="5524500">
                  <a:extLst>
                    <a:ext uri="{9D8B030D-6E8A-4147-A177-3AD203B41FA5}">
                      <a16:colId xmlns:a16="http://schemas.microsoft.com/office/drawing/2014/main" val="2979093851"/>
                    </a:ext>
                  </a:extLst>
                </a:gridCol>
              </a:tblGrid>
              <a:tr h="102155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Type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Description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785135440"/>
                  </a:ext>
                </a:extLst>
              </a:tr>
              <a:tr h="102155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ClusterIP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Internal communication within cluster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125076720"/>
                  </a:ext>
                </a:extLst>
              </a:tr>
              <a:tr h="102155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NodePort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Exposes service on node IP + port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47688704"/>
                  </a:ext>
                </a:extLst>
              </a:tr>
              <a:tr h="102155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LoadBalancer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 dirty="0">
                          <a:effectLst/>
                        </a:rPr>
                        <a:t>External access via cloud load balancer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9505876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423511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C6336-4BFD-4DE3-A41D-51383286E4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1C634F-37CE-C300-7B19-A742B5546A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Ingress (HTTP Routing)</a:t>
            </a:r>
          </a:p>
          <a:p>
            <a:r>
              <a:rPr lang="en-US" dirty="0"/>
              <a:t>Provides </a:t>
            </a:r>
            <a:r>
              <a:rPr lang="en-US" b="1" dirty="0"/>
              <a:t>single entry point (URL-based routing)</a:t>
            </a:r>
            <a:r>
              <a:rPr lang="en-US" dirty="0"/>
              <a:t> </a:t>
            </a:r>
          </a:p>
          <a:p>
            <a:r>
              <a:rPr lang="en-US" dirty="0"/>
              <a:t>Routes traffic to multiple services </a:t>
            </a:r>
          </a:p>
          <a:p>
            <a:r>
              <a:rPr lang="en-US" dirty="0"/>
              <a:t>Works with Ingress Controller</a:t>
            </a:r>
          </a:p>
          <a:p>
            <a:r>
              <a:rPr lang="en-IN" b="1" dirty="0"/>
              <a:t>2. Kubernetes Configuration Management</a:t>
            </a:r>
          </a:p>
          <a:p>
            <a:r>
              <a:rPr lang="en-IN" b="1" dirty="0" err="1"/>
              <a:t>ConfigMaps</a:t>
            </a:r>
            <a:endParaRPr lang="en-IN" b="1" dirty="0"/>
          </a:p>
          <a:p>
            <a:r>
              <a:rPr lang="en-IN" dirty="0"/>
              <a:t>Store </a:t>
            </a:r>
            <a:r>
              <a:rPr lang="en-IN" b="1" dirty="0"/>
              <a:t>non-sensitive configuration</a:t>
            </a:r>
            <a:endParaRPr lang="en-IN" dirty="0"/>
          </a:p>
          <a:p>
            <a:r>
              <a:rPr lang="en-US" b="1" dirty="0"/>
              <a:t>Secrets</a:t>
            </a:r>
          </a:p>
          <a:p>
            <a:r>
              <a:rPr lang="en-US" dirty="0"/>
              <a:t>Store </a:t>
            </a:r>
            <a:r>
              <a:rPr lang="en-US" b="1" dirty="0"/>
              <a:t>sensitive data</a:t>
            </a:r>
            <a:r>
              <a:rPr lang="en-US" dirty="0"/>
              <a:t> (passwords, API keys)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5678696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F850D-75FC-67E7-FB39-DEB53C9D27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Concepts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4ED3E55-15A5-8DAD-08DC-4A5D86F63AB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32964247"/>
              </p:ext>
            </p:extLst>
          </p:nvPr>
        </p:nvGraphicFramePr>
        <p:xfrm>
          <a:off x="768350" y="2266950"/>
          <a:ext cx="7289800" cy="425767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708150">
                  <a:extLst>
                    <a:ext uri="{9D8B030D-6E8A-4147-A177-3AD203B41FA5}">
                      <a16:colId xmlns:a16="http://schemas.microsoft.com/office/drawing/2014/main" val="4096366878"/>
                    </a:ext>
                  </a:extLst>
                </a:gridCol>
                <a:gridCol w="5581650">
                  <a:extLst>
                    <a:ext uri="{9D8B030D-6E8A-4147-A177-3AD203B41FA5}">
                      <a16:colId xmlns:a16="http://schemas.microsoft.com/office/drawing/2014/main" val="2643462365"/>
                    </a:ext>
                  </a:extLst>
                </a:gridCol>
              </a:tblGrid>
              <a:tr h="85153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Concept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Purpose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200869026"/>
                  </a:ext>
                </a:extLst>
              </a:tr>
              <a:tr h="85153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Namespace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Logical isolation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785510727"/>
                  </a:ext>
                </a:extLst>
              </a:tr>
              <a:tr h="85153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Service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Stable access to Pods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503926042"/>
                  </a:ext>
                </a:extLst>
              </a:tr>
              <a:tr h="85153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ConfigMap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Config data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345005658"/>
                  </a:ext>
                </a:extLst>
              </a:tr>
              <a:tr h="85153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Secret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 dirty="0">
                          <a:effectLst/>
                        </a:rPr>
                        <a:t>Secure data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145823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9846333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Kubernetes Hands-On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Practical implementation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Minikube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Minikube</a:t>
            </a:r>
            <a:r>
              <a:rPr lang="en-US" dirty="0"/>
              <a:t> is a tool that lets you run a </a:t>
            </a:r>
            <a:r>
              <a:rPr lang="en-US" b="1" dirty="0"/>
              <a:t>single-node Kubernetes cluster locally</a:t>
            </a:r>
            <a:r>
              <a:rPr lang="en-US" dirty="0"/>
              <a:t> on your machine </a:t>
            </a:r>
          </a:p>
          <a:p>
            <a:r>
              <a:rPr lang="en-US" dirty="0"/>
              <a:t>Used for </a:t>
            </a:r>
            <a:r>
              <a:rPr lang="en-US" b="1" dirty="0"/>
              <a:t>learning, development, and testing</a:t>
            </a:r>
            <a:r>
              <a:rPr lang="en-US" dirty="0"/>
              <a:t> Kubernetes </a:t>
            </a:r>
          </a:p>
          <a:p>
            <a:r>
              <a:rPr lang="en-US" b="1" dirty="0"/>
              <a:t>Why Use </a:t>
            </a:r>
            <a:r>
              <a:rPr lang="en-US" b="1" dirty="0" err="1"/>
              <a:t>Minikube</a:t>
            </a:r>
            <a:endParaRPr lang="en-US" b="1" dirty="0"/>
          </a:p>
          <a:p>
            <a:r>
              <a:rPr lang="en-US" dirty="0"/>
              <a:t>No need for cloud (AWS/Azure/GCP) </a:t>
            </a:r>
          </a:p>
          <a:p>
            <a:r>
              <a:rPr lang="en-US" dirty="0"/>
              <a:t>Lightweight local setup </a:t>
            </a:r>
          </a:p>
          <a:p>
            <a:r>
              <a:rPr lang="en-US" dirty="0"/>
              <a:t>Ideal for beginners and developers </a:t>
            </a:r>
          </a:p>
          <a:p>
            <a:r>
              <a:rPr lang="en-US" dirty="0"/>
              <a:t>Safe environment for experimentation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E010BC-DD97-15D5-207D-F0C21C3FE1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Minikube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FA5660-3DEB-704A-B7A0-D18A3B653C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How It Works</a:t>
            </a:r>
          </a:p>
          <a:p>
            <a:r>
              <a:rPr lang="en-US" dirty="0"/>
              <a:t>Creates a </a:t>
            </a:r>
            <a:r>
              <a:rPr lang="en-US" b="1" dirty="0"/>
              <a:t>local VM or container</a:t>
            </a:r>
            <a:r>
              <a:rPr lang="en-US" dirty="0"/>
              <a:t> </a:t>
            </a:r>
          </a:p>
          <a:p>
            <a:r>
              <a:rPr lang="en-US" dirty="0"/>
              <a:t>Runs full Kubernetes cluster inside it </a:t>
            </a:r>
          </a:p>
          <a:p>
            <a:r>
              <a:rPr lang="en-US" dirty="0"/>
              <a:t>Controlled using </a:t>
            </a:r>
            <a:r>
              <a:rPr lang="en-US" dirty="0" err="1"/>
              <a:t>kubectl</a:t>
            </a:r>
            <a:r>
              <a:rPr lang="en-US" dirty="0"/>
              <a:t> </a:t>
            </a:r>
          </a:p>
          <a:p>
            <a:r>
              <a:rPr lang="en-IN" b="1" dirty="0"/>
              <a:t>Architecture</a:t>
            </a:r>
          </a:p>
          <a:p>
            <a:r>
              <a:rPr lang="en-IN" b="1" dirty="0" err="1"/>
              <a:t>Minikube</a:t>
            </a:r>
            <a:r>
              <a:rPr lang="en-IN" b="1" dirty="0"/>
              <a:t> VM / Container</a:t>
            </a:r>
            <a:r>
              <a:rPr lang="en-IN" dirty="0"/>
              <a:t> </a:t>
            </a:r>
          </a:p>
          <a:p>
            <a:pPr lvl="1"/>
            <a:r>
              <a:rPr lang="en-IN" dirty="0"/>
              <a:t>Control Plane (API Server, Scheduler, etc.) </a:t>
            </a:r>
          </a:p>
          <a:p>
            <a:pPr lvl="1"/>
            <a:r>
              <a:rPr lang="en-IN" dirty="0"/>
              <a:t>Worker Node (Pods running apps)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4108120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kubectl</a:t>
            </a:r>
            <a:r>
              <a:rPr dirty="0"/>
              <a:t> Commands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F38BC4A-6C72-5E82-6099-9DCFE1E689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0654116"/>
              </p:ext>
            </p:extLst>
          </p:nvPr>
        </p:nvGraphicFramePr>
        <p:xfrm>
          <a:off x="768350" y="2257424"/>
          <a:ext cx="7289800" cy="412432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644900">
                  <a:extLst>
                    <a:ext uri="{9D8B030D-6E8A-4147-A177-3AD203B41FA5}">
                      <a16:colId xmlns:a16="http://schemas.microsoft.com/office/drawing/2014/main" val="4190346886"/>
                    </a:ext>
                  </a:extLst>
                </a:gridCol>
                <a:gridCol w="3644900">
                  <a:extLst>
                    <a:ext uri="{9D8B030D-6E8A-4147-A177-3AD203B41FA5}">
                      <a16:colId xmlns:a16="http://schemas.microsoft.com/office/drawing/2014/main" val="2141427814"/>
                    </a:ext>
                  </a:extLst>
                </a:gridCol>
              </a:tblGrid>
              <a:tr h="58918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Command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Purpose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754999857"/>
                  </a:ext>
                </a:extLst>
              </a:tr>
              <a:tr h="58918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apply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Create/update resources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686252398"/>
                  </a:ext>
                </a:extLst>
              </a:tr>
              <a:tr h="58918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get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 dirty="0">
                          <a:effectLst/>
                        </a:rPr>
                        <a:t>List resources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485145208"/>
                  </a:ext>
                </a:extLst>
              </a:tr>
              <a:tr h="58918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describe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Detailed inspection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281012867"/>
                  </a:ext>
                </a:extLst>
              </a:tr>
              <a:tr h="58918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logs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Debug application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831987904"/>
                  </a:ext>
                </a:extLst>
              </a:tr>
              <a:tr h="58918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exec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Access container shell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42129546"/>
                  </a:ext>
                </a:extLst>
              </a:tr>
              <a:tr h="58918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delete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 dirty="0">
                          <a:effectLst/>
                        </a:rPr>
                        <a:t>Remove resources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1285996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Self-healing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Self-Healing</a:t>
            </a:r>
            <a:r>
              <a:rPr lang="en-US" dirty="0"/>
              <a:t> in Kubernetes means the system </a:t>
            </a:r>
            <a:r>
              <a:rPr lang="en-US" b="1" dirty="0"/>
              <a:t>automatically detects and fixes failures</a:t>
            </a:r>
            <a:r>
              <a:rPr lang="en-US" dirty="0"/>
              <a:t> to maintain the desired application state</a:t>
            </a:r>
          </a:p>
          <a:p>
            <a:endParaRPr lang="en-US" dirty="0"/>
          </a:p>
          <a:p>
            <a:r>
              <a:rPr lang="en-US" b="1" dirty="0"/>
              <a:t>Core Idea</a:t>
            </a:r>
          </a:p>
          <a:p>
            <a:r>
              <a:rPr lang="en-US" dirty="0"/>
              <a:t>You define the </a:t>
            </a:r>
            <a:r>
              <a:rPr lang="en-US" b="1" dirty="0"/>
              <a:t>desired state</a:t>
            </a:r>
            <a:r>
              <a:rPr lang="en-US" dirty="0"/>
              <a:t> (e.g., 3 pods running) </a:t>
            </a:r>
          </a:p>
          <a:p>
            <a:r>
              <a:rPr lang="en-US" dirty="0"/>
              <a:t>Kubernetes continuously ensures </a:t>
            </a:r>
            <a:r>
              <a:rPr lang="en-US" b="1" dirty="0"/>
              <a:t>actual state = desired state</a:t>
            </a:r>
            <a:endParaRPr lang="en-US" dirty="0"/>
          </a:p>
          <a:p>
            <a:endParaRPr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5BA87D-0B21-DFF3-49D9-FFE57DDE4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How Self-Healing Works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28F0AE-A780-424F-B841-0E294AC4AF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b="1" dirty="0"/>
          </a:p>
          <a:p>
            <a:r>
              <a:rPr lang="en-US" dirty="0"/>
              <a:t>Pod crashes / container fails </a:t>
            </a:r>
          </a:p>
          <a:p>
            <a:r>
              <a:rPr lang="en-US" dirty="0"/>
              <a:t>Kubernetes detects failure via: </a:t>
            </a:r>
          </a:p>
          <a:p>
            <a:pPr lvl="1"/>
            <a:r>
              <a:rPr lang="en-US" dirty="0"/>
              <a:t>Health checks (liveness/readiness probes) </a:t>
            </a:r>
          </a:p>
          <a:p>
            <a:pPr lvl="1"/>
            <a:r>
              <a:rPr lang="en-US" dirty="0"/>
              <a:t>Node monitoring </a:t>
            </a:r>
          </a:p>
          <a:p>
            <a:r>
              <a:rPr lang="en-US" dirty="0"/>
              <a:t>Controller automatically: </a:t>
            </a:r>
          </a:p>
          <a:p>
            <a:pPr lvl="1"/>
            <a:r>
              <a:rPr lang="en-US" dirty="0"/>
              <a:t>Restarts container </a:t>
            </a:r>
          </a:p>
          <a:p>
            <a:pPr lvl="1"/>
            <a:r>
              <a:rPr lang="en-US" dirty="0"/>
              <a:t>Recreates Pod </a:t>
            </a:r>
          </a:p>
          <a:p>
            <a:pPr lvl="1"/>
            <a:r>
              <a:rPr lang="en-US" dirty="0"/>
              <a:t>Reschedules on another node (if needed)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9862522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CA28A-B74F-CEAE-C16A-F3677FADE0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Components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C30B184-90E3-20C4-3AA9-CC8B3E0D6AF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22921185"/>
              </p:ext>
            </p:extLst>
          </p:nvPr>
        </p:nvGraphicFramePr>
        <p:xfrm>
          <a:off x="768350" y="2209800"/>
          <a:ext cx="7289800" cy="39624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644900">
                  <a:extLst>
                    <a:ext uri="{9D8B030D-6E8A-4147-A177-3AD203B41FA5}">
                      <a16:colId xmlns:a16="http://schemas.microsoft.com/office/drawing/2014/main" val="655007834"/>
                    </a:ext>
                  </a:extLst>
                </a:gridCol>
                <a:gridCol w="3644900">
                  <a:extLst>
                    <a:ext uri="{9D8B030D-6E8A-4147-A177-3AD203B41FA5}">
                      <a16:colId xmlns:a16="http://schemas.microsoft.com/office/drawing/2014/main" val="1450251741"/>
                    </a:ext>
                  </a:extLst>
                </a:gridCol>
              </a:tblGrid>
              <a:tr h="79248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Component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Role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685821552"/>
                  </a:ext>
                </a:extLst>
              </a:tr>
              <a:tr h="79248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 dirty="0">
                          <a:effectLst/>
                        </a:rPr>
                        <a:t>Deployment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Maintains desired replicas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218930868"/>
                  </a:ext>
                </a:extLst>
              </a:tr>
              <a:tr h="79248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ReplicaSet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Ensures correct number of pods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17900834"/>
                  </a:ext>
                </a:extLst>
              </a:tr>
              <a:tr h="79248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Kubelet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Monitors container health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942018073"/>
                  </a:ext>
                </a:extLst>
              </a:tr>
              <a:tr h="79248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Controller Manager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 dirty="0">
                          <a:effectLst/>
                        </a:rPr>
                        <a:t>Takes corrective actions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1504995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9811800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51</TotalTime>
  <Words>1913</Words>
  <Application>Microsoft Office PowerPoint</Application>
  <PresentationFormat>On-screen Show (4:3)</PresentationFormat>
  <Paragraphs>437</Paragraphs>
  <Slides>43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9" baseType="lpstr">
      <vt:lpstr>Arial</vt:lpstr>
      <vt:lpstr>Calibri</vt:lpstr>
      <vt:lpstr>Tw Cen MT</vt:lpstr>
      <vt:lpstr>Tw Cen MT Condensed</vt:lpstr>
      <vt:lpstr>Wingdings 3</vt:lpstr>
      <vt:lpstr>Integral</vt:lpstr>
      <vt:lpstr>Containerization Fundamentals</vt:lpstr>
      <vt:lpstr>What is Docker</vt:lpstr>
      <vt:lpstr>How Docker Works</vt:lpstr>
      <vt:lpstr>Why Containerization</vt:lpstr>
      <vt:lpstr>PowerPoint Presentation</vt:lpstr>
      <vt:lpstr>VM vs Container</vt:lpstr>
      <vt:lpstr>Images</vt:lpstr>
      <vt:lpstr>Containers</vt:lpstr>
      <vt:lpstr>Container vs Image</vt:lpstr>
      <vt:lpstr>Layers</vt:lpstr>
      <vt:lpstr>Docker Core Workflow</vt:lpstr>
      <vt:lpstr>PowerPoint Presentation</vt:lpstr>
      <vt:lpstr>Docker Commands</vt:lpstr>
      <vt:lpstr>Docker Installation</vt:lpstr>
      <vt:lpstr>Dockerfile</vt:lpstr>
      <vt:lpstr>Common Instructions</vt:lpstr>
      <vt:lpstr>Environment Variables</vt:lpstr>
      <vt:lpstr>Volumes &amp; Bind Mounts</vt:lpstr>
      <vt:lpstr>PowerPoint Presentation</vt:lpstr>
      <vt:lpstr>Volume vs Bind Mount</vt:lpstr>
      <vt:lpstr>Networking</vt:lpstr>
      <vt:lpstr>NETWORK TYPES</vt:lpstr>
      <vt:lpstr>Hands-on Python App</vt:lpstr>
      <vt:lpstr>Docker in Production</vt:lpstr>
      <vt:lpstr>PowerPoint Presentation</vt:lpstr>
      <vt:lpstr>PowerPoint Presentation</vt:lpstr>
      <vt:lpstr>FLOW</vt:lpstr>
      <vt:lpstr>Docker Compose</vt:lpstr>
      <vt:lpstr>Registries</vt:lpstr>
      <vt:lpstr>Kubernetes Fundamentals</vt:lpstr>
      <vt:lpstr>Architecture</vt:lpstr>
      <vt:lpstr>Core Components</vt:lpstr>
      <vt:lpstr>Kubernetes Networking &amp; Config</vt:lpstr>
      <vt:lpstr>Services (Expose Applications)</vt:lpstr>
      <vt:lpstr>PowerPoint Presentation</vt:lpstr>
      <vt:lpstr>Key Concepts</vt:lpstr>
      <vt:lpstr>Kubernetes Hands-On</vt:lpstr>
      <vt:lpstr>Minikube</vt:lpstr>
      <vt:lpstr>Minikube</vt:lpstr>
      <vt:lpstr>kubectl Commands</vt:lpstr>
      <vt:lpstr>Self-healing</vt:lpstr>
      <vt:lpstr>How Self-Healing Works</vt:lpstr>
      <vt:lpstr>Key Components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Vikash Verma</cp:lastModifiedBy>
  <cp:revision>33</cp:revision>
  <dcterms:created xsi:type="dcterms:W3CDTF">2013-01-27T09:14:16Z</dcterms:created>
  <dcterms:modified xsi:type="dcterms:W3CDTF">2026-04-20T04:49:45Z</dcterms:modified>
  <cp:category/>
</cp:coreProperties>
</file>
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22C778-77D0-4EF4-ADF1-5C4CBADFF43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CEC2FA-DF74-4C64-A4EC-7D77F00AB1F9}">
      <dgm:prSet/>
      <dgm:spPr/>
      <dgm:t>
        <a:bodyPr/>
        <a:lstStyle/>
        <a:p>
          <a:r>
            <a:rPr lang="en-US"/>
            <a:t>- At Rest: Data encrypted using AES-256</a:t>
          </a:r>
        </a:p>
      </dgm:t>
    </dgm:pt>
    <dgm:pt modelId="{E8325DA0-5399-4018-AFCA-C9732E582465}" type="parTrans" cxnId="{E6A77F63-B0E4-4905-BB49-65768AB07D99}">
      <dgm:prSet/>
      <dgm:spPr/>
      <dgm:t>
        <a:bodyPr/>
        <a:lstStyle/>
        <a:p>
          <a:endParaRPr lang="en-US"/>
        </a:p>
      </dgm:t>
    </dgm:pt>
    <dgm:pt modelId="{42A6886E-225A-429A-B0F5-0D5EE240E04C}" type="sibTrans" cxnId="{E6A77F63-B0E4-4905-BB49-65768AB07D99}">
      <dgm:prSet/>
      <dgm:spPr/>
      <dgm:t>
        <a:bodyPr/>
        <a:lstStyle/>
        <a:p>
          <a:endParaRPr lang="en-US"/>
        </a:p>
      </dgm:t>
    </dgm:pt>
    <dgm:pt modelId="{08427500-3B9E-4C25-A96E-935A718D39D7}">
      <dgm:prSet/>
      <dgm:spPr/>
      <dgm:t>
        <a:bodyPr/>
        <a:lstStyle/>
        <a:p>
          <a:r>
            <a:rPr lang="en-US"/>
            <a:t>- In Transit: TLS/SSL encryption</a:t>
          </a:r>
        </a:p>
      </dgm:t>
    </dgm:pt>
    <dgm:pt modelId="{C89EE0EB-D9F5-4FD6-B045-8C24BE65E7BD}" type="parTrans" cxnId="{DA0D0EEC-C984-4385-B462-32DB4DD2F7A8}">
      <dgm:prSet/>
      <dgm:spPr/>
      <dgm:t>
        <a:bodyPr/>
        <a:lstStyle/>
        <a:p>
          <a:endParaRPr lang="en-US"/>
        </a:p>
      </dgm:t>
    </dgm:pt>
    <dgm:pt modelId="{A22C1430-D164-481A-AEA6-00D93D167BF0}" type="sibTrans" cxnId="{DA0D0EEC-C984-4385-B462-32DB4DD2F7A8}">
      <dgm:prSet/>
      <dgm:spPr/>
      <dgm:t>
        <a:bodyPr/>
        <a:lstStyle/>
        <a:p>
          <a:endParaRPr lang="en-US"/>
        </a:p>
      </dgm:t>
    </dgm:pt>
    <dgm:pt modelId="{A4A269FA-C93F-4E3D-AFDA-17C4E39498E8}">
      <dgm:prSet/>
      <dgm:spPr/>
      <dgm:t>
        <a:bodyPr/>
        <a:lstStyle/>
        <a:p>
          <a:r>
            <a:rPr lang="en-US"/>
            <a:t>- Azure Storage Service Encryption</a:t>
          </a:r>
        </a:p>
      </dgm:t>
    </dgm:pt>
    <dgm:pt modelId="{D74DB80C-81AA-42B3-ACC6-53ADC7C6BF34}" type="parTrans" cxnId="{6260EC8A-3757-4E40-8E63-0662B6C2B889}">
      <dgm:prSet/>
      <dgm:spPr/>
      <dgm:t>
        <a:bodyPr/>
        <a:lstStyle/>
        <a:p>
          <a:endParaRPr lang="en-US"/>
        </a:p>
      </dgm:t>
    </dgm:pt>
    <dgm:pt modelId="{5297391D-004B-4033-8E4A-59D088194331}" type="sibTrans" cxnId="{6260EC8A-3757-4E40-8E63-0662B6C2B889}">
      <dgm:prSet/>
      <dgm:spPr/>
      <dgm:t>
        <a:bodyPr/>
        <a:lstStyle/>
        <a:p>
          <a:endParaRPr lang="en-US"/>
        </a:p>
      </dgm:t>
    </dgm:pt>
    <dgm:pt modelId="{192E2396-8323-451C-9AF5-FA4441242EB5}">
      <dgm:prSet/>
      <dgm:spPr/>
      <dgm:t>
        <a:bodyPr/>
        <a:lstStyle/>
        <a:p>
          <a:r>
            <a:rPr lang="en-US"/>
            <a:t>- Transparent Data Encryption (TDE)</a:t>
          </a:r>
        </a:p>
      </dgm:t>
    </dgm:pt>
    <dgm:pt modelId="{21540605-988F-4ECB-93B5-CF925C8826EA}" type="parTrans" cxnId="{DB1F2240-EC75-4521-B9E1-96607E4A3478}">
      <dgm:prSet/>
      <dgm:spPr/>
      <dgm:t>
        <a:bodyPr/>
        <a:lstStyle/>
        <a:p>
          <a:endParaRPr lang="en-US"/>
        </a:p>
      </dgm:t>
    </dgm:pt>
    <dgm:pt modelId="{4AFB2FF3-F172-489B-87BC-B0A95BEF4641}" type="sibTrans" cxnId="{DB1F2240-EC75-4521-B9E1-96607E4A3478}">
      <dgm:prSet/>
      <dgm:spPr/>
      <dgm:t>
        <a:bodyPr/>
        <a:lstStyle/>
        <a:p>
          <a:endParaRPr lang="en-US"/>
        </a:p>
      </dgm:t>
    </dgm:pt>
    <dgm:pt modelId="{A16818FE-D3EB-4CB9-AE61-319AC46B1AEB}" type="pres">
      <dgm:prSet presAssocID="{AE22C778-77D0-4EF4-ADF1-5C4CBADFF43D}" presName="linear" presStyleCnt="0">
        <dgm:presLayoutVars>
          <dgm:animLvl val="lvl"/>
          <dgm:resizeHandles val="exact"/>
        </dgm:presLayoutVars>
      </dgm:prSet>
      <dgm:spPr/>
    </dgm:pt>
    <dgm:pt modelId="{B8D54438-C761-427E-A34A-34ED9FB0F955}" type="pres">
      <dgm:prSet presAssocID="{B2CEC2FA-DF74-4C64-A4EC-7D77F00AB1F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204AAC-637E-4CC5-A2A3-B0D8E8D104A3}" type="pres">
      <dgm:prSet presAssocID="{42A6886E-225A-429A-B0F5-0D5EE240E04C}" presName="spacer" presStyleCnt="0"/>
      <dgm:spPr/>
    </dgm:pt>
    <dgm:pt modelId="{93E5E0D7-039C-45FE-BD5D-5D24536E4FD3}" type="pres">
      <dgm:prSet presAssocID="{08427500-3B9E-4C25-A96E-935A718D39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0BACB8-2A2F-4E59-813B-B06BB3DA56C0}" type="pres">
      <dgm:prSet presAssocID="{A22C1430-D164-481A-AEA6-00D93D167BF0}" presName="spacer" presStyleCnt="0"/>
      <dgm:spPr/>
    </dgm:pt>
    <dgm:pt modelId="{EB71AB21-6A54-488D-867E-58C91234CC5C}" type="pres">
      <dgm:prSet presAssocID="{A4A269FA-C93F-4E3D-AFDA-17C4E39498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80EAE81-188D-4B37-B310-5047DC30D6DF}" type="pres">
      <dgm:prSet presAssocID="{5297391D-004B-4033-8E4A-59D088194331}" presName="spacer" presStyleCnt="0"/>
      <dgm:spPr/>
    </dgm:pt>
    <dgm:pt modelId="{9573BE76-E13A-42F8-BA7F-16CDCFE758D5}" type="pres">
      <dgm:prSet presAssocID="{192E2396-8323-451C-9AF5-FA4441242E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5C272B-D285-4AA2-B8FC-F29EC0830918}" type="presOf" srcId="{B2CEC2FA-DF74-4C64-A4EC-7D77F00AB1F9}" destId="{B8D54438-C761-427E-A34A-34ED9FB0F955}" srcOrd="0" destOrd="0" presId="urn:microsoft.com/office/officeart/2005/8/layout/vList2"/>
    <dgm:cxn modelId="{DB1F2240-EC75-4521-B9E1-96607E4A3478}" srcId="{AE22C778-77D0-4EF4-ADF1-5C4CBADFF43D}" destId="{192E2396-8323-451C-9AF5-FA4441242EB5}" srcOrd="3" destOrd="0" parTransId="{21540605-988F-4ECB-93B5-CF925C8826EA}" sibTransId="{4AFB2FF3-F172-489B-87BC-B0A95BEF4641}"/>
    <dgm:cxn modelId="{E6A77F63-B0E4-4905-BB49-65768AB07D99}" srcId="{AE22C778-77D0-4EF4-ADF1-5C4CBADFF43D}" destId="{B2CEC2FA-DF74-4C64-A4EC-7D77F00AB1F9}" srcOrd="0" destOrd="0" parTransId="{E8325DA0-5399-4018-AFCA-C9732E582465}" sibTransId="{42A6886E-225A-429A-B0F5-0D5EE240E04C}"/>
    <dgm:cxn modelId="{FA0BD64E-84DE-4F53-98F6-D39C3AF99570}" type="presOf" srcId="{192E2396-8323-451C-9AF5-FA4441242EB5}" destId="{9573BE76-E13A-42F8-BA7F-16CDCFE758D5}" srcOrd="0" destOrd="0" presId="urn:microsoft.com/office/officeart/2005/8/layout/vList2"/>
    <dgm:cxn modelId="{6260EC8A-3757-4E40-8E63-0662B6C2B889}" srcId="{AE22C778-77D0-4EF4-ADF1-5C4CBADFF43D}" destId="{A4A269FA-C93F-4E3D-AFDA-17C4E39498E8}" srcOrd="2" destOrd="0" parTransId="{D74DB80C-81AA-42B3-ACC6-53ADC7C6BF34}" sibTransId="{5297391D-004B-4033-8E4A-59D088194331}"/>
    <dgm:cxn modelId="{A6F6CF8E-DEBB-4130-8826-ED6958ACC3D0}" type="presOf" srcId="{A4A269FA-C93F-4E3D-AFDA-17C4E39498E8}" destId="{EB71AB21-6A54-488D-867E-58C91234CC5C}" srcOrd="0" destOrd="0" presId="urn:microsoft.com/office/officeart/2005/8/layout/vList2"/>
    <dgm:cxn modelId="{AFDC50D7-8463-428B-B46E-91D134E277B8}" type="presOf" srcId="{08427500-3B9E-4C25-A96E-935A718D39D7}" destId="{93E5E0D7-039C-45FE-BD5D-5D24536E4FD3}" srcOrd="0" destOrd="0" presId="urn:microsoft.com/office/officeart/2005/8/layout/vList2"/>
    <dgm:cxn modelId="{DA0D0EEC-C984-4385-B462-32DB4DD2F7A8}" srcId="{AE22C778-77D0-4EF4-ADF1-5C4CBADFF43D}" destId="{08427500-3B9E-4C25-A96E-935A718D39D7}" srcOrd="1" destOrd="0" parTransId="{C89EE0EB-D9F5-4FD6-B045-8C24BE65E7BD}" sibTransId="{A22C1430-D164-481A-AEA6-00D93D167BF0}"/>
    <dgm:cxn modelId="{8AD1FFFD-7B41-4103-99AD-A005B0D54580}" type="presOf" srcId="{AE22C778-77D0-4EF4-ADF1-5C4CBADFF43D}" destId="{A16818FE-D3EB-4CB9-AE61-319AC46B1AEB}" srcOrd="0" destOrd="0" presId="urn:microsoft.com/office/officeart/2005/8/layout/vList2"/>
    <dgm:cxn modelId="{8E50210F-584B-4F6A-B0D2-3E6A9C529276}" type="presParOf" srcId="{A16818FE-D3EB-4CB9-AE61-319AC46B1AEB}" destId="{B8D54438-C761-427E-A34A-34ED9FB0F955}" srcOrd="0" destOrd="0" presId="urn:microsoft.com/office/officeart/2005/8/layout/vList2"/>
    <dgm:cxn modelId="{47D2776E-F96E-4BC8-AFE7-0D0A734EDE69}" type="presParOf" srcId="{A16818FE-D3EB-4CB9-AE61-319AC46B1AEB}" destId="{C2204AAC-637E-4CC5-A2A3-B0D8E8D104A3}" srcOrd="1" destOrd="0" presId="urn:microsoft.com/office/officeart/2005/8/layout/vList2"/>
    <dgm:cxn modelId="{54CB55E4-2F7F-4C5F-BBEB-CB64D145BB89}" type="presParOf" srcId="{A16818FE-D3EB-4CB9-AE61-319AC46B1AEB}" destId="{93E5E0D7-039C-45FE-BD5D-5D24536E4FD3}" srcOrd="2" destOrd="0" presId="urn:microsoft.com/office/officeart/2005/8/layout/vList2"/>
    <dgm:cxn modelId="{5C16A979-B1E7-4716-85C3-D749B548BBBC}" type="presParOf" srcId="{A16818FE-D3EB-4CB9-AE61-319AC46B1AEB}" destId="{060BACB8-2A2F-4E59-813B-B06BB3DA56C0}" srcOrd="3" destOrd="0" presId="urn:microsoft.com/office/officeart/2005/8/layout/vList2"/>
    <dgm:cxn modelId="{980A71EE-A1D9-464D-A420-8F479BD171BA}" type="presParOf" srcId="{A16818FE-D3EB-4CB9-AE61-319AC46B1AEB}" destId="{EB71AB21-6A54-488D-867E-58C91234CC5C}" srcOrd="4" destOrd="0" presId="urn:microsoft.com/office/officeart/2005/8/layout/vList2"/>
    <dgm:cxn modelId="{E6B027DF-6837-4463-9346-FBE2FD19E5FE}" type="presParOf" srcId="{A16818FE-D3EB-4CB9-AE61-319AC46B1AEB}" destId="{680EAE81-188D-4B37-B310-5047DC30D6DF}" srcOrd="5" destOrd="0" presId="urn:microsoft.com/office/officeart/2005/8/layout/vList2"/>
    <dgm:cxn modelId="{1E38EF88-19E9-4597-8176-82C50C153163}" type="presParOf" srcId="{A16818FE-D3EB-4CB9-AE61-319AC46B1AEB}" destId="{9573BE76-E13A-42F8-BA7F-16CDCFE758D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54438-C761-427E-A34A-34ED9FB0F955}">
      <dsp:nvSpPr>
        <dsp:cNvPr id="0" name=""/>
        <dsp:cNvSpPr/>
      </dsp:nvSpPr>
      <dsp:spPr>
        <a:xfrm>
          <a:off x="0" y="154824"/>
          <a:ext cx="4231481" cy="10881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At Rest: Data encrypted using AES-256</a:t>
          </a:r>
        </a:p>
      </dsp:txBody>
      <dsp:txXfrm>
        <a:off x="53117" y="207941"/>
        <a:ext cx="4125247" cy="981866"/>
      </dsp:txXfrm>
    </dsp:sp>
    <dsp:sp modelId="{93E5E0D7-039C-45FE-BD5D-5D24536E4FD3}">
      <dsp:nvSpPr>
        <dsp:cNvPr id="0" name=""/>
        <dsp:cNvSpPr/>
      </dsp:nvSpPr>
      <dsp:spPr>
        <a:xfrm>
          <a:off x="0" y="1329324"/>
          <a:ext cx="4231481" cy="108810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In Transit: TLS/SSL encryption</a:t>
          </a:r>
        </a:p>
      </dsp:txBody>
      <dsp:txXfrm>
        <a:off x="53117" y="1382441"/>
        <a:ext cx="4125247" cy="981866"/>
      </dsp:txXfrm>
    </dsp:sp>
    <dsp:sp modelId="{EB71AB21-6A54-488D-867E-58C91234CC5C}">
      <dsp:nvSpPr>
        <dsp:cNvPr id="0" name=""/>
        <dsp:cNvSpPr/>
      </dsp:nvSpPr>
      <dsp:spPr>
        <a:xfrm>
          <a:off x="0" y="2503825"/>
          <a:ext cx="4231481" cy="108810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Azure Storage Service Encryption</a:t>
          </a:r>
        </a:p>
      </dsp:txBody>
      <dsp:txXfrm>
        <a:off x="53117" y="2556942"/>
        <a:ext cx="4125247" cy="981866"/>
      </dsp:txXfrm>
    </dsp:sp>
    <dsp:sp modelId="{9573BE76-E13A-42F8-BA7F-16CDCFE758D5}">
      <dsp:nvSpPr>
        <dsp:cNvPr id="0" name=""/>
        <dsp:cNvSpPr/>
      </dsp:nvSpPr>
      <dsp:spPr>
        <a:xfrm>
          <a:off x="0" y="3678325"/>
          <a:ext cx="4231481" cy="108810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Transparent Data Encryption (TDE)</a:t>
          </a:r>
        </a:p>
      </dsp:txBody>
      <dsp:txXfrm>
        <a:off x="53117" y="3731442"/>
        <a:ext cx="4125247" cy="981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6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97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6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2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7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0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2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33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10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39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117FE-7B4C-3233-A1A2-31B2D48929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r="11021" b="-2"/>
          <a:stretch>
            <a:fillRect/>
          </a:stretch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5373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700" kern="1200" cap="all" spc="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706" y="643467"/>
            <a:ext cx="232269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/>
              <a:t>Overview of security and monitoring in Azure Data Platform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4703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Encryption at Rest &amp; In Transit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DD4527-7BE5-77DD-B719-F518844BA1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38531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Key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Secure secrets, keys, certificates</a:t>
            </a:r>
          </a:p>
          <a:p>
            <a:r>
              <a:t>- Integration with ADF, Databricks</a:t>
            </a:r>
          </a:p>
          <a:p>
            <a:r>
              <a:t>- Managed Identity usage</a:t>
            </a:r>
          </a:p>
          <a:p>
            <a:r>
              <a:t>- Rotation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Auditing &amp; Data Masking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Auditing: Track DB events</a:t>
            </a:r>
          </a:p>
          <a:p>
            <a:r>
              <a:t>- Dynamic Data Masking</a:t>
            </a:r>
          </a:p>
          <a:p>
            <a:r>
              <a:t>- Row-Level Security</a:t>
            </a:r>
          </a:p>
          <a:p>
            <a:r>
              <a:t>- Compliance &amp;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Isolation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Private Endpoints</a:t>
            </a:r>
          </a:p>
          <a:p>
            <a:r>
              <a:t>- VNet Integration</a:t>
            </a:r>
          </a:p>
          <a:p>
            <a:r>
              <a:t>- Firewall rules</a:t>
            </a:r>
          </a:p>
          <a:p>
            <a:r>
              <a:t>- Zero Trust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Monitor &amp; Log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Central monitoring solution</a:t>
            </a:r>
          </a:p>
          <a:p>
            <a:r>
              <a:t>- Log Analytics workspace</a:t>
            </a:r>
          </a:p>
          <a:p>
            <a:r>
              <a:t>- KQL queries</a:t>
            </a:r>
          </a:p>
          <a:p>
            <a:r>
              <a:t>- Alerts and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Enable logs &amp; metrics</a:t>
            </a:r>
          </a:p>
          <a:p>
            <a:r>
              <a:t>- Send to Log Analytics / Storage</a:t>
            </a:r>
          </a:p>
          <a:p>
            <a:r>
              <a:t>- Audit trail</a:t>
            </a:r>
          </a:p>
          <a:p>
            <a:r>
              <a:t>- Integration with SIEM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11 — Optimization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lifecycle and cost optimization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Hot, Cool, Archive tiers</a:t>
            </a:r>
          </a:p>
          <a:p>
            <a:r>
              <a:t>- Lifecycle policies</a:t>
            </a:r>
          </a:p>
          <a:p>
            <a:r>
              <a:t>- Data retention</a:t>
            </a:r>
          </a:p>
          <a:p>
            <a:r>
              <a:t>- Compliance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OPTIMIZE command</a:t>
            </a:r>
          </a:p>
          <a:p>
            <a:r>
              <a:t>- Z-Ordering</a:t>
            </a:r>
          </a:p>
          <a:p>
            <a:r>
              <a:t>- File compaction</a:t>
            </a:r>
          </a:p>
          <a:p>
            <a:r>
              <a:t>- Performance tuning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Partitioning strategies</a:t>
            </a:r>
          </a:p>
          <a:p>
            <a:r>
              <a:t>- File sizing (100MB–1GB)</a:t>
            </a:r>
          </a:p>
          <a:p>
            <a:r>
              <a:t>- Avoid small files</a:t>
            </a:r>
          </a:p>
          <a:p>
            <a:r>
              <a:t>- Compression formats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Auto-scaling clusters</a:t>
            </a:r>
          </a:p>
          <a:p>
            <a:r>
              <a:t>- Spot instances</a:t>
            </a:r>
          </a:p>
          <a:p>
            <a:r>
              <a:t>- Reserved capacity</a:t>
            </a:r>
          </a:p>
          <a:p>
            <a:r>
              <a:t>- Monitoring usage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12 — Architecture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Choosing the right Azure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ADF vs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ADF: Orchestration</a:t>
            </a:r>
          </a:p>
          <a:p>
            <a:r>
              <a:t>- Databricks: Processing</a:t>
            </a:r>
          </a:p>
          <a:p>
            <a:r>
              <a:t>- Use together for pipelines</a:t>
            </a:r>
          </a:p>
          <a:p>
            <a:r>
              <a:t>- No-code vs code-based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Synapse vs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Synapse: Integrated analytics</a:t>
            </a:r>
          </a:p>
          <a:p>
            <a:r>
              <a:t>- Databricks: Advanced Spark</a:t>
            </a:r>
          </a:p>
          <a:p>
            <a:r>
              <a:t>- Use cases differ</a:t>
            </a:r>
          </a:p>
          <a:p>
            <a:r>
              <a:t>- Performance considerations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 vs Synapse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Fabric: SaaS unified platform</a:t>
            </a:r>
          </a:p>
          <a:p>
            <a:r>
              <a:t>- Synapse: PaaS analytics</a:t>
            </a:r>
          </a:p>
          <a:p>
            <a:r>
              <a:t>- Simplicity vs flexibility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vs Dedicated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Serverless: Pay-per-query</a:t>
            </a:r>
          </a:p>
          <a:p>
            <a:r>
              <a:t>- Dedicated: Reserved compute</a:t>
            </a:r>
          </a:p>
          <a:p>
            <a:r>
              <a:t>- Cost vs performance tradeoff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Architecture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Medallion architecture</a:t>
            </a:r>
          </a:p>
          <a:p>
            <a:r>
              <a:t>- CI/CD pipelines</a:t>
            </a:r>
          </a:p>
          <a:p>
            <a:r>
              <a:t>- Monitoring &amp; alerting</a:t>
            </a:r>
          </a:p>
          <a:p>
            <a:r>
              <a:t>- Governance &amp; security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13 — Microsoft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Next-gen analytics platform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Unified data lake</a:t>
            </a:r>
          </a:p>
          <a:p>
            <a:r>
              <a:t>- Single copy of data</a:t>
            </a:r>
          </a:p>
          <a:p>
            <a:r>
              <a:t>- Accessible across services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 Lakehouse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Combines data lake + warehouse</a:t>
            </a:r>
          </a:p>
          <a:p>
            <a:r>
              <a:t>- Delta format</a:t>
            </a:r>
          </a:p>
          <a:p>
            <a:r>
              <a:t>- SQL + Spark support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integration workflows</a:t>
            </a:r>
          </a:p>
          <a:p>
            <a:r>
              <a:t>- Similar to ADF</a:t>
            </a:r>
          </a:p>
          <a:p>
            <a:r>
              <a:t>- Orchestration within Fabric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Direct query on OneLake</a:t>
            </a:r>
          </a:p>
          <a:p>
            <a:r>
              <a:t>- No data movement</a:t>
            </a:r>
          </a:p>
          <a:p>
            <a:r>
              <a:t>- Real-time analytics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→ Transform → Synapse/Fabric → Power BI</a:t>
            </a:r>
          </a:p>
          <a:p>
            <a:r>
              <a:t>- Ingestion</a:t>
            </a:r>
          </a:p>
          <a:p>
            <a:r>
              <a:t>- Transformation</a:t>
            </a:r>
          </a:p>
          <a:p>
            <a:r>
              <a:t>- Serving</a:t>
            </a:r>
          </a:p>
          <a:p>
            <a:r>
              <a:t>- Visualization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</TotalTime>
  <Words>416</Words>
  <Application>Microsoft Office PowerPoint</Application>
  <PresentationFormat>On-screen Show (4:3)</PresentationFormat>
  <Paragraphs>103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Tw Cen MT</vt:lpstr>
      <vt:lpstr>Tw Cen MT Condensed</vt:lpstr>
      <vt:lpstr>Wingdings 3</vt:lpstr>
      <vt:lpstr>Integral</vt:lpstr>
      <vt:lpstr>Security &amp; Observability</vt:lpstr>
      <vt:lpstr>Encryption at Rest &amp; In Transit</vt:lpstr>
      <vt:lpstr>Azure Key Vault</vt:lpstr>
      <vt:lpstr>SQL Auditing &amp; Data Masking</vt:lpstr>
      <vt:lpstr>Network Isolation Patterns</vt:lpstr>
      <vt:lpstr>Azure Monitor &amp; Log Analytics</vt:lpstr>
      <vt:lpstr>Diagnostic Settings</vt:lpstr>
      <vt:lpstr>Module 11 — Optimization &amp; Lifecycle</vt:lpstr>
      <vt:lpstr>Archival Strategies</vt:lpstr>
      <vt:lpstr>Delta Optimization</vt:lpstr>
      <vt:lpstr>Storage Optimization</vt:lpstr>
      <vt:lpstr>Cost Optimization</vt:lpstr>
      <vt:lpstr>Module 12 — Architecture Decision Framework</vt:lpstr>
      <vt:lpstr>ADF vs Databricks</vt:lpstr>
      <vt:lpstr>Synapse vs Databricks</vt:lpstr>
      <vt:lpstr>Fabric vs Synapse</vt:lpstr>
      <vt:lpstr>Serverless vs Dedicated</vt:lpstr>
      <vt:lpstr>Production Architecture Patterns</vt:lpstr>
      <vt:lpstr>Module 13 — Microsoft Fabric</vt:lpstr>
      <vt:lpstr>OneLake</vt:lpstr>
      <vt:lpstr>Fabric Lakehouse</vt:lpstr>
      <vt:lpstr>Fabric Pipelines</vt:lpstr>
      <vt:lpstr>DirectLake</vt:lpstr>
      <vt:lpstr>End-to-End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2026-04-05T09:34:54Z</dcterms:modified>
  <cp:category/>
</cp:coreProperties>
</file>
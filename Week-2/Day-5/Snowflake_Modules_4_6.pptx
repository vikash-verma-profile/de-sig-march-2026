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9" r:id="rId14"/>
    <p:sldId id="268" r:id="rId15"/>
    <p:sldId id="269" r:id="rId16"/>
    <p:sldId id="270" r:id="rId17"/>
    <p:sldId id="282" r:id="rId18"/>
    <p:sldId id="271" r:id="rId19"/>
    <p:sldId id="280" r:id="rId20"/>
    <p:sldId id="272" r:id="rId21"/>
    <p:sldId id="273" r:id="rId22"/>
    <p:sldId id="274" r:id="rId23"/>
    <p:sldId id="275" r:id="rId24"/>
    <p:sldId id="276" r:id="rId25"/>
    <p:sldId id="277" r:id="rId26"/>
    <p:sldId id="283" r:id="rId27"/>
    <p:sldId id="278" r:id="rId28"/>
    <p:sldId id="281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80" d="100"/>
          <a:sy n="80" d="100"/>
        </p:scale>
        <p:origin x="64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34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322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8850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000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006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320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147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190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4769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13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32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694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194971-2F2D-44B0-8AE6-FF2DCCEE0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0" name="Oval 5">
            <a:extLst>
              <a:ext uri="{FF2B5EF4-FFF2-40B4-BE49-F238E27FC236}">
                <a16:creationId xmlns:a16="http://schemas.microsoft.com/office/drawing/2014/main" id="{1FF9A61E-EB11-4C46-82E1-3E00A3B4B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E564EB3-35F2-4EFF-87DC-642DC0205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C0648FB-4388-443C-8D4E-4A9FF0336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47003" y="4960137"/>
            <a:ext cx="3111247" cy="146304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>
                <a:solidFill>
                  <a:schemeClr val="tx1">
                    <a:lumMod val="95000"/>
                    <a:lumOff val="5000"/>
                  </a:schemeClr>
                </a:solidFill>
              </a:rPr>
              <a:t>Snowflake data ingestion basics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8D762E-DA8D-419A-BA44-68B93D3D92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199" y="977048"/>
            <a:ext cx="7213600" cy="29609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spc="200">
                <a:solidFill>
                  <a:srgbClr val="FFFFFF"/>
                </a:solidFill>
              </a:rPr>
              <a:t>Data Loading Fundamentals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7F95953-8E19-4C01-997F-0E959B52B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5664149" y="5234457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Snowflake 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Stages are locations to store data files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Used for: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Loading data into Snowflake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Unloading data from Snowflake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Types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dirty="0"/>
              <a:t>Internal stage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dirty="0"/>
              <a:t>External stage (S3, Azure Blob, GCS)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Internal vs External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dirty="0"/>
              <a:t>Interna</a:t>
            </a:r>
            <a:r>
              <a:rPr lang="en-US" dirty="0"/>
              <a:t>l: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Managed by </a:t>
            </a:r>
            <a:r>
              <a:rPr lang="en-US" b="1" dirty="0"/>
              <a:t>Snowflake itself</a:t>
            </a:r>
            <a:r>
              <a:rPr lang="en-US" dirty="0"/>
              <a:t>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No cloud setup required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Types: </a:t>
            </a:r>
          </a:p>
          <a:p>
            <a:pPr marL="925830" lvl="2" indent="-285750">
              <a:buFont typeface="Arial" panose="020B0604020202020204" pitchFamily="34" charset="0"/>
              <a:buChar char="•"/>
            </a:pPr>
            <a:r>
              <a:rPr lang="en-US" dirty="0"/>
              <a:t>User stage (</a:t>
            </a:r>
            <a:r>
              <a:rPr lang="en-US" dirty="0">
                <a:latin typeface="Courier New" panose="02070309020205020404" pitchFamily="49" charset="0"/>
              </a:rPr>
              <a:t>@~</a:t>
            </a:r>
            <a:r>
              <a:rPr lang="en-US" dirty="0"/>
              <a:t>) </a:t>
            </a:r>
          </a:p>
          <a:p>
            <a:pPr marL="925830" lvl="2" indent="-285750">
              <a:buFont typeface="Arial" panose="020B0604020202020204" pitchFamily="34" charset="0"/>
              <a:buChar char="•"/>
            </a:pPr>
            <a:r>
              <a:rPr lang="en-US" dirty="0"/>
              <a:t>Table stage (</a:t>
            </a:r>
            <a:r>
              <a:rPr lang="en-US" dirty="0">
                <a:latin typeface="Courier New" panose="02070309020205020404" pitchFamily="49" charset="0"/>
              </a:rPr>
              <a:t>@%table_name</a:t>
            </a:r>
            <a:r>
              <a:rPr lang="en-US" dirty="0"/>
              <a:t>) </a:t>
            </a:r>
          </a:p>
          <a:p>
            <a:pPr marL="925830" lvl="2" indent="-285750">
              <a:buFont typeface="Arial" panose="020B0604020202020204" pitchFamily="34" charset="0"/>
              <a:buChar char="•"/>
            </a:pPr>
            <a:r>
              <a:rPr lang="en-US" dirty="0"/>
              <a:t>Named internal stage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Best for quick loading and testing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dirty="0"/>
              <a:t>External: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Stored outside Snowflake in cloud storage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Requires storage integration + permissions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Supports: </a:t>
            </a:r>
          </a:p>
          <a:p>
            <a:pPr marL="925830" lvl="2" indent="-285750">
              <a:buFont typeface="Arial" panose="020B0604020202020204" pitchFamily="34" charset="0"/>
              <a:buChar char="•"/>
            </a:pPr>
            <a:r>
              <a:rPr lang="en-IN" dirty="0"/>
              <a:t>Amazon S3 </a:t>
            </a:r>
          </a:p>
          <a:p>
            <a:pPr marL="925830" lvl="2" indent="-285750">
              <a:buFont typeface="Arial" panose="020B0604020202020204" pitchFamily="34" charset="0"/>
              <a:buChar char="•"/>
            </a:pPr>
            <a:r>
              <a:rPr lang="en-IN" dirty="0"/>
              <a:t>Azure Blob Storage </a:t>
            </a:r>
          </a:p>
          <a:p>
            <a:pPr marL="925830" lvl="2" indent="-285750">
              <a:buFont typeface="Arial" panose="020B0604020202020204" pitchFamily="34" charset="0"/>
              <a:buChar char="•"/>
            </a:pPr>
            <a:r>
              <a:rPr lang="en-IN" dirty="0"/>
              <a:t>Google Cloud Storage </a:t>
            </a:r>
          </a:p>
          <a:p>
            <a:pPr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Define how Snowflake reads and writes data files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Required during loading (COPY INTO) and unloading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Supported Formats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CSV → Structured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JSON → Semi-structured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Parquet → Columnar format (optimized for analytics)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File Format Objects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IN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Reusable configuration objects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Avoid redefining format every time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Supports Compression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Reduces file size and improves performance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Supported: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IN" dirty="0"/>
              <a:t>GZIP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IN" dirty="0"/>
              <a:t>BZIP2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IN" dirty="0"/>
              <a:t>SNAPPY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COPY INTO</a:t>
            </a:r>
            <a:r>
              <a:rPr lang="en-US" dirty="0"/>
              <a:t>(</a:t>
            </a:r>
            <a:r>
              <a:rPr dirty="0"/>
              <a:t>Basics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Load Data into Tables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Load data from stage → table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Parallel Processing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Multiple files processed simultaneously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High Performance Ingestion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Fast and scalable data loading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Optimized for large datasets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Bulk 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Load large volumes of data into Snowflake in a single operation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Load Multiple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Processes multiple files in parallel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No manual configuration needed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Efficient for Large Datasets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Optimized for high-volume batch ingestion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Supports TB-scale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Uses Staging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Files loaded via internal/external stages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Flow: Stage → COPY INTO → Table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Key Benefits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High performance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Fault tolerance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Supports structured &amp; semi-structured data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Data 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CSV format</a:t>
            </a:r>
          </a:p>
          <a:p>
            <a:r>
              <a:t>- Fixed schema</a:t>
            </a:r>
          </a:p>
          <a:p>
            <a:r>
              <a:t>- Direct mapping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Semi-Structured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JSON, XML</a:t>
            </a:r>
          </a:p>
          <a:p>
            <a:r>
              <a:t>- VARIANT data type</a:t>
            </a:r>
          </a:p>
          <a:p>
            <a:r>
              <a:t>- Schema-on-read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Unstructured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Images, PDFs via external stage</a:t>
            </a:r>
          </a:p>
          <a:p>
            <a:r>
              <a:t>- Snowflake support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SnowSQL</a:t>
            </a:r>
            <a:r>
              <a:rPr dirty="0"/>
              <a:t>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- Command line tool</a:t>
            </a:r>
          </a:p>
          <a:p>
            <a:r>
              <a:rPr dirty="0"/>
              <a:t>- Run scripts</a:t>
            </a:r>
          </a:p>
          <a:p>
            <a:r>
              <a:rPr dirty="0"/>
              <a:t>- Automate ingestion</a:t>
            </a:r>
            <a:endParaRPr lang="en-US" dirty="0"/>
          </a:p>
          <a:p>
            <a:endParaRPr lang="en-IN" dirty="0"/>
          </a:p>
          <a:p>
            <a:r>
              <a:rPr lang="en-IN" b="1" dirty="0" err="1"/>
              <a:t>SnowSQL</a:t>
            </a:r>
            <a:r>
              <a:rPr lang="en-IN" dirty="0"/>
              <a:t> is the official CLI tool by Snowflake that lets you:</a:t>
            </a:r>
          </a:p>
          <a:p>
            <a:pPr lvl="0"/>
            <a:r>
              <a:rPr lang="en-IN" dirty="0"/>
              <a:t>Run SQL queries from terminal</a:t>
            </a:r>
          </a:p>
          <a:p>
            <a:pPr lvl="0"/>
            <a:r>
              <a:rPr lang="en-IN" dirty="0"/>
              <a:t>Load/unload data</a:t>
            </a:r>
          </a:p>
          <a:p>
            <a:pPr lvl="0"/>
            <a:r>
              <a:rPr lang="en-IN" dirty="0"/>
              <a:t>Automate scripts (ETL, batch jobs)</a:t>
            </a:r>
          </a:p>
          <a:p>
            <a:pPr lvl="0"/>
            <a:r>
              <a:rPr lang="en-IN" dirty="0"/>
              <a:t>Manage Snowflake without UI (</a:t>
            </a:r>
            <a:r>
              <a:rPr lang="en-IN" dirty="0" err="1"/>
              <a:t>Snowsight</a:t>
            </a:r>
            <a:r>
              <a:rPr lang="en-IN" dirty="0"/>
              <a:t>)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Continuous &amp; Advanced 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Advanced ingestion techniques</a:t>
            </a:r>
            <a:endParaRPr lang="en-US" dirty="0"/>
          </a:p>
          <a:p>
            <a:endParaRPr lang="en-IN" dirty="0"/>
          </a:p>
          <a:p>
            <a:r>
              <a:rPr lang="en-US" dirty="0"/>
              <a:t>Continuous loading = </a:t>
            </a:r>
            <a:r>
              <a:rPr lang="en-US" b="1" dirty="0"/>
              <a:t>automatically ingest data as soon as it arrives</a:t>
            </a:r>
          </a:p>
          <a:p>
            <a:endParaRPr lang="en-US" b="1" dirty="0"/>
          </a:p>
          <a:p>
            <a:r>
              <a:rPr lang="en-US" dirty="0"/>
              <a:t>Instead of:</a:t>
            </a:r>
          </a:p>
          <a:p>
            <a:r>
              <a:rPr lang="en-US" dirty="0"/>
              <a:t>Manual → PUT → COPY INTO</a:t>
            </a:r>
          </a:p>
          <a:p>
            <a:r>
              <a:rPr lang="en-US" dirty="0"/>
              <a:t>WE </a:t>
            </a:r>
            <a:r>
              <a:rPr lang="en-US" dirty="0" err="1"/>
              <a:t>WIll</a:t>
            </a:r>
            <a:r>
              <a:rPr lang="en-US" dirty="0"/>
              <a:t> use:</a:t>
            </a:r>
          </a:p>
          <a:p>
            <a:r>
              <a:rPr lang="en-US" dirty="0"/>
              <a:t>File arrives → Auto trigger → </a:t>
            </a:r>
            <a:r>
              <a:rPr lang="en-US" dirty="0" err="1"/>
              <a:t>Snowpipe</a:t>
            </a:r>
            <a:r>
              <a:rPr lang="en-US" dirty="0"/>
              <a:t> loads → Table updated</a:t>
            </a:r>
          </a:p>
          <a:p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r>
              <a:rPr lang="en-US" b="1" dirty="0"/>
              <a:t>What is </a:t>
            </a:r>
            <a:r>
              <a:rPr lang="en-US" b="1" dirty="0" err="1"/>
              <a:t>Snowpipe</a:t>
            </a:r>
            <a:r>
              <a:rPr lang="en-US" b="1" dirty="0"/>
              <a:t>?</a:t>
            </a:r>
          </a:p>
          <a:p>
            <a:pPr>
              <a:buNone/>
            </a:pPr>
            <a:r>
              <a:rPr lang="en-US" b="1" dirty="0" err="1"/>
              <a:t>Snowpipe</a:t>
            </a:r>
            <a:r>
              <a:rPr lang="en-US" dirty="0"/>
              <a:t> is a serverless ingestion service in Snowflake that: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Automatically loads data from stage → table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Works in near real-time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need to run COPY manually </a:t>
            </a:r>
            <a:endParaRPr lang="en-IN" dirty="0"/>
          </a:p>
          <a:p>
            <a:r>
              <a:rPr dirty="0"/>
              <a:t>- Continuous ingestion</a:t>
            </a:r>
          </a:p>
          <a:p>
            <a:r>
              <a:rPr dirty="0"/>
              <a:t>- Event-driven</a:t>
            </a:r>
          </a:p>
          <a:p>
            <a:r>
              <a:rPr dirty="0"/>
              <a:t>- Auto load from stage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A3A32-B91D-1B29-3C73-A3B27458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0CD5E-1882-5DDA-245D-3D55254D8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Cloud Storage (S3 / GCS / Azure Blob)</a:t>
            </a:r>
          </a:p>
          <a:p>
            <a:r>
              <a:rPr lang="en-IN" dirty="0"/>
              <a:t>        ↓</a:t>
            </a:r>
          </a:p>
          <a:p>
            <a:r>
              <a:rPr lang="en-IN" dirty="0"/>
              <a:t>Event Notification (SNS / </a:t>
            </a:r>
            <a:r>
              <a:rPr lang="en-IN" dirty="0" err="1"/>
              <a:t>PubSub</a:t>
            </a:r>
            <a:r>
              <a:rPr lang="en-IN" dirty="0"/>
              <a:t> / Event Grid)</a:t>
            </a:r>
          </a:p>
          <a:p>
            <a:r>
              <a:rPr lang="en-IN" dirty="0"/>
              <a:t>        ↓</a:t>
            </a:r>
          </a:p>
          <a:p>
            <a:r>
              <a:rPr lang="en-IN" dirty="0" err="1"/>
              <a:t>Snowpipe</a:t>
            </a:r>
            <a:endParaRPr lang="en-IN" dirty="0"/>
          </a:p>
          <a:p>
            <a:r>
              <a:rPr lang="en-IN" dirty="0"/>
              <a:t>        ↓</a:t>
            </a:r>
          </a:p>
          <a:p>
            <a:r>
              <a:rPr lang="en-IN" dirty="0"/>
              <a:t>Target Table</a:t>
            </a:r>
          </a:p>
        </p:txBody>
      </p:sp>
    </p:spTree>
    <p:extLst>
      <p:ext uri="{BB962C8B-B14F-4D97-AF65-F5344CB8AC3E}">
        <p14:creationId xmlns:p14="http://schemas.microsoft.com/office/powerpoint/2010/main" val="3353697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COPY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dirty="0"/>
              <a:t>PURGE</a:t>
            </a:r>
            <a:r>
              <a:rPr lang="en-US" dirty="0"/>
              <a:t> : Delete files from stage after successful load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ON_ERROR</a:t>
            </a:r>
            <a:r>
              <a:rPr lang="en-US" dirty="0"/>
              <a:t> :Control what happens when errors occur during load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ABORT_STATEMENT (default) → Fail completely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CONTINUE → Skip bad rows, load rest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SKIP_FILE → Skip entire file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SKIP_FILE_&lt;n&gt;% → Skip if error % exceeds threshold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FORCE</a:t>
            </a:r>
            <a:r>
              <a:rPr lang="en-US" dirty="0"/>
              <a:t>: Reload files even if already loaded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MATCH_BY_COLUMN_NAME</a:t>
            </a:r>
            <a:r>
              <a:rPr lang="en-US" dirty="0"/>
              <a:t> : Map columns by name instead of position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CASE_SENSITIVE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CASE_INSENSITIVE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Unloading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dirty="0"/>
              <a:t>Export data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Move data from Snowflake tables → external/internal stage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Used for sharing, backup, downstream processing </a:t>
            </a:r>
            <a:endParaRPr dirty="0"/>
          </a:p>
          <a:p>
            <a:pPr>
              <a:buFont typeface="Wingdings" panose="05000000000000000000" pitchFamily="2" charset="2"/>
              <a:buChar char="§"/>
            </a:pPr>
            <a:r>
              <a:rPr dirty="0"/>
              <a:t>COPY INTO stage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Used to unload data from table to stage</a:t>
            </a:r>
            <a:endParaRPr dirty="0"/>
          </a:p>
          <a:p>
            <a:pPr>
              <a:buFont typeface="Wingdings" panose="05000000000000000000" pitchFamily="2" charset="2"/>
              <a:buChar char="§"/>
            </a:pPr>
            <a:r>
              <a:rPr dirty="0"/>
              <a:t>Multiple formats supported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CSV → Structured data export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JSON → Semi-structured data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PARQUET → Columnar, optimized for analytics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AVRO / ORC → Big data ecosystem formats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lang="en-US" dirty="0"/>
          </a:p>
          <a:p>
            <a:pPr>
              <a:buFont typeface="Wingdings" panose="05000000000000000000" pitchFamily="2" charset="2"/>
              <a:buChar char="§"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5999"/>
            <a:ext cx="7290055" cy="4429125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dirty="0"/>
              <a:t>Use compression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Reduces file size during unload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Saves storage + improves transfer speed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Supported: GZIP, BZIP2, SNAPPY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Partition files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Splits output into multiple files based on column values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Improves parallel processing and query performance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Monitor loads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Track unload/export activity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 metadata views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Handle errors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Control behavior when export issues occur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Avoid job failure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E068B-8103-DAD5-6991-036CF8A6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>
            <a:normAutofit/>
          </a:bodyPr>
          <a:lstStyle/>
          <a:p>
            <a:r>
              <a:rPr lang="en-US" dirty="0"/>
              <a:t>Bulk Loading VS </a:t>
            </a:r>
            <a:r>
              <a:rPr lang="en-US" dirty="0" err="1"/>
              <a:t>SnowPIPE</a:t>
            </a:r>
            <a:endParaRPr lang="en-IN" dirty="0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D88DF8C3-ED29-F949-FB93-13A79033FA2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7499014"/>
              </p:ext>
            </p:extLst>
          </p:nvPr>
        </p:nvGraphicFramePr>
        <p:xfrm>
          <a:off x="767953" y="2921029"/>
          <a:ext cx="7290198" cy="27526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26196">
                  <a:extLst>
                    <a:ext uri="{9D8B030D-6E8A-4147-A177-3AD203B41FA5}">
                      <a16:colId xmlns:a16="http://schemas.microsoft.com/office/drawing/2014/main" val="2216960103"/>
                    </a:ext>
                  </a:extLst>
                </a:gridCol>
                <a:gridCol w="2678976">
                  <a:extLst>
                    <a:ext uri="{9D8B030D-6E8A-4147-A177-3AD203B41FA5}">
                      <a16:colId xmlns:a16="http://schemas.microsoft.com/office/drawing/2014/main" val="3779252450"/>
                    </a:ext>
                  </a:extLst>
                </a:gridCol>
                <a:gridCol w="3185026">
                  <a:extLst>
                    <a:ext uri="{9D8B030D-6E8A-4147-A177-3AD203B41FA5}">
                      <a16:colId xmlns:a16="http://schemas.microsoft.com/office/drawing/2014/main" val="426689498"/>
                    </a:ext>
                  </a:extLst>
                </a:gridCol>
              </a:tblGrid>
              <a:tr h="4587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Feature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Bulk Loading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Snowpipe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extLst>
                  <a:ext uri="{0D108BD9-81ED-4DB2-BD59-A6C34878D82A}">
                    <a16:rowId xmlns:a16="http://schemas.microsoft.com/office/drawing/2014/main" val="59820971"/>
                  </a:ext>
                </a:extLst>
              </a:tr>
              <a:tr h="4587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Type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Batch processing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Continuous ingestion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extLst>
                  <a:ext uri="{0D108BD9-81ED-4DB2-BD59-A6C34878D82A}">
                    <a16:rowId xmlns:a16="http://schemas.microsoft.com/office/drawing/2014/main" val="2918903846"/>
                  </a:ext>
                </a:extLst>
              </a:tr>
              <a:tr h="4587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Trigger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Manual / Scheduled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Automatic (event-driven)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extLst>
                  <a:ext uri="{0D108BD9-81ED-4DB2-BD59-A6C34878D82A}">
                    <a16:rowId xmlns:a16="http://schemas.microsoft.com/office/drawing/2014/main" val="1606328315"/>
                  </a:ext>
                </a:extLst>
              </a:tr>
              <a:tr h="4587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Latency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Minutes / Hours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Seconds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extLst>
                  <a:ext uri="{0D108BD9-81ED-4DB2-BD59-A6C34878D82A}">
                    <a16:rowId xmlns:a16="http://schemas.microsoft.com/office/drawing/2014/main" val="392012826"/>
                  </a:ext>
                </a:extLst>
              </a:tr>
              <a:tr h="4587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Use Case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Large periodic loads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Real-time pipelines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extLst>
                  <a:ext uri="{0D108BD9-81ED-4DB2-BD59-A6C34878D82A}">
                    <a16:rowId xmlns:a16="http://schemas.microsoft.com/office/drawing/2014/main" val="3534354703"/>
                  </a:ext>
                </a:extLst>
              </a:tr>
              <a:tr h="45877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Compute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>
                          <a:effectLst/>
                        </a:rPr>
                        <a:t>Uses warehouse</a:t>
                      </a:r>
                      <a:endParaRPr lang="en-IN" sz="2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100" dirty="0">
                          <a:effectLst/>
                        </a:rPr>
                        <a:t>Serverless</a:t>
                      </a:r>
                      <a:endParaRPr lang="en-IN" sz="2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8514" marR="18514" marT="18514" marB="18514" anchor="ctr"/>
                </a:tc>
                <a:extLst>
                  <a:ext uri="{0D108BD9-81ED-4DB2-BD59-A6C34878D82A}">
                    <a16:rowId xmlns:a16="http://schemas.microsoft.com/office/drawing/2014/main" val="41510898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32550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Data Processing &amp; SQL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SQL-Based Processing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Snowflake uses standard SQL for all data operations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Supports: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DDL (CREATE, ALTER)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DML (INSERT, UPDATE, DELETE)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Analytical queries (GROUP BY, WINDOW functions)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Transformations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Perform data transformations directly in SQL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Examples: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Filtering (WHERE)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Aggregation (SUM, COUNT)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Joins (combine multiple tables)</a:t>
            </a:r>
          </a:p>
          <a:p>
            <a:pPr>
              <a:buFont typeface="Arial" panose="020B0604020202020204" pitchFamily="34" charset="0"/>
              <a:buChar char="•"/>
            </a:pP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5E4E9-E523-6968-0073-00FAF479B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96" y="704850"/>
            <a:ext cx="7290055" cy="56045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Semi-Structured Data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Handles JSON, AVRO, PARQUET using VARIANT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Query using: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Dot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FLATTEN() for nested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Performance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Automatic query optimization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Columnar storage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Caching (result, metadata, warehouse cache)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Advanced Processing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Streams → Track data changes (CDC)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Tasks → Schedule SQL jobs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Stored Procedures → Complex logic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IN" dirty="0"/>
              <a:t>User Defined Functions (UDFs)</a:t>
            </a:r>
          </a:p>
        </p:txBody>
      </p:sp>
    </p:spTree>
    <p:extLst>
      <p:ext uri="{BB962C8B-B14F-4D97-AF65-F5344CB8AC3E}">
        <p14:creationId xmlns:p14="http://schemas.microsoft.com/office/powerpoint/2010/main" val="4288908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Scalar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Functions that work on one value at a time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Return a single output for each row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Commonly used for data transformation and cleaning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UPPER, LOWER, LENGTH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Aggregate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Functions that operate on multiple rows of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Return a single summarized value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Commonly used with GROUP BY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SUM, COUNT, AVG</a:t>
            </a:r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Group-based calculations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Perform calculations across a </a:t>
            </a:r>
            <a:r>
              <a:rPr lang="en-US" b="1" dirty="0"/>
              <a:t>set of rows (window)</a:t>
            </a:r>
            <a:r>
              <a:rPr lang="en-US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Unlike aggregate functions, they </a:t>
            </a:r>
            <a:r>
              <a:rPr lang="en-US" b="1" dirty="0"/>
              <a:t>do not collapse rows</a:t>
            </a:r>
            <a:r>
              <a:rPr lang="en-US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Return a value </a:t>
            </a:r>
            <a:r>
              <a:rPr lang="en-US" b="1" dirty="0"/>
              <a:t>for each row</a:t>
            </a:r>
            <a:r>
              <a:rPr lang="en-US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ROW_NUMBER, RANK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LEAD/LAG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Analytical queries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OVER() → Defines the window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PARTITION BY → Groups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ORDER BY → Defines row order</a:t>
            </a:r>
          </a:p>
          <a:p>
            <a:pPr>
              <a:buFont typeface="Arial" panose="020B0604020202020204" pitchFamily="34" charset="0"/>
              <a:buChar char="•"/>
            </a:pPr>
            <a:endParaRPr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Stored Procedures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dirty="0"/>
              <a:t>Encapsulate logic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Combine multiple SQL statements into one reusable block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Supports conditional logic, loops, and variables 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Reusable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Write once → use multiple times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Improves maintainability and consistency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JavaScript support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Snowflake stored procedures are written in JavaScript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Allows advanced logic beyond SQL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Can execute SQL inside JavaScript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Schedule and execute SQL jobs automatically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Schedule Jobs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Run queries at defined intervals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Automate Workflows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Chain tasks to build pipelines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Cron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Flexible scheduling using </a:t>
            </a:r>
            <a:r>
              <a:rPr lang="en-US" dirty="0" err="1"/>
              <a:t>cron</a:t>
            </a:r>
            <a:r>
              <a:rPr lang="en-US" dirty="0"/>
              <a:t> expressions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Example: Daily, hourly jobs</a:t>
            </a: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Used to track changes (CDC – Change Data Capture) in a table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Captures: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INSERT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UPDATE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DELETE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Stream records </a:t>
            </a:r>
            <a:r>
              <a:rPr lang="en-US" b="1" dirty="0"/>
              <a:t>delta (change data)</a:t>
            </a:r>
            <a:r>
              <a:rPr lang="en-US" dirty="0"/>
              <a:t> since last consumption </a:t>
            </a:r>
          </a:p>
          <a:p>
            <a:r>
              <a:rPr lang="en-US" dirty="0"/>
              <a:t>Works like a </a:t>
            </a:r>
            <a:r>
              <a:rPr lang="en-US" b="1" dirty="0"/>
              <a:t>change log</a:t>
            </a:r>
            <a:r>
              <a:rPr lang="en-US" dirty="0"/>
              <a:t> on a table </a:t>
            </a:r>
          </a:p>
          <a:p>
            <a:r>
              <a:rPr lang="en-US" dirty="0"/>
              <a:t>Used in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Incremental data processing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Real-time pipelines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Audit tracking </a:t>
            </a:r>
          </a:p>
          <a:p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4007A-469A-5133-3C07-0DC34D571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>
            <a:normAutofit/>
          </a:bodyPr>
          <a:lstStyle/>
          <a:p>
            <a:r>
              <a:rPr lang="en-US" dirty="0"/>
              <a:t>Streams Vs Tasks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ECB04FC-A9BA-0E86-305A-1317B9D344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8295292"/>
              </p:ext>
            </p:extLst>
          </p:nvPr>
        </p:nvGraphicFramePr>
        <p:xfrm>
          <a:off x="767953" y="2968783"/>
          <a:ext cx="7290198" cy="26571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52055">
                  <a:extLst>
                    <a:ext uri="{9D8B030D-6E8A-4147-A177-3AD203B41FA5}">
                      <a16:colId xmlns:a16="http://schemas.microsoft.com/office/drawing/2014/main" val="2367155409"/>
                    </a:ext>
                  </a:extLst>
                </a:gridCol>
                <a:gridCol w="3517853">
                  <a:extLst>
                    <a:ext uri="{9D8B030D-6E8A-4147-A177-3AD203B41FA5}">
                      <a16:colId xmlns:a16="http://schemas.microsoft.com/office/drawing/2014/main" val="1109727017"/>
                    </a:ext>
                  </a:extLst>
                </a:gridCol>
                <a:gridCol w="2120290">
                  <a:extLst>
                    <a:ext uri="{9D8B030D-6E8A-4147-A177-3AD203B41FA5}">
                      <a16:colId xmlns:a16="http://schemas.microsoft.com/office/drawing/2014/main" val="4012175636"/>
                    </a:ext>
                  </a:extLst>
                </a:gridCol>
              </a:tblGrid>
              <a:tr h="53143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Feature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Streams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Tasks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extLst>
                  <a:ext uri="{0D108BD9-81ED-4DB2-BD59-A6C34878D82A}">
                    <a16:rowId xmlns:a16="http://schemas.microsoft.com/office/drawing/2014/main" val="821784849"/>
                  </a:ext>
                </a:extLst>
              </a:tr>
              <a:tr h="53143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Purpose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Track changes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Execute SQL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extLst>
                  <a:ext uri="{0D108BD9-81ED-4DB2-BD59-A6C34878D82A}">
                    <a16:rowId xmlns:a16="http://schemas.microsoft.com/office/drawing/2014/main" val="2634089382"/>
                  </a:ext>
                </a:extLst>
              </a:tr>
              <a:tr h="53143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Type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Data object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Scheduler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extLst>
                  <a:ext uri="{0D108BD9-81ED-4DB2-BD59-A6C34878D82A}">
                    <a16:rowId xmlns:a16="http://schemas.microsoft.com/office/drawing/2014/main" val="1089074171"/>
                  </a:ext>
                </a:extLst>
              </a:tr>
              <a:tr h="53143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Function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Capture delta data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Run queries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extLst>
                  <a:ext uri="{0D108BD9-81ED-4DB2-BD59-A6C34878D82A}">
                    <a16:rowId xmlns:a16="http://schemas.microsoft.com/office/drawing/2014/main" val="449710619"/>
                  </a:ext>
                </a:extLst>
              </a:tr>
              <a:tr h="53143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Use Case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>
                          <a:effectLst/>
                        </a:rPr>
                        <a:t>Incremental processing</a:t>
                      </a:r>
                      <a:endParaRPr lang="en-IN" sz="25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2500" dirty="0">
                          <a:effectLst/>
                        </a:rPr>
                        <a:t>Automation</a:t>
                      </a:r>
                      <a:endParaRPr lang="en-IN" sz="25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1446" marR="21446" marT="21446" marB="21446" anchor="ctr"/>
                </a:tc>
                <a:extLst>
                  <a:ext uri="{0D108BD9-81ED-4DB2-BD59-A6C34878D82A}">
                    <a16:rowId xmlns:a16="http://schemas.microsoft.com/office/drawing/2014/main" val="323118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49071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Materialized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5999"/>
            <a:ext cx="7290055" cy="4448175"/>
          </a:xfrm>
        </p:spPr>
        <p:txBody>
          <a:bodyPr>
            <a:normAutofit fontScale="925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dirty="0"/>
              <a:t>precomputed result of a query stored physically</a:t>
            </a:r>
            <a:r>
              <a:rPr lang="en-US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Unlike normal views, data is </a:t>
            </a:r>
            <a:r>
              <a:rPr lang="en-US" b="1" dirty="0"/>
              <a:t>stored and maintained</a:t>
            </a:r>
            <a:r>
              <a:rPr lang="en-US" dirty="0"/>
              <a:t> </a:t>
            </a: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Precomputed queries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Query results are calculated in advance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Avoids recomputing complex joins/aggregations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Faster performance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Queries run much faster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Ideal for: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Aggregations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Frequently used dashboards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Reporting queries</a:t>
            </a:r>
            <a:endParaRPr dirty="0"/>
          </a:p>
          <a:p>
            <a:pPr>
              <a:buFont typeface="Arial" panose="020B0604020202020204" pitchFamily="34" charset="0"/>
              <a:buChar char="•"/>
            </a:pPr>
            <a:r>
              <a:rPr dirty="0"/>
              <a:t>Auto refresh</a:t>
            </a: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Automatically updates when base table changes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Maintains consistency without manual effort</a:t>
            </a: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505A2-4B05-8D15-99E2-88DD88A52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>
            <a:normAutofit/>
          </a:bodyPr>
          <a:lstStyle/>
          <a:p>
            <a:r>
              <a:rPr lang="en-US" dirty="0"/>
              <a:t>Table VS View VS Material View</a:t>
            </a:r>
            <a:endParaRPr lang="en-IN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4D2A660-A37F-DA6D-11AA-0592EDB08B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1667643"/>
              </p:ext>
            </p:extLst>
          </p:nvPr>
        </p:nvGraphicFramePr>
        <p:xfrm>
          <a:off x="767953" y="2446003"/>
          <a:ext cx="7290199" cy="370272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94126">
                  <a:extLst>
                    <a:ext uri="{9D8B030D-6E8A-4147-A177-3AD203B41FA5}">
                      <a16:colId xmlns:a16="http://schemas.microsoft.com/office/drawing/2014/main" val="2598470859"/>
                    </a:ext>
                  </a:extLst>
                </a:gridCol>
                <a:gridCol w="1884358">
                  <a:extLst>
                    <a:ext uri="{9D8B030D-6E8A-4147-A177-3AD203B41FA5}">
                      <a16:colId xmlns:a16="http://schemas.microsoft.com/office/drawing/2014/main" val="2560697505"/>
                    </a:ext>
                  </a:extLst>
                </a:gridCol>
                <a:gridCol w="1752680">
                  <a:extLst>
                    <a:ext uri="{9D8B030D-6E8A-4147-A177-3AD203B41FA5}">
                      <a16:colId xmlns:a16="http://schemas.microsoft.com/office/drawing/2014/main" val="1310083064"/>
                    </a:ext>
                  </a:extLst>
                </a:gridCol>
                <a:gridCol w="2059035">
                  <a:extLst>
                    <a:ext uri="{9D8B030D-6E8A-4147-A177-3AD203B41FA5}">
                      <a16:colId xmlns:a16="http://schemas.microsoft.com/office/drawing/2014/main" val="620973995"/>
                    </a:ext>
                  </a:extLst>
                </a:gridCol>
              </a:tblGrid>
              <a:tr h="39955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Feature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Table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View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Materialized View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extLst>
                  <a:ext uri="{0D108BD9-81ED-4DB2-BD59-A6C34878D82A}">
                    <a16:rowId xmlns:a16="http://schemas.microsoft.com/office/drawing/2014/main" val="3287767360"/>
                  </a:ext>
                </a:extLst>
              </a:tr>
              <a:tr h="39955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Data Storage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Yes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No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Yes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extLst>
                  <a:ext uri="{0D108BD9-81ED-4DB2-BD59-A6C34878D82A}">
                    <a16:rowId xmlns:a16="http://schemas.microsoft.com/office/drawing/2014/main" val="2218510740"/>
                  </a:ext>
                </a:extLst>
              </a:tr>
              <a:tr h="7259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Performance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Medium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Slow (complex queries)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Fast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extLst>
                  <a:ext uri="{0D108BD9-81ED-4DB2-BD59-A6C34878D82A}">
                    <a16:rowId xmlns:a16="http://schemas.microsoft.com/office/drawing/2014/main" val="1512856458"/>
                  </a:ext>
                </a:extLst>
              </a:tr>
              <a:tr h="7259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Data Freshness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Manual updates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Always latest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Auto refresh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extLst>
                  <a:ext uri="{0D108BD9-81ED-4DB2-BD59-A6C34878D82A}">
                    <a16:rowId xmlns:a16="http://schemas.microsoft.com/office/drawing/2014/main" val="3286126244"/>
                  </a:ext>
                </a:extLst>
              </a:tr>
              <a:tr h="7259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Cost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Storage cost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Compute cost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Storage + maintenance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extLst>
                  <a:ext uri="{0D108BD9-81ED-4DB2-BD59-A6C34878D82A}">
                    <a16:rowId xmlns:a16="http://schemas.microsoft.com/office/drawing/2014/main" val="3961871477"/>
                  </a:ext>
                </a:extLst>
              </a:tr>
              <a:tr h="7259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Use Case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Raw/processed data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>
                          <a:effectLst/>
                        </a:rPr>
                        <a:t>Simplification</a:t>
                      </a:r>
                      <a:endParaRPr lang="en-IN" sz="1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IN" sz="1900" dirty="0">
                          <a:effectLst/>
                        </a:rPr>
                        <a:t>Performance optimization</a:t>
                      </a:r>
                      <a:endParaRPr lang="en-IN" sz="19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6124" marR="16124" marT="16124" marB="16124" anchor="ctr"/>
                </a:tc>
                <a:extLst>
                  <a:ext uri="{0D108BD9-81ED-4DB2-BD59-A6C34878D82A}">
                    <a16:rowId xmlns:a16="http://schemas.microsoft.com/office/drawing/2014/main" val="3468272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285397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91</TotalTime>
  <Words>1213</Words>
  <Application>Microsoft Office PowerPoint</Application>
  <PresentationFormat>On-screen Show (4:3)</PresentationFormat>
  <Paragraphs>309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6" baseType="lpstr">
      <vt:lpstr>Arial</vt:lpstr>
      <vt:lpstr>Calibri</vt:lpstr>
      <vt:lpstr>Courier New</vt:lpstr>
      <vt:lpstr>Tw Cen MT</vt:lpstr>
      <vt:lpstr>Tw Cen MT Condensed</vt:lpstr>
      <vt:lpstr>Wingdings</vt:lpstr>
      <vt:lpstr>Wingdings 3</vt:lpstr>
      <vt:lpstr>Integral</vt:lpstr>
      <vt:lpstr>Data Loading Fundamentals</vt:lpstr>
      <vt:lpstr>Snowflake Stages</vt:lpstr>
      <vt:lpstr>Internal vs External Stage</vt:lpstr>
      <vt:lpstr>File Formats</vt:lpstr>
      <vt:lpstr>COPY INTO(Basics)</vt:lpstr>
      <vt:lpstr>Bulk Loading</vt:lpstr>
      <vt:lpstr>Structured Data Loading</vt:lpstr>
      <vt:lpstr>Semi-Structured Data</vt:lpstr>
      <vt:lpstr>Unstructured Data</vt:lpstr>
      <vt:lpstr>SnowSQL CLI</vt:lpstr>
      <vt:lpstr>Continuous &amp; Advanced Loading</vt:lpstr>
      <vt:lpstr>Snowpipe</vt:lpstr>
      <vt:lpstr>FLOW</vt:lpstr>
      <vt:lpstr>COPY Options</vt:lpstr>
      <vt:lpstr>Unloading Data</vt:lpstr>
      <vt:lpstr>Best Practices</vt:lpstr>
      <vt:lpstr>Bulk Loading VS SnowPIPE</vt:lpstr>
      <vt:lpstr>Data Processing &amp; SQL</vt:lpstr>
      <vt:lpstr>PowerPoint Presentation</vt:lpstr>
      <vt:lpstr>Scalar Functions</vt:lpstr>
      <vt:lpstr>Aggregate Functions</vt:lpstr>
      <vt:lpstr>Window Functions</vt:lpstr>
      <vt:lpstr>Stored Procedures</vt:lpstr>
      <vt:lpstr>Tasks</vt:lpstr>
      <vt:lpstr>Streams</vt:lpstr>
      <vt:lpstr>Streams Vs Tasks</vt:lpstr>
      <vt:lpstr>Materialized Views</vt:lpstr>
      <vt:lpstr>Table VS View VS Material View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78</cp:revision>
  <dcterms:created xsi:type="dcterms:W3CDTF">2013-01-27T09:14:16Z</dcterms:created>
  <dcterms:modified xsi:type="dcterms:W3CDTF">2026-04-10T05:33:41Z</dcterms:modified>
  <cp:category/>
</cp:coreProperties>
</file>
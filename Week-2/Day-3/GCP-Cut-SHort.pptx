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83" r:id="rId9"/>
    <p:sldId id="294" r:id="rId10"/>
    <p:sldId id="295" r:id="rId11"/>
    <p:sldId id="299" r:id="rId12"/>
    <p:sldId id="301" r:id="rId13"/>
    <p:sldId id="311" r:id="rId14"/>
    <p:sldId id="312" r:id="rId15"/>
    <p:sldId id="313" r:id="rId16"/>
    <p:sldId id="314" r:id="rId17"/>
    <p:sldId id="315" r:id="rId18"/>
    <p:sldId id="323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8" r:id="rId29"/>
    <p:sldId id="339" r:id="rId30"/>
    <p:sldId id="348" r:id="rId31"/>
    <p:sldId id="349" r:id="rId32"/>
    <p:sldId id="351" r:id="rId33"/>
    <p:sldId id="353" r:id="rId34"/>
    <p:sldId id="355" r:id="rId35"/>
    <p:sldId id="356" r:id="rId36"/>
    <p:sldId id="358" r:id="rId37"/>
    <p:sldId id="361" r:id="rId38"/>
    <p:sldId id="368" r:id="rId39"/>
    <p:sldId id="369" r:id="rId40"/>
    <p:sldId id="372" r:id="rId41"/>
    <p:sldId id="374" r:id="rId42"/>
    <p:sldId id="375" r:id="rId43"/>
    <p:sldId id="376" r:id="rId44"/>
    <p:sldId id="379" r:id="rId45"/>
    <p:sldId id="381" r:id="rId46"/>
    <p:sldId id="382" r:id="rId47"/>
    <p:sldId id="383" r:id="rId48"/>
    <p:sldId id="384" r:id="rId49"/>
    <p:sldId id="386" r:id="rId50"/>
    <p:sldId id="387" r:id="rId51"/>
    <p:sldId id="388" r:id="rId52"/>
    <p:sldId id="392" r:id="rId53"/>
    <p:sldId id="398" r:id="rId54"/>
    <p:sldId id="399" r:id="rId55"/>
    <p:sldId id="401" r:id="rId56"/>
    <p:sldId id="419" r:id="rId57"/>
    <p:sldId id="420" r:id="rId58"/>
    <p:sldId id="424" r:id="rId59"/>
    <p:sldId id="425" r:id="rId60"/>
    <p:sldId id="426" r:id="rId61"/>
    <p:sldId id="427" r:id="rId62"/>
    <p:sldId id="431" r:id="rId63"/>
    <p:sldId id="432" r:id="rId64"/>
    <p:sldId id="434" r:id="rId65"/>
    <p:sldId id="435" r:id="rId66"/>
    <p:sldId id="454" r:id="rId6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2C433-5F57-4ECB-A28D-EB5B53D4F623}" type="datetimeFigureOut">
              <a:rPr lang="en-IN" smtClean="0"/>
              <a:t>08/04/2026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F58E1-FC62-40ED-A19F-A33F7B0CE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35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8353" y="1522476"/>
            <a:ext cx="10188575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51340-6A7C-44D5-BB16-A6A08B68F196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4325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7083" y="374904"/>
            <a:ext cx="1575816" cy="12283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EE489-A353-45DC-9748-75E99B8229B1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43255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7083" y="374904"/>
            <a:ext cx="1575816" cy="12283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4395" y="1593341"/>
            <a:ext cx="3966845" cy="435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05676" y="1518972"/>
            <a:ext cx="4958715" cy="373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9668A-9626-495E-B852-0DFE84932E76}" type="datetime1">
              <a:rPr lang="en-US" smtClean="0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12B7A-BF5C-488C-B75B-EEE49A54C689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619" y="355091"/>
            <a:ext cx="1575816" cy="12268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F7AB6-576B-4EE3-8E54-00CF1AC3621C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106" y="25146"/>
            <a:ext cx="10054285" cy="1344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Lucida Console"/>
                <a:cs typeface="Lucida Conso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2380" y="2030349"/>
            <a:ext cx="6637655" cy="2007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26433" y="6525488"/>
            <a:ext cx="4398136" cy="260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>
            <a:pPr marL="666115">
              <a:lnSpc>
                <a:spcPts val="2005"/>
              </a:lnSpc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7EE1B-80E1-40AA-9F9F-1E885AAAD704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architecture/data-lifecycle-cloud-platform#store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cloud.google.com/architecture/data-lifecycle-cloud-platfor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torage.cloud.google.com/fine-2551/artificial-neural-network-3501528_1920.p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blog/products/storage-data-transfer/understanding-cloud-storage-11-9s-durability-targe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terms/sla" TargetMode="External"/><Relationship Id="rId2" Type="http://schemas.openxmlformats.org/officeDocument/2006/relationships/hyperlink" Target="https://uptime.is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pubsub/docs/overview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eam.apache.org/documentation/programming-guide/#transforms" TargetMode="External"/><Relationship Id="rId2" Type="http://schemas.openxmlformats.org/officeDocument/2006/relationships/hyperlink" Target="https://beam.apache.org/documentation/io/built-in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data-fusion/pricing#cloud-data-fusion-pricing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0325" y="2106244"/>
            <a:ext cx="7999095" cy="203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Lucida Console"/>
                <a:cs typeface="Lucida Console"/>
              </a:rPr>
              <a:t>Data</a:t>
            </a:r>
            <a:r>
              <a:rPr sz="6600" spc="-275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6600" spc="-60" dirty="0">
                <a:solidFill>
                  <a:srgbClr val="FFFFFF"/>
                </a:solidFill>
                <a:latin typeface="Lucida Console"/>
                <a:cs typeface="Lucida Console"/>
              </a:rPr>
              <a:t>Engineering </a:t>
            </a:r>
            <a:r>
              <a:rPr sz="6600" spc="-10" dirty="0">
                <a:solidFill>
                  <a:srgbClr val="FFFFFF"/>
                </a:solidFill>
                <a:latin typeface="Lucida Console"/>
                <a:cs typeface="Lucida Console"/>
              </a:rPr>
              <a:t>Concepts</a:t>
            </a:r>
            <a:endParaRPr sz="66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938" rIns="0" bIns="0" rtlCol="0">
            <a:spAutoFit/>
          </a:bodyPr>
          <a:lstStyle/>
          <a:p>
            <a:pPr marL="43370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00" dirty="0"/>
              <a:t> </a:t>
            </a:r>
            <a:r>
              <a:rPr dirty="0"/>
              <a:t>engineering</a:t>
            </a:r>
            <a:r>
              <a:rPr spc="-495" dirty="0"/>
              <a:t> </a:t>
            </a:r>
            <a:r>
              <a:rPr spc="-2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380" y="2030349"/>
            <a:ext cx="1937385" cy="9664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Flows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6883" y="3773423"/>
            <a:ext cx="1940560" cy="1165860"/>
          </a:xfrm>
          <a:custGeom>
            <a:avLst/>
            <a:gdLst/>
            <a:ahLst/>
            <a:cxnLst/>
            <a:rect l="l" t="t" r="r" b="b"/>
            <a:pathLst>
              <a:path w="1940560" h="1165860">
                <a:moveTo>
                  <a:pt x="1823465" y="0"/>
                </a:moveTo>
                <a:lnTo>
                  <a:pt x="116585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5" y="1165859"/>
                </a:lnTo>
                <a:lnTo>
                  <a:pt x="1823465" y="1165859"/>
                </a:lnTo>
                <a:lnTo>
                  <a:pt x="1868846" y="1156698"/>
                </a:lnTo>
                <a:lnTo>
                  <a:pt x="1905904" y="1131712"/>
                </a:lnTo>
                <a:lnTo>
                  <a:pt x="1930890" y="1094654"/>
                </a:lnTo>
                <a:lnTo>
                  <a:pt x="1940052" y="1049274"/>
                </a:lnTo>
                <a:lnTo>
                  <a:pt x="1940052" y="116586"/>
                </a:lnTo>
                <a:lnTo>
                  <a:pt x="1930890" y="71205"/>
                </a:lnTo>
                <a:lnTo>
                  <a:pt x="1905904" y="34147"/>
                </a:lnTo>
                <a:lnTo>
                  <a:pt x="1868846" y="9161"/>
                </a:lnTo>
                <a:lnTo>
                  <a:pt x="1823465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94257" y="4098417"/>
            <a:ext cx="13055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Ingestion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12007" y="4116323"/>
            <a:ext cx="411480" cy="481965"/>
          </a:xfrm>
          <a:custGeom>
            <a:avLst/>
            <a:gdLst/>
            <a:ahLst/>
            <a:cxnLst/>
            <a:rect l="l" t="t" r="r" b="b"/>
            <a:pathLst>
              <a:path w="411479" h="481964">
                <a:moveTo>
                  <a:pt x="205740" y="0"/>
                </a:moveTo>
                <a:lnTo>
                  <a:pt x="205740" y="96265"/>
                </a:lnTo>
                <a:lnTo>
                  <a:pt x="0" y="96265"/>
                </a:lnTo>
                <a:lnTo>
                  <a:pt x="0" y="385318"/>
                </a:lnTo>
                <a:lnTo>
                  <a:pt x="205740" y="385318"/>
                </a:lnTo>
                <a:lnTo>
                  <a:pt x="205740" y="481583"/>
                </a:lnTo>
                <a:lnTo>
                  <a:pt x="411480" y="240792"/>
                </a:lnTo>
                <a:lnTo>
                  <a:pt x="205740" y="0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94176" y="3773423"/>
            <a:ext cx="1940560" cy="1165860"/>
          </a:xfrm>
          <a:custGeom>
            <a:avLst/>
            <a:gdLst/>
            <a:ahLst/>
            <a:cxnLst/>
            <a:rect l="l" t="t" r="r" b="b"/>
            <a:pathLst>
              <a:path w="1940560" h="1165860">
                <a:moveTo>
                  <a:pt x="1823465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6" y="1165859"/>
                </a:lnTo>
                <a:lnTo>
                  <a:pt x="1823465" y="1165859"/>
                </a:lnTo>
                <a:lnTo>
                  <a:pt x="1868846" y="1156698"/>
                </a:lnTo>
                <a:lnTo>
                  <a:pt x="1905904" y="1131712"/>
                </a:lnTo>
                <a:lnTo>
                  <a:pt x="1930890" y="1094654"/>
                </a:lnTo>
                <a:lnTo>
                  <a:pt x="1940052" y="1049274"/>
                </a:lnTo>
                <a:lnTo>
                  <a:pt x="1940052" y="116586"/>
                </a:lnTo>
                <a:lnTo>
                  <a:pt x="1930890" y="71205"/>
                </a:lnTo>
                <a:lnTo>
                  <a:pt x="1905904" y="34147"/>
                </a:lnTo>
                <a:lnTo>
                  <a:pt x="1868846" y="9161"/>
                </a:lnTo>
                <a:lnTo>
                  <a:pt x="1823465" y="0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24959" y="4098417"/>
            <a:ext cx="10807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29300" y="4116323"/>
            <a:ext cx="411480" cy="481965"/>
          </a:xfrm>
          <a:custGeom>
            <a:avLst/>
            <a:gdLst/>
            <a:ahLst/>
            <a:cxnLst/>
            <a:rect l="l" t="t" r="r" b="b"/>
            <a:pathLst>
              <a:path w="411479" h="481964">
                <a:moveTo>
                  <a:pt x="205739" y="0"/>
                </a:moveTo>
                <a:lnTo>
                  <a:pt x="205739" y="96265"/>
                </a:lnTo>
                <a:lnTo>
                  <a:pt x="0" y="96265"/>
                </a:lnTo>
                <a:lnTo>
                  <a:pt x="0" y="385318"/>
                </a:lnTo>
                <a:lnTo>
                  <a:pt x="205739" y="385318"/>
                </a:lnTo>
                <a:lnTo>
                  <a:pt x="205739" y="481583"/>
                </a:lnTo>
                <a:lnTo>
                  <a:pt x="411479" y="240792"/>
                </a:lnTo>
                <a:lnTo>
                  <a:pt x="205739" y="0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11467" y="3773423"/>
            <a:ext cx="1941830" cy="1165860"/>
          </a:xfrm>
          <a:custGeom>
            <a:avLst/>
            <a:gdLst/>
            <a:ahLst/>
            <a:cxnLst/>
            <a:rect l="l" t="t" r="r" b="b"/>
            <a:pathLst>
              <a:path w="1941829" h="1165860">
                <a:moveTo>
                  <a:pt x="1824989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6" y="1165859"/>
                </a:lnTo>
                <a:lnTo>
                  <a:pt x="1824989" y="1165859"/>
                </a:lnTo>
                <a:lnTo>
                  <a:pt x="1870370" y="1156698"/>
                </a:lnTo>
                <a:lnTo>
                  <a:pt x="1907428" y="1131712"/>
                </a:lnTo>
                <a:lnTo>
                  <a:pt x="1932414" y="1094654"/>
                </a:lnTo>
                <a:lnTo>
                  <a:pt x="1941576" y="1049274"/>
                </a:lnTo>
                <a:lnTo>
                  <a:pt x="1941576" y="116586"/>
                </a:lnTo>
                <a:lnTo>
                  <a:pt x="1932414" y="71205"/>
                </a:lnTo>
                <a:lnTo>
                  <a:pt x="1907428" y="34147"/>
                </a:lnTo>
                <a:lnTo>
                  <a:pt x="1870370" y="9161"/>
                </a:lnTo>
                <a:lnTo>
                  <a:pt x="1824989" y="0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41134" y="3910076"/>
            <a:ext cx="1682750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21945" marR="5080" indent="-30988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27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46592" y="4116323"/>
            <a:ext cx="411480" cy="481965"/>
          </a:xfrm>
          <a:custGeom>
            <a:avLst/>
            <a:gdLst/>
            <a:ahLst/>
            <a:cxnLst/>
            <a:rect l="l" t="t" r="r" b="b"/>
            <a:pathLst>
              <a:path w="411479" h="481964">
                <a:moveTo>
                  <a:pt x="205739" y="0"/>
                </a:moveTo>
                <a:lnTo>
                  <a:pt x="205739" y="96265"/>
                </a:lnTo>
                <a:lnTo>
                  <a:pt x="0" y="96265"/>
                </a:lnTo>
                <a:lnTo>
                  <a:pt x="0" y="385318"/>
                </a:lnTo>
                <a:lnTo>
                  <a:pt x="205739" y="385318"/>
                </a:lnTo>
                <a:lnTo>
                  <a:pt x="205739" y="481583"/>
                </a:lnTo>
                <a:lnTo>
                  <a:pt x="411479" y="240792"/>
                </a:lnTo>
                <a:lnTo>
                  <a:pt x="205739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128759" y="3773423"/>
            <a:ext cx="1941830" cy="1165860"/>
          </a:xfrm>
          <a:custGeom>
            <a:avLst/>
            <a:gdLst/>
            <a:ahLst/>
            <a:cxnLst/>
            <a:rect l="l" t="t" r="r" b="b"/>
            <a:pathLst>
              <a:path w="1941829" h="1165860">
                <a:moveTo>
                  <a:pt x="1824990" y="0"/>
                </a:moveTo>
                <a:lnTo>
                  <a:pt x="116586" y="0"/>
                </a:lnTo>
                <a:lnTo>
                  <a:pt x="71205" y="9161"/>
                </a:lnTo>
                <a:lnTo>
                  <a:pt x="34147" y="34147"/>
                </a:lnTo>
                <a:lnTo>
                  <a:pt x="9161" y="71205"/>
                </a:lnTo>
                <a:lnTo>
                  <a:pt x="0" y="116586"/>
                </a:lnTo>
                <a:lnTo>
                  <a:pt x="0" y="1049274"/>
                </a:lnTo>
                <a:lnTo>
                  <a:pt x="9161" y="1094654"/>
                </a:lnTo>
                <a:lnTo>
                  <a:pt x="34147" y="1131712"/>
                </a:lnTo>
                <a:lnTo>
                  <a:pt x="71205" y="1156698"/>
                </a:lnTo>
                <a:lnTo>
                  <a:pt x="116586" y="1165859"/>
                </a:lnTo>
                <a:lnTo>
                  <a:pt x="1824990" y="1165859"/>
                </a:lnTo>
                <a:lnTo>
                  <a:pt x="1870370" y="1156698"/>
                </a:lnTo>
                <a:lnTo>
                  <a:pt x="1907428" y="1131712"/>
                </a:lnTo>
                <a:lnTo>
                  <a:pt x="1932414" y="1094654"/>
                </a:lnTo>
                <a:lnTo>
                  <a:pt x="1941576" y="1049274"/>
                </a:lnTo>
                <a:lnTo>
                  <a:pt x="1941576" y="116586"/>
                </a:lnTo>
                <a:lnTo>
                  <a:pt x="1932414" y="71205"/>
                </a:lnTo>
                <a:lnTo>
                  <a:pt x="1907428" y="34147"/>
                </a:lnTo>
                <a:lnTo>
                  <a:pt x="1870370" y="9161"/>
                </a:lnTo>
                <a:lnTo>
                  <a:pt x="1824990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66681" y="3910076"/>
            <a:ext cx="1669414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8920" marR="5080" indent="-236220">
              <a:lnSpc>
                <a:spcPts val="2960"/>
              </a:lnSpc>
              <a:spcBef>
                <a:spcPts val="430"/>
              </a:spcBef>
            </a:pPr>
            <a:r>
              <a:rPr sz="270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27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700" spc="-10" dirty="0">
                <a:solidFill>
                  <a:srgbClr val="FFFFFF"/>
                </a:solidFill>
                <a:latin typeface="Calibri"/>
                <a:cs typeface="Calibri"/>
              </a:rPr>
              <a:t>visualize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3175" y="374904"/>
            <a:ext cx="12198350" cy="1228725"/>
            <a:chOff x="-3175" y="374904"/>
            <a:chExt cx="1219835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183892" y="102107"/>
            <a:ext cx="7307580" cy="6756400"/>
            <a:chOff x="2183892" y="102107"/>
            <a:chExt cx="7307580" cy="67564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3892" y="1018032"/>
              <a:ext cx="7307580" cy="58399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29256" y="102107"/>
              <a:ext cx="1358265" cy="814069"/>
            </a:xfrm>
            <a:custGeom>
              <a:avLst/>
              <a:gdLst/>
              <a:ahLst/>
              <a:cxnLst/>
              <a:rect l="l" t="t" r="r" b="b"/>
              <a:pathLst>
                <a:path w="1358264" h="814069">
                  <a:moveTo>
                    <a:pt x="1276477" y="0"/>
                  </a:moveTo>
                  <a:lnTo>
                    <a:pt x="81406" y="0"/>
                  </a:lnTo>
                  <a:lnTo>
                    <a:pt x="49720" y="6397"/>
                  </a:lnTo>
                  <a:lnTo>
                    <a:pt x="23844" y="23844"/>
                  </a:lnTo>
                  <a:lnTo>
                    <a:pt x="6397" y="49720"/>
                  </a:lnTo>
                  <a:lnTo>
                    <a:pt x="0" y="81407"/>
                  </a:lnTo>
                  <a:lnTo>
                    <a:pt x="0" y="732409"/>
                  </a:lnTo>
                  <a:lnTo>
                    <a:pt x="6397" y="764095"/>
                  </a:lnTo>
                  <a:lnTo>
                    <a:pt x="23844" y="789971"/>
                  </a:lnTo>
                  <a:lnTo>
                    <a:pt x="49720" y="807418"/>
                  </a:lnTo>
                  <a:lnTo>
                    <a:pt x="81406" y="813816"/>
                  </a:lnTo>
                  <a:lnTo>
                    <a:pt x="1276477" y="813816"/>
                  </a:lnTo>
                  <a:lnTo>
                    <a:pt x="1308163" y="807418"/>
                  </a:lnTo>
                  <a:lnTo>
                    <a:pt x="1334039" y="789971"/>
                  </a:lnTo>
                  <a:lnTo>
                    <a:pt x="1351486" y="764095"/>
                  </a:lnTo>
                  <a:lnTo>
                    <a:pt x="1357883" y="732409"/>
                  </a:lnTo>
                  <a:lnTo>
                    <a:pt x="1357883" y="81407"/>
                  </a:lnTo>
                  <a:lnTo>
                    <a:pt x="1351486" y="49720"/>
                  </a:lnTo>
                  <a:lnTo>
                    <a:pt x="1334039" y="23844"/>
                  </a:lnTo>
                  <a:lnTo>
                    <a:pt x="1308163" y="6397"/>
                  </a:lnTo>
                  <a:lnTo>
                    <a:pt x="1276477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45791" y="322834"/>
            <a:ext cx="925194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Ingestion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22776" y="102107"/>
            <a:ext cx="1765300" cy="814069"/>
          </a:xfrm>
          <a:custGeom>
            <a:avLst/>
            <a:gdLst/>
            <a:ahLst/>
            <a:cxnLst/>
            <a:rect l="l" t="t" r="r" b="b"/>
            <a:pathLst>
              <a:path w="1765300" h="814069">
                <a:moveTo>
                  <a:pt x="288036" y="406908"/>
                </a:moveTo>
                <a:lnTo>
                  <a:pt x="144018" y="239268"/>
                </a:lnTo>
                <a:lnTo>
                  <a:pt x="144018" y="306324"/>
                </a:lnTo>
                <a:lnTo>
                  <a:pt x="0" y="306324"/>
                </a:lnTo>
                <a:lnTo>
                  <a:pt x="0" y="507492"/>
                </a:lnTo>
                <a:lnTo>
                  <a:pt x="144018" y="507492"/>
                </a:lnTo>
                <a:lnTo>
                  <a:pt x="144018" y="574548"/>
                </a:lnTo>
                <a:lnTo>
                  <a:pt x="288036" y="406908"/>
                </a:lnTo>
                <a:close/>
              </a:path>
              <a:path w="1765300" h="814069">
                <a:moveTo>
                  <a:pt x="1764792" y="81407"/>
                </a:moveTo>
                <a:lnTo>
                  <a:pt x="1758391" y="49720"/>
                </a:lnTo>
                <a:lnTo>
                  <a:pt x="1740941" y="23850"/>
                </a:lnTo>
                <a:lnTo>
                  <a:pt x="1715071" y="6400"/>
                </a:lnTo>
                <a:lnTo>
                  <a:pt x="1683385" y="0"/>
                </a:lnTo>
                <a:lnTo>
                  <a:pt x="488315" y="0"/>
                </a:lnTo>
                <a:lnTo>
                  <a:pt x="456628" y="6400"/>
                </a:lnTo>
                <a:lnTo>
                  <a:pt x="430745" y="23850"/>
                </a:lnTo>
                <a:lnTo>
                  <a:pt x="413296" y="49720"/>
                </a:lnTo>
                <a:lnTo>
                  <a:pt x="406908" y="81407"/>
                </a:lnTo>
                <a:lnTo>
                  <a:pt x="406908" y="732409"/>
                </a:lnTo>
                <a:lnTo>
                  <a:pt x="413296" y="764095"/>
                </a:lnTo>
                <a:lnTo>
                  <a:pt x="430745" y="789978"/>
                </a:lnTo>
                <a:lnTo>
                  <a:pt x="456628" y="807427"/>
                </a:lnTo>
                <a:lnTo>
                  <a:pt x="488315" y="813816"/>
                </a:lnTo>
                <a:lnTo>
                  <a:pt x="1683385" y="813816"/>
                </a:lnTo>
                <a:lnTo>
                  <a:pt x="1715071" y="807427"/>
                </a:lnTo>
                <a:lnTo>
                  <a:pt x="1740941" y="789978"/>
                </a:lnTo>
                <a:lnTo>
                  <a:pt x="1758391" y="764095"/>
                </a:lnTo>
                <a:lnTo>
                  <a:pt x="1764792" y="732409"/>
                </a:lnTo>
                <a:lnTo>
                  <a:pt x="1764792" y="81407"/>
                </a:lnTo>
                <a:close/>
              </a:path>
            </a:pathLst>
          </a:custGeom>
          <a:solidFill>
            <a:srgbClr val="34A8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23942" y="322834"/>
            <a:ext cx="7670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3204" y="102107"/>
            <a:ext cx="1765300" cy="814069"/>
          </a:xfrm>
          <a:custGeom>
            <a:avLst/>
            <a:gdLst/>
            <a:ahLst/>
            <a:cxnLst/>
            <a:rect l="l" t="t" r="r" b="b"/>
            <a:pathLst>
              <a:path w="1765300" h="814069">
                <a:moveTo>
                  <a:pt x="286512" y="406908"/>
                </a:moveTo>
                <a:lnTo>
                  <a:pt x="143256" y="239268"/>
                </a:lnTo>
                <a:lnTo>
                  <a:pt x="143256" y="306324"/>
                </a:lnTo>
                <a:lnTo>
                  <a:pt x="0" y="306324"/>
                </a:lnTo>
                <a:lnTo>
                  <a:pt x="0" y="507492"/>
                </a:lnTo>
                <a:lnTo>
                  <a:pt x="143256" y="507492"/>
                </a:lnTo>
                <a:lnTo>
                  <a:pt x="143256" y="574548"/>
                </a:lnTo>
                <a:lnTo>
                  <a:pt x="286512" y="406908"/>
                </a:lnTo>
                <a:close/>
              </a:path>
              <a:path w="1765300" h="814069">
                <a:moveTo>
                  <a:pt x="1764792" y="81407"/>
                </a:moveTo>
                <a:lnTo>
                  <a:pt x="1758391" y="49720"/>
                </a:lnTo>
                <a:lnTo>
                  <a:pt x="1740941" y="23850"/>
                </a:lnTo>
                <a:lnTo>
                  <a:pt x="1715071" y="6400"/>
                </a:lnTo>
                <a:lnTo>
                  <a:pt x="1683385" y="0"/>
                </a:lnTo>
                <a:lnTo>
                  <a:pt x="488315" y="0"/>
                </a:lnTo>
                <a:lnTo>
                  <a:pt x="456628" y="6400"/>
                </a:lnTo>
                <a:lnTo>
                  <a:pt x="430745" y="23850"/>
                </a:lnTo>
                <a:lnTo>
                  <a:pt x="413296" y="49720"/>
                </a:lnTo>
                <a:lnTo>
                  <a:pt x="406908" y="81407"/>
                </a:lnTo>
                <a:lnTo>
                  <a:pt x="406908" y="732409"/>
                </a:lnTo>
                <a:lnTo>
                  <a:pt x="413296" y="764095"/>
                </a:lnTo>
                <a:lnTo>
                  <a:pt x="430745" y="789978"/>
                </a:lnTo>
                <a:lnTo>
                  <a:pt x="456628" y="807427"/>
                </a:lnTo>
                <a:lnTo>
                  <a:pt x="488315" y="813816"/>
                </a:lnTo>
                <a:lnTo>
                  <a:pt x="1683385" y="813816"/>
                </a:lnTo>
                <a:lnTo>
                  <a:pt x="1715071" y="807427"/>
                </a:lnTo>
                <a:lnTo>
                  <a:pt x="1740941" y="789978"/>
                </a:lnTo>
                <a:lnTo>
                  <a:pt x="1758391" y="764095"/>
                </a:lnTo>
                <a:lnTo>
                  <a:pt x="1764792" y="732409"/>
                </a:lnTo>
                <a:lnTo>
                  <a:pt x="1764792" y="81407"/>
                </a:lnTo>
                <a:close/>
              </a:path>
            </a:pathLst>
          </a:custGeom>
          <a:solidFill>
            <a:srgbClr val="FABB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18884" y="190246"/>
            <a:ext cx="1177925" cy="579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05740">
              <a:lnSpc>
                <a:spcPts val="2090"/>
              </a:lnSpc>
              <a:spcBef>
                <a:spcPts val="32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Process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23632" y="102107"/>
            <a:ext cx="1763395" cy="814069"/>
          </a:xfrm>
          <a:custGeom>
            <a:avLst/>
            <a:gdLst/>
            <a:ahLst/>
            <a:cxnLst/>
            <a:rect l="l" t="t" r="r" b="b"/>
            <a:pathLst>
              <a:path w="1763395" h="814069">
                <a:moveTo>
                  <a:pt x="286512" y="406908"/>
                </a:moveTo>
                <a:lnTo>
                  <a:pt x="143256" y="239268"/>
                </a:lnTo>
                <a:lnTo>
                  <a:pt x="143256" y="306324"/>
                </a:lnTo>
                <a:lnTo>
                  <a:pt x="0" y="306324"/>
                </a:lnTo>
                <a:lnTo>
                  <a:pt x="0" y="507492"/>
                </a:lnTo>
                <a:lnTo>
                  <a:pt x="143256" y="507492"/>
                </a:lnTo>
                <a:lnTo>
                  <a:pt x="143256" y="574548"/>
                </a:lnTo>
                <a:lnTo>
                  <a:pt x="286512" y="406908"/>
                </a:lnTo>
                <a:close/>
              </a:path>
              <a:path w="1763395" h="814069">
                <a:moveTo>
                  <a:pt x="1763268" y="81407"/>
                </a:moveTo>
                <a:lnTo>
                  <a:pt x="1756867" y="49720"/>
                </a:lnTo>
                <a:lnTo>
                  <a:pt x="1739417" y="23850"/>
                </a:lnTo>
                <a:lnTo>
                  <a:pt x="1713547" y="6400"/>
                </a:lnTo>
                <a:lnTo>
                  <a:pt x="1681861" y="0"/>
                </a:lnTo>
                <a:lnTo>
                  <a:pt x="488315" y="0"/>
                </a:lnTo>
                <a:lnTo>
                  <a:pt x="456628" y="6400"/>
                </a:lnTo>
                <a:lnTo>
                  <a:pt x="430745" y="23850"/>
                </a:lnTo>
                <a:lnTo>
                  <a:pt x="413296" y="49720"/>
                </a:lnTo>
                <a:lnTo>
                  <a:pt x="406908" y="81407"/>
                </a:lnTo>
                <a:lnTo>
                  <a:pt x="406908" y="732409"/>
                </a:lnTo>
                <a:lnTo>
                  <a:pt x="413296" y="764095"/>
                </a:lnTo>
                <a:lnTo>
                  <a:pt x="430745" y="789978"/>
                </a:lnTo>
                <a:lnTo>
                  <a:pt x="456628" y="807427"/>
                </a:lnTo>
                <a:lnTo>
                  <a:pt x="488315" y="813816"/>
                </a:lnTo>
                <a:lnTo>
                  <a:pt x="1681861" y="813816"/>
                </a:lnTo>
                <a:lnTo>
                  <a:pt x="1713547" y="807427"/>
                </a:lnTo>
                <a:lnTo>
                  <a:pt x="1739417" y="789978"/>
                </a:lnTo>
                <a:lnTo>
                  <a:pt x="1756867" y="764095"/>
                </a:lnTo>
                <a:lnTo>
                  <a:pt x="1763268" y="732409"/>
                </a:lnTo>
                <a:lnTo>
                  <a:pt x="1763268" y="81407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217789" y="190246"/>
            <a:ext cx="1181100" cy="579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1610" marR="5080" indent="-169545">
              <a:lnSpc>
                <a:spcPts val="2090"/>
              </a:lnSpc>
              <a:spcBef>
                <a:spcPts val="32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visualize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20" y="558800"/>
            <a:ext cx="2197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Ingest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391767"/>
            <a:ext cx="3853179" cy="37598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Gather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gather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endParaRPr sz="2000">
              <a:latin typeface="Calibri"/>
              <a:cs typeface="Calibri"/>
            </a:endParaRPr>
          </a:p>
          <a:p>
            <a:pPr marL="39624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commerce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Ingest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Ingest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gsutil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23688" y="103631"/>
            <a:ext cx="6952615" cy="6356985"/>
            <a:chOff x="5123688" y="103631"/>
            <a:chExt cx="6952615" cy="6356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42347" y="103631"/>
              <a:ext cx="2433828" cy="63566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7600" y="103631"/>
              <a:ext cx="2061972" cy="63566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3688" y="103631"/>
              <a:ext cx="2231136" cy="63566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20" y="558800"/>
            <a:ext cx="1835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674622"/>
            <a:ext cx="4053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416" y="2263139"/>
            <a:ext cx="4032504" cy="32110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77770" y="5713882"/>
            <a:ext cx="694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https://cloud.google.com/architecture/data-lifecycle-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cloud-platform#store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1971" y="2263139"/>
            <a:ext cx="2723387" cy="32110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8988" y="2263139"/>
            <a:ext cx="1289303" cy="3211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295" dirty="0"/>
              <a:t> </a:t>
            </a:r>
            <a:r>
              <a:rPr dirty="0"/>
              <a:t>&amp;</a:t>
            </a:r>
            <a:r>
              <a:rPr spc="-280" dirty="0"/>
              <a:t> </a:t>
            </a:r>
            <a:r>
              <a:rPr spc="-30" dirty="0"/>
              <a:t>Analyze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391767"/>
            <a:ext cx="4387215" cy="388112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outcome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meaning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DataProc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ML/Custom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6221" y="4846066"/>
            <a:ext cx="636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https://cloud.google.com/architecture/data-lifecycle-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cloud-platform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1059" y="1862327"/>
            <a:ext cx="7219188" cy="2772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99135">
              <a:lnSpc>
                <a:spcPct val="100000"/>
              </a:lnSpc>
              <a:spcBef>
                <a:spcPts val="100"/>
              </a:spcBef>
            </a:pPr>
            <a:r>
              <a:rPr dirty="0"/>
              <a:t>Explore</a:t>
            </a:r>
            <a:r>
              <a:rPr spc="-350" dirty="0"/>
              <a:t> </a:t>
            </a:r>
            <a:r>
              <a:rPr dirty="0"/>
              <a:t>and</a:t>
            </a:r>
            <a:r>
              <a:rPr spc="-340" dirty="0"/>
              <a:t> </a:t>
            </a:r>
            <a:r>
              <a:rPr spc="-35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199" y="1519783"/>
            <a:ext cx="4671060" cy="31083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Studio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Datalab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Jupyter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Prebuilt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434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600">
              <a:latin typeface="Calibri"/>
              <a:cs typeface="Calibri"/>
            </a:endParaRPr>
          </a:p>
          <a:p>
            <a:pPr marL="624205" lvl="1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IAM</a:t>
            </a:r>
            <a:r>
              <a:rPr spc="-210" dirty="0"/>
              <a:t> </a:t>
            </a:r>
            <a:r>
              <a:rPr dirty="0"/>
              <a:t>–</a:t>
            </a:r>
            <a:r>
              <a:rPr spc="-195" dirty="0"/>
              <a:t> </a:t>
            </a:r>
            <a:r>
              <a:rPr dirty="0"/>
              <a:t>Roles</a:t>
            </a:r>
            <a:r>
              <a:rPr spc="-195" dirty="0"/>
              <a:t> </a:t>
            </a:r>
            <a:r>
              <a:rPr dirty="0"/>
              <a:t>&amp;</a:t>
            </a:r>
            <a:r>
              <a:rPr spc="-195" dirty="0"/>
              <a:t> </a:t>
            </a:r>
            <a:r>
              <a:rPr spc="-35" dirty="0"/>
              <a:t>Permission</a:t>
            </a:r>
          </a:p>
        </p:txBody>
      </p:sp>
      <p:sp>
        <p:nvSpPr>
          <p:cNvPr id="3" name="object 3"/>
          <p:cNvSpPr/>
          <p:nvPr/>
        </p:nvSpPr>
        <p:spPr>
          <a:xfrm>
            <a:off x="4448555" y="3363467"/>
            <a:ext cx="218440" cy="805180"/>
          </a:xfrm>
          <a:custGeom>
            <a:avLst/>
            <a:gdLst/>
            <a:ahLst/>
            <a:cxnLst/>
            <a:rect l="l" t="t" r="r" b="b"/>
            <a:pathLst>
              <a:path w="218439" h="805179">
                <a:moveTo>
                  <a:pt x="0" y="0"/>
                </a:moveTo>
                <a:lnTo>
                  <a:pt x="0" y="804799"/>
                </a:lnTo>
                <a:lnTo>
                  <a:pt x="218059" y="804799"/>
                </a:lnTo>
              </a:path>
            </a:pathLst>
          </a:custGeom>
          <a:ln w="15239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9860" y="3363467"/>
            <a:ext cx="218440" cy="1701164"/>
          </a:xfrm>
          <a:custGeom>
            <a:avLst/>
            <a:gdLst/>
            <a:ahLst/>
            <a:cxnLst/>
            <a:rect l="l" t="t" r="r" b="b"/>
            <a:pathLst>
              <a:path w="218439" h="1701164">
                <a:moveTo>
                  <a:pt x="0" y="0"/>
                </a:moveTo>
                <a:lnTo>
                  <a:pt x="0" y="1700911"/>
                </a:lnTo>
                <a:lnTo>
                  <a:pt x="218058" y="1700911"/>
                </a:lnTo>
              </a:path>
              <a:path w="218439" h="1701164">
                <a:moveTo>
                  <a:pt x="0" y="0"/>
                </a:moveTo>
                <a:lnTo>
                  <a:pt x="0" y="668782"/>
                </a:lnTo>
                <a:lnTo>
                  <a:pt x="218058" y="668782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1163" y="3363467"/>
            <a:ext cx="218440" cy="2733675"/>
          </a:xfrm>
          <a:custGeom>
            <a:avLst/>
            <a:gdLst/>
            <a:ahLst/>
            <a:cxnLst/>
            <a:rect l="l" t="t" r="r" b="b"/>
            <a:pathLst>
              <a:path w="218440" h="2733675">
                <a:moveTo>
                  <a:pt x="0" y="0"/>
                </a:moveTo>
                <a:lnTo>
                  <a:pt x="0" y="2733179"/>
                </a:lnTo>
                <a:lnTo>
                  <a:pt x="218071" y="2733179"/>
                </a:lnTo>
              </a:path>
              <a:path w="218440" h="2733675">
                <a:moveTo>
                  <a:pt x="0" y="0"/>
                </a:moveTo>
                <a:lnTo>
                  <a:pt x="0" y="1700911"/>
                </a:lnTo>
                <a:lnTo>
                  <a:pt x="218071" y="1700911"/>
                </a:lnTo>
              </a:path>
              <a:path w="218440" h="2733675">
                <a:moveTo>
                  <a:pt x="0" y="0"/>
                </a:moveTo>
                <a:lnTo>
                  <a:pt x="0" y="668782"/>
                </a:lnTo>
                <a:lnTo>
                  <a:pt x="218071" y="668782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11808" y="2330195"/>
            <a:ext cx="3519804" cy="305435"/>
          </a:xfrm>
          <a:custGeom>
            <a:avLst/>
            <a:gdLst/>
            <a:ahLst/>
            <a:cxnLst/>
            <a:rect l="l" t="t" r="r" b="b"/>
            <a:pathLst>
              <a:path w="3519804" h="305435">
                <a:moveTo>
                  <a:pt x="1760219" y="0"/>
                </a:moveTo>
                <a:lnTo>
                  <a:pt x="1760219" y="152653"/>
                </a:lnTo>
                <a:lnTo>
                  <a:pt x="3519296" y="152653"/>
                </a:lnTo>
                <a:lnTo>
                  <a:pt x="3519296" y="305307"/>
                </a:lnTo>
              </a:path>
              <a:path w="3519804" h="305435">
                <a:moveTo>
                  <a:pt x="1760219" y="0"/>
                </a:moveTo>
                <a:lnTo>
                  <a:pt x="1760219" y="305307"/>
                </a:lnTo>
              </a:path>
              <a:path w="3519804" h="305435">
                <a:moveTo>
                  <a:pt x="1759077" y="0"/>
                </a:moveTo>
                <a:lnTo>
                  <a:pt x="1759077" y="152653"/>
                </a:lnTo>
                <a:lnTo>
                  <a:pt x="0" y="152653"/>
                </a:lnTo>
                <a:lnTo>
                  <a:pt x="0" y="305307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5079" y="1604772"/>
            <a:ext cx="1454150" cy="7258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79705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1415"/>
              </a:spcBef>
            </a:pPr>
            <a:r>
              <a:rPr sz="2000" spc="-10" dirty="0">
                <a:latin typeface="Calibri"/>
                <a:cs typeface="Calibri"/>
              </a:rPr>
              <a:t>Roles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859" y="2636520"/>
            <a:ext cx="1454150" cy="72707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1420"/>
              </a:spcBef>
            </a:pPr>
            <a:r>
              <a:rPr sz="2000" spc="-10" dirty="0">
                <a:latin typeface="Calibri"/>
                <a:cs typeface="Calibri"/>
              </a:rPr>
              <a:t>Primitive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9096" y="3668267"/>
            <a:ext cx="1454150" cy="72707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860"/>
              </a:spcBef>
            </a:pPr>
            <a:r>
              <a:rPr sz="2800" spc="-10" dirty="0">
                <a:latin typeface="Calibri"/>
                <a:cs typeface="Calibri"/>
              </a:rPr>
              <a:t>Owner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9096" y="4688014"/>
            <a:ext cx="1454150" cy="739140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960"/>
              </a:spcBef>
            </a:pPr>
            <a:r>
              <a:rPr sz="2800" spc="-10" dirty="0">
                <a:latin typeface="Calibri"/>
                <a:cs typeface="Calibri"/>
              </a:rPr>
              <a:t>Editor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9096" y="5733288"/>
            <a:ext cx="1454150" cy="72707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855"/>
              </a:spcBef>
            </a:pPr>
            <a:r>
              <a:rPr sz="2800" spc="-10" dirty="0">
                <a:latin typeface="Calibri"/>
                <a:cs typeface="Calibri"/>
              </a:rPr>
              <a:t>Viewer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5079" y="2636520"/>
            <a:ext cx="1454150" cy="7270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420"/>
              </a:spcBef>
            </a:pPr>
            <a:r>
              <a:rPr sz="2000" spc="-25" dirty="0">
                <a:latin typeface="Calibri"/>
                <a:cs typeface="Calibri"/>
              </a:rPr>
              <a:t>Pre-</a:t>
            </a:r>
            <a:r>
              <a:rPr sz="2000" spc="-10" dirty="0">
                <a:latin typeface="Calibri"/>
                <a:cs typeface="Calibri"/>
              </a:rPr>
              <a:t>defined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7792" y="3668267"/>
            <a:ext cx="1454150" cy="7270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387985" marR="243204" indent="-135890">
              <a:lnSpc>
                <a:spcPts val="2210"/>
              </a:lnSpc>
              <a:spcBef>
                <a:spcPts val="560"/>
              </a:spcBef>
            </a:pPr>
            <a:r>
              <a:rPr sz="2000" spc="-10" dirty="0">
                <a:latin typeface="Calibri"/>
                <a:cs typeface="Calibri"/>
              </a:rPr>
              <a:t>Compute Admin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7792" y="4688014"/>
            <a:ext cx="1454150" cy="73914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334645">
              <a:lnSpc>
                <a:spcPts val="2305"/>
              </a:lnSpc>
              <a:spcBef>
                <a:spcPts val="425"/>
              </a:spcBef>
            </a:pPr>
            <a:r>
              <a:rPr sz="2000" spc="-10" dirty="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365125">
              <a:lnSpc>
                <a:spcPts val="2305"/>
              </a:lnSpc>
            </a:pPr>
            <a:r>
              <a:rPr sz="2000" spc="-10" dirty="0">
                <a:latin typeface="Calibri"/>
                <a:cs typeface="Calibri"/>
              </a:rPr>
              <a:t>Viewer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3776" y="2636520"/>
            <a:ext cx="1454150" cy="7270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0340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1420"/>
              </a:spcBef>
            </a:pPr>
            <a:r>
              <a:rPr sz="2000" spc="-10" dirty="0">
                <a:latin typeface="Calibri"/>
                <a:cs typeface="Calibri"/>
              </a:rPr>
              <a:t>Custom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66488" y="3668267"/>
            <a:ext cx="2070100" cy="101981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385445" marR="376555" algn="ctr">
              <a:lnSpc>
                <a:spcPct val="91800"/>
              </a:lnSpc>
              <a:spcBef>
                <a:spcPts val="495"/>
              </a:spcBef>
            </a:pPr>
            <a:r>
              <a:rPr sz="2000" spc="-10" dirty="0">
                <a:latin typeface="Calibri"/>
                <a:cs typeface="Calibri"/>
              </a:rPr>
              <a:t>Combined </a:t>
            </a:r>
            <a:r>
              <a:rPr sz="2000" dirty="0">
                <a:latin typeface="Calibri"/>
                <a:cs typeface="Calibri"/>
              </a:rPr>
              <a:t>Collection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Permission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16267" y="1768601"/>
            <a:ext cx="39027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Roles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permissions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6267" y="2251639"/>
            <a:ext cx="4359275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3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identity,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endParaRPr sz="2000">
              <a:latin typeface="Calibri"/>
              <a:cs typeface="Calibri"/>
            </a:endParaRPr>
          </a:p>
          <a:p>
            <a:pPr marL="10350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permission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directly.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55491" y="3878579"/>
            <a:ext cx="271780" cy="832485"/>
          </a:xfrm>
          <a:custGeom>
            <a:avLst/>
            <a:gdLst/>
            <a:ahLst/>
            <a:cxnLst/>
            <a:rect l="l" t="t" r="r" b="b"/>
            <a:pathLst>
              <a:path w="271779" h="832485">
                <a:moveTo>
                  <a:pt x="0" y="0"/>
                </a:moveTo>
                <a:lnTo>
                  <a:pt x="0" y="832485"/>
                </a:lnTo>
                <a:lnTo>
                  <a:pt x="271399" y="832485"/>
                </a:lnTo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7483" y="2593848"/>
            <a:ext cx="2312670" cy="380365"/>
          </a:xfrm>
          <a:custGeom>
            <a:avLst/>
            <a:gdLst/>
            <a:ahLst/>
            <a:cxnLst/>
            <a:rect l="l" t="t" r="r" b="b"/>
            <a:pathLst>
              <a:path w="2312670" h="380364">
                <a:moveTo>
                  <a:pt x="1094232" y="0"/>
                </a:moveTo>
                <a:lnTo>
                  <a:pt x="1094232" y="189991"/>
                </a:lnTo>
                <a:lnTo>
                  <a:pt x="2312416" y="189991"/>
                </a:lnTo>
                <a:lnTo>
                  <a:pt x="2312416" y="379984"/>
                </a:lnTo>
              </a:path>
              <a:path w="2312670" h="380364">
                <a:moveTo>
                  <a:pt x="1094867" y="0"/>
                </a:moveTo>
                <a:lnTo>
                  <a:pt x="1094867" y="189991"/>
                </a:lnTo>
                <a:lnTo>
                  <a:pt x="0" y="189991"/>
                </a:lnTo>
                <a:lnTo>
                  <a:pt x="0" y="379984"/>
                </a:lnTo>
              </a:path>
            </a:pathLst>
          </a:custGeom>
          <a:ln w="15240">
            <a:solidFill>
              <a:srgbClr val="9544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4524" y="3887723"/>
            <a:ext cx="308610" cy="2117725"/>
          </a:xfrm>
          <a:custGeom>
            <a:avLst/>
            <a:gdLst/>
            <a:ahLst/>
            <a:cxnLst/>
            <a:rect l="l" t="t" r="r" b="b"/>
            <a:pathLst>
              <a:path w="308609" h="2117725">
                <a:moveTo>
                  <a:pt x="0" y="0"/>
                </a:moveTo>
                <a:lnTo>
                  <a:pt x="0" y="2117267"/>
                </a:lnTo>
                <a:lnTo>
                  <a:pt x="308482" y="2117267"/>
                </a:lnTo>
              </a:path>
              <a:path w="308609" h="2117725">
                <a:moveTo>
                  <a:pt x="0" y="0"/>
                </a:moveTo>
                <a:lnTo>
                  <a:pt x="0" y="832484"/>
                </a:lnTo>
                <a:lnTo>
                  <a:pt x="308482" y="832484"/>
                </a:lnTo>
              </a:path>
            </a:pathLst>
          </a:custGeom>
          <a:ln w="15240">
            <a:solidFill>
              <a:srgbClr val="AB4F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56460" y="1688592"/>
            <a:ext cx="1811020" cy="90551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56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783" y="2973323"/>
            <a:ext cx="2056130" cy="909955"/>
          </a:xfrm>
          <a:prstGeom prst="rect">
            <a:avLst/>
          </a:prstGeom>
          <a:solidFill>
            <a:srgbClr val="FFFFFF"/>
          </a:solidFill>
          <a:ln w="15239">
            <a:solidFill>
              <a:srgbClr val="AB4F27"/>
            </a:solidFill>
          </a:ln>
        </p:spPr>
        <p:txBody>
          <a:bodyPr vert="horz" wrap="square" lIns="0" tIns="274955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2165"/>
              </a:spcBef>
            </a:pPr>
            <a:r>
              <a:rPr sz="2000" spc="-10" dirty="0">
                <a:latin typeface="Calibri"/>
                <a:cs typeface="Calibri"/>
              </a:rPr>
              <a:t>Transactional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2372" y="4264152"/>
            <a:ext cx="1811020" cy="904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74320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2160"/>
              </a:spcBef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2372" y="5553455"/>
            <a:ext cx="1811020" cy="904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6987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2125"/>
              </a:spcBef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5659" y="2973323"/>
            <a:ext cx="1809114" cy="909955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399415">
              <a:lnSpc>
                <a:spcPct val="100000"/>
              </a:lnSpc>
              <a:spcBef>
                <a:spcPts val="2130"/>
              </a:spcBef>
            </a:pPr>
            <a:r>
              <a:rPr sz="2000" spc="-10" dirty="0">
                <a:latin typeface="Calibri"/>
                <a:cs typeface="Calibri"/>
              </a:rPr>
              <a:t>Analytical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28288" y="4264152"/>
            <a:ext cx="1809114" cy="904240"/>
          </a:xfrm>
          <a:prstGeom prst="rect">
            <a:avLst/>
          </a:prstGeom>
          <a:solidFill>
            <a:srgbClr val="FFFFFF"/>
          </a:solidFill>
          <a:ln w="15240">
            <a:solidFill>
              <a:srgbClr val="AB4F27"/>
            </a:solidFill>
          </a:ln>
        </p:spPr>
        <p:txBody>
          <a:bodyPr vert="horz" wrap="square" lIns="0" tIns="264795" rIns="0" bIns="0" rtlCol="0">
            <a:spAutoFit/>
          </a:bodyPr>
          <a:lstStyle/>
          <a:p>
            <a:pPr marL="399415">
              <a:lnSpc>
                <a:spcPct val="100000"/>
              </a:lnSpc>
              <a:spcBef>
                <a:spcPts val="2085"/>
              </a:spcBef>
            </a:pPr>
            <a:r>
              <a:rPr sz="2000" dirty="0">
                <a:latin typeface="Calibri"/>
                <a:cs typeface="Calibri"/>
              </a:rPr>
              <a:t>Big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47431" y="3517391"/>
            <a:ext cx="2872105" cy="498475"/>
          </a:xfrm>
          <a:custGeom>
            <a:avLst/>
            <a:gdLst/>
            <a:ahLst/>
            <a:cxnLst/>
            <a:rect l="l" t="t" r="r" b="b"/>
            <a:pathLst>
              <a:path w="2872104" h="498475">
                <a:moveTo>
                  <a:pt x="1435608" y="0"/>
                </a:moveTo>
                <a:lnTo>
                  <a:pt x="1435608" y="249174"/>
                </a:lnTo>
                <a:lnTo>
                  <a:pt x="2871597" y="249174"/>
                </a:lnTo>
                <a:lnTo>
                  <a:pt x="2871597" y="498475"/>
                </a:lnTo>
              </a:path>
              <a:path w="2872104" h="498475">
                <a:moveTo>
                  <a:pt x="1435989" y="0"/>
                </a:moveTo>
                <a:lnTo>
                  <a:pt x="1435989" y="249174"/>
                </a:lnTo>
                <a:lnTo>
                  <a:pt x="0" y="249174"/>
                </a:lnTo>
                <a:lnTo>
                  <a:pt x="0" y="498475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97368" y="2330195"/>
            <a:ext cx="2372995" cy="118745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7325" rIns="0" bIns="0" rtlCol="0">
            <a:spAutoFit/>
          </a:bodyPr>
          <a:lstStyle/>
          <a:p>
            <a:pPr marL="405130" marR="398145" indent="365760">
              <a:lnSpc>
                <a:spcPts val="3070"/>
              </a:lnSpc>
              <a:spcBef>
                <a:spcPts val="1475"/>
              </a:spcBef>
            </a:pP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Semi-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0235" y="4015740"/>
            <a:ext cx="2374900" cy="118745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17170" rIns="0" bIns="0" rtlCol="0">
            <a:spAutoFit/>
          </a:bodyPr>
          <a:lstStyle/>
          <a:p>
            <a:pPr marL="716280">
              <a:lnSpc>
                <a:spcPct val="100000"/>
              </a:lnSpc>
              <a:spcBef>
                <a:spcPts val="1710"/>
              </a:spcBef>
            </a:pPr>
            <a:r>
              <a:rPr sz="2000" b="1" dirty="0">
                <a:latin typeface="Calibri"/>
                <a:cs typeface="Calibri"/>
              </a:rPr>
              <a:t>Big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658495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Calibri"/>
                <a:cs typeface="Calibri"/>
              </a:rPr>
              <a:t>(Row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Key)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32976" y="4015740"/>
            <a:ext cx="2372995" cy="118745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17170" rIns="0" bIns="0" rtlCol="0">
            <a:spAutoFit/>
          </a:bodyPr>
          <a:lstStyle/>
          <a:p>
            <a:pPr marL="643255">
              <a:lnSpc>
                <a:spcPct val="100000"/>
              </a:lnSpc>
              <a:spcBef>
                <a:spcPts val="1710"/>
              </a:spcBef>
            </a:pP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  <a:p>
            <a:pPr marL="693420">
              <a:lnSpc>
                <a:spcPct val="100000"/>
              </a:lnSpc>
              <a:spcBef>
                <a:spcPts val="660"/>
              </a:spcBef>
            </a:pPr>
            <a:r>
              <a:rPr sz="2000" b="1" dirty="0">
                <a:latin typeface="Calibri"/>
                <a:cs typeface="Calibri"/>
              </a:rPr>
              <a:t>Fire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store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Different</a:t>
            </a:r>
            <a:r>
              <a:rPr b="1" spc="-38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storage</a:t>
            </a:r>
            <a:r>
              <a:rPr b="1" spc="-4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1372" y="2538983"/>
          <a:ext cx="2011680" cy="2434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7110">
                <a:tc gridSpan="2"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245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Unstructured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8511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87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Storage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5027676" y="3511296"/>
            <a:ext cx="2516505" cy="436880"/>
          </a:xfrm>
          <a:custGeom>
            <a:avLst/>
            <a:gdLst/>
            <a:ahLst/>
            <a:cxnLst/>
            <a:rect l="l" t="t" r="r" b="b"/>
            <a:pathLst>
              <a:path w="2516504" h="436879">
                <a:moveTo>
                  <a:pt x="1258824" y="0"/>
                </a:moveTo>
                <a:lnTo>
                  <a:pt x="1258824" y="218312"/>
                </a:lnTo>
                <a:lnTo>
                  <a:pt x="2516504" y="218312"/>
                </a:lnTo>
                <a:lnTo>
                  <a:pt x="2516504" y="436498"/>
                </a:lnTo>
              </a:path>
              <a:path w="2516504" h="436879">
                <a:moveTo>
                  <a:pt x="1257681" y="0"/>
                </a:moveTo>
                <a:lnTo>
                  <a:pt x="1257681" y="218312"/>
                </a:lnTo>
                <a:lnTo>
                  <a:pt x="0" y="218312"/>
                </a:lnTo>
                <a:lnTo>
                  <a:pt x="0" y="43649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47132" y="2471927"/>
            <a:ext cx="2078989" cy="1039494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30035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236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Block</a:t>
            </a:r>
            <a:r>
              <a:rPr sz="24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8308" y="3947159"/>
            <a:ext cx="2078989" cy="1039494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Persistence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4431" y="3947159"/>
            <a:ext cx="2078989" cy="1039494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5511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Local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SSD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508235" y="2459735"/>
          <a:ext cx="2076450" cy="251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7590">
                <a:tc grid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2365"/>
                        </a:spcBef>
                      </a:pPr>
                      <a:r>
                        <a:rPr sz="2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In-</a:t>
                      </a:r>
                      <a:r>
                        <a:rPr sz="2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memory</a:t>
                      </a:r>
                      <a:r>
                        <a:rPr sz="24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DB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0035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B6670C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B6670C"/>
                      </a:solidFill>
                      <a:prstDash val="solid"/>
                    </a:lnL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5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683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19050">
                      <a:solidFill>
                        <a:srgbClr val="CF760E"/>
                      </a:solidFill>
                      <a:prstDash val="solid"/>
                    </a:lnL>
                    <a:lnR w="19050">
                      <a:solidFill>
                        <a:srgbClr val="CF760E"/>
                      </a:solidFill>
                      <a:prstDash val="solid"/>
                    </a:lnR>
                    <a:lnT w="19050">
                      <a:solidFill>
                        <a:srgbClr val="CF760E"/>
                      </a:solidFill>
                      <a:prstDash val="solid"/>
                    </a:lnT>
                    <a:lnB w="19050">
                      <a:solidFill>
                        <a:srgbClr val="CF760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Different</a:t>
            </a:r>
            <a:r>
              <a:rPr b="1" spc="-38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storage</a:t>
            </a:r>
            <a:r>
              <a:rPr b="1" spc="-4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product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Object</a:t>
            </a:r>
            <a:r>
              <a:rPr spc="-375" dirty="0"/>
              <a:t> </a:t>
            </a:r>
            <a:r>
              <a:rPr spc="-40" dirty="0"/>
              <a:t>Organization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395716" y="5170932"/>
            <a:ext cx="271780" cy="833755"/>
          </a:xfrm>
          <a:custGeom>
            <a:avLst/>
            <a:gdLst/>
            <a:ahLst/>
            <a:cxnLst/>
            <a:rect l="l" t="t" r="r" b="b"/>
            <a:pathLst>
              <a:path w="271779" h="833754">
                <a:moveTo>
                  <a:pt x="0" y="0"/>
                </a:moveTo>
                <a:lnTo>
                  <a:pt x="0" y="833602"/>
                </a:lnTo>
                <a:lnTo>
                  <a:pt x="271779" y="833602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19616" y="3884676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619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19616" y="25984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61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14359" y="1691639"/>
            <a:ext cx="1812289" cy="9067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542925">
              <a:lnSpc>
                <a:spcPct val="100000"/>
              </a:lnSpc>
              <a:spcBef>
                <a:spcPts val="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Cloud</a:t>
            </a:r>
            <a:endParaRPr sz="24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1085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4359" y="2977895"/>
            <a:ext cx="1812289" cy="9067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34315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Calibri"/>
                <a:cs typeface="Calibri"/>
              </a:rPr>
              <a:t>Buckets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4359" y="4264152"/>
            <a:ext cx="1812289" cy="90678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35585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1855"/>
              </a:spcBef>
            </a:pPr>
            <a:r>
              <a:rPr sz="2400" spc="-10" dirty="0">
                <a:latin typeface="Calibri"/>
                <a:cs typeface="Calibri"/>
              </a:rPr>
              <a:t>Folders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66988" y="5551932"/>
            <a:ext cx="1812289" cy="90551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3431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845"/>
              </a:spcBef>
            </a:pPr>
            <a:r>
              <a:rPr sz="2400" spc="-10" dirty="0">
                <a:latin typeface="Calibri"/>
                <a:cs typeface="Calibri"/>
              </a:rPr>
              <a:t>Object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2127" y="1528419"/>
            <a:ext cx="6372225" cy="46501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000" spc="3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r>
              <a:rPr sz="20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https://storage.cloud.google.com/[bucket]/[objectname]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appear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URL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careful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anything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Folder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virtual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lock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retention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policy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immutable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versioned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47237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Storage</a:t>
            </a:r>
            <a:r>
              <a:rPr spc="-434" dirty="0"/>
              <a:t> </a:t>
            </a:r>
            <a:r>
              <a:rPr spc="-20" dirty="0"/>
              <a:t>Class</a:t>
            </a:r>
          </a:p>
        </p:txBody>
      </p:sp>
      <p:sp>
        <p:nvSpPr>
          <p:cNvPr id="3" name="object 3"/>
          <p:cNvSpPr/>
          <p:nvPr/>
        </p:nvSpPr>
        <p:spPr>
          <a:xfrm>
            <a:off x="394715" y="2542032"/>
            <a:ext cx="2562225" cy="893444"/>
          </a:xfrm>
          <a:custGeom>
            <a:avLst/>
            <a:gdLst/>
            <a:ahLst/>
            <a:cxnLst/>
            <a:rect l="l" t="t" r="r" b="b"/>
            <a:pathLst>
              <a:path w="2562225" h="893445">
                <a:moveTo>
                  <a:pt x="0" y="893063"/>
                </a:moveTo>
                <a:lnTo>
                  <a:pt x="2561844" y="893063"/>
                </a:lnTo>
                <a:lnTo>
                  <a:pt x="2561844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4715" y="2542032"/>
            <a:ext cx="256222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930"/>
              </a:spcBef>
            </a:pPr>
            <a:r>
              <a:rPr sz="3600" spc="-10" dirty="0">
                <a:latin typeface="Calibri"/>
                <a:cs typeface="Calibri"/>
              </a:rPr>
              <a:t>Standard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715" y="3435096"/>
            <a:ext cx="256222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39">
            <a:solidFill>
              <a:srgbClr val="E38312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67335" indent="-172085">
              <a:lnSpc>
                <a:spcPct val="100000"/>
              </a:lnSpc>
              <a:spcBef>
                <a:spcPts val="45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Good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High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Costliest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low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5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Low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latency</a:t>
            </a:r>
            <a:endParaRPr sz="1800">
              <a:latin typeface="Calibri"/>
              <a:cs typeface="Calibri"/>
            </a:endParaRPr>
          </a:p>
          <a:p>
            <a:pPr marL="26733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SLA </a:t>
            </a:r>
            <a:r>
              <a:rPr sz="1800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38150" lvl="1" indent="-170815">
              <a:lnSpc>
                <a:spcPct val="100000"/>
              </a:lnSpc>
              <a:spcBef>
                <a:spcPts val="145"/>
              </a:spcBef>
              <a:buChar char="•"/>
              <a:tabLst>
                <a:tab pos="438150" algn="l"/>
              </a:tabLst>
            </a:pPr>
            <a:r>
              <a:rPr sz="1800" dirty="0">
                <a:latin typeface="Calibri"/>
                <a:cs typeface="Calibri"/>
              </a:rPr>
              <a:t>99.95% </a:t>
            </a:r>
            <a:r>
              <a:rPr sz="1800" spc="-10" dirty="0">
                <a:latin typeface="Calibri"/>
                <a:cs typeface="Calibri"/>
              </a:rPr>
              <a:t>Multi/Dual</a:t>
            </a:r>
            <a:endParaRPr sz="1800">
              <a:latin typeface="Calibri"/>
              <a:cs typeface="Calibri"/>
            </a:endParaRPr>
          </a:p>
          <a:p>
            <a:pPr marL="438150" lvl="1" indent="-170815">
              <a:lnSpc>
                <a:spcPct val="100000"/>
              </a:lnSpc>
              <a:spcBef>
                <a:spcPts val="155"/>
              </a:spcBef>
              <a:buChar char="•"/>
              <a:tabLst>
                <a:tab pos="438150" algn="l"/>
              </a:tabLst>
            </a:pPr>
            <a:r>
              <a:rPr sz="1800" dirty="0">
                <a:latin typeface="Calibri"/>
                <a:cs typeface="Calibri"/>
              </a:rPr>
              <a:t>99.9% </a:t>
            </a:r>
            <a:r>
              <a:rPr sz="1800" spc="-10" dirty="0">
                <a:latin typeface="Calibri"/>
                <a:cs typeface="Calibri"/>
              </a:rPr>
              <a:t>Regional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14700" y="2542032"/>
            <a:ext cx="2563495" cy="893444"/>
          </a:xfrm>
          <a:custGeom>
            <a:avLst/>
            <a:gdLst/>
            <a:ahLst/>
            <a:cxnLst/>
            <a:rect l="l" t="t" r="r" b="b"/>
            <a:pathLst>
              <a:path w="2563495" h="893445">
                <a:moveTo>
                  <a:pt x="0" y="893063"/>
                </a:moveTo>
                <a:lnTo>
                  <a:pt x="2563368" y="893063"/>
                </a:lnTo>
                <a:lnTo>
                  <a:pt x="2563368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14700" y="2542032"/>
            <a:ext cx="256349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930"/>
              </a:spcBef>
            </a:pPr>
            <a:r>
              <a:rPr sz="3600" dirty="0">
                <a:latin typeface="Calibri"/>
                <a:cs typeface="Calibri"/>
              </a:rPr>
              <a:t>Near </a:t>
            </a:r>
            <a:r>
              <a:rPr sz="3600" spc="-20" dirty="0">
                <a:latin typeface="Calibri"/>
                <a:cs typeface="Calibri"/>
              </a:rPr>
              <a:t>line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4700" y="3435096"/>
            <a:ext cx="256349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E38312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68605" marR="238760" indent="-172720">
              <a:lnSpc>
                <a:spcPts val="1970"/>
              </a:lnSpc>
              <a:spcBef>
                <a:spcPts val="680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Low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Frequency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 </a:t>
            </a:r>
            <a:r>
              <a:rPr sz="1800" dirty="0">
                <a:latin typeface="Calibri"/>
                <a:cs typeface="Calibri"/>
              </a:rPr>
              <a:t>Once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30</a:t>
            </a:r>
            <a:r>
              <a:rPr sz="1800" spc="-20" dirty="0">
                <a:latin typeface="Calibri"/>
                <a:cs typeface="Calibri"/>
              </a:rPr>
              <a:t> days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ts val="2070"/>
              </a:lnSpc>
              <a:spcBef>
                <a:spcPts val="120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Cheaper</a:t>
            </a:r>
            <a:endParaRPr sz="1800">
              <a:latin typeface="Calibri"/>
              <a:cs typeface="Calibri"/>
            </a:endParaRPr>
          </a:p>
          <a:p>
            <a:pPr marL="268605">
              <a:lnSpc>
                <a:spcPts val="2070"/>
              </a:lnSpc>
            </a:pPr>
            <a:r>
              <a:rPr sz="1800" dirty="0">
                <a:latin typeface="Calibri"/>
                <a:cs typeface="Calibri"/>
              </a:rPr>
              <a:t>than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standard</a:t>
            </a:r>
            <a:endParaRPr sz="1800">
              <a:latin typeface="Calibri"/>
              <a:cs typeface="Calibri"/>
            </a:endParaRPr>
          </a:p>
          <a:p>
            <a:pPr marL="268605" marR="867410" indent="-172720">
              <a:lnSpc>
                <a:spcPts val="1980"/>
              </a:lnSpc>
              <a:spcBef>
                <a:spcPts val="36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will </a:t>
            </a:r>
            <a:r>
              <a:rPr sz="1800" spc="-10" dirty="0">
                <a:latin typeface="Calibri"/>
                <a:cs typeface="Calibri"/>
              </a:rPr>
              <a:t>increase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0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Back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up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SLA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99.9% </a:t>
            </a:r>
            <a:r>
              <a:rPr sz="1800" spc="-10" dirty="0">
                <a:latin typeface="Calibri"/>
                <a:cs typeface="Calibri"/>
              </a:rPr>
              <a:t>Multi/Dual</a:t>
            </a:r>
            <a:endParaRPr sz="1800">
              <a:latin typeface="Calibri"/>
              <a:cs typeface="Calibri"/>
            </a:endParaRPr>
          </a:p>
          <a:p>
            <a:pPr marL="439420" lvl="1" indent="-170815">
              <a:lnSpc>
                <a:spcPct val="100000"/>
              </a:lnSpc>
              <a:spcBef>
                <a:spcPts val="155"/>
              </a:spcBef>
              <a:buChar char="•"/>
              <a:tabLst>
                <a:tab pos="439420" algn="l"/>
              </a:tabLst>
            </a:pPr>
            <a:r>
              <a:rPr sz="1800" dirty="0">
                <a:latin typeface="Calibri"/>
                <a:cs typeface="Calibri"/>
              </a:rPr>
              <a:t>99.0%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36208" y="2542032"/>
            <a:ext cx="2562225" cy="893444"/>
          </a:xfrm>
          <a:custGeom>
            <a:avLst/>
            <a:gdLst/>
            <a:ahLst/>
            <a:cxnLst/>
            <a:rect l="l" t="t" r="r" b="b"/>
            <a:pathLst>
              <a:path w="2562225" h="893445">
                <a:moveTo>
                  <a:pt x="0" y="893063"/>
                </a:moveTo>
                <a:lnTo>
                  <a:pt x="2561843" y="893063"/>
                </a:lnTo>
                <a:lnTo>
                  <a:pt x="2561843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36208" y="2542032"/>
            <a:ext cx="256222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476250">
              <a:lnSpc>
                <a:spcPct val="100000"/>
              </a:lnSpc>
              <a:spcBef>
                <a:spcPts val="930"/>
              </a:spcBef>
            </a:pPr>
            <a:r>
              <a:rPr sz="3600" dirty="0">
                <a:latin typeface="Calibri"/>
                <a:cs typeface="Calibri"/>
              </a:rPr>
              <a:t>Cold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line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36208" y="3435096"/>
            <a:ext cx="256222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E38312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68605" marR="248920" indent="-172720">
              <a:lnSpc>
                <a:spcPts val="1970"/>
              </a:lnSpc>
              <a:spcBef>
                <a:spcPts val="680"/>
              </a:spcBef>
              <a:buChar char="•"/>
              <a:tabLst>
                <a:tab pos="268605" algn="l"/>
              </a:tabLst>
            </a:pPr>
            <a:r>
              <a:rPr sz="1800" spc="-10" dirty="0">
                <a:latin typeface="Calibri"/>
                <a:cs typeface="Calibri"/>
              </a:rPr>
              <a:t>Very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20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Once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days</a:t>
            </a:r>
            <a:endParaRPr sz="1800">
              <a:latin typeface="Calibri"/>
              <a:cs typeface="Calibri"/>
            </a:endParaRPr>
          </a:p>
          <a:p>
            <a:pPr marL="269240" indent="-172720">
              <a:lnSpc>
                <a:spcPts val="2070"/>
              </a:lnSpc>
              <a:spcBef>
                <a:spcPts val="145"/>
              </a:spcBef>
              <a:buChar char="•"/>
              <a:tabLst>
                <a:tab pos="269240" algn="l"/>
              </a:tabLst>
            </a:pP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Cheaper</a:t>
            </a:r>
            <a:endParaRPr sz="1800">
              <a:latin typeface="Calibri"/>
              <a:cs typeface="Calibri"/>
            </a:endParaRPr>
          </a:p>
          <a:p>
            <a:pPr marL="268605">
              <a:lnSpc>
                <a:spcPts val="2070"/>
              </a:lnSpc>
            </a:pP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line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SLA </a:t>
            </a:r>
            <a:r>
              <a:rPr sz="1800" spc="-5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39420" lvl="1" indent="-170815">
              <a:lnSpc>
                <a:spcPct val="100000"/>
              </a:lnSpc>
              <a:spcBef>
                <a:spcPts val="140"/>
              </a:spcBef>
              <a:buChar char="•"/>
              <a:tabLst>
                <a:tab pos="439420" algn="l"/>
              </a:tabLst>
            </a:pPr>
            <a:r>
              <a:rPr sz="1800" dirty="0">
                <a:latin typeface="Calibri"/>
                <a:cs typeface="Calibri"/>
              </a:rPr>
              <a:t>99.9% </a:t>
            </a:r>
            <a:r>
              <a:rPr sz="1800" spc="-10" dirty="0">
                <a:latin typeface="Calibri"/>
                <a:cs typeface="Calibri"/>
              </a:rPr>
              <a:t>Multi/Dual</a:t>
            </a:r>
            <a:endParaRPr sz="1800">
              <a:latin typeface="Calibri"/>
              <a:cs typeface="Calibri"/>
            </a:endParaRPr>
          </a:p>
          <a:p>
            <a:pPr marL="439420" lvl="1" indent="-170815">
              <a:lnSpc>
                <a:spcPct val="100000"/>
              </a:lnSpc>
              <a:spcBef>
                <a:spcPts val="160"/>
              </a:spcBef>
              <a:buChar char="•"/>
              <a:tabLst>
                <a:tab pos="439420" algn="l"/>
              </a:tabLst>
            </a:pPr>
            <a:r>
              <a:rPr sz="1800" dirty="0">
                <a:latin typeface="Calibri"/>
                <a:cs typeface="Calibri"/>
              </a:rPr>
              <a:t>99.0%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57716" y="2542032"/>
            <a:ext cx="2562225" cy="893444"/>
          </a:xfrm>
          <a:custGeom>
            <a:avLst/>
            <a:gdLst/>
            <a:ahLst/>
            <a:cxnLst/>
            <a:rect l="l" t="t" r="r" b="b"/>
            <a:pathLst>
              <a:path w="2562225" h="893445">
                <a:moveTo>
                  <a:pt x="0" y="893063"/>
                </a:moveTo>
                <a:lnTo>
                  <a:pt x="2561844" y="893063"/>
                </a:lnTo>
                <a:lnTo>
                  <a:pt x="2561844" y="0"/>
                </a:lnTo>
                <a:lnTo>
                  <a:pt x="0" y="0"/>
                </a:lnTo>
                <a:lnTo>
                  <a:pt x="0" y="893063"/>
                </a:lnTo>
                <a:close/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57716" y="2542032"/>
            <a:ext cx="2562225" cy="89344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8110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930"/>
              </a:spcBef>
            </a:pPr>
            <a:r>
              <a:rPr sz="3600" spc="-10" dirty="0">
                <a:latin typeface="Calibri"/>
                <a:cs typeface="Calibri"/>
              </a:rPr>
              <a:t>Archive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57716" y="3435096"/>
            <a:ext cx="2562225" cy="2711450"/>
          </a:xfrm>
          <a:prstGeom prst="rect">
            <a:avLst/>
          </a:prstGeom>
          <a:solidFill>
            <a:srgbClr val="FFFFFF">
              <a:alpha val="90194"/>
            </a:srgbClr>
          </a:solidFill>
          <a:ln w="15240">
            <a:solidFill>
              <a:srgbClr val="E38312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68605" indent="-172085">
              <a:lnSpc>
                <a:spcPct val="100000"/>
              </a:lnSpc>
              <a:spcBef>
                <a:spcPts val="45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Offline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spc="-10" dirty="0">
                <a:latin typeface="Calibri"/>
                <a:cs typeface="Calibri"/>
              </a:rPr>
              <a:t>Backup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ts val="207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  <a:p>
            <a:pPr marL="268605">
              <a:lnSpc>
                <a:spcPts val="2070"/>
              </a:lnSpc>
            </a:pPr>
            <a:r>
              <a:rPr sz="1800" spc="-20" dirty="0">
                <a:latin typeface="Calibri"/>
                <a:cs typeface="Calibri"/>
              </a:rPr>
              <a:t>year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Storage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Cheapest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5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high</a:t>
            </a:r>
            <a:endParaRPr sz="1800">
              <a:latin typeface="Calibri"/>
              <a:cs typeface="Calibri"/>
            </a:endParaRPr>
          </a:p>
          <a:p>
            <a:pPr marL="26860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268605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263" y="1364894"/>
            <a:ext cx="3129915" cy="993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frequently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7639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409" dirty="0"/>
              <a:t> </a:t>
            </a:r>
            <a:r>
              <a:rPr dirty="0"/>
              <a:t>Transfer</a:t>
            </a:r>
            <a:r>
              <a:rPr spc="-409" dirty="0"/>
              <a:t> </a:t>
            </a:r>
            <a:r>
              <a:rPr spc="-25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7" y="1651838"/>
            <a:ext cx="53168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premises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(GCS)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927" y="3040760"/>
            <a:ext cx="5157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Wingdings"/>
              <a:buChar char=""/>
              <a:tabLst>
                <a:tab pos="24574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927" y="4849825"/>
            <a:ext cx="5868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S3,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Azure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Container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5659" y="5186171"/>
            <a:ext cx="1714500" cy="123901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262371" y="5056632"/>
            <a:ext cx="2999740" cy="1455420"/>
            <a:chOff x="5262371" y="5056632"/>
            <a:chExt cx="2999740" cy="1455420"/>
          </a:xfrm>
        </p:grpSpPr>
        <p:sp>
          <p:nvSpPr>
            <p:cNvPr id="8" name="object 8"/>
            <p:cNvSpPr/>
            <p:nvPr/>
          </p:nvSpPr>
          <p:spPr>
            <a:xfrm>
              <a:off x="5269991" y="557784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712470" y="0"/>
                  </a:moveTo>
                  <a:lnTo>
                    <a:pt x="712470" y="82677"/>
                  </a:lnTo>
                  <a:lnTo>
                    <a:pt x="0" y="82677"/>
                  </a:lnTo>
                  <a:lnTo>
                    <a:pt x="0" y="248031"/>
                  </a:lnTo>
                  <a:lnTo>
                    <a:pt x="712470" y="248031"/>
                  </a:lnTo>
                  <a:lnTo>
                    <a:pt x="712470" y="330708"/>
                  </a:lnTo>
                  <a:lnTo>
                    <a:pt x="877824" y="165354"/>
                  </a:lnTo>
                  <a:lnTo>
                    <a:pt x="712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69991" y="557784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0" y="82677"/>
                  </a:moveTo>
                  <a:lnTo>
                    <a:pt x="712470" y="82677"/>
                  </a:lnTo>
                  <a:lnTo>
                    <a:pt x="712470" y="0"/>
                  </a:lnTo>
                  <a:lnTo>
                    <a:pt x="877824" y="165354"/>
                  </a:lnTo>
                  <a:lnTo>
                    <a:pt x="712470" y="330708"/>
                  </a:lnTo>
                  <a:lnTo>
                    <a:pt x="712470" y="248031"/>
                  </a:lnTo>
                  <a:lnTo>
                    <a:pt x="0" y="248031"/>
                  </a:lnTo>
                  <a:lnTo>
                    <a:pt x="0" y="82677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0759" y="5056632"/>
              <a:ext cx="2180843" cy="145542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195315" y="1808988"/>
            <a:ext cx="2966085" cy="1454150"/>
            <a:chOff x="5195315" y="1808988"/>
            <a:chExt cx="2966085" cy="1454150"/>
          </a:xfrm>
        </p:grpSpPr>
        <p:sp>
          <p:nvSpPr>
            <p:cNvPr id="12" name="object 12"/>
            <p:cNvSpPr/>
            <p:nvPr/>
          </p:nvSpPr>
          <p:spPr>
            <a:xfrm>
              <a:off x="5202935" y="236982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712469" y="0"/>
                  </a:moveTo>
                  <a:lnTo>
                    <a:pt x="712469" y="82676"/>
                  </a:lnTo>
                  <a:lnTo>
                    <a:pt x="0" y="82676"/>
                  </a:lnTo>
                  <a:lnTo>
                    <a:pt x="0" y="248030"/>
                  </a:lnTo>
                  <a:lnTo>
                    <a:pt x="712469" y="248030"/>
                  </a:lnTo>
                  <a:lnTo>
                    <a:pt x="712469" y="330707"/>
                  </a:lnTo>
                  <a:lnTo>
                    <a:pt x="877824" y="165353"/>
                  </a:lnTo>
                  <a:lnTo>
                    <a:pt x="712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02935" y="2369820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0" y="82676"/>
                  </a:moveTo>
                  <a:lnTo>
                    <a:pt x="712469" y="82676"/>
                  </a:lnTo>
                  <a:lnTo>
                    <a:pt x="712469" y="0"/>
                  </a:lnTo>
                  <a:lnTo>
                    <a:pt x="877824" y="165353"/>
                  </a:lnTo>
                  <a:lnTo>
                    <a:pt x="712469" y="330707"/>
                  </a:lnTo>
                  <a:lnTo>
                    <a:pt x="712469" y="248030"/>
                  </a:lnTo>
                  <a:lnTo>
                    <a:pt x="0" y="248030"/>
                  </a:lnTo>
                  <a:lnTo>
                    <a:pt x="0" y="8267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8651" y="1808988"/>
              <a:ext cx="2182368" cy="145389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183635" y="3384803"/>
            <a:ext cx="4977765" cy="1468120"/>
            <a:chOff x="3183635" y="3384803"/>
            <a:chExt cx="4977765" cy="1468120"/>
          </a:xfrm>
        </p:grpSpPr>
        <p:sp>
          <p:nvSpPr>
            <p:cNvPr id="16" name="object 16"/>
            <p:cNvSpPr/>
            <p:nvPr/>
          </p:nvSpPr>
          <p:spPr>
            <a:xfrm>
              <a:off x="5202935" y="3945635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712469" y="0"/>
                  </a:moveTo>
                  <a:lnTo>
                    <a:pt x="712469" y="82676"/>
                  </a:lnTo>
                  <a:lnTo>
                    <a:pt x="0" y="82676"/>
                  </a:lnTo>
                  <a:lnTo>
                    <a:pt x="0" y="248031"/>
                  </a:lnTo>
                  <a:lnTo>
                    <a:pt x="712469" y="248031"/>
                  </a:lnTo>
                  <a:lnTo>
                    <a:pt x="712469" y="330707"/>
                  </a:lnTo>
                  <a:lnTo>
                    <a:pt x="877824" y="165353"/>
                  </a:lnTo>
                  <a:lnTo>
                    <a:pt x="712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2935" y="3945635"/>
              <a:ext cx="878205" cy="330835"/>
            </a:xfrm>
            <a:custGeom>
              <a:avLst/>
              <a:gdLst/>
              <a:ahLst/>
              <a:cxnLst/>
              <a:rect l="l" t="t" r="r" b="b"/>
              <a:pathLst>
                <a:path w="878204" h="330835">
                  <a:moveTo>
                    <a:pt x="0" y="82676"/>
                  </a:moveTo>
                  <a:lnTo>
                    <a:pt x="712469" y="82676"/>
                  </a:lnTo>
                  <a:lnTo>
                    <a:pt x="712469" y="0"/>
                  </a:lnTo>
                  <a:lnTo>
                    <a:pt x="877824" y="165353"/>
                  </a:lnTo>
                  <a:lnTo>
                    <a:pt x="712469" y="330707"/>
                  </a:lnTo>
                  <a:lnTo>
                    <a:pt x="712469" y="248031"/>
                  </a:lnTo>
                  <a:lnTo>
                    <a:pt x="0" y="248031"/>
                  </a:lnTo>
                  <a:lnTo>
                    <a:pt x="0" y="82676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8651" y="3384803"/>
              <a:ext cx="2182368" cy="14538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3635" y="3396995"/>
              <a:ext cx="2182367" cy="145542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450335" y="2304300"/>
            <a:ext cx="1556385" cy="554990"/>
            <a:chOff x="3450335" y="2304300"/>
            <a:chExt cx="1556385" cy="55499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9959" y="2324125"/>
              <a:ext cx="1516380" cy="4556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0335" y="2304300"/>
              <a:ext cx="1551432" cy="5547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7391" y="2351531"/>
              <a:ext cx="1429512" cy="36880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517391" y="2351532"/>
            <a:ext cx="1430020" cy="368935"/>
          </a:xfrm>
          <a:prstGeom prst="rect">
            <a:avLst/>
          </a:prstGeom>
          <a:ln w="12192">
            <a:solidFill>
              <a:srgbClr val="E38312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On-premises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7639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On-</a:t>
            </a:r>
            <a:r>
              <a:rPr dirty="0"/>
              <a:t>premises</a:t>
            </a:r>
            <a:r>
              <a:rPr spc="-360" dirty="0"/>
              <a:t> </a:t>
            </a:r>
            <a:r>
              <a:rPr dirty="0"/>
              <a:t>to</a:t>
            </a:r>
            <a:r>
              <a:rPr spc="-350" dirty="0"/>
              <a:t> </a:t>
            </a:r>
            <a:r>
              <a:rPr sz="4400" spc="-20" dirty="0"/>
              <a:t>(GCS)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22554" y="1506568"/>
            <a:ext cx="9538970" cy="426466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5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gsutil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command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line</a:t>
            </a: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utility</a:t>
            </a:r>
            <a:endParaRPr sz="20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415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install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locally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SDK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gsutil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cp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large_number_of_small_files</a:t>
            </a:r>
            <a:r>
              <a:rPr sz="18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parallel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upload)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not?</a:t>
            </a:r>
            <a:endParaRPr sz="1800">
              <a:latin typeface="Calibri"/>
              <a:cs typeface="Calibri"/>
            </a:endParaRPr>
          </a:p>
          <a:p>
            <a:pPr marL="618490" lvl="2" indent="-222250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SzPct val="87500"/>
              <a:buFont typeface="Wingdings"/>
              <a:buChar char=""/>
              <a:tabLst>
                <a:tab pos="61849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Follow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slide</a:t>
            </a:r>
            <a:endParaRPr sz="16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8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Transfer</a:t>
            </a:r>
            <a:r>
              <a:rPr sz="20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Service</a:t>
            </a:r>
            <a:r>
              <a:rPr sz="20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for</a:t>
            </a:r>
            <a:r>
              <a:rPr sz="2000" u="sng" spc="-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on-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premises</a:t>
            </a:r>
            <a:r>
              <a:rPr sz="20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securely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private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centers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5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8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installing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7639" rIns="0" bIns="0" rtlCol="0">
            <a:spAutoFit/>
          </a:bodyPr>
          <a:lstStyle/>
          <a:p>
            <a:pPr marL="546735">
              <a:lnSpc>
                <a:spcPct val="100000"/>
              </a:lnSpc>
              <a:spcBef>
                <a:spcPts val="100"/>
              </a:spcBef>
            </a:pPr>
            <a:r>
              <a:rPr dirty="0"/>
              <a:t>Transfer</a:t>
            </a:r>
            <a:r>
              <a:rPr spc="-535" dirty="0"/>
              <a:t> </a:t>
            </a:r>
            <a:r>
              <a:rPr spc="-35" dirty="0"/>
              <a:t>Appliance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54" y="1670431"/>
            <a:ext cx="9457690" cy="137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Transfer</a:t>
            </a:r>
            <a:r>
              <a:rPr sz="20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Appliance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securely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exceeds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20</a:t>
            </a:r>
            <a:r>
              <a:rPr sz="20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TB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more</a:t>
            </a:r>
            <a:r>
              <a:rPr sz="20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than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week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upload.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1228725"/>
            <a:chOff x="0" y="374904"/>
            <a:chExt cx="1219200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100"/>
              </a:spcBef>
            </a:pPr>
            <a:r>
              <a:rPr dirty="0"/>
              <a:t>Online</a:t>
            </a:r>
            <a:r>
              <a:rPr spc="-350" dirty="0"/>
              <a:t> </a:t>
            </a:r>
            <a:r>
              <a:rPr dirty="0"/>
              <a:t>vs</a:t>
            </a:r>
            <a:r>
              <a:rPr spc="-340" dirty="0"/>
              <a:t> </a:t>
            </a:r>
            <a:r>
              <a:rPr dirty="0"/>
              <a:t>Offline</a:t>
            </a:r>
            <a:r>
              <a:rPr spc="-340" dirty="0"/>
              <a:t> </a:t>
            </a:r>
            <a:r>
              <a:rPr spc="-25" dirty="0"/>
              <a:t>transfer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95298"/>
            <a:ext cx="11935968" cy="63291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1047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dirty="0"/>
              <a:t>Transfer</a:t>
            </a:r>
            <a:r>
              <a:rPr spc="-610" dirty="0"/>
              <a:t> </a:t>
            </a:r>
            <a:r>
              <a:rPr spc="-10" dirty="0"/>
              <a:t>Service|cloud</a:t>
            </a:r>
            <a:r>
              <a:rPr spc="-59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579" y="1608582"/>
            <a:ext cx="7379970" cy="2832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securely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245110" indent="-232410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390"/>
              </a:spcBef>
              <a:buClr>
                <a:srgbClr val="E38312"/>
              </a:buClr>
              <a:buSzPct val="90000"/>
              <a:buFont typeface="Wingdings"/>
              <a:buChar char=""/>
              <a:tabLst>
                <a:tab pos="4476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2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S3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Azure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Blob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buckets</a:t>
            </a:r>
            <a:endParaRPr sz="2000">
              <a:latin typeface="Calibri"/>
              <a:cs typeface="Calibri"/>
            </a:endParaRPr>
          </a:p>
          <a:p>
            <a:pPr marL="245110" indent="-232410">
              <a:lnSpc>
                <a:spcPct val="100000"/>
              </a:lnSpc>
              <a:spcBef>
                <a:spcPts val="1614"/>
              </a:spcBef>
              <a:buClr>
                <a:srgbClr val="E38312"/>
              </a:buClr>
              <a:buFont typeface="Wingdings"/>
              <a:buChar char="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800">
              <a:latin typeface="Calibri"/>
              <a:cs typeface="Calibri"/>
            </a:endParaRPr>
          </a:p>
          <a:p>
            <a:pPr marL="245745" indent="-23304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4574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Onetime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run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recurring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567" y="192786"/>
            <a:ext cx="228727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45" dirty="0"/>
              <a:t>Storage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753567" y="770077"/>
            <a:ext cx="67697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Lucida Console"/>
                <a:cs typeface="Lucida Console"/>
              </a:rPr>
              <a:t>Which</a:t>
            </a:r>
            <a:r>
              <a:rPr sz="3600" spc="-33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Lucida Console"/>
                <a:cs typeface="Lucida Console"/>
              </a:rPr>
              <a:t>storage</a:t>
            </a:r>
            <a:r>
              <a:rPr sz="3600" spc="-335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dirty="0">
                <a:solidFill>
                  <a:srgbClr val="FFFFFF"/>
                </a:solidFill>
                <a:latin typeface="Lucida Console"/>
                <a:cs typeface="Lucida Console"/>
              </a:rPr>
              <a:t>to</a:t>
            </a:r>
            <a:r>
              <a:rPr sz="3600" spc="-33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dirty="0">
                <a:solidFill>
                  <a:srgbClr val="FFFFFF"/>
                </a:solidFill>
                <a:latin typeface="Lucida Console"/>
                <a:cs typeface="Lucida Console"/>
              </a:rPr>
              <a:t>use</a:t>
            </a:r>
            <a:r>
              <a:rPr sz="3600" spc="-330" dirty="0">
                <a:solidFill>
                  <a:srgbClr val="FFFFFF"/>
                </a:solidFill>
                <a:latin typeface="Lucida Console"/>
                <a:cs typeface="Lucida Console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Lucida Console"/>
                <a:cs typeface="Lucida Console"/>
              </a:rPr>
              <a:t>when</a:t>
            </a:r>
            <a:endParaRPr sz="360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668" y="1534923"/>
            <a:ext cx="4430395" cy="443738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Cloud</a:t>
            </a:r>
            <a:r>
              <a:rPr sz="2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Unstructured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Video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stream,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Staging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lake</a:t>
            </a:r>
            <a:endParaRPr sz="2000">
              <a:latin typeface="Calibri"/>
              <a:cs typeface="Calibri"/>
            </a:endParaRPr>
          </a:p>
          <a:p>
            <a:pPr marL="348615" indent="-335915">
              <a:lnSpc>
                <a:spcPct val="100000"/>
              </a:lnSpc>
              <a:spcBef>
                <a:spcPts val="1775"/>
              </a:spcBef>
              <a:buClr>
                <a:srgbClr val="E38312"/>
              </a:buClr>
              <a:buSzPct val="108333"/>
              <a:buFont typeface="Wingdings"/>
              <a:buChar char=""/>
              <a:tabLst>
                <a:tab pos="348615" algn="l"/>
              </a:tabLst>
            </a:pP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Persistent</a:t>
            </a:r>
            <a:r>
              <a:rPr sz="2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Disk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VM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5628" y="1648841"/>
            <a:ext cx="4681220" cy="81406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Local</a:t>
            </a:r>
            <a:r>
              <a:rPr sz="24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Disk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Temporary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Disk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5628" y="2573157"/>
            <a:ext cx="3042285" cy="11963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69240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File</a:t>
            </a:r>
            <a:r>
              <a:rPr sz="2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Store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3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predictable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Lift-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millions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1476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OLTP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6068060" cy="38893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OLTP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Traditional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RDBMS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modification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MySQL,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PostgreSQL,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Oracle,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MSSQL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ERP,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CRM,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SQL,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1476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OLAP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6438265" cy="3406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13360" indent="-20447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OLAP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warehousing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collected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2000">
              <a:latin typeface="Calibri"/>
              <a:cs typeface="Calibri"/>
            </a:endParaRPr>
          </a:p>
          <a:p>
            <a:pPr marL="213360" indent="-20447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Petabyte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SzPct val="95000"/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888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Vertical</a:t>
            </a:r>
            <a:r>
              <a:rPr sz="4300" spc="-390" dirty="0"/>
              <a:t> </a:t>
            </a:r>
            <a:r>
              <a:rPr sz="4300" dirty="0"/>
              <a:t>–</a:t>
            </a:r>
            <a:r>
              <a:rPr sz="4300" spc="-400" dirty="0"/>
              <a:t> </a:t>
            </a:r>
            <a:r>
              <a:rPr sz="4300" dirty="0"/>
              <a:t>Horizontal</a:t>
            </a:r>
            <a:r>
              <a:rPr sz="4300" spc="-400" dirty="0"/>
              <a:t> </a:t>
            </a:r>
            <a:r>
              <a:rPr sz="4300" spc="-30" dirty="0"/>
              <a:t>Scaling</a:t>
            </a:r>
            <a:endParaRPr sz="4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6772" y="2113788"/>
            <a:ext cx="1222248" cy="1222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86480" y="4205681"/>
            <a:ext cx="7226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Vertical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0800" y="3907535"/>
            <a:ext cx="416559" cy="1304925"/>
          </a:xfrm>
          <a:custGeom>
            <a:avLst/>
            <a:gdLst/>
            <a:ahLst/>
            <a:cxnLst/>
            <a:rect l="l" t="t" r="r" b="b"/>
            <a:pathLst>
              <a:path w="416560" h="1304925">
                <a:moveTo>
                  <a:pt x="312038" y="0"/>
                </a:moveTo>
                <a:lnTo>
                  <a:pt x="104012" y="0"/>
                </a:lnTo>
                <a:lnTo>
                  <a:pt x="104012" y="1096518"/>
                </a:lnTo>
                <a:lnTo>
                  <a:pt x="0" y="1096518"/>
                </a:lnTo>
                <a:lnTo>
                  <a:pt x="208025" y="1304544"/>
                </a:lnTo>
                <a:lnTo>
                  <a:pt x="416051" y="1096518"/>
                </a:lnTo>
                <a:lnTo>
                  <a:pt x="312038" y="1096518"/>
                </a:lnTo>
                <a:lnTo>
                  <a:pt x="312038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97100" y="3503421"/>
            <a:ext cx="143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VCPU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97100" y="5519420"/>
            <a:ext cx="1551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VCPU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1168" y="1732788"/>
            <a:ext cx="1222248" cy="12222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91498" y="3829050"/>
            <a:ext cx="97916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Horizontal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3504" y="3614928"/>
            <a:ext cx="416559" cy="1304925"/>
          </a:xfrm>
          <a:custGeom>
            <a:avLst/>
            <a:gdLst/>
            <a:ahLst/>
            <a:cxnLst/>
            <a:rect l="l" t="t" r="r" b="b"/>
            <a:pathLst>
              <a:path w="416559" h="1304925">
                <a:moveTo>
                  <a:pt x="312039" y="0"/>
                </a:moveTo>
                <a:lnTo>
                  <a:pt x="104013" y="0"/>
                </a:lnTo>
                <a:lnTo>
                  <a:pt x="104013" y="1096518"/>
                </a:lnTo>
                <a:lnTo>
                  <a:pt x="0" y="1096518"/>
                </a:lnTo>
                <a:lnTo>
                  <a:pt x="208025" y="1304544"/>
                </a:lnTo>
                <a:lnTo>
                  <a:pt x="416051" y="1096518"/>
                </a:lnTo>
                <a:lnTo>
                  <a:pt x="312039" y="1096518"/>
                </a:lnTo>
                <a:lnTo>
                  <a:pt x="312039" y="0"/>
                </a:lnTo>
                <a:close/>
              </a:path>
            </a:pathLst>
          </a:custGeom>
          <a:solidFill>
            <a:srgbClr val="EA43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51242" y="3106673"/>
            <a:ext cx="143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VCPU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2719" y="5056632"/>
            <a:ext cx="1222248" cy="12222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9643" y="5061203"/>
            <a:ext cx="1222248" cy="122224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611" y="5073396"/>
            <a:ext cx="1222248" cy="12222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1676" y="5073396"/>
            <a:ext cx="1222248" cy="122224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4271" y="5056632"/>
            <a:ext cx="1222248" cy="1222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RTO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25" dirty="0"/>
              <a:t>RPO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658" y="1793494"/>
            <a:ext cx="23526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658" y="2429001"/>
            <a:ext cx="3188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Downtime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29867" y="4174235"/>
            <a:ext cx="9534525" cy="392430"/>
            <a:chOff x="1229867" y="4174235"/>
            <a:chExt cx="9534525" cy="3924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9867" y="4264126"/>
              <a:ext cx="9534144" cy="2316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29689" y="4325111"/>
              <a:ext cx="9304020" cy="78105"/>
            </a:xfrm>
            <a:custGeom>
              <a:avLst/>
              <a:gdLst/>
              <a:ahLst/>
              <a:cxnLst/>
              <a:rect l="l" t="t" r="r" b="b"/>
              <a:pathLst>
                <a:path w="9304020" h="78104">
                  <a:moveTo>
                    <a:pt x="77723" y="0"/>
                  </a:moveTo>
                  <a:lnTo>
                    <a:pt x="0" y="38862"/>
                  </a:lnTo>
                  <a:lnTo>
                    <a:pt x="77723" y="77724"/>
                  </a:lnTo>
                  <a:lnTo>
                    <a:pt x="77723" y="51815"/>
                  </a:lnTo>
                  <a:lnTo>
                    <a:pt x="64769" y="51815"/>
                  </a:lnTo>
                  <a:lnTo>
                    <a:pt x="64769" y="25907"/>
                  </a:lnTo>
                  <a:lnTo>
                    <a:pt x="77723" y="25907"/>
                  </a:lnTo>
                  <a:lnTo>
                    <a:pt x="77723" y="0"/>
                  </a:lnTo>
                  <a:close/>
                </a:path>
                <a:path w="9304020" h="78104">
                  <a:moveTo>
                    <a:pt x="9225915" y="0"/>
                  </a:moveTo>
                  <a:lnTo>
                    <a:pt x="9225915" y="77724"/>
                  </a:lnTo>
                  <a:lnTo>
                    <a:pt x="9277731" y="51815"/>
                  </a:lnTo>
                  <a:lnTo>
                    <a:pt x="9238868" y="51815"/>
                  </a:lnTo>
                  <a:lnTo>
                    <a:pt x="9238868" y="25907"/>
                  </a:lnTo>
                  <a:lnTo>
                    <a:pt x="9277731" y="25907"/>
                  </a:lnTo>
                  <a:lnTo>
                    <a:pt x="9225915" y="0"/>
                  </a:lnTo>
                  <a:close/>
                </a:path>
                <a:path w="9304020" h="78104">
                  <a:moveTo>
                    <a:pt x="77723" y="25907"/>
                  </a:moveTo>
                  <a:lnTo>
                    <a:pt x="64769" y="25907"/>
                  </a:lnTo>
                  <a:lnTo>
                    <a:pt x="64769" y="51815"/>
                  </a:lnTo>
                  <a:lnTo>
                    <a:pt x="77723" y="51815"/>
                  </a:lnTo>
                  <a:lnTo>
                    <a:pt x="77723" y="25907"/>
                  </a:lnTo>
                  <a:close/>
                </a:path>
                <a:path w="9304020" h="78104">
                  <a:moveTo>
                    <a:pt x="9225915" y="25907"/>
                  </a:moveTo>
                  <a:lnTo>
                    <a:pt x="77723" y="25907"/>
                  </a:lnTo>
                  <a:lnTo>
                    <a:pt x="77723" y="51815"/>
                  </a:lnTo>
                  <a:lnTo>
                    <a:pt x="9225915" y="51815"/>
                  </a:lnTo>
                  <a:lnTo>
                    <a:pt x="9225915" y="25907"/>
                  </a:lnTo>
                  <a:close/>
                </a:path>
                <a:path w="9304020" h="78104">
                  <a:moveTo>
                    <a:pt x="9277731" y="25907"/>
                  </a:moveTo>
                  <a:lnTo>
                    <a:pt x="9238868" y="25907"/>
                  </a:lnTo>
                  <a:lnTo>
                    <a:pt x="9238868" y="51815"/>
                  </a:lnTo>
                  <a:lnTo>
                    <a:pt x="9277731" y="51815"/>
                  </a:lnTo>
                  <a:lnTo>
                    <a:pt x="9303639" y="38862"/>
                  </a:lnTo>
                  <a:lnTo>
                    <a:pt x="9277731" y="25907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97251" y="4174235"/>
              <a:ext cx="6978650" cy="392430"/>
            </a:xfrm>
            <a:custGeom>
              <a:avLst/>
              <a:gdLst/>
              <a:ahLst/>
              <a:cxnLst/>
              <a:rect l="l" t="t" r="r" b="b"/>
              <a:pathLst>
                <a:path w="6978650" h="392429">
                  <a:moveTo>
                    <a:pt x="3698748" y="13715"/>
                  </a:moveTo>
                  <a:lnTo>
                    <a:pt x="3698748" y="392430"/>
                  </a:lnTo>
                </a:path>
                <a:path w="6978650" h="392429">
                  <a:moveTo>
                    <a:pt x="0" y="0"/>
                  </a:moveTo>
                  <a:lnTo>
                    <a:pt x="0" y="378713"/>
                  </a:lnTo>
                </a:path>
                <a:path w="6978650" h="392429">
                  <a:moveTo>
                    <a:pt x="6978396" y="0"/>
                  </a:moveTo>
                  <a:lnTo>
                    <a:pt x="6978396" y="378713"/>
                  </a:lnTo>
                </a:path>
              </a:pathLst>
            </a:custGeom>
            <a:ln w="57912">
              <a:solidFill>
                <a:srgbClr val="34A8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15051" y="4675378"/>
            <a:ext cx="9728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17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4:00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PM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0310" y="4629404"/>
            <a:ext cx="9728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17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March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3:00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5173" y="4675378"/>
            <a:ext cx="9728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1800" spc="179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11:00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PM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5710" y="3633927"/>
            <a:ext cx="1117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0451" y="3399790"/>
            <a:ext cx="819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Disaster happens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0573" y="3414217"/>
            <a:ext cx="99821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Recovered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5404" y="5740095"/>
            <a:ext cx="885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8703" y="2664714"/>
            <a:ext cx="40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73629" y="5438394"/>
            <a:ext cx="3695700" cy="398145"/>
          </a:xfrm>
          <a:custGeom>
            <a:avLst/>
            <a:gdLst/>
            <a:ahLst/>
            <a:cxnLst/>
            <a:rect l="l" t="t" r="r" b="b"/>
            <a:pathLst>
              <a:path w="3695700" h="398145">
                <a:moveTo>
                  <a:pt x="3695700" y="0"/>
                </a:moveTo>
                <a:lnTo>
                  <a:pt x="3693092" y="77420"/>
                </a:lnTo>
                <a:lnTo>
                  <a:pt x="3685984" y="140636"/>
                </a:lnTo>
                <a:lnTo>
                  <a:pt x="3675447" y="183255"/>
                </a:lnTo>
                <a:lnTo>
                  <a:pt x="3662553" y="198881"/>
                </a:lnTo>
                <a:lnTo>
                  <a:pt x="1880996" y="198881"/>
                </a:lnTo>
                <a:lnTo>
                  <a:pt x="1868102" y="214510"/>
                </a:lnTo>
                <a:lnTo>
                  <a:pt x="1857565" y="257132"/>
                </a:lnTo>
                <a:lnTo>
                  <a:pt x="1850457" y="320348"/>
                </a:lnTo>
                <a:lnTo>
                  <a:pt x="1847849" y="397763"/>
                </a:lnTo>
                <a:lnTo>
                  <a:pt x="1845242" y="320348"/>
                </a:lnTo>
                <a:lnTo>
                  <a:pt x="1838134" y="257132"/>
                </a:lnTo>
                <a:lnTo>
                  <a:pt x="1827597" y="214510"/>
                </a:lnTo>
                <a:lnTo>
                  <a:pt x="1814703" y="198881"/>
                </a:lnTo>
                <a:lnTo>
                  <a:pt x="33146" y="198881"/>
                </a:lnTo>
                <a:lnTo>
                  <a:pt x="20252" y="183255"/>
                </a:lnTo>
                <a:lnTo>
                  <a:pt x="9715" y="140636"/>
                </a:lnTo>
                <a:lnTo>
                  <a:pt x="2607" y="77420"/>
                </a:lnTo>
                <a:lnTo>
                  <a:pt x="0" y="0"/>
                </a:lnTo>
              </a:path>
            </a:pathLst>
          </a:custGeom>
          <a:ln w="28956">
            <a:solidFill>
              <a:srgbClr val="EA43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56226" y="5721502"/>
            <a:ext cx="41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RPO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1421" y="2636646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Downtime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27241" y="2836926"/>
            <a:ext cx="3350260" cy="455930"/>
          </a:xfrm>
          <a:custGeom>
            <a:avLst/>
            <a:gdLst/>
            <a:ahLst/>
            <a:cxnLst/>
            <a:rect l="l" t="t" r="r" b="b"/>
            <a:pathLst>
              <a:path w="3350259" h="455929">
                <a:moveTo>
                  <a:pt x="3349752" y="455675"/>
                </a:moveTo>
                <a:lnTo>
                  <a:pt x="3347814" y="383651"/>
                </a:lnTo>
                <a:lnTo>
                  <a:pt x="3342420" y="321106"/>
                </a:lnTo>
                <a:lnTo>
                  <a:pt x="3334198" y="271790"/>
                </a:lnTo>
                <a:lnTo>
                  <a:pt x="3311779" y="227837"/>
                </a:lnTo>
                <a:lnTo>
                  <a:pt x="1712849" y="227837"/>
                </a:lnTo>
                <a:lnTo>
                  <a:pt x="1700853" y="216225"/>
                </a:lnTo>
                <a:lnTo>
                  <a:pt x="1690429" y="183885"/>
                </a:lnTo>
                <a:lnTo>
                  <a:pt x="1682207" y="134569"/>
                </a:lnTo>
                <a:lnTo>
                  <a:pt x="1676813" y="72024"/>
                </a:lnTo>
                <a:lnTo>
                  <a:pt x="1674876" y="0"/>
                </a:lnTo>
                <a:lnTo>
                  <a:pt x="1672938" y="72024"/>
                </a:lnTo>
                <a:lnTo>
                  <a:pt x="1667544" y="134569"/>
                </a:lnTo>
                <a:lnTo>
                  <a:pt x="1659322" y="183885"/>
                </a:lnTo>
                <a:lnTo>
                  <a:pt x="1648898" y="216225"/>
                </a:lnTo>
                <a:lnTo>
                  <a:pt x="1636903" y="227837"/>
                </a:lnTo>
                <a:lnTo>
                  <a:pt x="37973" y="227837"/>
                </a:lnTo>
                <a:lnTo>
                  <a:pt x="25977" y="239450"/>
                </a:lnTo>
                <a:lnTo>
                  <a:pt x="15553" y="271790"/>
                </a:lnTo>
                <a:lnTo>
                  <a:pt x="7331" y="321106"/>
                </a:lnTo>
                <a:lnTo>
                  <a:pt x="1937" y="383651"/>
                </a:lnTo>
                <a:lnTo>
                  <a:pt x="0" y="455675"/>
                </a:lnTo>
              </a:path>
            </a:pathLst>
          </a:custGeom>
          <a:ln w="28956">
            <a:solidFill>
              <a:srgbClr val="EA43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RTO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25" dirty="0"/>
              <a:t>RPO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RTO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Recovery</a:t>
            </a:r>
            <a:r>
              <a:rPr spc="-60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RPO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Recovery</a:t>
            </a:r>
            <a:r>
              <a:rPr spc="-40" dirty="0"/>
              <a:t> </a:t>
            </a:r>
            <a:r>
              <a:rPr dirty="0"/>
              <a:t>Point</a:t>
            </a:r>
            <a:r>
              <a:rPr spc="-3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tolerate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Dataloss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RTO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25" dirty="0"/>
              <a:t>RPO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RTO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Recovery</a:t>
            </a:r>
            <a:r>
              <a:rPr spc="-60" dirty="0"/>
              <a:t> </a:t>
            </a:r>
            <a:r>
              <a:rPr dirty="0"/>
              <a:t>Time</a:t>
            </a:r>
            <a:r>
              <a:rPr spc="-4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Clr>
                <a:srgbClr val="E38312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RPO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Recovery</a:t>
            </a:r>
            <a:r>
              <a:rPr spc="-40" dirty="0"/>
              <a:t> </a:t>
            </a:r>
            <a:r>
              <a:rPr dirty="0"/>
              <a:t>Point</a:t>
            </a:r>
            <a:r>
              <a:rPr spc="-35" dirty="0"/>
              <a:t> </a:t>
            </a:r>
            <a:r>
              <a:rPr spc="-10" dirty="0"/>
              <a:t>objective</a:t>
            </a:r>
          </a:p>
          <a:p>
            <a:pPr marL="470534" lvl="1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tolerate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Dataloss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Durability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513" y="1563729"/>
            <a:ext cx="8792845" cy="481266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98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loose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8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afford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loose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20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healthy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resilient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87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durability</a:t>
            </a:r>
            <a:r>
              <a:rPr sz="2000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number</a:t>
            </a:r>
            <a:r>
              <a:rPr sz="20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of</a:t>
            </a:r>
            <a:r>
              <a:rPr sz="20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9’s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88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99.9999999999999%</a:t>
            </a:r>
            <a:r>
              <a:rPr sz="2000" spc="3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9’s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88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even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billion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objects,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likely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hundred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endParaRPr sz="20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losing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one!</a:t>
            </a:r>
            <a:endParaRPr sz="2000">
              <a:latin typeface="Calibri"/>
              <a:cs typeface="Calibri"/>
            </a:endParaRPr>
          </a:p>
          <a:p>
            <a:pPr marL="104139" marR="349885" indent="-99695">
              <a:lnSpc>
                <a:spcPct val="123000"/>
              </a:lnSpc>
              <a:spcBef>
                <a:spcPts val="1535"/>
              </a:spcBef>
              <a:buClr>
                <a:srgbClr val="E38312"/>
              </a:buClr>
              <a:buSzPct val="102500"/>
              <a:buFont typeface="Wingdings"/>
              <a:buChar char=""/>
              <a:tabLst>
                <a:tab pos="104139" algn="l"/>
                <a:tab pos="234315" algn="l"/>
              </a:tabLst>
            </a:pPr>
            <a:r>
              <a:rPr sz="2000" u="sng" spc="114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	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https://cloud.google.com/blog/products/storage-</a:t>
            </a: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data-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transfer/understanding-</a:t>
            </a:r>
            <a:r>
              <a:rPr sz="2000" spc="-10" dirty="0">
                <a:solidFill>
                  <a:srgbClr val="2997E2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cloud-</a:t>
            </a:r>
            <a:r>
              <a:rPr sz="20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storage-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11-9s-durability-target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Availability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073" y="1520164"/>
            <a:ext cx="6993890" cy="36582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Replicate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up/available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access.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replicated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regions,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agreement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99.99%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four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9’s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https://uptime.is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https://cloud.google.com/terms/sla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GCP</a:t>
            </a:r>
            <a:r>
              <a:rPr spc="-350" dirty="0"/>
              <a:t> </a:t>
            </a:r>
            <a:r>
              <a:rPr dirty="0"/>
              <a:t>Database</a:t>
            </a:r>
            <a:r>
              <a:rPr spc="-350" dirty="0"/>
              <a:t> </a:t>
            </a:r>
            <a:r>
              <a:rPr spc="-30" dirty="0"/>
              <a:t>products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0203" y="1923288"/>
            <a:ext cx="1377950" cy="1961514"/>
            <a:chOff x="870203" y="1923288"/>
            <a:chExt cx="1377950" cy="1961514"/>
          </a:xfrm>
        </p:grpSpPr>
        <p:sp>
          <p:nvSpPr>
            <p:cNvPr id="4" name="object 4"/>
            <p:cNvSpPr/>
            <p:nvPr/>
          </p:nvSpPr>
          <p:spPr>
            <a:xfrm>
              <a:off x="877823" y="1930908"/>
              <a:ext cx="1362710" cy="1946275"/>
            </a:xfrm>
            <a:custGeom>
              <a:avLst/>
              <a:gdLst/>
              <a:ahLst/>
              <a:cxnLst/>
              <a:rect l="l" t="t" r="r" b="b"/>
              <a:pathLst>
                <a:path w="1362710" h="1946275">
                  <a:moveTo>
                    <a:pt x="1362456" y="0"/>
                  </a:moveTo>
                  <a:lnTo>
                    <a:pt x="681228" y="681227"/>
                  </a:lnTo>
                  <a:lnTo>
                    <a:pt x="0" y="0"/>
                  </a:lnTo>
                  <a:lnTo>
                    <a:pt x="0" y="1264919"/>
                  </a:lnTo>
                  <a:lnTo>
                    <a:pt x="681228" y="1946147"/>
                  </a:lnTo>
                  <a:lnTo>
                    <a:pt x="1362456" y="1264919"/>
                  </a:lnTo>
                  <a:lnTo>
                    <a:pt x="1362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3" y="1930908"/>
              <a:ext cx="1362710" cy="1946275"/>
            </a:xfrm>
            <a:custGeom>
              <a:avLst/>
              <a:gdLst/>
              <a:ahLst/>
              <a:cxnLst/>
              <a:rect l="l" t="t" r="r" b="b"/>
              <a:pathLst>
                <a:path w="1362710" h="1946275">
                  <a:moveTo>
                    <a:pt x="1362456" y="0"/>
                  </a:moveTo>
                  <a:lnTo>
                    <a:pt x="1362456" y="1264919"/>
                  </a:lnTo>
                  <a:lnTo>
                    <a:pt x="681228" y="1946147"/>
                  </a:lnTo>
                  <a:lnTo>
                    <a:pt x="0" y="1264919"/>
                  </a:lnTo>
                  <a:lnTo>
                    <a:pt x="0" y="0"/>
                  </a:lnTo>
                  <a:lnTo>
                    <a:pt x="681228" y="681227"/>
                  </a:lnTo>
                  <a:lnTo>
                    <a:pt x="1362456" y="0"/>
                  </a:lnTo>
                  <a:close/>
                </a:path>
              </a:pathLst>
            </a:custGeom>
            <a:ln w="15239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81583" y="2727782"/>
            <a:ext cx="1355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32660" y="1923288"/>
            <a:ext cx="3596640" cy="1280160"/>
            <a:chOff x="2232660" y="1923288"/>
            <a:chExt cx="3596640" cy="1280160"/>
          </a:xfrm>
        </p:grpSpPr>
        <p:sp>
          <p:nvSpPr>
            <p:cNvPr id="8" name="object 8"/>
            <p:cNvSpPr/>
            <p:nvPr/>
          </p:nvSpPr>
          <p:spPr>
            <a:xfrm>
              <a:off x="2240280" y="1930908"/>
              <a:ext cx="3581400" cy="1264920"/>
            </a:xfrm>
            <a:custGeom>
              <a:avLst/>
              <a:gdLst/>
              <a:ahLst/>
              <a:cxnLst/>
              <a:rect l="l" t="t" r="r" b="b"/>
              <a:pathLst>
                <a:path w="3581400" h="1264920">
                  <a:moveTo>
                    <a:pt x="3370579" y="0"/>
                  </a:moveTo>
                  <a:lnTo>
                    <a:pt x="0" y="0"/>
                  </a:lnTo>
                  <a:lnTo>
                    <a:pt x="0" y="1264919"/>
                  </a:lnTo>
                  <a:lnTo>
                    <a:pt x="3370579" y="1264919"/>
                  </a:lnTo>
                  <a:lnTo>
                    <a:pt x="3418927" y="1259353"/>
                  </a:lnTo>
                  <a:lnTo>
                    <a:pt x="3463304" y="1243496"/>
                  </a:lnTo>
                  <a:lnTo>
                    <a:pt x="3502448" y="1218613"/>
                  </a:lnTo>
                  <a:lnTo>
                    <a:pt x="3535093" y="1185968"/>
                  </a:lnTo>
                  <a:lnTo>
                    <a:pt x="3559976" y="1146824"/>
                  </a:lnTo>
                  <a:lnTo>
                    <a:pt x="3575833" y="1102447"/>
                  </a:lnTo>
                  <a:lnTo>
                    <a:pt x="3581400" y="1054100"/>
                  </a:lnTo>
                  <a:lnTo>
                    <a:pt x="3581400" y="210819"/>
                  </a:lnTo>
                  <a:lnTo>
                    <a:pt x="3575833" y="162472"/>
                  </a:lnTo>
                  <a:lnTo>
                    <a:pt x="3559976" y="118095"/>
                  </a:lnTo>
                  <a:lnTo>
                    <a:pt x="3535093" y="78951"/>
                  </a:lnTo>
                  <a:lnTo>
                    <a:pt x="3502448" y="46306"/>
                  </a:lnTo>
                  <a:lnTo>
                    <a:pt x="3463304" y="21423"/>
                  </a:lnTo>
                  <a:lnTo>
                    <a:pt x="3418927" y="5566"/>
                  </a:lnTo>
                  <a:lnTo>
                    <a:pt x="3370579" y="0"/>
                  </a:lnTo>
                  <a:close/>
                </a:path>
              </a:pathLst>
            </a:custGeom>
            <a:solidFill>
              <a:srgbClr val="E8D1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0280" y="1930908"/>
              <a:ext cx="3581400" cy="1264920"/>
            </a:xfrm>
            <a:custGeom>
              <a:avLst/>
              <a:gdLst/>
              <a:ahLst/>
              <a:cxnLst/>
              <a:rect l="l" t="t" r="r" b="b"/>
              <a:pathLst>
                <a:path w="3581400" h="1264920">
                  <a:moveTo>
                    <a:pt x="3581400" y="210819"/>
                  </a:moveTo>
                  <a:lnTo>
                    <a:pt x="3581400" y="1054100"/>
                  </a:lnTo>
                  <a:lnTo>
                    <a:pt x="3575833" y="1102447"/>
                  </a:lnTo>
                  <a:lnTo>
                    <a:pt x="3559976" y="1146824"/>
                  </a:lnTo>
                  <a:lnTo>
                    <a:pt x="3535093" y="1185968"/>
                  </a:lnTo>
                  <a:lnTo>
                    <a:pt x="3502448" y="1218613"/>
                  </a:lnTo>
                  <a:lnTo>
                    <a:pt x="3463304" y="1243496"/>
                  </a:lnTo>
                  <a:lnTo>
                    <a:pt x="3418927" y="1259353"/>
                  </a:lnTo>
                  <a:lnTo>
                    <a:pt x="3370579" y="1264919"/>
                  </a:lnTo>
                  <a:lnTo>
                    <a:pt x="0" y="1264919"/>
                  </a:lnTo>
                  <a:lnTo>
                    <a:pt x="0" y="0"/>
                  </a:lnTo>
                  <a:lnTo>
                    <a:pt x="3370579" y="0"/>
                  </a:lnTo>
                  <a:lnTo>
                    <a:pt x="3418927" y="5566"/>
                  </a:lnTo>
                  <a:lnTo>
                    <a:pt x="3463304" y="21423"/>
                  </a:lnTo>
                  <a:lnTo>
                    <a:pt x="3502448" y="46306"/>
                  </a:lnTo>
                  <a:lnTo>
                    <a:pt x="3535093" y="78951"/>
                  </a:lnTo>
                  <a:lnTo>
                    <a:pt x="3559976" y="118095"/>
                  </a:lnTo>
                  <a:lnTo>
                    <a:pt x="3575833" y="162472"/>
                  </a:lnTo>
                  <a:lnTo>
                    <a:pt x="3581400" y="210819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70582" y="2021179"/>
            <a:ext cx="1762760" cy="10039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Cloud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Spanner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0203" y="3579876"/>
            <a:ext cx="1377950" cy="1963420"/>
            <a:chOff x="870203" y="3579876"/>
            <a:chExt cx="1377950" cy="1963420"/>
          </a:xfrm>
        </p:grpSpPr>
        <p:sp>
          <p:nvSpPr>
            <p:cNvPr id="12" name="object 12"/>
            <p:cNvSpPr/>
            <p:nvPr/>
          </p:nvSpPr>
          <p:spPr>
            <a:xfrm>
              <a:off x="877823" y="3587496"/>
              <a:ext cx="1362710" cy="1948180"/>
            </a:xfrm>
            <a:custGeom>
              <a:avLst/>
              <a:gdLst/>
              <a:ahLst/>
              <a:cxnLst/>
              <a:rect l="l" t="t" r="r" b="b"/>
              <a:pathLst>
                <a:path w="1362710" h="1948179">
                  <a:moveTo>
                    <a:pt x="1362456" y="0"/>
                  </a:moveTo>
                  <a:lnTo>
                    <a:pt x="681228" y="681227"/>
                  </a:lnTo>
                  <a:lnTo>
                    <a:pt x="0" y="0"/>
                  </a:lnTo>
                  <a:lnTo>
                    <a:pt x="0" y="1266443"/>
                  </a:lnTo>
                  <a:lnTo>
                    <a:pt x="681228" y="1947671"/>
                  </a:lnTo>
                  <a:lnTo>
                    <a:pt x="1362456" y="1266443"/>
                  </a:lnTo>
                  <a:lnTo>
                    <a:pt x="1362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823" y="3587496"/>
              <a:ext cx="1362710" cy="1948180"/>
            </a:xfrm>
            <a:custGeom>
              <a:avLst/>
              <a:gdLst/>
              <a:ahLst/>
              <a:cxnLst/>
              <a:rect l="l" t="t" r="r" b="b"/>
              <a:pathLst>
                <a:path w="1362710" h="1948179">
                  <a:moveTo>
                    <a:pt x="1362456" y="0"/>
                  </a:moveTo>
                  <a:lnTo>
                    <a:pt x="1362456" y="1266443"/>
                  </a:lnTo>
                  <a:lnTo>
                    <a:pt x="681228" y="1947671"/>
                  </a:lnTo>
                  <a:lnTo>
                    <a:pt x="0" y="1266443"/>
                  </a:lnTo>
                  <a:lnTo>
                    <a:pt x="0" y="0"/>
                  </a:lnTo>
                  <a:lnTo>
                    <a:pt x="681228" y="681227"/>
                  </a:lnTo>
                  <a:lnTo>
                    <a:pt x="1362456" y="0"/>
                  </a:lnTo>
                  <a:close/>
                </a:path>
              </a:pathLst>
            </a:custGeom>
            <a:ln w="15239">
              <a:solidFill>
                <a:srgbClr val="AB4F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0727" y="4260342"/>
            <a:ext cx="133604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393065">
              <a:lnSpc>
                <a:spcPts val="1970"/>
              </a:lnSpc>
              <a:spcBef>
                <a:spcPts val="325"/>
              </a:spcBef>
            </a:pPr>
            <a:r>
              <a:rPr sz="1800" spc="-10" dirty="0">
                <a:latin typeface="Calibri"/>
                <a:cs typeface="Calibri"/>
              </a:rPr>
              <a:t>Semi-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32660" y="3579876"/>
            <a:ext cx="3596640" cy="1282065"/>
            <a:chOff x="2232660" y="3579876"/>
            <a:chExt cx="3596640" cy="1282065"/>
          </a:xfrm>
        </p:grpSpPr>
        <p:sp>
          <p:nvSpPr>
            <p:cNvPr id="16" name="object 16"/>
            <p:cNvSpPr/>
            <p:nvPr/>
          </p:nvSpPr>
          <p:spPr>
            <a:xfrm>
              <a:off x="2240280" y="3587496"/>
              <a:ext cx="3581400" cy="1266825"/>
            </a:xfrm>
            <a:custGeom>
              <a:avLst/>
              <a:gdLst/>
              <a:ahLst/>
              <a:cxnLst/>
              <a:rect l="l" t="t" r="r" b="b"/>
              <a:pathLst>
                <a:path w="3581400" h="1266825">
                  <a:moveTo>
                    <a:pt x="3370326" y="0"/>
                  </a:moveTo>
                  <a:lnTo>
                    <a:pt x="0" y="0"/>
                  </a:lnTo>
                  <a:lnTo>
                    <a:pt x="0" y="1266443"/>
                  </a:lnTo>
                  <a:lnTo>
                    <a:pt x="3370326" y="1266443"/>
                  </a:lnTo>
                  <a:lnTo>
                    <a:pt x="3418727" y="1260870"/>
                  </a:lnTo>
                  <a:lnTo>
                    <a:pt x="3463156" y="1244992"/>
                  </a:lnTo>
                  <a:lnTo>
                    <a:pt x="3502347" y="1220077"/>
                  </a:lnTo>
                  <a:lnTo>
                    <a:pt x="3535033" y="1187391"/>
                  </a:lnTo>
                  <a:lnTo>
                    <a:pt x="3559948" y="1148200"/>
                  </a:lnTo>
                  <a:lnTo>
                    <a:pt x="3575826" y="1103771"/>
                  </a:lnTo>
                  <a:lnTo>
                    <a:pt x="3581400" y="1055370"/>
                  </a:lnTo>
                  <a:lnTo>
                    <a:pt x="3581400" y="211073"/>
                  </a:lnTo>
                  <a:lnTo>
                    <a:pt x="3575826" y="162672"/>
                  </a:lnTo>
                  <a:lnTo>
                    <a:pt x="3559948" y="118243"/>
                  </a:lnTo>
                  <a:lnTo>
                    <a:pt x="3535033" y="79052"/>
                  </a:lnTo>
                  <a:lnTo>
                    <a:pt x="3502347" y="46366"/>
                  </a:lnTo>
                  <a:lnTo>
                    <a:pt x="3463156" y="21451"/>
                  </a:lnTo>
                  <a:lnTo>
                    <a:pt x="3418727" y="5573"/>
                  </a:lnTo>
                  <a:lnTo>
                    <a:pt x="3370326" y="0"/>
                  </a:lnTo>
                  <a:close/>
                </a:path>
              </a:pathLst>
            </a:custGeom>
            <a:solidFill>
              <a:srgbClr val="E8D1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40280" y="3587496"/>
              <a:ext cx="3581400" cy="1266825"/>
            </a:xfrm>
            <a:custGeom>
              <a:avLst/>
              <a:gdLst/>
              <a:ahLst/>
              <a:cxnLst/>
              <a:rect l="l" t="t" r="r" b="b"/>
              <a:pathLst>
                <a:path w="3581400" h="1266825">
                  <a:moveTo>
                    <a:pt x="3581400" y="211073"/>
                  </a:moveTo>
                  <a:lnTo>
                    <a:pt x="3581400" y="1055370"/>
                  </a:lnTo>
                  <a:lnTo>
                    <a:pt x="3575826" y="1103771"/>
                  </a:lnTo>
                  <a:lnTo>
                    <a:pt x="3559948" y="1148200"/>
                  </a:lnTo>
                  <a:lnTo>
                    <a:pt x="3535033" y="1187391"/>
                  </a:lnTo>
                  <a:lnTo>
                    <a:pt x="3502347" y="1220077"/>
                  </a:lnTo>
                  <a:lnTo>
                    <a:pt x="3463156" y="1244992"/>
                  </a:lnTo>
                  <a:lnTo>
                    <a:pt x="3418727" y="1260870"/>
                  </a:lnTo>
                  <a:lnTo>
                    <a:pt x="3370326" y="1266443"/>
                  </a:lnTo>
                  <a:lnTo>
                    <a:pt x="0" y="1266443"/>
                  </a:lnTo>
                  <a:lnTo>
                    <a:pt x="0" y="0"/>
                  </a:lnTo>
                  <a:lnTo>
                    <a:pt x="3370326" y="0"/>
                  </a:lnTo>
                  <a:lnTo>
                    <a:pt x="3418727" y="5573"/>
                  </a:lnTo>
                  <a:lnTo>
                    <a:pt x="3463156" y="21451"/>
                  </a:lnTo>
                  <a:lnTo>
                    <a:pt x="3502347" y="46366"/>
                  </a:lnTo>
                  <a:lnTo>
                    <a:pt x="3535033" y="79052"/>
                  </a:lnTo>
                  <a:lnTo>
                    <a:pt x="3559948" y="118243"/>
                  </a:lnTo>
                  <a:lnTo>
                    <a:pt x="3575826" y="162672"/>
                  </a:lnTo>
                  <a:lnTo>
                    <a:pt x="3581400" y="211073"/>
                  </a:lnTo>
                  <a:close/>
                </a:path>
              </a:pathLst>
            </a:custGeom>
            <a:ln w="1524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70582" y="3678783"/>
            <a:ext cx="1663064" cy="10039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BigTable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Datastore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Char char="•"/>
              <a:tabLst>
                <a:tab pos="240029" algn="l"/>
              </a:tabLst>
            </a:pPr>
            <a:r>
              <a:rPr sz="2000" spc="-10" dirty="0">
                <a:latin typeface="Calibri"/>
                <a:cs typeface="Calibri"/>
              </a:rPr>
              <a:t>Memorystore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8582025" cy="48539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MySQL,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PostgreSQL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Regional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99.95%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SLA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96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416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encrypted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CMEK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anywhere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Engine…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Transactional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Ecommerce,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application backend.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9419" y="1961388"/>
            <a:ext cx="897635" cy="9540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6936105" cy="48037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maintenance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demand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migration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(DMS)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migrate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Point-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Recovery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replicas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SQL/CSV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5956" y="2226564"/>
            <a:ext cx="1069848" cy="14508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Google</a:t>
            </a:r>
            <a:r>
              <a:rPr spc="-350" dirty="0"/>
              <a:t> </a:t>
            </a:r>
            <a:r>
              <a:rPr dirty="0"/>
              <a:t>Cloud</a:t>
            </a:r>
            <a:r>
              <a:rPr spc="-350" dirty="0"/>
              <a:t> </a:t>
            </a:r>
            <a:r>
              <a:rPr spc="-25" dirty="0"/>
              <a:t>Spanner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9642"/>
            <a:ext cx="5226050" cy="509905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0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Distributed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190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RDBMS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managed,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Mission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critical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Costlier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5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replicas,</a:t>
            </a:r>
            <a:endParaRPr sz="1900">
              <a:latin typeface="Calibri"/>
              <a:cs typeface="Calibri"/>
            </a:endParaRPr>
          </a:p>
          <a:p>
            <a:pPr marL="396240" marR="5080" lvl="1" indent="-182880">
              <a:lnSpc>
                <a:spcPct val="80000"/>
              </a:lnSpc>
              <a:spcBef>
                <a:spcPts val="430"/>
              </a:spcBef>
              <a:buClr>
                <a:srgbClr val="E38312"/>
              </a:buClr>
              <a:buFont typeface="Wingdings"/>
              <a:buChar char=""/>
              <a:tabLst>
                <a:tab pos="396240" algn="l"/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	where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r>
              <a:rPr sz="19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read/write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scalable,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Petabyte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strongly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typed.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396240" marR="62230" lvl="1" indent="-182880">
              <a:lnSpc>
                <a:spcPts val="1820"/>
              </a:lnSpc>
              <a:spcBef>
                <a:spcPts val="590"/>
              </a:spcBef>
              <a:buClr>
                <a:srgbClr val="E38312"/>
              </a:buClr>
              <a:buFont typeface="Wingdings"/>
              <a:buChar char=""/>
              <a:tabLst>
                <a:tab pos="396240" algn="l"/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	Datatype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defined.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1160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99.999%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3092" y="5719571"/>
            <a:ext cx="883920" cy="821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native</a:t>
            </a:r>
            <a:r>
              <a:rPr spc="-30" dirty="0"/>
              <a:t> </a:t>
            </a:r>
            <a:r>
              <a:rPr dirty="0"/>
              <a:t>solution</a:t>
            </a:r>
            <a:r>
              <a:rPr spc="-5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specific</a:t>
            </a:r>
            <a:r>
              <a:rPr spc="-3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25" dirty="0"/>
              <a:t>GCP</a:t>
            </a: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possible, Not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recommended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Spanner</a:t>
            </a:r>
            <a:r>
              <a:rPr spc="-4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Cloud</a:t>
            </a:r>
            <a:r>
              <a:rPr spc="-45" dirty="0"/>
              <a:t> </a:t>
            </a:r>
            <a:r>
              <a:rPr dirty="0"/>
              <a:t>SQL</a:t>
            </a:r>
            <a:r>
              <a:rPr spc="-30" dirty="0"/>
              <a:t> </a:t>
            </a:r>
            <a:r>
              <a:rPr dirty="0"/>
              <a:t>+</a:t>
            </a:r>
            <a:r>
              <a:rPr spc="-25" dirty="0"/>
              <a:t> </a:t>
            </a:r>
            <a:r>
              <a:rPr spc="-10" dirty="0"/>
              <a:t>Horizontal</a:t>
            </a:r>
            <a:r>
              <a:rPr spc="-20" dirty="0"/>
              <a:t> </a:t>
            </a:r>
            <a:r>
              <a:rPr spc="-10" dirty="0"/>
              <a:t>Scalable</a:t>
            </a: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Scale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petabyte</a:t>
            </a:r>
          </a:p>
          <a:p>
            <a:pPr marL="104139" marR="154305" indent="-91440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dirty="0"/>
              <a:t>	Regional/</a:t>
            </a:r>
            <a:r>
              <a:rPr spc="-60" dirty="0"/>
              <a:t> </a:t>
            </a:r>
            <a:r>
              <a:rPr spc="-10" dirty="0"/>
              <a:t>Multi-</a:t>
            </a:r>
            <a:r>
              <a:rPr dirty="0"/>
              <a:t>region</a:t>
            </a:r>
            <a:r>
              <a:rPr spc="-60" dirty="0"/>
              <a:t> </a:t>
            </a:r>
            <a:r>
              <a:rPr dirty="0"/>
              <a:t>level</a:t>
            </a:r>
            <a:r>
              <a:rPr spc="-30" dirty="0"/>
              <a:t> </a:t>
            </a:r>
            <a:r>
              <a:rPr spc="-10" dirty="0"/>
              <a:t>instance</a:t>
            </a:r>
            <a:r>
              <a:rPr spc="-50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spc="-25" dirty="0"/>
              <a:t>be </a:t>
            </a:r>
            <a:r>
              <a:rPr spc="-10" dirty="0"/>
              <a:t>created</a:t>
            </a: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Data</a:t>
            </a:r>
            <a:r>
              <a:rPr spc="-65" dirty="0"/>
              <a:t> </a:t>
            </a:r>
            <a:r>
              <a:rPr spc="-10" dirty="0"/>
              <a:t>export</a:t>
            </a:r>
          </a:p>
          <a:p>
            <a:pPr marL="469900" lvl="1" indent="-256540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Spanner</a:t>
            </a:r>
            <a:r>
              <a:rPr spc="-275" dirty="0"/>
              <a:t> </a:t>
            </a:r>
            <a:r>
              <a:rPr dirty="0"/>
              <a:t>vs</a:t>
            </a:r>
            <a:r>
              <a:rPr spc="-275" dirty="0"/>
              <a:t> </a:t>
            </a:r>
            <a:r>
              <a:rPr spc="-70" dirty="0"/>
              <a:t>RDBMS-</a:t>
            </a:r>
            <a:r>
              <a:rPr spc="-25" dirty="0"/>
              <a:t>SQL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7019" y="2177795"/>
            <a:ext cx="1144524" cy="106375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0221" y="1938273"/>
          <a:ext cx="7813040" cy="2503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2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Spanner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SQL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Availability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failover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little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downtime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Scalable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Horizontal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vertical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Costly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Cheaper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spanner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SQL/Schema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Replication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Read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Replica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400" dirty="0"/>
              <a:t> </a:t>
            </a:r>
            <a:r>
              <a:rPr dirty="0"/>
              <a:t>Spanner</a:t>
            </a:r>
            <a:r>
              <a:rPr spc="-395" dirty="0"/>
              <a:t> </a:t>
            </a:r>
            <a:r>
              <a:rPr spc="-20" dirty="0"/>
              <a:t>Demo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668" y="1420977"/>
            <a:ext cx="3354070" cy="40011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Spanner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400">
              <a:latin typeface="Calibri"/>
              <a:cs typeface="Calibri"/>
            </a:endParaRPr>
          </a:p>
          <a:p>
            <a:pPr marL="322580" indent="-30988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2580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4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edu_db</a:t>
            </a:r>
            <a:endParaRPr sz="2400">
              <a:latin typeface="Calibri"/>
              <a:cs typeface="Calibri"/>
            </a:endParaRPr>
          </a:p>
          <a:p>
            <a:pPr marL="323215" indent="-31051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  <a:tab pos="1270000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2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Table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Author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AuthorID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AuthorName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Book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BookId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Bookname</a:t>
            </a:r>
            <a:endParaRPr sz="16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AuthorId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631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Which</a:t>
            </a:r>
            <a:r>
              <a:rPr sz="3600" spc="-330" dirty="0"/>
              <a:t> </a:t>
            </a:r>
            <a:r>
              <a:rPr sz="3600" spc="-20" dirty="0"/>
              <a:t>database</a:t>
            </a:r>
            <a:r>
              <a:rPr sz="3600" spc="-325" dirty="0"/>
              <a:t> </a:t>
            </a:r>
            <a:r>
              <a:rPr sz="3600" dirty="0"/>
              <a:t>to</a:t>
            </a:r>
            <a:r>
              <a:rPr sz="3600" spc="-325" dirty="0"/>
              <a:t> </a:t>
            </a:r>
            <a:r>
              <a:rPr sz="3600" dirty="0"/>
              <a:t>use</a:t>
            </a:r>
            <a:r>
              <a:rPr sz="3600" spc="-330" dirty="0"/>
              <a:t> </a:t>
            </a:r>
            <a:r>
              <a:rPr sz="3600" spc="-20" dirty="0"/>
              <a:t>when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9668" y="1534923"/>
            <a:ext cx="3471545" cy="15760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Cloud</a:t>
            </a:r>
            <a:r>
              <a:rPr sz="2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SQL</a:t>
            </a:r>
            <a:endParaRPr sz="24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CRM,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Ecommerce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9615" y="1591945"/>
            <a:ext cx="5189855" cy="19570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323215" algn="l"/>
              </a:tabLst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Cloud</a:t>
            </a:r>
            <a:r>
              <a:rPr sz="2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Spanner</a:t>
            </a:r>
            <a:endParaRPr sz="24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47117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endParaRPr sz="2000">
              <a:latin typeface="Calibri"/>
              <a:cs typeface="Calibri"/>
            </a:endParaRPr>
          </a:p>
          <a:p>
            <a:pPr marL="470534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endParaRPr sz="2000">
              <a:latin typeface="Calibri"/>
              <a:cs typeface="Calibri"/>
            </a:endParaRPr>
          </a:p>
          <a:p>
            <a:pPr marL="471170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117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endParaRPr sz="2000">
              <a:latin typeface="Calibri"/>
              <a:cs typeface="Calibri"/>
            </a:endParaRPr>
          </a:p>
          <a:p>
            <a:pPr marL="528955" lvl="1" indent="-31496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52895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requirement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beyond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dirty="0"/>
              <a:t>NoSQL</a:t>
            </a:r>
            <a:r>
              <a:rPr spc="-325" dirty="0"/>
              <a:t> </a:t>
            </a:r>
            <a:r>
              <a:rPr spc="-4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182"/>
            <a:ext cx="3229610" cy="307530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Variable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property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key-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pair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6908" y="1670304"/>
            <a:ext cx="3401695" cy="3139440"/>
          </a:xfrm>
          <a:prstGeom prst="rect">
            <a:avLst/>
          </a:prstGeom>
          <a:ln w="9144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48005" marR="117665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“studentID”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100,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“name”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“john”, “score”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78,</a:t>
            </a:r>
            <a:endParaRPr sz="1800">
              <a:latin typeface="Calibri"/>
              <a:cs typeface="Calibri"/>
            </a:endParaRPr>
          </a:p>
          <a:p>
            <a:pPr marL="54800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“country”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“US”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},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548005" marR="117665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“studentID”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101,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“name”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“Alice”,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“rank”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7,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},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502650" y="1773935"/>
          <a:ext cx="242443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std1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std2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9" y="3845052"/>
            <a:ext cx="3121152" cy="22448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Semi-</a:t>
            </a:r>
            <a:r>
              <a:rPr dirty="0"/>
              <a:t>structured</a:t>
            </a:r>
            <a:r>
              <a:rPr spc="-60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1477" y="4291076"/>
            <a:ext cx="1228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BigTable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8028" y="4209669"/>
            <a:ext cx="1429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2071" y="2898648"/>
            <a:ext cx="912876" cy="6339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5211" y="2699004"/>
            <a:ext cx="990600" cy="10972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1488" y="2680716"/>
            <a:ext cx="1075943" cy="11917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82557" y="4209669"/>
            <a:ext cx="1298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Firestore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Datastore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148" y="1383510"/>
            <a:ext cx="4241165" cy="508571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8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8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MongoDB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8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GQL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ACID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indexes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replication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case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Session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Info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370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catlog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gcloud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utility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43597" y="2152142"/>
          <a:ext cx="3901440" cy="226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RDBMS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Kind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Entity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Property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Column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Firestore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4834890" cy="4168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Firestore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mode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updates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Mobile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libraries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43597" y="2152142"/>
          <a:ext cx="3901440" cy="2645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Firestore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RDBMS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group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Table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Document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Field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Column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BigTable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9615" y="1510162"/>
            <a:ext cx="4664075" cy="476250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28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Multi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index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18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important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Row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keeping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mind</a:t>
            </a:r>
            <a:endParaRPr sz="1900">
              <a:latin typeface="Calibri"/>
              <a:cs typeface="Calibri"/>
            </a:endParaRPr>
          </a:p>
          <a:p>
            <a:pPr marL="458470" lvl="1" indent="-24447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frequent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Hot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spotting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monotonically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increasing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36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Seamless</a:t>
            </a:r>
            <a:r>
              <a:rPr sz="19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18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137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459105" lvl="1" indent="-245110">
              <a:lnSpc>
                <a:spcPct val="100000"/>
              </a:lnSpc>
              <a:spcBef>
                <a:spcPts val="370"/>
              </a:spcBef>
              <a:buClr>
                <a:srgbClr val="E38312"/>
              </a:buClr>
              <a:buFont typeface="Wingdings"/>
              <a:buChar char=""/>
              <a:tabLst>
                <a:tab pos="45910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419" y="1389642"/>
            <a:ext cx="4243070" cy="47123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0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NOSQL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horizontally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huge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wise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grouped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19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family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Milli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Handles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millions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cbt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(part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sdk)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4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Hbase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353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BigTable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42199" y="2128329"/>
          <a:ext cx="8797288" cy="356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solidFill>
                      <a:srgbClr val="4285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47065">
                        <a:lnSpc>
                          <a:spcPct val="100000"/>
                        </a:lnSpc>
                        <a:spcBef>
                          <a:spcPts val="16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Personal_data_cf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210945">
                        <a:lnSpc>
                          <a:spcPct val="100000"/>
                        </a:lnSpc>
                        <a:spcBef>
                          <a:spcPts val="16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Professional_data_cf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marL="635" algn="ctr">
                        <a:lnSpc>
                          <a:spcPts val="965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salary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designation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company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7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10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7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5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054852" y="2936748"/>
            <a:ext cx="822960" cy="538480"/>
          </a:xfrm>
          <a:custGeom>
            <a:avLst/>
            <a:gdLst/>
            <a:ahLst/>
            <a:cxnLst/>
            <a:rect l="l" t="t" r="r" b="b"/>
            <a:pathLst>
              <a:path w="822959" h="538479">
                <a:moveTo>
                  <a:pt x="0" y="537972"/>
                </a:moveTo>
                <a:lnTo>
                  <a:pt x="822959" y="537972"/>
                </a:lnTo>
                <a:lnTo>
                  <a:pt x="822959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ln w="15240">
            <a:solidFill>
              <a:srgbClr val="A75F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4051" y="6007404"/>
            <a:ext cx="2628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Professional_data_cf:salary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GCP</a:t>
            </a:r>
            <a:r>
              <a:rPr sz="4000" b="1" spc="-31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Data</a:t>
            </a:r>
            <a:r>
              <a:rPr sz="4000" b="1" spc="-300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Processing</a:t>
            </a:r>
            <a:r>
              <a:rPr sz="4000" b="1" spc="-305" dirty="0">
                <a:latin typeface="Courier New"/>
                <a:cs typeface="Courier New"/>
              </a:rPr>
              <a:t> </a:t>
            </a:r>
            <a:r>
              <a:rPr sz="4000" b="1" spc="-10" dirty="0">
                <a:latin typeface="Courier New"/>
                <a:cs typeface="Courier New"/>
              </a:rPr>
              <a:t>Solution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697" y="1550263"/>
            <a:ext cx="4913630" cy="36582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Beam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DataProc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Hadoop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Fusion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Composer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Prep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Cloud</a:t>
            </a:r>
            <a:r>
              <a:rPr sz="4000" b="1" spc="-280" dirty="0">
                <a:latin typeface="Courier New"/>
                <a:cs typeface="Courier New"/>
              </a:rPr>
              <a:t> </a:t>
            </a:r>
            <a:r>
              <a:rPr sz="4000" b="1" spc="-25" dirty="0">
                <a:latin typeface="Courier New"/>
                <a:cs typeface="Courier New"/>
              </a:rPr>
              <a:t>BigQuery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697" y="1459128"/>
            <a:ext cx="4942840" cy="491871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BigTable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5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Columnar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5"/>
              </a:lnSpc>
              <a:spcBef>
                <a:spcPts val="93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  <a:p>
            <a:pPr marL="457834" lvl="1" indent="-244475">
              <a:lnSpc>
                <a:spcPts val="2255"/>
              </a:lnSpc>
              <a:buClr>
                <a:srgbClr val="E38312"/>
              </a:buClr>
              <a:buFont typeface="Wingdings"/>
              <a:buChar char=""/>
              <a:tabLst>
                <a:tab pos="457834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Transactional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purpose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ct val="100000"/>
              </a:lnSpc>
              <a:spcBef>
                <a:spcPts val="1145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Exabyte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ts val="225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0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ct val="100000"/>
              </a:lnSpc>
              <a:spcBef>
                <a:spcPts val="145"/>
              </a:spcBef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legacy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900">
              <a:latin typeface="Calibri"/>
              <a:cs typeface="Calibri"/>
            </a:endParaRPr>
          </a:p>
          <a:p>
            <a:pPr marL="312420" indent="-299720">
              <a:lnSpc>
                <a:spcPts val="2255"/>
              </a:lnSpc>
              <a:spcBef>
                <a:spcPts val="1145"/>
              </a:spcBef>
              <a:buClr>
                <a:srgbClr val="E38312"/>
              </a:buClr>
              <a:buFont typeface="Wingdings"/>
              <a:buChar char=""/>
              <a:tabLst>
                <a:tab pos="31242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source.</a:t>
            </a:r>
            <a:endParaRPr sz="1900">
              <a:latin typeface="Calibri"/>
              <a:cs typeface="Calibri"/>
            </a:endParaRPr>
          </a:p>
          <a:p>
            <a:pPr marL="458470" lvl="1" indent="-245110">
              <a:lnSpc>
                <a:spcPts val="2255"/>
              </a:lnSpc>
              <a:buClr>
                <a:srgbClr val="E38312"/>
              </a:buClr>
              <a:buFont typeface="Wingdings"/>
              <a:buChar char=""/>
              <a:tabLst>
                <a:tab pos="45847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SQL,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9469" y="1580743"/>
            <a:ext cx="5751195" cy="45986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4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Biquery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sources.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CSV,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JSON,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Avro,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expensive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$5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approx.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scanned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Before</a:t>
            </a:r>
            <a:r>
              <a:rPr sz="2000" spc="3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run.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Alternative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OpenSource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Hive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Console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bq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command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C#,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Node.js,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PHP,</a:t>
            </a:r>
            <a:endParaRPr sz="2000">
              <a:latin typeface="Calibri"/>
              <a:cs typeface="Calibri"/>
            </a:endParaRPr>
          </a:p>
          <a:p>
            <a:pPr marL="39624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Ruby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BigQuery</a:t>
            </a:r>
            <a:r>
              <a:rPr sz="4000" b="1" spc="-33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Data</a:t>
            </a:r>
            <a:r>
              <a:rPr sz="4000" b="1" spc="-315" dirty="0">
                <a:latin typeface="Courier New"/>
                <a:cs typeface="Courier New"/>
              </a:rPr>
              <a:t> </a:t>
            </a:r>
            <a:r>
              <a:rPr sz="4000" b="1" spc="-25" dirty="0">
                <a:latin typeface="Courier New"/>
                <a:cs typeface="Courier New"/>
              </a:rPr>
              <a:t>organization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41664" y="5286755"/>
            <a:ext cx="286385" cy="878205"/>
          </a:xfrm>
          <a:custGeom>
            <a:avLst/>
            <a:gdLst/>
            <a:ahLst/>
            <a:cxnLst/>
            <a:rect l="l" t="t" r="r" b="b"/>
            <a:pathLst>
              <a:path w="286384" h="878204">
                <a:moveTo>
                  <a:pt x="0" y="0"/>
                </a:moveTo>
                <a:lnTo>
                  <a:pt x="0" y="878141"/>
                </a:lnTo>
                <a:lnTo>
                  <a:pt x="286384" y="878141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05188" y="3931920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0938"/>
                </a:lnTo>
              </a:path>
            </a:pathLst>
          </a:custGeom>
          <a:ln w="15240">
            <a:solidFill>
              <a:srgbClr val="CF76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5188" y="2575560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0938"/>
                </a:lnTo>
              </a:path>
            </a:pathLst>
          </a:custGeom>
          <a:ln w="15240">
            <a:solidFill>
              <a:srgbClr val="B667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51164" y="1621536"/>
            <a:ext cx="1908175" cy="9544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2250" rIns="0" bIns="0" rtlCol="0">
            <a:spAutoFit/>
          </a:bodyPr>
          <a:lstStyle/>
          <a:p>
            <a:pPr marL="374650">
              <a:lnSpc>
                <a:spcPct val="100000"/>
              </a:lnSpc>
              <a:spcBef>
                <a:spcPts val="1750"/>
              </a:spcBef>
            </a:pPr>
            <a:r>
              <a:rPr sz="2800" spc="-10" dirty="0">
                <a:latin typeface="Calibri"/>
                <a:cs typeface="Calibri"/>
              </a:rPr>
              <a:t>Projects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51164" y="2976372"/>
            <a:ext cx="1908175" cy="95567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1760"/>
              </a:spcBef>
            </a:pPr>
            <a:r>
              <a:rPr sz="2800" spc="-10" dirty="0">
                <a:latin typeface="Calibri"/>
                <a:cs typeface="Calibri"/>
              </a:rPr>
              <a:t>Datasets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1164" y="4332732"/>
            <a:ext cx="1908175" cy="9544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225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750"/>
              </a:spcBef>
            </a:pPr>
            <a:r>
              <a:rPr sz="2800" spc="-10" dirty="0">
                <a:latin typeface="Calibri"/>
                <a:cs typeface="Calibri"/>
              </a:rPr>
              <a:t>Tables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8176" y="5687567"/>
            <a:ext cx="1910080" cy="95440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2352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760"/>
              </a:spcBef>
            </a:pPr>
            <a:r>
              <a:rPr sz="2800" spc="-20" dirty="0">
                <a:latin typeface="Calibri"/>
                <a:cs typeface="Calibri"/>
              </a:rPr>
              <a:t>Jobs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697" y="1422247"/>
            <a:ext cx="6176645" cy="491871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Projects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hold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belong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Assign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organization,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project,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Schema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6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16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5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asynchronous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tasks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  <a:p>
            <a:pPr marL="653415" lvl="2" indent="-257175">
              <a:lnSpc>
                <a:spcPct val="100000"/>
              </a:lnSpc>
              <a:spcBef>
                <a:spcPts val="360"/>
              </a:spcBef>
              <a:buClr>
                <a:srgbClr val="E38312"/>
              </a:buClr>
              <a:buFont typeface="Wingdings"/>
              <a:buChar char=""/>
              <a:tabLst>
                <a:tab pos="65341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Load,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Query,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Extract,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734" rIns="0" bIns="0" rtlCol="0">
            <a:spAutoFit/>
          </a:bodyPr>
          <a:lstStyle/>
          <a:p>
            <a:pPr marL="921385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Courier New"/>
                <a:cs typeface="Courier New"/>
              </a:rPr>
              <a:t>When</a:t>
            </a:r>
            <a:r>
              <a:rPr sz="4000" b="1" spc="-290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BigQuery</a:t>
            </a:r>
            <a:r>
              <a:rPr sz="4000" b="1" spc="-27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should</a:t>
            </a:r>
            <a:r>
              <a:rPr sz="4000" b="1" spc="-275" dirty="0">
                <a:latin typeface="Courier New"/>
                <a:cs typeface="Courier New"/>
              </a:rPr>
              <a:t> </a:t>
            </a:r>
            <a:r>
              <a:rPr sz="4000" b="1" dirty="0">
                <a:latin typeface="Courier New"/>
                <a:cs typeface="Courier New"/>
              </a:rPr>
              <a:t>be</a:t>
            </a:r>
            <a:r>
              <a:rPr sz="4000" b="1" spc="-265" dirty="0">
                <a:latin typeface="Courier New"/>
                <a:cs typeface="Courier New"/>
              </a:rPr>
              <a:t> </a:t>
            </a:r>
            <a:r>
              <a:rPr sz="4000" b="1" spc="-20" dirty="0">
                <a:latin typeface="Courier New"/>
                <a:cs typeface="Courier New"/>
              </a:rPr>
              <a:t>used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697" y="1422247"/>
            <a:ext cx="7602855" cy="37598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analytical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doesn’t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cache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off-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workload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volume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preferred.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denormalized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34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BigQuery</a:t>
            </a:r>
            <a:r>
              <a:rPr b="1" spc="-3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Pricing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419" y="1511351"/>
            <a:ext cx="4263390" cy="16008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On-demand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Flat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rat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Allocate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capacity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374904"/>
            <a:ext cx="12198350" cy="2958465"/>
            <a:chOff x="-3175" y="374904"/>
            <a:chExt cx="12198350" cy="2958465"/>
          </a:xfrm>
        </p:grpSpPr>
        <p:sp>
          <p:nvSpPr>
            <p:cNvPr id="3" name="object 3"/>
            <p:cNvSpPr/>
            <p:nvPr/>
          </p:nvSpPr>
          <p:spPr>
            <a:xfrm>
              <a:off x="1616963" y="2188464"/>
              <a:ext cx="1969135" cy="1137285"/>
            </a:xfrm>
            <a:custGeom>
              <a:avLst/>
              <a:gdLst/>
              <a:ahLst/>
              <a:cxnLst/>
              <a:rect l="l" t="t" r="r" b="b"/>
              <a:pathLst>
                <a:path w="1969135" h="1137285">
                  <a:moveTo>
                    <a:pt x="1969008" y="0"/>
                  </a:moveTo>
                  <a:lnTo>
                    <a:pt x="0" y="0"/>
                  </a:lnTo>
                  <a:lnTo>
                    <a:pt x="0" y="1136903"/>
                  </a:lnTo>
                  <a:lnTo>
                    <a:pt x="1969008" y="1136903"/>
                  </a:lnTo>
                  <a:lnTo>
                    <a:pt x="1969008" y="0"/>
                  </a:lnTo>
                  <a:close/>
                </a:path>
              </a:pathLst>
            </a:custGeom>
            <a:solidFill>
              <a:srgbClr val="34A8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16963" y="2188464"/>
              <a:ext cx="1969135" cy="1137285"/>
            </a:xfrm>
            <a:custGeom>
              <a:avLst/>
              <a:gdLst/>
              <a:ahLst/>
              <a:cxnLst/>
              <a:rect l="l" t="t" r="r" b="b"/>
              <a:pathLst>
                <a:path w="1969135" h="1137285">
                  <a:moveTo>
                    <a:pt x="0" y="1136903"/>
                  </a:moveTo>
                  <a:lnTo>
                    <a:pt x="1969008" y="1136903"/>
                  </a:lnTo>
                  <a:lnTo>
                    <a:pt x="1969008" y="0"/>
                  </a:lnTo>
                  <a:lnTo>
                    <a:pt x="0" y="0"/>
                  </a:lnTo>
                  <a:lnTo>
                    <a:pt x="0" y="113690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324" y="558800"/>
            <a:ext cx="2204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ourier New"/>
                <a:cs typeface="Courier New"/>
              </a:rPr>
              <a:t>PubSub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64511" y="2592704"/>
            <a:ext cx="1073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34856" y="1757172"/>
            <a:ext cx="1609725" cy="1763395"/>
            <a:chOff x="9134856" y="1757172"/>
            <a:chExt cx="1609725" cy="1763395"/>
          </a:xfrm>
        </p:grpSpPr>
        <p:sp>
          <p:nvSpPr>
            <p:cNvPr id="8" name="object 8"/>
            <p:cNvSpPr/>
            <p:nvPr/>
          </p:nvSpPr>
          <p:spPr>
            <a:xfrm>
              <a:off x="9142476" y="1764792"/>
              <a:ext cx="1594485" cy="1748155"/>
            </a:xfrm>
            <a:custGeom>
              <a:avLst/>
              <a:gdLst/>
              <a:ahLst/>
              <a:cxnLst/>
              <a:rect l="l" t="t" r="r" b="b"/>
              <a:pathLst>
                <a:path w="1594484" h="1748154">
                  <a:moveTo>
                    <a:pt x="797051" y="0"/>
                  </a:moveTo>
                  <a:lnTo>
                    <a:pt x="728281" y="1069"/>
                  </a:lnTo>
                  <a:lnTo>
                    <a:pt x="661135" y="4219"/>
                  </a:lnTo>
                  <a:lnTo>
                    <a:pt x="595852" y="9361"/>
                  </a:lnTo>
                  <a:lnTo>
                    <a:pt x="532672" y="16409"/>
                  </a:lnTo>
                  <a:lnTo>
                    <a:pt x="471833" y="25275"/>
                  </a:lnTo>
                  <a:lnTo>
                    <a:pt x="413576" y="35872"/>
                  </a:lnTo>
                  <a:lnTo>
                    <a:pt x="358139" y="48112"/>
                  </a:lnTo>
                  <a:lnTo>
                    <a:pt x="305762" y="61908"/>
                  </a:lnTo>
                  <a:lnTo>
                    <a:pt x="256684" y="77172"/>
                  </a:lnTo>
                  <a:lnTo>
                    <a:pt x="211145" y="93817"/>
                  </a:lnTo>
                  <a:lnTo>
                    <a:pt x="169383" y="111756"/>
                  </a:lnTo>
                  <a:lnTo>
                    <a:pt x="131638" y="130900"/>
                  </a:lnTo>
                  <a:lnTo>
                    <a:pt x="98149" y="151164"/>
                  </a:lnTo>
                  <a:lnTo>
                    <a:pt x="44898" y="194696"/>
                  </a:lnTo>
                  <a:lnTo>
                    <a:pt x="11543" y="241654"/>
                  </a:lnTo>
                  <a:lnTo>
                    <a:pt x="0" y="291338"/>
                  </a:lnTo>
                  <a:lnTo>
                    <a:pt x="0" y="1456690"/>
                  </a:lnTo>
                  <a:lnTo>
                    <a:pt x="11543" y="1506373"/>
                  </a:lnTo>
                  <a:lnTo>
                    <a:pt x="44898" y="1553331"/>
                  </a:lnTo>
                  <a:lnTo>
                    <a:pt x="98149" y="1596863"/>
                  </a:lnTo>
                  <a:lnTo>
                    <a:pt x="131638" y="1617127"/>
                  </a:lnTo>
                  <a:lnTo>
                    <a:pt x="169383" y="1636271"/>
                  </a:lnTo>
                  <a:lnTo>
                    <a:pt x="211145" y="1654210"/>
                  </a:lnTo>
                  <a:lnTo>
                    <a:pt x="256684" y="1670855"/>
                  </a:lnTo>
                  <a:lnTo>
                    <a:pt x="305762" y="1686119"/>
                  </a:lnTo>
                  <a:lnTo>
                    <a:pt x="358139" y="1699915"/>
                  </a:lnTo>
                  <a:lnTo>
                    <a:pt x="413576" y="1712155"/>
                  </a:lnTo>
                  <a:lnTo>
                    <a:pt x="471833" y="1722752"/>
                  </a:lnTo>
                  <a:lnTo>
                    <a:pt x="532672" y="1731618"/>
                  </a:lnTo>
                  <a:lnTo>
                    <a:pt x="595852" y="1738666"/>
                  </a:lnTo>
                  <a:lnTo>
                    <a:pt x="661135" y="1743808"/>
                  </a:lnTo>
                  <a:lnTo>
                    <a:pt x="728281" y="1746958"/>
                  </a:lnTo>
                  <a:lnTo>
                    <a:pt x="797051" y="1748028"/>
                  </a:lnTo>
                  <a:lnTo>
                    <a:pt x="865822" y="1746958"/>
                  </a:lnTo>
                  <a:lnTo>
                    <a:pt x="932968" y="1743808"/>
                  </a:lnTo>
                  <a:lnTo>
                    <a:pt x="998251" y="1738666"/>
                  </a:lnTo>
                  <a:lnTo>
                    <a:pt x="1061431" y="1731618"/>
                  </a:lnTo>
                  <a:lnTo>
                    <a:pt x="1122270" y="1722752"/>
                  </a:lnTo>
                  <a:lnTo>
                    <a:pt x="1180527" y="1712155"/>
                  </a:lnTo>
                  <a:lnTo>
                    <a:pt x="1235964" y="1699915"/>
                  </a:lnTo>
                  <a:lnTo>
                    <a:pt x="1288341" y="1686119"/>
                  </a:lnTo>
                  <a:lnTo>
                    <a:pt x="1337419" y="1670855"/>
                  </a:lnTo>
                  <a:lnTo>
                    <a:pt x="1382958" y="1654210"/>
                  </a:lnTo>
                  <a:lnTo>
                    <a:pt x="1424720" y="1636271"/>
                  </a:lnTo>
                  <a:lnTo>
                    <a:pt x="1462465" y="1617127"/>
                  </a:lnTo>
                  <a:lnTo>
                    <a:pt x="1495954" y="1596863"/>
                  </a:lnTo>
                  <a:lnTo>
                    <a:pt x="1549205" y="1553331"/>
                  </a:lnTo>
                  <a:lnTo>
                    <a:pt x="1582560" y="1506373"/>
                  </a:lnTo>
                  <a:lnTo>
                    <a:pt x="1594103" y="1456690"/>
                  </a:lnTo>
                  <a:lnTo>
                    <a:pt x="1594103" y="291338"/>
                  </a:lnTo>
                  <a:lnTo>
                    <a:pt x="1582560" y="241654"/>
                  </a:lnTo>
                  <a:lnTo>
                    <a:pt x="1549205" y="194696"/>
                  </a:lnTo>
                  <a:lnTo>
                    <a:pt x="1495954" y="151164"/>
                  </a:lnTo>
                  <a:lnTo>
                    <a:pt x="1462465" y="130900"/>
                  </a:lnTo>
                  <a:lnTo>
                    <a:pt x="1424720" y="111756"/>
                  </a:lnTo>
                  <a:lnTo>
                    <a:pt x="1382958" y="93817"/>
                  </a:lnTo>
                  <a:lnTo>
                    <a:pt x="1337419" y="77172"/>
                  </a:lnTo>
                  <a:lnTo>
                    <a:pt x="1288341" y="61908"/>
                  </a:lnTo>
                  <a:lnTo>
                    <a:pt x="1235964" y="48112"/>
                  </a:lnTo>
                  <a:lnTo>
                    <a:pt x="1180527" y="35872"/>
                  </a:lnTo>
                  <a:lnTo>
                    <a:pt x="1122270" y="25275"/>
                  </a:lnTo>
                  <a:lnTo>
                    <a:pt x="1061431" y="16409"/>
                  </a:lnTo>
                  <a:lnTo>
                    <a:pt x="998251" y="9361"/>
                  </a:lnTo>
                  <a:lnTo>
                    <a:pt x="932968" y="4219"/>
                  </a:lnTo>
                  <a:lnTo>
                    <a:pt x="865822" y="1069"/>
                  </a:lnTo>
                  <a:lnTo>
                    <a:pt x="797051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2476" y="1764792"/>
              <a:ext cx="1594485" cy="1748155"/>
            </a:xfrm>
            <a:custGeom>
              <a:avLst/>
              <a:gdLst/>
              <a:ahLst/>
              <a:cxnLst/>
              <a:rect l="l" t="t" r="r" b="b"/>
              <a:pathLst>
                <a:path w="1594484" h="1748154">
                  <a:moveTo>
                    <a:pt x="1594103" y="291338"/>
                  </a:moveTo>
                  <a:lnTo>
                    <a:pt x="1582560" y="341021"/>
                  </a:lnTo>
                  <a:lnTo>
                    <a:pt x="1549205" y="387979"/>
                  </a:lnTo>
                  <a:lnTo>
                    <a:pt x="1495954" y="431511"/>
                  </a:lnTo>
                  <a:lnTo>
                    <a:pt x="1462465" y="451775"/>
                  </a:lnTo>
                  <a:lnTo>
                    <a:pt x="1424720" y="470919"/>
                  </a:lnTo>
                  <a:lnTo>
                    <a:pt x="1382958" y="488858"/>
                  </a:lnTo>
                  <a:lnTo>
                    <a:pt x="1337419" y="505503"/>
                  </a:lnTo>
                  <a:lnTo>
                    <a:pt x="1288341" y="520767"/>
                  </a:lnTo>
                  <a:lnTo>
                    <a:pt x="1235964" y="534563"/>
                  </a:lnTo>
                  <a:lnTo>
                    <a:pt x="1180527" y="546803"/>
                  </a:lnTo>
                  <a:lnTo>
                    <a:pt x="1122270" y="557400"/>
                  </a:lnTo>
                  <a:lnTo>
                    <a:pt x="1061431" y="566266"/>
                  </a:lnTo>
                  <a:lnTo>
                    <a:pt x="998251" y="573314"/>
                  </a:lnTo>
                  <a:lnTo>
                    <a:pt x="932968" y="578456"/>
                  </a:lnTo>
                  <a:lnTo>
                    <a:pt x="865822" y="581606"/>
                  </a:lnTo>
                  <a:lnTo>
                    <a:pt x="797051" y="582676"/>
                  </a:lnTo>
                  <a:lnTo>
                    <a:pt x="728281" y="581606"/>
                  </a:lnTo>
                  <a:lnTo>
                    <a:pt x="661135" y="578456"/>
                  </a:lnTo>
                  <a:lnTo>
                    <a:pt x="595852" y="573314"/>
                  </a:lnTo>
                  <a:lnTo>
                    <a:pt x="532672" y="566266"/>
                  </a:lnTo>
                  <a:lnTo>
                    <a:pt x="471833" y="557400"/>
                  </a:lnTo>
                  <a:lnTo>
                    <a:pt x="413576" y="546803"/>
                  </a:lnTo>
                  <a:lnTo>
                    <a:pt x="358139" y="534563"/>
                  </a:lnTo>
                  <a:lnTo>
                    <a:pt x="305762" y="520767"/>
                  </a:lnTo>
                  <a:lnTo>
                    <a:pt x="256684" y="505503"/>
                  </a:lnTo>
                  <a:lnTo>
                    <a:pt x="211145" y="488858"/>
                  </a:lnTo>
                  <a:lnTo>
                    <a:pt x="169383" y="470919"/>
                  </a:lnTo>
                  <a:lnTo>
                    <a:pt x="131638" y="451775"/>
                  </a:lnTo>
                  <a:lnTo>
                    <a:pt x="98149" y="431511"/>
                  </a:lnTo>
                  <a:lnTo>
                    <a:pt x="44898" y="387979"/>
                  </a:lnTo>
                  <a:lnTo>
                    <a:pt x="11543" y="341021"/>
                  </a:lnTo>
                  <a:lnTo>
                    <a:pt x="2925" y="316476"/>
                  </a:lnTo>
                  <a:lnTo>
                    <a:pt x="0" y="291338"/>
                  </a:lnTo>
                </a:path>
                <a:path w="1594484" h="1748154">
                  <a:moveTo>
                    <a:pt x="0" y="291338"/>
                  </a:moveTo>
                  <a:lnTo>
                    <a:pt x="11543" y="241654"/>
                  </a:lnTo>
                  <a:lnTo>
                    <a:pt x="44898" y="194696"/>
                  </a:lnTo>
                  <a:lnTo>
                    <a:pt x="98149" y="151164"/>
                  </a:lnTo>
                  <a:lnTo>
                    <a:pt x="131638" y="130900"/>
                  </a:lnTo>
                  <a:lnTo>
                    <a:pt x="169383" y="111756"/>
                  </a:lnTo>
                  <a:lnTo>
                    <a:pt x="211145" y="93817"/>
                  </a:lnTo>
                  <a:lnTo>
                    <a:pt x="256684" y="77172"/>
                  </a:lnTo>
                  <a:lnTo>
                    <a:pt x="305762" y="61908"/>
                  </a:lnTo>
                  <a:lnTo>
                    <a:pt x="358139" y="48112"/>
                  </a:lnTo>
                  <a:lnTo>
                    <a:pt x="413576" y="35872"/>
                  </a:lnTo>
                  <a:lnTo>
                    <a:pt x="471833" y="25275"/>
                  </a:lnTo>
                  <a:lnTo>
                    <a:pt x="532672" y="16409"/>
                  </a:lnTo>
                  <a:lnTo>
                    <a:pt x="595852" y="9361"/>
                  </a:lnTo>
                  <a:lnTo>
                    <a:pt x="661135" y="4219"/>
                  </a:lnTo>
                  <a:lnTo>
                    <a:pt x="728281" y="1069"/>
                  </a:lnTo>
                  <a:lnTo>
                    <a:pt x="797051" y="0"/>
                  </a:lnTo>
                  <a:lnTo>
                    <a:pt x="865822" y="1069"/>
                  </a:lnTo>
                  <a:lnTo>
                    <a:pt x="932968" y="4219"/>
                  </a:lnTo>
                  <a:lnTo>
                    <a:pt x="998251" y="9361"/>
                  </a:lnTo>
                  <a:lnTo>
                    <a:pt x="1061431" y="16409"/>
                  </a:lnTo>
                  <a:lnTo>
                    <a:pt x="1122270" y="25275"/>
                  </a:lnTo>
                  <a:lnTo>
                    <a:pt x="1180527" y="35872"/>
                  </a:lnTo>
                  <a:lnTo>
                    <a:pt x="1235964" y="48112"/>
                  </a:lnTo>
                  <a:lnTo>
                    <a:pt x="1288341" y="61908"/>
                  </a:lnTo>
                  <a:lnTo>
                    <a:pt x="1337419" y="77172"/>
                  </a:lnTo>
                  <a:lnTo>
                    <a:pt x="1382958" y="93817"/>
                  </a:lnTo>
                  <a:lnTo>
                    <a:pt x="1424720" y="111756"/>
                  </a:lnTo>
                  <a:lnTo>
                    <a:pt x="1462465" y="130900"/>
                  </a:lnTo>
                  <a:lnTo>
                    <a:pt x="1495954" y="151164"/>
                  </a:lnTo>
                  <a:lnTo>
                    <a:pt x="1549205" y="194696"/>
                  </a:lnTo>
                  <a:lnTo>
                    <a:pt x="1582560" y="241654"/>
                  </a:lnTo>
                  <a:lnTo>
                    <a:pt x="1594103" y="291338"/>
                  </a:lnTo>
                  <a:lnTo>
                    <a:pt x="1594103" y="1456690"/>
                  </a:lnTo>
                  <a:lnTo>
                    <a:pt x="1582560" y="1506373"/>
                  </a:lnTo>
                  <a:lnTo>
                    <a:pt x="1549205" y="1553331"/>
                  </a:lnTo>
                  <a:lnTo>
                    <a:pt x="1495954" y="1596863"/>
                  </a:lnTo>
                  <a:lnTo>
                    <a:pt x="1462465" y="1617127"/>
                  </a:lnTo>
                  <a:lnTo>
                    <a:pt x="1424720" y="1636271"/>
                  </a:lnTo>
                  <a:lnTo>
                    <a:pt x="1382958" y="1654210"/>
                  </a:lnTo>
                  <a:lnTo>
                    <a:pt x="1337419" y="1670855"/>
                  </a:lnTo>
                  <a:lnTo>
                    <a:pt x="1288341" y="1686119"/>
                  </a:lnTo>
                  <a:lnTo>
                    <a:pt x="1235964" y="1699915"/>
                  </a:lnTo>
                  <a:lnTo>
                    <a:pt x="1180527" y="1712155"/>
                  </a:lnTo>
                  <a:lnTo>
                    <a:pt x="1122270" y="1722752"/>
                  </a:lnTo>
                  <a:lnTo>
                    <a:pt x="1061431" y="1731618"/>
                  </a:lnTo>
                  <a:lnTo>
                    <a:pt x="998251" y="1738666"/>
                  </a:lnTo>
                  <a:lnTo>
                    <a:pt x="932968" y="1743808"/>
                  </a:lnTo>
                  <a:lnTo>
                    <a:pt x="865822" y="1746958"/>
                  </a:lnTo>
                  <a:lnTo>
                    <a:pt x="797051" y="1748028"/>
                  </a:lnTo>
                  <a:lnTo>
                    <a:pt x="728281" y="1746958"/>
                  </a:lnTo>
                  <a:lnTo>
                    <a:pt x="661135" y="1743808"/>
                  </a:lnTo>
                  <a:lnTo>
                    <a:pt x="595852" y="1738666"/>
                  </a:lnTo>
                  <a:lnTo>
                    <a:pt x="532672" y="1731618"/>
                  </a:lnTo>
                  <a:lnTo>
                    <a:pt x="471833" y="1722752"/>
                  </a:lnTo>
                  <a:lnTo>
                    <a:pt x="413576" y="1712155"/>
                  </a:lnTo>
                  <a:lnTo>
                    <a:pt x="358139" y="1699915"/>
                  </a:lnTo>
                  <a:lnTo>
                    <a:pt x="305762" y="1686119"/>
                  </a:lnTo>
                  <a:lnTo>
                    <a:pt x="256684" y="1670855"/>
                  </a:lnTo>
                  <a:lnTo>
                    <a:pt x="211145" y="1654210"/>
                  </a:lnTo>
                  <a:lnTo>
                    <a:pt x="169383" y="1636271"/>
                  </a:lnTo>
                  <a:lnTo>
                    <a:pt x="131638" y="1617127"/>
                  </a:lnTo>
                  <a:lnTo>
                    <a:pt x="98149" y="1596863"/>
                  </a:lnTo>
                  <a:lnTo>
                    <a:pt x="44898" y="1553331"/>
                  </a:lnTo>
                  <a:lnTo>
                    <a:pt x="11543" y="1506373"/>
                  </a:lnTo>
                  <a:lnTo>
                    <a:pt x="0" y="1456690"/>
                  </a:lnTo>
                  <a:lnTo>
                    <a:pt x="0" y="29133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95509" y="2619502"/>
            <a:ext cx="29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03903" y="2513076"/>
            <a:ext cx="1336675" cy="504825"/>
            <a:chOff x="3803903" y="2513076"/>
            <a:chExt cx="1336675" cy="504825"/>
          </a:xfrm>
        </p:grpSpPr>
        <p:sp>
          <p:nvSpPr>
            <p:cNvPr id="12" name="object 12"/>
            <p:cNvSpPr/>
            <p:nvPr/>
          </p:nvSpPr>
          <p:spPr>
            <a:xfrm>
              <a:off x="3811523" y="2520696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1076705" y="0"/>
                  </a:moveTo>
                  <a:lnTo>
                    <a:pt x="1076705" y="122300"/>
                  </a:lnTo>
                  <a:lnTo>
                    <a:pt x="0" y="122300"/>
                  </a:lnTo>
                  <a:lnTo>
                    <a:pt x="0" y="366902"/>
                  </a:lnTo>
                  <a:lnTo>
                    <a:pt x="1076705" y="366902"/>
                  </a:lnTo>
                  <a:lnTo>
                    <a:pt x="1076705" y="489203"/>
                  </a:lnTo>
                  <a:lnTo>
                    <a:pt x="1321308" y="244601"/>
                  </a:lnTo>
                  <a:lnTo>
                    <a:pt x="1076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1523" y="2520696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0" y="122300"/>
                  </a:moveTo>
                  <a:lnTo>
                    <a:pt x="1076705" y="122300"/>
                  </a:lnTo>
                  <a:lnTo>
                    <a:pt x="1076705" y="0"/>
                  </a:lnTo>
                  <a:lnTo>
                    <a:pt x="1321308" y="244601"/>
                  </a:lnTo>
                  <a:lnTo>
                    <a:pt x="1076705" y="489203"/>
                  </a:lnTo>
                  <a:lnTo>
                    <a:pt x="1076705" y="366902"/>
                  </a:lnTo>
                  <a:lnTo>
                    <a:pt x="0" y="366902"/>
                  </a:lnTo>
                  <a:lnTo>
                    <a:pt x="0" y="12230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2731" y="4428744"/>
            <a:ext cx="1969135" cy="1138555"/>
          </a:xfrm>
          <a:prstGeom prst="rect">
            <a:avLst/>
          </a:prstGeom>
          <a:solidFill>
            <a:srgbClr val="34A852"/>
          </a:solidFill>
          <a:ln w="15239">
            <a:solidFill>
              <a:srgbClr val="FFFFFF"/>
            </a:solidFill>
          </a:ln>
        </p:spPr>
        <p:txBody>
          <a:bodyPr vert="horz" wrap="square" lIns="0" tIns="154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endParaRPr sz="1800">
              <a:latin typeface="Times New Roman"/>
              <a:cs typeface="Times New Roman"/>
            </a:endParaRPr>
          </a:p>
          <a:p>
            <a:pPr marL="45974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046207" y="4088891"/>
            <a:ext cx="1610995" cy="1763395"/>
            <a:chOff x="10046207" y="4088891"/>
            <a:chExt cx="1610995" cy="1763395"/>
          </a:xfrm>
        </p:grpSpPr>
        <p:sp>
          <p:nvSpPr>
            <p:cNvPr id="16" name="object 16"/>
            <p:cNvSpPr/>
            <p:nvPr/>
          </p:nvSpPr>
          <p:spPr>
            <a:xfrm>
              <a:off x="10053827" y="4096511"/>
              <a:ext cx="1595755" cy="1748155"/>
            </a:xfrm>
            <a:custGeom>
              <a:avLst/>
              <a:gdLst/>
              <a:ahLst/>
              <a:cxnLst/>
              <a:rect l="l" t="t" r="r" b="b"/>
              <a:pathLst>
                <a:path w="1595754" h="1748154">
                  <a:moveTo>
                    <a:pt x="797814" y="0"/>
                  </a:moveTo>
                  <a:lnTo>
                    <a:pt x="728983" y="1069"/>
                  </a:lnTo>
                  <a:lnTo>
                    <a:pt x="661777" y="4219"/>
                  </a:lnTo>
                  <a:lnTo>
                    <a:pt x="596435" y="9361"/>
                  </a:lnTo>
                  <a:lnTo>
                    <a:pt x="533197" y="16409"/>
                  </a:lnTo>
                  <a:lnTo>
                    <a:pt x="472302" y="25275"/>
                  </a:lnTo>
                  <a:lnTo>
                    <a:pt x="413989" y="35872"/>
                  </a:lnTo>
                  <a:lnTo>
                    <a:pt x="358499" y="48112"/>
                  </a:lnTo>
                  <a:lnTo>
                    <a:pt x="306071" y="61908"/>
                  </a:lnTo>
                  <a:lnTo>
                    <a:pt x="256945" y="77172"/>
                  </a:lnTo>
                  <a:lnTo>
                    <a:pt x="211361" y="93817"/>
                  </a:lnTo>
                  <a:lnTo>
                    <a:pt x="169557" y="111756"/>
                  </a:lnTo>
                  <a:lnTo>
                    <a:pt x="131774" y="130900"/>
                  </a:lnTo>
                  <a:lnTo>
                    <a:pt x="98251" y="151164"/>
                  </a:lnTo>
                  <a:lnTo>
                    <a:pt x="44945" y="194696"/>
                  </a:lnTo>
                  <a:lnTo>
                    <a:pt x="11555" y="241654"/>
                  </a:lnTo>
                  <a:lnTo>
                    <a:pt x="0" y="291338"/>
                  </a:lnTo>
                  <a:lnTo>
                    <a:pt x="0" y="1456690"/>
                  </a:lnTo>
                  <a:lnTo>
                    <a:pt x="11555" y="1506370"/>
                  </a:lnTo>
                  <a:lnTo>
                    <a:pt x="44945" y="1553326"/>
                  </a:lnTo>
                  <a:lnTo>
                    <a:pt x="98251" y="1596858"/>
                  </a:lnTo>
                  <a:lnTo>
                    <a:pt x="131774" y="1617121"/>
                  </a:lnTo>
                  <a:lnTo>
                    <a:pt x="169557" y="1636266"/>
                  </a:lnTo>
                  <a:lnTo>
                    <a:pt x="211361" y="1654205"/>
                  </a:lnTo>
                  <a:lnTo>
                    <a:pt x="256945" y="1670850"/>
                  </a:lnTo>
                  <a:lnTo>
                    <a:pt x="306071" y="1686115"/>
                  </a:lnTo>
                  <a:lnTo>
                    <a:pt x="358499" y="1699911"/>
                  </a:lnTo>
                  <a:lnTo>
                    <a:pt x="413989" y="1712152"/>
                  </a:lnTo>
                  <a:lnTo>
                    <a:pt x="472302" y="1722750"/>
                  </a:lnTo>
                  <a:lnTo>
                    <a:pt x="533197" y="1731616"/>
                  </a:lnTo>
                  <a:lnTo>
                    <a:pt x="596435" y="1738665"/>
                  </a:lnTo>
                  <a:lnTo>
                    <a:pt x="661777" y="1743808"/>
                  </a:lnTo>
                  <a:lnTo>
                    <a:pt x="728983" y="1746958"/>
                  </a:lnTo>
                  <a:lnTo>
                    <a:pt x="797814" y="1748027"/>
                  </a:lnTo>
                  <a:lnTo>
                    <a:pt x="866644" y="1746958"/>
                  </a:lnTo>
                  <a:lnTo>
                    <a:pt x="933850" y="1743808"/>
                  </a:lnTo>
                  <a:lnTo>
                    <a:pt x="999192" y="1738665"/>
                  </a:lnTo>
                  <a:lnTo>
                    <a:pt x="1062430" y="1731616"/>
                  </a:lnTo>
                  <a:lnTo>
                    <a:pt x="1123325" y="1722750"/>
                  </a:lnTo>
                  <a:lnTo>
                    <a:pt x="1181638" y="1712152"/>
                  </a:lnTo>
                  <a:lnTo>
                    <a:pt x="1237128" y="1699911"/>
                  </a:lnTo>
                  <a:lnTo>
                    <a:pt x="1289556" y="1686115"/>
                  </a:lnTo>
                  <a:lnTo>
                    <a:pt x="1338682" y="1670850"/>
                  </a:lnTo>
                  <a:lnTo>
                    <a:pt x="1384266" y="1654205"/>
                  </a:lnTo>
                  <a:lnTo>
                    <a:pt x="1426070" y="1636266"/>
                  </a:lnTo>
                  <a:lnTo>
                    <a:pt x="1463853" y="1617121"/>
                  </a:lnTo>
                  <a:lnTo>
                    <a:pt x="1497376" y="1596858"/>
                  </a:lnTo>
                  <a:lnTo>
                    <a:pt x="1550682" y="1553326"/>
                  </a:lnTo>
                  <a:lnTo>
                    <a:pt x="1584072" y="1506370"/>
                  </a:lnTo>
                  <a:lnTo>
                    <a:pt x="1595627" y="1456690"/>
                  </a:lnTo>
                  <a:lnTo>
                    <a:pt x="1595627" y="291338"/>
                  </a:lnTo>
                  <a:lnTo>
                    <a:pt x="1584072" y="241654"/>
                  </a:lnTo>
                  <a:lnTo>
                    <a:pt x="1550682" y="194696"/>
                  </a:lnTo>
                  <a:lnTo>
                    <a:pt x="1497376" y="151164"/>
                  </a:lnTo>
                  <a:lnTo>
                    <a:pt x="1463853" y="130900"/>
                  </a:lnTo>
                  <a:lnTo>
                    <a:pt x="1426070" y="111756"/>
                  </a:lnTo>
                  <a:lnTo>
                    <a:pt x="1384266" y="93817"/>
                  </a:lnTo>
                  <a:lnTo>
                    <a:pt x="1338682" y="77172"/>
                  </a:lnTo>
                  <a:lnTo>
                    <a:pt x="1289556" y="61908"/>
                  </a:lnTo>
                  <a:lnTo>
                    <a:pt x="1237128" y="48112"/>
                  </a:lnTo>
                  <a:lnTo>
                    <a:pt x="1181638" y="35872"/>
                  </a:lnTo>
                  <a:lnTo>
                    <a:pt x="1123325" y="25275"/>
                  </a:lnTo>
                  <a:lnTo>
                    <a:pt x="1062430" y="16409"/>
                  </a:lnTo>
                  <a:lnTo>
                    <a:pt x="999192" y="9361"/>
                  </a:lnTo>
                  <a:lnTo>
                    <a:pt x="933850" y="4219"/>
                  </a:lnTo>
                  <a:lnTo>
                    <a:pt x="866644" y="1069"/>
                  </a:lnTo>
                  <a:lnTo>
                    <a:pt x="797814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53827" y="4096511"/>
              <a:ext cx="1595755" cy="1748155"/>
            </a:xfrm>
            <a:custGeom>
              <a:avLst/>
              <a:gdLst/>
              <a:ahLst/>
              <a:cxnLst/>
              <a:rect l="l" t="t" r="r" b="b"/>
              <a:pathLst>
                <a:path w="1595754" h="1748154">
                  <a:moveTo>
                    <a:pt x="1595627" y="291338"/>
                  </a:moveTo>
                  <a:lnTo>
                    <a:pt x="1584072" y="341021"/>
                  </a:lnTo>
                  <a:lnTo>
                    <a:pt x="1550682" y="387979"/>
                  </a:lnTo>
                  <a:lnTo>
                    <a:pt x="1497376" y="431511"/>
                  </a:lnTo>
                  <a:lnTo>
                    <a:pt x="1463853" y="451775"/>
                  </a:lnTo>
                  <a:lnTo>
                    <a:pt x="1426070" y="470919"/>
                  </a:lnTo>
                  <a:lnTo>
                    <a:pt x="1384266" y="488858"/>
                  </a:lnTo>
                  <a:lnTo>
                    <a:pt x="1338682" y="505503"/>
                  </a:lnTo>
                  <a:lnTo>
                    <a:pt x="1289556" y="520767"/>
                  </a:lnTo>
                  <a:lnTo>
                    <a:pt x="1237128" y="534563"/>
                  </a:lnTo>
                  <a:lnTo>
                    <a:pt x="1181638" y="546803"/>
                  </a:lnTo>
                  <a:lnTo>
                    <a:pt x="1123325" y="557400"/>
                  </a:lnTo>
                  <a:lnTo>
                    <a:pt x="1062430" y="566266"/>
                  </a:lnTo>
                  <a:lnTo>
                    <a:pt x="999192" y="573314"/>
                  </a:lnTo>
                  <a:lnTo>
                    <a:pt x="933850" y="578456"/>
                  </a:lnTo>
                  <a:lnTo>
                    <a:pt x="866644" y="581606"/>
                  </a:lnTo>
                  <a:lnTo>
                    <a:pt x="797814" y="582676"/>
                  </a:lnTo>
                  <a:lnTo>
                    <a:pt x="728983" y="581606"/>
                  </a:lnTo>
                  <a:lnTo>
                    <a:pt x="661777" y="578456"/>
                  </a:lnTo>
                  <a:lnTo>
                    <a:pt x="596435" y="573314"/>
                  </a:lnTo>
                  <a:lnTo>
                    <a:pt x="533197" y="566266"/>
                  </a:lnTo>
                  <a:lnTo>
                    <a:pt x="472302" y="557400"/>
                  </a:lnTo>
                  <a:lnTo>
                    <a:pt x="413989" y="546803"/>
                  </a:lnTo>
                  <a:lnTo>
                    <a:pt x="358499" y="534563"/>
                  </a:lnTo>
                  <a:lnTo>
                    <a:pt x="306071" y="520767"/>
                  </a:lnTo>
                  <a:lnTo>
                    <a:pt x="256945" y="505503"/>
                  </a:lnTo>
                  <a:lnTo>
                    <a:pt x="211361" y="488858"/>
                  </a:lnTo>
                  <a:lnTo>
                    <a:pt x="169557" y="470919"/>
                  </a:lnTo>
                  <a:lnTo>
                    <a:pt x="131774" y="451775"/>
                  </a:lnTo>
                  <a:lnTo>
                    <a:pt x="98251" y="431511"/>
                  </a:lnTo>
                  <a:lnTo>
                    <a:pt x="44945" y="387979"/>
                  </a:lnTo>
                  <a:lnTo>
                    <a:pt x="11555" y="341021"/>
                  </a:lnTo>
                  <a:lnTo>
                    <a:pt x="2928" y="316476"/>
                  </a:lnTo>
                  <a:lnTo>
                    <a:pt x="0" y="291338"/>
                  </a:lnTo>
                </a:path>
                <a:path w="1595754" h="1748154">
                  <a:moveTo>
                    <a:pt x="0" y="291338"/>
                  </a:moveTo>
                  <a:lnTo>
                    <a:pt x="11555" y="241654"/>
                  </a:lnTo>
                  <a:lnTo>
                    <a:pt x="44945" y="194696"/>
                  </a:lnTo>
                  <a:lnTo>
                    <a:pt x="98251" y="151164"/>
                  </a:lnTo>
                  <a:lnTo>
                    <a:pt x="131774" y="130900"/>
                  </a:lnTo>
                  <a:lnTo>
                    <a:pt x="169557" y="111756"/>
                  </a:lnTo>
                  <a:lnTo>
                    <a:pt x="211361" y="93817"/>
                  </a:lnTo>
                  <a:lnTo>
                    <a:pt x="256945" y="77172"/>
                  </a:lnTo>
                  <a:lnTo>
                    <a:pt x="306071" y="61908"/>
                  </a:lnTo>
                  <a:lnTo>
                    <a:pt x="358499" y="48112"/>
                  </a:lnTo>
                  <a:lnTo>
                    <a:pt x="413989" y="35872"/>
                  </a:lnTo>
                  <a:lnTo>
                    <a:pt x="472302" y="25275"/>
                  </a:lnTo>
                  <a:lnTo>
                    <a:pt x="533197" y="16409"/>
                  </a:lnTo>
                  <a:lnTo>
                    <a:pt x="596435" y="9361"/>
                  </a:lnTo>
                  <a:lnTo>
                    <a:pt x="661777" y="4219"/>
                  </a:lnTo>
                  <a:lnTo>
                    <a:pt x="728983" y="1069"/>
                  </a:lnTo>
                  <a:lnTo>
                    <a:pt x="797814" y="0"/>
                  </a:lnTo>
                  <a:lnTo>
                    <a:pt x="866644" y="1069"/>
                  </a:lnTo>
                  <a:lnTo>
                    <a:pt x="933850" y="4219"/>
                  </a:lnTo>
                  <a:lnTo>
                    <a:pt x="999192" y="9361"/>
                  </a:lnTo>
                  <a:lnTo>
                    <a:pt x="1062430" y="16409"/>
                  </a:lnTo>
                  <a:lnTo>
                    <a:pt x="1123325" y="25275"/>
                  </a:lnTo>
                  <a:lnTo>
                    <a:pt x="1181638" y="35872"/>
                  </a:lnTo>
                  <a:lnTo>
                    <a:pt x="1237128" y="48112"/>
                  </a:lnTo>
                  <a:lnTo>
                    <a:pt x="1289556" y="61908"/>
                  </a:lnTo>
                  <a:lnTo>
                    <a:pt x="1338682" y="77172"/>
                  </a:lnTo>
                  <a:lnTo>
                    <a:pt x="1384266" y="93817"/>
                  </a:lnTo>
                  <a:lnTo>
                    <a:pt x="1426070" y="111756"/>
                  </a:lnTo>
                  <a:lnTo>
                    <a:pt x="1463853" y="130900"/>
                  </a:lnTo>
                  <a:lnTo>
                    <a:pt x="1497376" y="151164"/>
                  </a:lnTo>
                  <a:lnTo>
                    <a:pt x="1550682" y="194696"/>
                  </a:lnTo>
                  <a:lnTo>
                    <a:pt x="1584072" y="241654"/>
                  </a:lnTo>
                  <a:lnTo>
                    <a:pt x="1595627" y="291338"/>
                  </a:lnTo>
                  <a:lnTo>
                    <a:pt x="1595627" y="1456690"/>
                  </a:lnTo>
                  <a:lnTo>
                    <a:pt x="1584072" y="1506370"/>
                  </a:lnTo>
                  <a:lnTo>
                    <a:pt x="1550682" y="1553326"/>
                  </a:lnTo>
                  <a:lnTo>
                    <a:pt x="1497376" y="1596858"/>
                  </a:lnTo>
                  <a:lnTo>
                    <a:pt x="1463853" y="1617121"/>
                  </a:lnTo>
                  <a:lnTo>
                    <a:pt x="1426070" y="1636266"/>
                  </a:lnTo>
                  <a:lnTo>
                    <a:pt x="1384266" y="1654205"/>
                  </a:lnTo>
                  <a:lnTo>
                    <a:pt x="1338682" y="1670850"/>
                  </a:lnTo>
                  <a:lnTo>
                    <a:pt x="1289556" y="1686115"/>
                  </a:lnTo>
                  <a:lnTo>
                    <a:pt x="1237128" y="1699911"/>
                  </a:lnTo>
                  <a:lnTo>
                    <a:pt x="1181638" y="1712152"/>
                  </a:lnTo>
                  <a:lnTo>
                    <a:pt x="1123325" y="1722750"/>
                  </a:lnTo>
                  <a:lnTo>
                    <a:pt x="1062430" y="1731616"/>
                  </a:lnTo>
                  <a:lnTo>
                    <a:pt x="999192" y="1738665"/>
                  </a:lnTo>
                  <a:lnTo>
                    <a:pt x="933850" y="1743808"/>
                  </a:lnTo>
                  <a:lnTo>
                    <a:pt x="866644" y="1746958"/>
                  </a:lnTo>
                  <a:lnTo>
                    <a:pt x="797814" y="1748027"/>
                  </a:lnTo>
                  <a:lnTo>
                    <a:pt x="728983" y="1746958"/>
                  </a:lnTo>
                  <a:lnTo>
                    <a:pt x="661777" y="1743808"/>
                  </a:lnTo>
                  <a:lnTo>
                    <a:pt x="596435" y="1738665"/>
                  </a:lnTo>
                  <a:lnTo>
                    <a:pt x="533197" y="1731616"/>
                  </a:lnTo>
                  <a:lnTo>
                    <a:pt x="472302" y="1722750"/>
                  </a:lnTo>
                  <a:lnTo>
                    <a:pt x="413989" y="1712152"/>
                  </a:lnTo>
                  <a:lnTo>
                    <a:pt x="358499" y="1699911"/>
                  </a:lnTo>
                  <a:lnTo>
                    <a:pt x="306071" y="1686115"/>
                  </a:lnTo>
                  <a:lnTo>
                    <a:pt x="256945" y="1670850"/>
                  </a:lnTo>
                  <a:lnTo>
                    <a:pt x="211361" y="1654205"/>
                  </a:lnTo>
                  <a:lnTo>
                    <a:pt x="169557" y="1636266"/>
                  </a:lnTo>
                  <a:lnTo>
                    <a:pt x="131774" y="1617121"/>
                  </a:lnTo>
                  <a:lnTo>
                    <a:pt x="98251" y="1596858"/>
                  </a:lnTo>
                  <a:lnTo>
                    <a:pt x="44945" y="1553326"/>
                  </a:lnTo>
                  <a:lnTo>
                    <a:pt x="11555" y="1506370"/>
                  </a:lnTo>
                  <a:lnTo>
                    <a:pt x="0" y="1456690"/>
                  </a:lnTo>
                  <a:lnTo>
                    <a:pt x="0" y="29133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708005" y="4951603"/>
            <a:ext cx="29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89860" y="4745735"/>
            <a:ext cx="1336675" cy="504825"/>
            <a:chOff x="2689860" y="4745735"/>
            <a:chExt cx="1336675" cy="504825"/>
          </a:xfrm>
        </p:grpSpPr>
        <p:sp>
          <p:nvSpPr>
            <p:cNvPr id="20" name="object 20"/>
            <p:cNvSpPr/>
            <p:nvPr/>
          </p:nvSpPr>
          <p:spPr>
            <a:xfrm>
              <a:off x="2697480" y="475335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1076706" y="0"/>
                  </a:moveTo>
                  <a:lnTo>
                    <a:pt x="1076706" y="122301"/>
                  </a:lnTo>
                  <a:lnTo>
                    <a:pt x="0" y="122301"/>
                  </a:lnTo>
                  <a:lnTo>
                    <a:pt x="0" y="366903"/>
                  </a:lnTo>
                  <a:lnTo>
                    <a:pt x="1076706" y="366903"/>
                  </a:lnTo>
                  <a:lnTo>
                    <a:pt x="1076706" y="489204"/>
                  </a:lnTo>
                  <a:lnTo>
                    <a:pt x="1321308" y="244602"/>
                  </a:lnTo>
                  <a:lnTo>
                    <a:pt x="10767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97480" y="475335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5" h="489585">
                  <a:moveTo>
                    <a:pt x="0" y="122301"/>
                  </a:moveTo>
                  <a:lnTo>
                    <a:pt x="1076706" y="122301"/>
                  </a:lnTo>
                  <a:lnTo>
                    <a:pt x="1076706" y="0"/>
                  </a:lnTo>
                  <a:lnTo>
                    <a:pt x="1321308" y="244602"/>
                  </a:lnTo>
                  <a:lnTo>
                    <a:pt x="1076706" y="489204"/>
                  </a:lnTo>
                  <a:lnTo>
                    <a:pt x="1076706" y="366903"/>
                  </a:lnTo>
                  <a:lnTo>
                    <a:pt x="0" y="366903"/>
                  </a:lnTo>
                  <a:lnTo>
                    <a:pt x="0" y="12230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266688" y="4745735"/>
            <a:ext cx="1335405" cy="504825"/>
            <a:chOff x="6266688" y="4745735"/>
            <a:chExt cx="1335405" cy="504825"/>
          </a:xfrm>
        </p:grpSpPr>
        <p:sp>
          <p:nvSpPr>
            <p:cNvPr id="23" name="object 23"/>
            <p:cNvSpPr/>
            <p:nvPr/>
          </p:nvSpPr>
          <p:spPr>
            <a:xfrm>
              <a:off x="6274308" y="4753355"/>
              <a:ext cx="1320165" cy="489584"/>
            </a:xfrm>
            <a:custGeom>
              <a:avLst/>
              <a:gdLst/>
              <a:ahLst/>
              <a:cxnLst/>
              <a:rect l="l" t="t" r="r" b="b"/>
              <a:pathLst>
                <a:path w="1320165" h="489585">
                  <a:moveTo>
                    <a:pt x="1075182" y="0"/>
                  </a:moveTo>
                  <a:lnTo>
                    <a:pt x="1075182" y="122301"/>
                  </a:lnTo>
                  <a:lnTo>
                    <a:pt x="0" y="122301"/>
                  </a:lnTo>
                  <a:lnTo>
                    <a:pt x="0" y="366903"/>
                  </a:lnTo>
                  <a:lnTo>
                    <a:pt x="1075182" y="366903"/>
                  </a:lnTo>
                  <a:lnTo>
                    <a:pt x="1075182" y="489204"/>
                  </a:lnTo>
                  <a:lnTo>
                    <a:pt x="1319784" y="244602"/>
                  </a:lnTo>
                  <a:lnTo>
                    <a:pt x="10751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74308" y="4753355"/>
              <a:ext cx="1320165" cy="489584"/>
            </a:xfrm>
            <a:custGeom>
              <a:avLst/>
              <a:gdLst/>
              <a:ahLst/>
              <a:cxnLst/>
              <a:rect l="l" t="t" r="r" b="b"/>
              <a:pathLst>
                <a:path w="1320165" h="489585">
                  <a:moveTo>
                    <a:pt x="0" y="122301"/>
                  </a:moveTo>
                  <a:lnTo>
                    <a:pt x="1075182" y="122301"/>
                  </a:lnTo>
                  <a:lnTo>
                    <a:pt x="1075182" y="0"/>
                  </a:lnTo>
                  <a:lnTo>
                    <a:pt x="1319784" y="244602"/>
                  </a:lnTo>
                  <a:lnTo>
                    <a:pt x="1075182" y="489204"/>
                  </a:lnTo>
                  <a:lnTo>
                    <a:pt x="1075182" y="366903"/>
                  </a:lnTo>
                  <a:lnTo>
                    <a:pt x="0" y="366903"/>
                  </a:lnTo>
                  <a:lnTo>
                    <a:pt x="0" y="122301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5928" y="4373879"/>
            <a:ext cx="1193292" cy="1193292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11231" y="1455626"/>
            <a:ext cx="8740775" cy="1562100"/>
            <a:chOff x="111231" y="1455626"/>
            <a:chExt cx="8740775" cy="15621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31" y="1455626"/>
              <a:ext cx="1900956" cy="12623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22464" y="252069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4" h="489585">
                  <a:moveTo>
                    <a:pt x="1076705" y="0"/>
                  </a:moveTo>
                  <a:lnTo>
                    <a:pt x="1076705" y="122300"/>
                  </a:lnTo>
                  <a:lnTo>
                    <a:pt x="0" y="122300"/>
                  </a:lnTo>
                  <a:lnTo>
                    <a:pt x="0" y="366902"/>
                  </a:lnTo>
                  <a:lnTo>
                    <a:pt x="1076705" y="366902"/>
                  </a:lnTo>
                  <a:lnTo>
                    <a:pt x="1076705" y="489203"/>
                  </a:lnTo>
                  <a:lnTo>
                    <a:pt x="1321307" y="244601"/>
                  </a:lnTo>
                  <a:lnTo>
                    <a:pt x="1076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22464" y="2520695"/>
              <a:ext cx="1321435" cy="489584"/>
            </a:xfrm>
            <a:custGeom>
              <a:avLst/>
              <a:gdLst/>
              <a:ahLst/>
              <a:cxnLst/>
              <a:rect l="l" t="t" r="r" b="b"/>
              <a:pathLst>
                <a:path w="1321434" h="489585">
                  <a:moveTo>
                    <a:pt x="0" y="122300"/>
                  </a:moveTo>
                  <a:lnTo>
                    <a:pt x="1076705" y="122300"/>
                  </a:lnTo>
                  <a:lnTo>
                    <a:pt x="1076705" y="0"/>
                  </a:lnTo>
                  <a:lnTo>
                    <a:pt x="1321307" y="244601"/>
                  </a:lnTo>
                  <a:lnTo>
                    <a:pt x="1076705" y="489203"/>
                  </a:lnTo>
                  <a:lnTo>
                    <a:pt x="1076705" y="366902"/>
                  </a:lnTo>
                  <a:lnTo>
                    <a:pt x="0" y="366902"/>
                  </a:lnTo>
                  <a:lnTo>
                    <a:pt x="0" y="122300"/>
                  </a:lnTo>
                  <a:close/>
                </a:path>
              </a:pathLst>
            </a:custGeom>
            <a:ln w="15240">
              <a:solidFill>
                <a:srgbClr val="A75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9203435" y="4713732"/>
            <a:ext cx="2672080" cy="1872614"/>
            <a:chOff x="9203435" y="4713732"/>
            <a:chExt cx="2672080" cy="1872614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9291" y="5191690"/>
              <a:ext cx="2045715" cy="139409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11055" y="4721352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483870" y="0"/>
                  </a:moveTo>
                  <a:lnTo>
                    <a:pt x="483870" y="122300"/>
                  </a:lnTo>
                  <a:lnTo>
                    <a:pt x="0" y="122300"/>
                  </a:lnTo>
                  <a:lnTo>
                    <a:pt x="0" y="366903"/>
                  </a:lnTo>
                  <a:lnTo>
                    <a:pt x="483870" y="366903"/>
                  </a:lnTo>
                  <a:lnTo>
                    <a:pt x="483870" y="489204"/>
                  </a:lnTo>
                  <a:lnTo>
                    <a:pt x="728472" y="244602"/>
                  </a:lnTo>
                  <a:lnTo>
                    <a:pt x="483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11055" y="4721352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122300"/>
                  </a:moveTo>
                  <a:lnTo>
                    <a:pt x="483870" y="122300"/>
                  </a:lnTo>
                  <a:lnTo>
                    <a:pt x="483870" y="0"/>
                  </a:lnTo>
                  <a:lnTo>
                    <a:pt x="728472" y="244602"/>
                  </a:lnTo>
                  <a:lnTo>
                    <a:pt x="483870" y="489204"/>
                  </a:lnTo>
                  <a:lnTo>
                    <a:pt x="483870" y="366903"/>
                  </a:lnTo>
                  <a:lnTo>
                    <a:pt x="0" y="366903"/>
                  </a:lnTo>
                  <a:lnTo>
                    <a:pt x="0" y="122300"/>
                  </a:lnTo>
                  <a:close/>
                </a:path>
              </a:pathLst>
            </a:custGeom>
            <a:ln w="152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14188" y="2130551"/>
            <a:ext cx="1920239" cy="1254760"/>
          </a:xfrm>
          <a:prstGeom prst="rect">
            <a:avLst/>
          </a:prstGeom>
          <a:solidFill>
            <a:srgbClr val="34A852"/>
          </a:solidFill>
          <a:ln w="15240">
            <a:solidFill>
              <a:srgbClr val="FFFFFF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49852" y="4274820"/>
            <a:ext cx="1920239" cy="1254760"/>
          </a:xfrm>
          <a:prstGeom prst="rect">
            <a:avLst/>
          </a:prstGeom>
          <a:solidFill>
            <a:srgbClr val="34A852"/>
          </a:solidFill>
          <a:ln w="15240">
            <a:solidFill>
              <a:srgbClr val="FFFFF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Times New Roman"/>
              <a:cs typeface="Times New Roman"/>
            </a:endParaRPr>
          </a:p>
          <a:p>
            <a:pPr marL="627380" marR="406400" indent="-21209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Notification Service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643" rIns="0" bIns="0" rtlCol="0">
            <a:spAutoFit/>
          </a:bodyPr>
          <a:lstStyle/>
          <a:p>
            <a:pPr marL="5657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How</a:t>
            </a:r>
            <a:r>
              <a:rPr b="1" spc="-25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PubSub</a:t>
            </a:r>
            <a:r>
              <a:rPr b="1" spc="-23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139" marR="683895" indent="-9207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240" algn="l"/>
              </a:tabLst>
            </a:pPr>
            <a:r>
              <a:rPr spc="-10" dirty="0"/>
              <a:t>	Fully-</a:t>
            </a:r>
            <a:r>
              <a:rPr dirty="0"/>
              <a:t>managed</a:t>
            </a:r>
            <a:r>
              <a:rPr spc="-5" dirty="0"/>
              <a:t> </a:t>
            </a:r>
            <a:r>
              <a:rPr spc="-10" dirty="0"/>
              <a:t>asynchronous </a:t>
            </a:r>
            <a:r>
              <a:rPr dirty="0"/>
              <a:t>messaging</a:t>
            </a:r>
            <a:r>
              <a:rPr spc="-65" dirty="0"/>
              <a:t> </a:t>
            </a:r>
            <a:r>
              <a:rPr spc="-10" dirty="0"/>
              <a:t>service</a:t>
            </a: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Scale</a:t>
            </a:r>
            <a:r>
              <a:rPr spc="-3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billions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message</a:t>
            </a:r>
            <a:r>
              <a:rPr spc="-35" dirty="0"/>
              <a:t> </a:t>
            </a:r>
            <a:r>
              <a:rPr dirty="0"/>
              <a:t>per</a:t>
            </a:r>
            <a:r>
              <a:rPr spc="-50" dirty="0"/>
              <a:t> </a:t>
            </a:r>
            <a:r>
              <a:rPr spc="-25" dirty="0"/>
              <a:t>day</a:t>
            </a:r>
          </a:p>
          <a:p>
            <a:pPr marL="104139" marR="288925" indent="-920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240" algn="l"/>
              </a:tabLst>
            </a:pPr>
            <a:r>
              <a:rPr dirty="0"/>
              <a:t>	Publisher</a:t>
            </a:r>
            <a:r>
              <a:rPr spc="-4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App</a:t>
            </a:r>
            <a:r>
              <a:rPr spc="-40" dirty="0"/>
              <a:t> </a:t>
            </a:r>
            <a:r>
              <a:rPr dirty="0"/>
              <a:t>send</a:t>
            </a:r>
            <a:r>
              <a:rPr spc="-40" dirty="0"/>
              <a:t> </a:t>
            </a:r>
            <a:r>
              <a:rPr dirty="0"/>
              <a:t>message</a:t>
            </a:r>
            <a:r>
              <a:rPr spc="-30" dirty="0"/>
              <a:t> </a:t>
            </a:r>
            <a:r>
              <a:rPr spc="-25" dirty="0"/>
              <a:t>to </a:t>
            </a:r>
            <a:r>
              <a:rPr spc="-10" dirty="0"/>
              <a:t>Topic</a:t>
            </a: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Push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Pull</a:t>
            </a:r>
            <a:r>
              <a:rPr spc="-35" dirty="0"/>
              <a:t> </a:t>
            </a:r>
            <a:r>
              <a:rPr dirty="0"/>
              <a:t>way</a:t>
            </a:r>
            <a:r>
              <a:rPr spc="-5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access</a:t>
            </a:r>
            <a:r>
              <a:rPr spc="-30" dirty="0"/>
              <a:t> </a:t>
            </a:r>
            <a:r>
              <a:rPr spc="-10" dirty="0"/>
              <a:t>messages</a:t>
            </a:r>
          </a:p>
          <a:p>
            <a:pPr marL="471170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11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Pull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Subscriber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pull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endParaRPr sz="1800">
              <a:latin typeface="Calibri"/>
              <a:cs typeface="Calibri"/>
            </a:endParaRPr>
          </a:p>
          <a:p>
            <a:pPr marL="396875" marR="668655" lvl="1" indent="-182880">
              <a:lnSpc>
                <a:spcPct val="100000"/>
              </a:lnSpc>
              <a:spcBef>
                <a:spcPts val="655"/>
              </a:spcBef>
              <a:buClr>
                <a:srgbClr val="E38312"/>
              </a:buClr>
              <a:buFont typeface="Wingdings"/>
              <a:buChar char=""/>
              <a:tabLst>
                <a:tab pos="396875" algn="l"/>
                <a:tab pos="448309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Push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sent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subscriber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webhook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One</a:t>
            </a:r>
            <a:r>
              <a:rPr spc="-30" dirty="0"/>
              <a:t> </a:t>
            </a:r>
            <a:r>
              <a:rPr dirty="0"/>
              <a:t>topic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Multiple</a:t>
            </a:r>
            <a:r>
              <a:rPr spc="-20" dirty="0"/>
              <a:t> </a:t>
            </a:r>
            <a:r>
              <a:rPr spc="-10" dirty="0"/>
              <a:t>Subscriber</a:t>
            </a: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dirty="0"/>
              <a:t>One</a:t>
            </a:r>
            <a:r>
              <a:rPr spc="-50" dirty="0"/>
              <a:t> </a:t>
            </a:r>
            <a:r>
              <a:rPr dirty="0"/>
              <a:t>subscriber</a:t>
            </a:r>
            <a:r>
              <a:rPr spc="-3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Multiple</a:t>
            </a:r>
            <a:r>
              <a:rPr spc="-40" dirty="0"/>
              <a:t> </a:t>
            </a:r>
            <a:r>
              <a:rPr spc="-10" dirty="0"/>
              <a:t>Topic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7720" y="2020823"/>
            <a:ext cx="7444740" cy="43388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56984" y="1619503"/>
            <a:ext cx="4607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https://cloud.google.com/pubsub/docs/overview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PubSub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5680" y="1805939"/>
            <a:ext cx="4572000" cy="40858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7697" y="1422247"/>
            <a:ext cx="6367780" cy="449834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Fully-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endParaRPr sz="2000">
              <a:latin typeface="Calibri"/>
              <a:cs typeface="Calibri"/>
            </a:endParaRPr>
          </a:p>
          <a:p>
            <a:pPr marL="104139" marR="67310" indent="-914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	Auto-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auto-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provisioning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zero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hundreds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GB/second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reference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Publisher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pubsub.googleapis.com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Push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Pull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Once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subscriber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receive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sent.</a:t>
            </a:r>
            <a:endParaRPr sz="2000">
              <a:latin typeface="Calibri"/>
              <a:cs typeface="Calibri"/>
            </a:endParaRPr>
          </a:p>
          <a:p>
            <a:pPr marL="104139" marR="386080" indent="-914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Cloud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staging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Advantage</a:t>
            </a:r>
            <a:r>
              <a:rPr b="1" spc="-45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PubSub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8323580" cy="22123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Durability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Scalable,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Decoupling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(Publisher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Subscriber)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don’t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synchronously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communicate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(Publisher)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dependent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(Subscriber)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DataFlow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11233150" cy="466661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variety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104139" marR="5080" indent="-91440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104139" algn="l"/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An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advanced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unified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implement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run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engine/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endParaRPr sz="2000">
              <a:latin typeface="Calibri"/>
              <a:cs typeface="Calibri"/>
            </a:endParaRPr>
          </a:p>
          <a:p>
            <a:pPr marL="327660" indent="-31496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32766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version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A4335"/>
                </a:solidFill>
                <a:latin typeface="Calibri"/>
                <a:cs typeface="Calibri"/>
              </a:rPr>
              <a:t>B</a:t>
            </a:r>
            <a:r>
              <a:rPr sz="2000" dirty="0">
                <a:solidFill>
                  <a:srgbClr val="34A852"/>
                </a:solidFill>
                <a:latin typeface="Calibri"/>
                <a:cs typeface="Calibri"/>
              </a:rPr>
              <a:t>eam</a:t>
            </a:r>
            <a:r>
              <a:rPr sz="2000" spc="-45" dirty="0">
                <a:solidFill>
                  <a:srgbClr val="34A8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2000" dirty="0">
                <a:solidFill>
                  <a:srgbClr val="EA4335"/>
                </a:solidFill>
                <a:latin typeface="Calibri"/>
                <a:cs typeface="Calibri"/>
              </a:rPr>
              <a:t>Batch</a:t>
            </a:r>
            <a:r>
              <a:rPr sz="2000" spc="-40" dirty="0">
                <a:solidFill>
                  <a:srgbClr val="EA4335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4A852"/>
                </a:solidFill>
                <a:latin typeface="Calibri"/>
                <a:cs typeface="Calibri"/>
              </a:rPr>
              <a:t>Stream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Serverless,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autoscaling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Pre-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25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Shell/Local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How</a:t>
            </a:r>
            <a:r>
              <a:rPr b="1" spc="-29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DataFlow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223" y="1383182"/>
            <a:ext cx="6027420" cy="367601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Write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Java,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Unified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separately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handle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Direct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endParaRPr sz="2000">
              <a:latin typeface="Calibri"/>
              <a:cs typeface="Calibri"/>
            </a:endParaRPr>
          </a:p>
          <a:p>
            <a:pPr marL="624205" lvl="2" indent="-227965">
              <a:lnSpc>
                <a:spcPct val="100000"/>
              </a:lnSpc>
              <a:spcBef>
                <a:spcPts val="630"/>
              </a:spcBef>
              <a:buClr>
                <a:srgbClr val="E38312"/>
              </a:buClr>
              <a:buFont typeface="Wingdings"/>
              <a:buChar char=""/>
              <a:tabLst>
                <a:tab pos="62420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Scaling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issue</a:t>
            </a:r>
            <a:endParaRPr sz="16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7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Flink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Spark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Apache</a:t>
            </a:r>
            <a:r>
              <a:rPr b="1" spc="-275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Beam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511351"/>
            <a:ext cx="10808970" cy="41878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transformations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constructs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do.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5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IO-Transform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https://beam.apache.org/documentation/io/built-</a:t>
            </a:r>
            <a:r>
              <a:rPr sz="1800" u="sng" spc="-25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in/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39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Pcollection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70534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Fundamental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Beam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4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Ptransform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595"/>
              </a:spcBef>
              <a:buClr>
                <a:srgbClr val="E38312"/>
              </a:buClr>
              <a:buSzPct val="111111"/>
              <a:buFont typeface="Wingdings"/>
              <a:buChar char=""/>
              <a:tabLst>
                <a:tab pos="46990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executed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sz="1800">
              <a:latin typeface="Calibri"/>
              <a:cs typeface="Calibri"/>
            </a:endParaRPr>
          </a:p>
          <a:p>
            <a:pPr marL="447675" lvl="1" indent="-234315">
              <a:lnSpc>
                <a:spcPct val="100000"/>
              </a:lnSpc>
              <a:spcBef>
                <a:spcPts val="660"/>
              </a:spcBef>
              <a:buClr>
                <a:srgbClr val="E38312"/>
              </a:buClr>
              <a:buFont typeface="Wingdings"/>
              <a:buChar char=""/>
              <a:tabLst>
                <a:tab pos="447675" algn="l"/>
              </a:tabLst>
            </a:pPr>
            <a:r>
              <a:rPr sz="18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https://beam.apache.org/documentation/programming-</a:t>
            </a:r>
            <a:r>
              <a:rPr sz="18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3"/>
              </a:rPr>
              <a:t>guide/#transforms</a:t>
            </a:r>
            <a:endParaRPr sz="18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Runner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7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DataProc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6586220" cy="48037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Hadoop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Lift/Shift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Hadoop/Spark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(1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master,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workers)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(1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master,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workers)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(3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masters,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workers)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regular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Preemptible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(Cost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reduction)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Supported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Hadoop,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SparkR,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SparkSQL,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Hive,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Pig,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PySpark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Spark,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PySpark,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Notebook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215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Fusion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7901305" cy="49301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Fully-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quickly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free,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Drag-n-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150+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preconfigured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connectors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transformations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Open-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CDAP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Edition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Developer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Basic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https://cloud.google.com/data-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fusion/pricing#cloud-</a:t>
            </a:r>
            <a:r>
              <a:rPr sz="2000" u="sng" spc="-2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data-</a:t>
            </a:r>
            <a:r>
              <a:rPr sz="2000" u="sng" spc="-1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libri"/>
                <a:cs typeface="Calibri"/>
                <a:hlinkClick r:id="rId2"/>
              </a:rPr>
              <a:t>fusion-pricing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Fusion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1228725"/>
            <a:chOff x="0" y="374904"/>
            <a:chExt cx="1219200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5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240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Fusion</a:t>
            </a:r>
            <a:r>
              <a:rPr b="1" spc="-240" dirty="0">
                <a:latin typeface="Courier New"/>
                <a:cs typeface="Courier New"/>
              </a:rPr>
              <a:t> </a:t>
            </a:r>
            <a:r>
              <a:rPr b="1" spc="-20" dirty="0">
                <a:latin typeface="Courier New"/>
                <a:cs typeface="Courier New"/>
              </a:rPr>
              <a:t>Demo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995" y="2529839"/>
            <a:ext cx="10735056" cy="21244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Cloud</a:t>
            </a:r>
            <a:r>
              <a:rPr b="1" spc="-25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Composer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383182"/>
            <a:ext cx="7802245" cy="48037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15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Airflow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GCP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Airflow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workflow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orchestration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Airflow,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programmatically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monitor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workflows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Workflows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directed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acyclic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graphs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(DAGs)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DAGs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written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3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3.x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Built-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integration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GCP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services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BigQuery,</a:t>
            </a:r>
            <a:endParaRPr sz="2000">
              <a:latin typeface="Calibri"/>
              <a:cs typeface="Calibri"/>
            </a:endParaRPr>
          </a:p>
          <a:p>
            <a:pPr marL="469900" lvl="1" indent="-256540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Dataflow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Dataproc,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Datastore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Pub/Sub,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1228725"/>
            <a:chOff x="0" y="374904"/>
            <a:chExt cx="12192000" cy="122872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680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ourier New"/>
                <a:cs typeface="Courier New"/>
              </a:rPr>
              <a:t>How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Data</a:t>
            </a:r>
            <a:r>
              <a:rPr b="1" spc="-225" dirty="0">
                <a:latin typeface="Courier New"/>
                <a:cs typeface="Courier New"/>
              </a:rPr>
              <a:t> </a:t>
            </a:r>
            <a:r>
              <a:rPr b="1" dirty="0">
                <a:latin typeface="Courier New"/>
                <a:cs typeface="Courier New"/>
              </a:rPr>
              <a:t>Catalog</a:t>
            </a:r>
            <a:r>
              <a:rPr b="1" spc="-220" dirty="0">
                <a:latin typeface="Courier New"/>
                <a:cs typeface="Courier New"/>
              </a:rPr>
              <a:t> </a:t>
            </a:r>
            <a:r>
              <a:rPr b="1" spc="-10" dirty="0">
                <a:latin typeface="Courier New"/>
                <a:cs typeface="Courier New"/>
              </a:rPr>
              <a:t>works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5935" y="1523998"/>
            <a:ext cx="6571488" cy="53004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579246"/>
            <a:ext cx="2930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ourier New"/>
                <a:cs typeface="Courier New"/>
              </a:rPr>
              <a:t>Metadata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532" y="1511351"/>
            <a:ext cx="7865745" cy="23634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69240" indent="-256540">
              <a:lnSpc>
                <a:spcPct val="100000"/>
              </a:lnSpc>
              <a:spcBef>
                <a:spcPts val="5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395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BigQuery,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Pubsub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resides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Technical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registered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catalog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61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existing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asset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template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attach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metadata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60" dirty="0"/>
              <a:t> </a:t>
            </a:r>
            <a:r>
              <a:rPr dirty="0"/>
              <a:t>Learning</a:t>
            </a:r>
            <a:r>
              <a:rPr spc="-370" dirty="0"/>
              <a:t> </a:t>
            </a:r>
            <a:r>
              <a:rPr dirty="0"/>
              <a:t>-</a:t>
            </a:r>
            <a:r>
              <a:rPr spc="-355" dirty="0"/>
              <a:t> </a:t>
            </a:r>
            <a:r>
              <a:rPr spc="-25" dirty="0"/>
              <a:t>GCP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3818254" cy="24396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TPU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tensor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65" dirty="0"/>
              <a:t> </a:t>
            </a:r>
            <a:r>
              <a:rPr spc="-3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6918325" cy="46501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email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 system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design?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coming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specified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senders,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lottery,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promotion,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inside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cumbersome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way.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spammer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sending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book.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approach,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it.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65" dirty="0"/>
              <a:t> </a:t>
            </a:r>
            <a:r>
              <a:rPr spc="-3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177" y="1408785"/>
            <a:ext cx="4573905" cy="125412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Rather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rule,</a:t>
            </a:r>
            <a:endParaRPr sz="19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944"/>
              </a:spcBef>
              <a:buClr>
                <a:srgbClr val="E38312"/>
              </a:buClr>
              <a:buFont typeface="Wingdings"/>
              <a:buChar char=""/>
              <a:tabLst>
                <a:tab pos="257175" algn="l"/>
              </a:tabLst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learning,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940"/>
              </a:spcBef>
              <a:buClr>
                <a:srgbClr val="E38312"/>
              </a:buClr>
              <a:buFont typeface="Wingdings"/>
              <a:buChar char=""/>
              <a:tabLst>
                <a:tab pos="257810" algn="l"/>
              </a:tabLst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Training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kind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0683" y="3049523"/>
            <a:ext cx="2345690" cy="1286510"/>
            <a:chOff x="900683" y="3049523"/>
            <a:chExt cx="2345690" cy="1286510"/>
          </a:xfrm>
        </p:grpSpPr>
        <p:sp>
          <p:nvSpPr>
            <p:cNvPr id="5" name="object 5"/>
            <p:cNvSpPr/>
            <p:nvPr/>
          </p:nvSpPr>
          <p:spPr>
            <a:xfrm>
              <a:off x="919733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2182495" y="0"/>
                  </a:moveTo>
                  <a:lnTo>
                    <a:pt x="124815" y="0"/>
                  </a:lnTo>
                  <a:lnTo>
                    <a:pt x="76230" y="9808"/>
                  </a:lnTo>
                  <a:lnTo>
                    <a:pt x="36556" y="36560"/>
                  </a:lnTo>
                  <a:lnTo>
                    <a:pt x="9808" y="76241"/>
                  </a:lnTo>
                  <a:lnTo>
                    <a:pt x="0" y="124840"/>
                  </a:lnTo>
                  <a:lnTo>
                    <a:pt x="0" y="1123314"/>
                  </a:lnTo>
                  <a:lnTo>
                    <a:pt x="9808" y="1171914"/>
                  </a:lnTo>
                  <a:lnTo>
                    <a:pt x="36556" y="1211595"/>
                  </a:lnTo>
                  <a:lnTo>
                    <a:pt x="76230" y="1238347"/>
                  </a:lnTo>
                  <a:lnTo>
                    <a:pt x="124815" y="1248156"/>
                  </a:lnTo>
                  <a:lnTo>
                    <a:pt x="2182495" y="1248156"/>
                  </a:lnTo>
                  <a:lnTo>
                    <a:pt x="2231094" y="1238347"/>
                  </a:lnTo>
                  <a:lnTo>
                    <a:pt x="2270775" y="1211595"/>
                  </a:lnTo>
                  <a:lnTo>
                    <a:pt x="2297527" y="1171914"/>
                  </a:lnTo>
                  <a:lnTo>
                    <a:pt x="2307336" y="1123314"/>
                  </a:lnTo>
                  <a:lnTo>
                    <a:pt x="2307336" y="124840"/>
                  </a:lnTo>
                  <a:lnTo>
                    <a:pt x="2297527" y="76241"/>
                  </a:lnTo>
                  <a:lnTo>
                    <a:pt x="2270775" y="36560"/>
                  </a:lnTo>
                  <a:lnTo>
                    <a:pt x="2231094" y="9808"/>
                  </a:lnTo>
                  <a:lnTo>
                    <a:pt x="21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733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0" y="124840"/>
                  </a:moveTo>
                  <a:lnTo>
                    <a:pt x="9808" y="76241"/>
                  </a:lnTo>
                  <a:lnTo>
                    <a:pt x="36556" y="36560"/>
                  </a:lnTo>
                  <a:lnTo>
                    <a:pt x="76230" y="9808"/>
                  </a:lnTo>
                  <a:lnTo>
                    <a:pt x="124815" y="0"/>
                  </a:lnTo>
                  <a:lnTo>
                    <a:pt x="2182495" y="0"/>
                  </a:lnTo>
                  <a:lnTo>
                    <a:pt x="2231094" y="9808"/>
                  </a:lnTo>
                  <a:lnTo>
                    <a:pt x="2270775" y="36560"/>
                  </a:lnTo>
                  <a:lnTo>
                    <a:pt x="2297527" y="76241"/>
                  </a:lnTo>
                  <a:lnTo>
                    <a:pt x="2307336" y="124840"/>
                  </a:lnTo>
                  <a:lnTo>
                    <a:pt x="2307336" y="1123314"/>
                  </a:lnTo>
                  <a:lnTo>
                    <a:pt x="2297527" y="1171914"/>
                  </a:lnTo>
                  <a:lnTo>
                    <a:pt x="2270775" y="1211595"/>
                  </a:lnTo>
                  <a:lnTo>
                    <a:pt x="2231094" y="1238347"/>
                  </a:lnTo>
                  <a:lnTo>
                    <a:pt x="2182495" y="1248156"/>
                  </a:lnTo>
                  <a:lnTo>
                    <a:pt x="124815" y="1248156"/>
                  </a:lnTo>
                  <a:lnTo>
                    <a:pt x="76230" y="1238347"/>
                  </a:lnTo>
                  <a:lnTo>
                    <a:pt x="36556" y="1211595"/>
                  </a:lnTo>
                  <a:lnTo>
                    <a:pt x="9808" y="1171914"/>
                  </a:lnTo>
                  <a:lnTo>
                    <a:pt x="0" y="1123314"/>
                  </a:lnTo>
                  <a:lnTo>
                    <a:pt x="0" y="124840"/>
                  </a:lnTo>
                  <a:close/>
                </a:path>
              </a:pathLst>
            </a:custGeom>
            <a:ln w="3810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30172" y="3356305"/>
            <a:ext cx="1699260" cy="612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ts val="2305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  <a:p>
            <a:pPr marR="5080" algn="ctr">
              <a:lnSpc>
                <a:spcPts val="2305"/>
              </a:lnSpc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56432" y="3049523"/>
            <a:ext cx="3019425" cy="1286510"/>
            <a:chOff x="3456432" y="3049523"/>
            <a:chExt cx="3019425" cy="1286510"/>
          </a:xfrm>
        </p:grpSpPr>
        <p:sp>
          <p:nvSpPr>
            <p:cNvPr id="9" name="object 9"/>
            <p:cNvSpPr/>
            <p:nvPr/>
          </p:nvSpPr>
          <p:spPr>
            <a:xfrm>
              <a:off x="3456432" y="3406139"/>
              <a:ext cx="489584" cy="571500"/>
            </a:xfrm>
            <a:custGeom>
              <a:avLst/>
              <a:gdLst/>
              <a:ahLst/>
              <a:cxnLst/>
              <a:rect l="l" t="t" r="r" b="b"/>
              <a:pathLst>
                <a:path w="489585" h="571500">
                  <a:moveTo>
                    <a:pt x="244601" y="0"/>
                  </a:moveTo>
                  <a:lnTo>
                    <a:pt x="244601" y="114300"/>
                  </a:lnTo>
                  <a:lnTo>
                    <a:pt x="0" y="114300"/>
                  </a:lnTo>
                  <a:lnTo>
                    <a:pt x="0" y="457200"/>
                  </a:lnTo>
                  <a:lnTo>
                    <a:pt x="244601" y="457200"/>
                  </a:lnTo>
                  <a:lnTo>
                    <a:pt x="244601" y="571500"/>
                  </a:lnTo>
                  <a:lnTo>
                    <a:pt x="489203" y="285750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49090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2182495" y="0"/>
                  </a:moveTo>
                  <a:lnTo>
                    <a:pt x="124840" y="0"/>
                  </a:lnTo>
                  <a:lnTo>
                    <a:pt x="76241" y="9808"/>
                  </a:lnTo>
                  <a:lnTo>
                    <a:pt x="36560" y="36560"/>
                  </a:lnTo>
                  <a:lnTo>
                    <a:pt x="9808" y="76241"/>
                  </a:lnTo>
                  <a:lnTo>
                    <a:pt x="0" y="124840"/>
                  </a:lnTo>
                  <a:lnTo>
                    <a:pt x="0" y="1123314"/>
                  </a:lnTo>
                  <a:lnTo>
                    <a:pt x="9808" y="1171914"/>
                  </a:lnTo>
                  <a:lnTo>
                    <a:pt x="36560" y="1211595"/>
                  </a:lnTo>
                  <a:lnTo>
                    <a:pt x="76241" y="1238347"/>
                  </a:lnTo>
                  <a:lnTo>
                    <a:pt x="124840" y="1248156"/>
                  </a:lnTo>
                  <a:lnTo>
                    <a:pt x="2182495" y="1248156"/>
                  </a:lnTo>
                  <a:lnTo>
                    <a:pt x="2231094" y="1238347"/>
                  </a:lnTo>
                  <a:lnTo>
                    <a:pt x="2270775" y="1211595"/>
                  </a:lnTo>
                  <a:lnTo>
                    <a:pt x="2297527" y="1171914"/>
                  </a:lnTo>
                  <a:lnTo>
                    <a:pt x="2307336" y="1123314"/>
                  </a:lnTo>
                  <a:lnTo>
                    <a:pt x="2307336" y="124840"/>
                  </a:lnTo>
                  <a:lnTo>
                    <a:pt x="2297527" y="76241"/>
                  </a:lnTo>
                  <a:lnTo>
                    <a:pt x="2270775" y="36560"/>
                  </a:lnTo>
                  <a:lnTo>
                    <a:pt x="2231094" y="9808"/>
                  </a:lnTo>
                  <a:lnTo>
                    <a:pt x="21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9090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0" y="124840"/>
                  </a:moveTo>
                  <a:lnTo>
                    <a:pt x="9808" y="76241"/>
                  </a:lnTo>
                  <a:lnTo>
                    <a:pt x="36560" y="36560"/>
                  </a:lnTo>
                  <a:lnTo>
                    <a:pt x="76241" y="9808"/>
                  </a:lnTo>
                  <a:lnTo>
                    <a:pt x="124840" y="0"/>
                  </a:lnTo>
                  <a:lnTo>
                    <a:pt x="2182495" y="0"/>
                  </a:lnTo>
                  <a:lnTo>
                    <a:pt x="2231094" y="9808"/>
                  </a:lnTo>
                  <a:lnTo>
                    <a:pt x="2270775" y="36560"/>
                  </a:lnTo>
                  <a:lnTo>
                    <a:pt x="2297527" y="76241"/>
                  </a:lnTo>
                  <a:lnTo>
                    <a:pt x="2307336" y="124840"/>
                  </a:lnTo>
                  <a:lnTo>
                    <a:pt x="2307336" y="1123314"/>
                  </a:lnTo>
                  <a:lnTo>
                    <a:pt x="2297527" y="1171914"/>
                  </a:lnTo>
                  <a:lnTo>
                    <a:pt x="2270775" y="1211595"/>
                  </a:lnTo>
                  <a:lnTo>
                    <a:pt x="2231094" y="1238347"/>
                  </a:lnTo>
                  <a:lnTo>
                    <a:pt x="2182495" y="1248156"/>
                  </a:lnTo>
                  <a:lnTo>
                    <a:pt x="124840" y="1248156"/>
                  </a:lnTo>
                  <a:lnTo>
                    <a:pt x="76241" y="1238347"/>
                  </a:lnTo>
                  <a:lnTo>
                    <a:pt x="36560" y="1211595"/>
                  </a:lnTo>
                  <a:lnTo>
                    <a:pt x="9808" y="1171914"/>
                  </a:lnTo>
                  <a:lnTo>
                    <a:pt x="0" y="1123314"/>
                  </a:lnTo>
                  <a:lnTo>
                    <a:pt x="0" y="124840"/>
                  </a:lnTo>
                  <a:close/>
                </a:path>
              </a:pathLst>
            </a:custGeom>
            <a:ln w="3810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98796" y="3496183"/>
            <a:ext cx="1421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ML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Algorithm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85788" y="3049523"/>
            <a:ext cx="3019425" cy="1286510"/>
            <a:chOff x="6685788" y="3049523"/>
            <a:chExt cx="3019425" cy="1286510"/>
          </a:xfrm>
        </p:grpSpPr>
        <p:sp>
          <p:nvSpPr>
            <p:cNvPr id="14" name="object 14"/>
            <p:cNvSpPr/>
            <p:nvPr/>
          </p:nvSpPr>
          <p:spPr>
            <a:xfrm>
              <a:off x="6685788" y="3406139"/>
              <a:ext cx="489584" cy="571500"/>
            </a:xfrm>
            <a:custGeom>
              <a:avLst/>
              <a:gdLst/>
              <a:ahLst/>
              <a:cxnLst/>
              <a:rect l="l" t="t" r="r" b="b"/>
              <a:pathLst>
                <a:path w="489584" h="571500">
                  <a:moveTo>
                    <a:pt x="244601" y="0"/>
                  </a:moveTo>
                  <a:lnTo>
                    <a:pt x="244601" y="114300"/>
                  </a:lnTo>
                  <a:lnTo>
                    <a:pt x="0" y="114300"/>
                  </a:lnTo>
                  <a:lnTo>
                    <a:pt x="0" y="457200"/>
                  </a:lnTo>
                  <a:lnTo>
                    <a:pt x="244601" y="457200"/>
                  </a:lnTo>
                  <a:lnTo>
                    <a:pt x="244601" y="571500"/>
                  </a:lnTo>
                  <a:lnTo>
                    <a:pt x="489203" y="285750"/>
                  </a:lnTo>
                  <a:lnTo>
                    <a:pt x="244601" y="0"/>
                  </a:lnTo>
                  <a:close/>
                </a:path>
              </a:pathLst>
            </a:custGeom>
            <a:solidFill>
              <a:srgbClr val="FABB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78446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2182495" y="0"/>
                  </a:moveTo>
                  <a:lnTo>
                    <a:pt x="124840" y="0"/>
                  </a:lnTo>
                  <a:lnTo>
                    <a:pt x="76241" y="9808"/>
                  </a:lnTo>
                  <a:lnTo>
                    <a:pt x="36560" y="36560"/>
                  </a:lnTo>
                  <a:lnTo>
                    <a:pt x="9808" y="76241"/>
                  </a:lnTo>
                  <a:lnTo>
                    <a:pt x="0" y="124840"/>
                  </a:lnTo>
                  <a:lnTo>
                    <a:pt x="0" y="1123314"/>
                  </a:lnTo>
                  <a:lnTo>
                    <a:pt x="9808" y="1171914"/>
                  </a:lnTo>
                  <a:lnTo>
                    <a:pt x="36560" y="1211595"/>
                  </a:lnTo>
                  <a:lnTo>
                    <a:pt x="76241" y="1238347"/>
                  </a:lnTo>
                  <a:lnTo>
                    <a:pt x="124840" y="1248156"/>
                  </a:lnTo>
                  <a:lnTo>
                    <a:pt x="2182495" y="1248156"/>
                  </a:lnTo>
                  <a:lnTo>
                    <a:pt x="2231094" y="1238347"/>
                  </a:lnTo>
                  <a:lnTo>
                    <a:pt x="2270775" y="1211595"/>
                  </a:lnTo>
                  <a:lnTo>
                    <a:pt x="2297527" y="1171914"/>
                  </a:lnTo>
                  <a:lnTo>
                    <a:pt x="2307335" y="1123314"/>
                  </a:lnTo>
                  <a:lnTo>
                    <a:pt x="2307335" y="124840"/>
                  </a:lnTo>
                  <a:lnTo>
                    <a:pt x="2297527" y="76241"/>
                  </a:lnTo>
                  <a:lnTo>
                    <a:pt x="2270775" y="36560"/>
                  </a:lnTo>
                  <a:lnTo>
                    <a:pt x="2231094" y="9808"/>
                  </a:lnTo>
                  <a:lnTo>
                    <a:pt x="21824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78446" y="3068573"/>
              <a:ext cx="2307590" cy="1248410"/>
            </a:xfrm>
            <a:custGeom>
              <a:avLst/>
              <a:gdLst/>
              <a:ahLst/>
              <a:cxnLst/>
              <a:rect l="l" t="t" r="r" b="b"/>
              <a:pathLst>
                <a:path w="2307590" h="1248410">
                  <a:moveTo>
                    <a:pt x="0" y="124840"/>
                  </a:moveTo>
                  <a:lnTo>
                    <a:pt x="9808" y="76241"/>
                  </a:lnTo>
                  <a:lnTo>
                    <a:pt x="36560" y="36560"/>
                  </a:lnTo>
                  <a:lnTo>
                    <a:pt x="76241" y="9808"/>
                  </a:lnTo>
                  <a:lnTo>
                    <a:pt x="124840" y="0"/>
                  </a:lnTo>
                  <a:lnTo>
                    <a:pt x="2182495" y="0"/>
                  </a:lnTo>
                  <a:lnTo>
                    <a:pt x="2231094" y="9808"/>
                  </a:lnTo>
                  <a:lnTo>
                    <a:pt x="2270775" y="36560"/>
                  </a:lnTo>
                  <a:lnTo>
                    <a:pt x="2297527" y="76241"/>
                  </a:lnTo>
                  <a:lnTo>
                    <a:pt x="2307335" y="124840"/>
                  </a:lnTo>
                  <a:lnTo>
                    <a:pt x="2307335" y="1123314"/>
                  </a:lnTo>
                  <a:lnTo>
                    <a:pt x="2297527" y="1171914"/>
                  </a:lnTo>
                  <a:lnTo>
                    <a:pt x="2270775" y="1211595"/>
                  </a:lnTo>
                  <a:lnTo>
                    <a:pt x="2231094" y="1238347"/>
                  </a:lnTo>
                  <a:lnTo>
                    <a:pt x="2182495" y="1248156"/>
                  </a:lnTo>
                  <a:lnTo>
                    <a:pt x="124840" y="1248156"/>
                  </a:lnTo>
                  <a:lnTo>
                    <a:pt x="76241" y="1238347"/>
                  </a:lnTo>
                  <a:lnTo>
                    <a:pt x="36560" y="1211595"/>
                  </a:lnTo>
                  <a:lnTo>
                    <a:pt x="9808" y="1171914"/>
                  </a:lnTo>
                  <a:lnTo>
                    <a:pt x="0" y="1123314"/>
                  </a:lnTo>
                  <a:lnTo>
                    <a:pt x="0" y="124840"/>
                  </a:lnTo>
                  <a:close/>
                </a:path>
              </a:pathLst>
            </a:custGeom>
            <a:ln w="3810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188452" y="3496183"/>
            <a:ext cx="7004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u="sng" spc="-10" dirty="0">
                <a:solidFill>
                  <a:srgbClr val="34A852"/>
                </a:solidFill>
                <a:uFill>
                  <a:solidFill>
                    <a:srgbClr val="34A852"/>
                  </a:solidFill>
                </a:u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5255" y="4972811"/>
            <a:ext cx="2336800" cy="1280160"/>
            <a:chOff x="905255" y="4972811"/>
            <a:chExt cx="2336800" cy="1280160"/>
          </a:xfrm>
        </p:grpSpPr>
        <p:sp>
          <p:nvSpPr>
            <p:cNvPr id="19" name="object 19"/>
            <p:cNvSpPr/>
            <p:nvPr/>
          </p:nvSpPr>
          <p:spPr>
            <a:xfrm>
              <a:off x="919733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2182241" y="0"/>
                  </a:moveTo>
                  <a:lnTo>
                    <a:pt x="125120" y="0"/>
                  </a:lnTo>
                  <a:lnTo>
                    <a:pt x="76418" y="9830"/>
                  </a:lnTo>
                  <a:lnTo>
                    <a:pt x="36647" y="36639"/>
                  </a:lnTo>
                  <a:lnTo>
                    <a:pt x="9832" y="76402"/>
                  </a:lnTo>
                  <a:lnTo>
                    <a:pt x="0" y="125095"/>
                  </a:lnTo>
                  <a:lnTo>
                    <a:pt x="0" y="1126083"/>
                  </a:lnTo>
                  <a:lnTo>
                    <a:pt x="9832" y="1174785"/>
                  </a:lnTo>
                  <a:lnTo>
                    <a:pt x="36647" y="1214556"/>
                  </a:lnTo>
                  <a:lnTo>
                    <a:pt x="76418" y="1241371"/>
                  </a:lnTo>
                  <a:lnTo>
                    <a:pt x="125120" y="1251204"/>
                  </a:lnTo>
                  <a:lnTo>
                    <a:pt x="2182241" y="1251204"/>
                  </a:lnTo>
                  <a:lnTo>
                    <a:pt x="2230933" y="1241371"/>
                  </a:lnTo>
                  <a:lnTo>
                    <a:pt x="2270696" y="1214556"/>
                  </a:lnTo>
                  <a:lnTo>
                    <a:pt x="2297505" y="1174785"/>
                  </a:lnTo>
                  <a:lnTo>
                    <a:pt x="2307336" y="1126083"/>
                  </a:lnTo>
                  <a:lnTo>
                    <a:pt x="2307336" y="125095"/>
                  </a:lnTo>
                  <a:lnTo>
                    <a:pt x="2297505" y="76402"/>
                  </a:lnTo>
                  <a:lnTo>
                    <a:pt x="2270696" y="36639"/>
                  </a:lnTo>
                  <a:lnTo>
                    <a:pt x="2230933" y="9830"/>
                  </a:lnTo>
                  <a:lnTo>
                    <a:pt x="21822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9733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0" y="125095"/>
                  </a:moveTo>
                  <a:lnTo>
                    <a:pt x="9832" y="76402"/>
                  </a:lnTo>
                  <a:lnTo>
                    <a:pt x="36647" y="36639"/>
                  </a:lnTo>
                  <a:lnTo>
                    <a:pt x="76418" y="9830"/>
                  </a:lnTo>
                  <a:lnTo>
                    <a:pt x="125120" y="0"/>
                  </a:lnTo>
                  <a:lnTo>
                    <a:pt x="2182241" y="0"/>
                  </a:lnTo>
                  <a:lnTo>
                    <a:pt x="2230933" y="9830"/>
                  </a:lnTo>
                  <a:lnTo>
                    <a:pt x="2270696" y="36639"/>
                  </a:lnTo>
                  <a:lnTo>
                    <a:pt x="2297505" y="76402"/>
                  </a:lnTo>
                  <a:lnTo>
                    <a:pt x="2307336" y="125095"/>
                  </a:lnTo>
                  <a:lnTo>
                    <a:pt x="2307336" y="1126083"/>
                  </a:lnTo>
                  <a:lnTo>
                    <a:pt x="2297505" y="1174785"/>
                  </a:lnTo>
                  <a:lnTo>
                    <a:pt x="2270696" y="1214556"/>
                  </a:lnTo>
                  <a:lnTo>
                    <a:pt x="2230933" y="1241371"/>
                  </a:lnTo>
                  <a:lnTo>
                    <a:pt x="2182241" y="1251204"/>
                  </a:lnTo>
                  <a:lnTo>
                    <a:pt x="125120" y="1251204"/>
                  </a:lnTo>
                  <a:lnTo>
                    <a:pt x="76418" y="1241371"/>
                  </a:lnTo>
                  <a:lnTo>
                    <a:pt x="36647" y="1214556"/>
                  </a:lnTo>
                  <a:lnTo>
                    <a:pt x="9832" y="1174785"/>
                  </a:lnTo>
                  <a:lnTo>
                    <a:pt x="0" y="1126083"/>
                  </a:lnTo>
                  <a:lnTo>
                    <a:pt x="0" y="125095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3456432" y="5324855"/>
            <a:ext cx="489584" cy="573405"/>
          </a:xfrm>
          <a:custGeom>
            <a:avLst/>
            <a:gdLst/>
            <a:ahLst/>
            <a:cxnLst/>
            <a:rect l="l" t="t" r="r" b="b"/>
            <a:pathLst>
              <a:path w="489585" h="573404">
                <a:moveTo>
                  <a:pt x="244601" y="0"/>
                </a:moveTo>
                <a:lnTo>
                  <a:pt x="244601" y="114554"/>
                </a:lnTo>
                <a:lnTo>
                  <a:pt x="0" y="114554"/>
                </a:lnTo>
                <a:lnTo>
                  <a:pt x="0" y="458419"/>
                </a:lnTo>
                <a:lnTo>
                  <a:pt x="244601" y="458419"/>
                </a:lnTo>
                <a:lnTo>
                  <a:pt x="244601" y="573024"/>
                </a:lnTo>
                <a:lnTo>
                  <a:pt x="489203" y="286512"/>
                </a:lnTo>
                <a:lnTo>
                  <a:pt x="24460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4134611" y="4972811"/>
            <a:ext cx="2336800" cy="1280160"/>
            <a:chOff x="4134611" y="4972811"/>
            <a:chExt cx="2336800" cy="1280160"/>
          </a:xfrm>
        </p:grpSpPr>
        <p:sp>
          <p:nvSpPr>
            <p:cNvPr id="23" name="object 23"/>
            <p:cNvSpPr/>
            <p:nvPr/>
          </p:nvSpPr>
          <p:spPr>
            <a:xfrm>
              <a:off x="4149089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2182241" y="0"/>
                  </a:moveTo>
                  <a:lnTo>
                    <a:pt x="125095" y="0"/>
                  </a:lnTo>
                  <a:lnTo>
                    <a:pt x="76402" y="9830"/>
                  </a:lnTo>
                  <a:lnTo>
                    <a:pt x="36639" y="36639"/>
                  </a:lnTo>
                  <a:lnTo>
                    <a:pt x="9830" y="76402"/>
                  </a:lnTo>
                  <a:lnTo>
                    <a:pt x="0" y="125095"/>
                  </a:lnTo>
                  <a:lnTo>
                    <a:pt x="0" y="1126083"/>
                  </a:lnTo>
                  <a:lnTo>
                    <a:pt x="9830" y="1174785"/>
                  </a:lnTo>
                  <a:lnTo>
                    <a:pt x="36639" y="1214556"/>
                  </a:lnTo>
                  <a:lnTo>
                    <a:pt x="76402" y="1241371"/>
                  </a:lnTo>
                  <a:lnTo>
                    <a:pt x="125095" y="1251204"/>
                  </a:lnTo>
                  <a:lnTo>
                    <a:pt x="2182241" y="1251204"/>
                  </a:lnTo>
                  <a:lnTo>
                    <a:pt x="2230933" y="1241371"/>
                  </a:lnTo>
                  <a:lnTo>
                    <a:pt x="2270696" y="1214556"/>
                  </a:lnTo>
                  <a:lnTo>
                    <a:pt x="2297505" y="1174785"/>
                  </a:lnTo>
                  <a:lnTo>
                    <a:pt x="2307336" y="1126083"/>
                  </a:lnTo>
                  <a:lnTo>
                    <a:pt x="2307336" y="125095"/>
                  </a:lnTo>
                  <a:lnTo>
                    <a:pt x="2297505" y="76402"/>
                  </a:lnTo>
                  <a:lnTo>
                    <a:pt x="2270696" y="36639"/>
                  </a:lnTo>
                  <a:lnTo>
                    <a:pt x="2230933" y="9830"/>
                  </a:lnTo>
                  <a:lnTo>
                    <a:pt x="21822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49089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0" y="125095"/>
                  </a:moveTo>
                  <a:lnTo>
                    <a:pt x="9830" y="76402"/>
                  </a:lnTo>
                  <a:lnTo>
                    <a:pt x="36639" y="36639"/>
                  </a:lnTo>
                  <a:lnTo>
                    <a:pt x="76402" y="9830"/>
                  </a:lnTo>
                  <a:lnTo>
                    <a:pt x="125095" y="0"/>
                  </a:lnTo>
                  <a:lnTo>
                    <a:pt x="2182241" y="0"/>
                  </a:lnTo>
                  <a:lnTo>
                    <a:pt x="2230933" y="9830"/>
                  </a:lnTo>
                  <a:lnTo>
                    <a:pt x="2270696" y="36639"/>
                  </a:lnTo>
                  <a:lnTo>
                    <a:pt x="2297505" y="76402"/>
                  </a:lnTo>
                  <a:lnTo>
                    <a:pt x="2307336" y="125095"/>
                  </a:lnTo>
                  <a:lnTo>
                    <a:pt x="2307336" y="1126083"/>
                  </a:lnTo>
                  <a:lnTo>
                    <a:pt x="2297505" y="1174785"/>
                  </a:lnTo>
                  <a:lnTo>
                    <a:pt x="2270696" y="1214556"/>
                  </a:lnTo>
                  <a:lnTo>
                    <a:pt x="2230933" y="1241371"/>
                  </a:lnTo>
                  <a:lnTo>
                    <a:pt x="2182241" y="1251204"/>
                  </a:lnTo>
                  <a:lnTo>
                    <a:pt x="125095" y="1251204"/>
                  </a:lnTo>
                  <a:lnTo>
                    <a:pt x="76402" y="1241371"/>
                  </a:lnTo>
                  <a:lnTo>
                    <a:pt x="36639" y="1214556"/>
                  </a:lnTo>
                  <a:lnTo>
                    <a:pt x="9830" y="1174785"/>
                  </a:lnTo>
                  <a:lnTo>
                    <a:pt x="0" y="1126083"/>
                  </a:lnTo>
                  <a:lnTo>
                    <a:pt x="0" y="125095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6685788" y="5324855"/>
            <a:ext cx="489584" cy="573405"/>
          </a:xfrm>
          <a:custGeom>
            <a:avLst/>
            <a:gdLst/>
            <a:ahLst/>
            <a:cxnLst/>
            <a:rect l="l" t="t" r="r" b="b"/>
            <a:pathLst>
              <a:path w="489584" h="573404">
                <a:moveTo>
                  <a:pt x="244601" y="0"/>
                </a:moveTo>
                <a:lnTo>
                  <a:pt x="244601" y="114554"/>
                </a:lnTo>
                <a:lnTo>
                  <a:pt x="0" y="114554"/>
                </a:lnTo>
                <a:lnTo>
                  <a:pt x="0" y="458419"/>
                </a:lnTo>
                <a:lnTo>
                  <a:pt x="244601" y="458419"/>
                </a:lnTo>
                <a:lnTo>
                  <a:pt x="244601" y="573024"/>
                </a:lnTo>
                <a:lnTo>
                  <a:pt x="489203" y="286512"/>
                </a:lnTo>
                <a:lnTo>
                  <a:pt x="244601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7363968" y="4972811"/>
            <a:ext cx="2336800" cy="1280160"/>
            <a:chOff x="7363968" y="4972811"/>
            <a:chExt cx="2336800" cy="1280160"/>
          </a:xfrm>
        </p:grpSpPr>
        <p:sp>
          <p:nvSpPr>
            <p:cNvPr id="27" name="object 27"/>
            <p:cNvSpPr/>
            <p:nvPr/>
          </p:nvSpPr>
          <p:spPr>
            <a:xfrm>
              <a:off x="7378446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2182240" y="0"/>
                  </a:moveTo>
                  <a:lnTo>
                    <a:pt x="125095" y="0"/>
                  </a:lnTo>
                  <a:lnTo>
                    <a:pt x="76402" y="9830"/>
                  </a:lnTo>
                  <a:lnTo>
                    <a:pt x="36639" y="36639"/>
                  </a:lnTo>
                  <a:lnTo>
                    <a:pt x="9830" y="76402"/>
                  </a:lnTo>
                  <a:lnTo>
                    <a:pt x="0" y="125095"/>
                  </a:lnTo>
                  <a:lnTo>
                    <a:pt x="0" y="1126083"/>
                  </a:lnTo>
                  <a:lnTo>
                    <a:pt x="9830" y="1174785"/>
                  </a:lnTo>
                  <a:lnTo>
                    <a:pt x="36639" y="1214556"/>
                  </a:lnTo>
                  <a:lnTo>
                    <a:pt x="76402" y="1241371"/>
                  </a:lnTo>
                  <a:lnTo>
                    <a:pt x="125095" y="1251204"/>
                  </a:lnTo>
                  <a:lnTo>
                    <a:pt x="2182240" y="1251204"/>
                  </a:lnTo>
                  <a:lnTo>
                    <a:pt x="2230933" y="1241371"/>
                  </a:lnTo>
                  <a:lnTo>
                    <a:pt x="2270696" y="1214556"/>
                  </a:lnTo>
                  <a:lnTo>
                    <a:pt x="2297505" y="1174785"/>
                  </a:lnTo>
                  <a:lnTo>
                    <a:pt x="2307335" y="1126083"/>
                  </a:lnTo>
                  <a:lnTo>
                    <a:pt x="2307335" y="125095"/>
                  </a:lnTo>
                  <a:lnTo>
                    <a:pt x="2297505" y="76402"/>
                  </a:lnTo>
                  <a:lnTo>
                    <a:pt x="2270696" y="36639"/>
                  </a:lnTo>
                  <a:lnTo>
                    <a:pt x="2230933" y="9830"/>
                  </a:lnTo>
                  <a:lnTo>
                    <a:pt x="2182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78446" y="4987289"/>
              <a:ext cx="2307590" cy="1251585"/>
            </a:xfrm>
            <a:custGeom>
              <a:avLst/>
              <a:gdLst/>
              <a:ahLst/>
              <a:cxnLst/>
              <a:rect l="l" t="t" r="r" b="b"/>
              <a:pathLst>
                <a:path w="2307590" h="1251585">
                  <a:moveTo>
                    <a:pt x="0" y="125095"/>
                  </a:moveTo>
                  <a:lnTo>
                    <a:pt x="9830" y="76402"/>
                  </a:lnTo>
                  <a:lnTo>
                    <a:pt x="36639" y="36639"/>
                  </a:lnTo>
                  <a:lnTo>
                    <a:pt x="76402" y="9830"/>
                  </a:lnTo>
                  <a:lnTo>
                    <a:pt x="125095" y="0"/>
                  </a:lnTo>
                  <a:lnTo>
                    <a:pt x="2182240" y="0"/>
                  </a:lnTo>
                  <a:lnTo>
                    <a:pt x="2230933" y="9830"/>
                  </a:lnTo>
                  <a:lnTo>
                    <a:pt x="2270696" y="36639"/>
                  </a:lnTo>
                  <a:lnTo>
                    <a:pt x="2297505" y="76402"/>
                  </a:lnTo>
                  <a:lnTo>
                    <a:pt x="2307335" y="125095"/>
                  </a:lnTo>
                  <a:lnTo>
                    <a:pt x="2307335" y="1126083"/>
                  </a:lnTo>
                  <a:lnTo>
                    <a:pt x="2297505" y="1174785"/>
                  </a:lnTo>
                  <a:lnTo>
                    <a:pt x="2270696" y="1214556"/>
                  </a:lnTo>
                  <a:lnTo>
                    <a:pt x="2230933" y="1241371"/>
                  </a:lnTo>
                  <a:lnTo>
                    <a:pt x="2182240" y="1251204"/>
                  </a:lnTo>
                  <a:lnTo>
                    <a:pt x="125095" y="1251204"/>
                  </a:lnTo>
                  <a:lnTo>
                    <a:pt x="76402" y="1241371"/>
                  </a:lnTo>
                  <a:lnTo>
                    <a:pt x="36639" y="1214556"/>
                  </a:lnTo>
                  <a:lnTo>
                    <a:pt x="9830" y="1174785"/>
                  </a:lnTo>
                  <a:lnTo>
                    <a:pt x="0" y="1126083"/>
                  </a:lnTo>
                  <a:lnTo>
                    <a:pt x="0" y="125095"/>
                  </a:lnTo>
                  <a:close/>
                </a:path>
              </a:pathLst>
            </a:custGeom>
            <a:ln w="28956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0748" y="4764023"/>
            <a:ext cx="9204960" cy="1727200"/>
          </a:xfrm>
          <a:prstGeom prst="rect">
            <a:avLst/>
          </a:prstGeom>
          <a:ln w="1524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00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  <a:tabLst>
                <a:tab pos="4307840" algn="l"/>
                <a:tab pos="6990080" algn="l"/>
              </a:tabLst>
            </a:pPr>
            <a:r>
              <a:rPr sz="2000" spc="-50" dirty="0">
                <a:latin typeface="Calibri"/>
                <a:cs typeface="Calibri"/>
              </a:rPr>
              <a:t>Test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u="sng" spc="-10" dirty="0">
                <a:solidFill>
                  <a:srgbClr val="34A852"/>
                </a:solidFill>
                <a:uFill>
                  <a:solidFill>
                    <a:srgbClr val="34A852"/>
                  </a:solidFill>
                </a:uFill>
                <a:latin typeface="Calibri"/>
                <a:cs typeface="Calibri"/>
              </a:rPr>
              <a:t>Model</a:t>
            </a:r>
            <a:r>
              <a:rPr sz="2000" b="1" dirty="0">
                <a:solidFill>
                  <a:srgbClr val="34A852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Predicted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0748" y="2848355"/>
            <a:ext cx="9204960" cy="1727200"/>
          </a:xfrm>
          <a:custGeom>
            <a:avLst/>
            <a:gdLst/>
            <a:ahLst/>
            <a:cxnLst/>
            <a:rect l="l" t="t" r="r" b="b"/>
            <a:pathLst>
              <a:path w="9204960" h="1727200">
                <a:moveTo>
                  <a:pt x="0" y="1726692"/>
                </a:moveTo>
                <a:lnTo>
                  <a:pt x="9204960" y="1726692"/>
                </a:lnTo>
                <a:lnTo>
                  <a:pt x="9204960" y="0"/>
                </a:lnTo>
                <a:lnTo>
                  <a:pt x="0" y="0"/>
                </a:lnTo>
                <a:lnTo>
                  <a:pt x="0" y="1726692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097769" y="3524250"/>
            <a:ext cx="1682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96576" y="5459984"/>
            <a:ext cx="15875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6523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225" dirty="0"/>
              <a:t> </a:t>
            </a:r>
            <a:r>
              <a:rPr dirty="0"/>
              <a:t>of</a:t>
            </a:r>
            <a:r>
              <a:rPr spc="-225" dirty="0"/>
              <a:t> </a:t>
            </a:r>
            <a:r>
              <a:rPr dirty="0"/>
              <a:t>ML</a:t>
            </a:r>
            <a:r>
              <a:rPr spc="-225" dirty="0"/>
              <a:t> </a:t>
            </a:r>
            <a:r>
              <a:rPr spc="-2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9980" y="1544684"/>
            <a:ext cx="3171825" cy="33540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Supervised</a:t>
            </a:r>
            <a:r>
              <a:rPr sz="2000" u="sng" spc="-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Label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been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5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Unsupervised</a:t>
            </a:r>
            <a:r>
              <a:rPr sz="20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409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  <a:p>
            <a:pPr marL="470534" lvl="1" indent="-257175">
              <a:lnSpc>
                <a:spcPct val="100000"/>
              </a:lnSpc>
              <a:spcBef>
                <a:spcPts val="600"/>
              </a:spcBef>
              <a:buClr>
                <a:srgbClr val="E38312"/>
              </a:buClr>
              <a:buFont typeface="Wingdings"/>
              <a:buChar char=""/>
              <a:tabLst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374904"/>
            <a:ext cx="12198350" cy="3078480"/>
            <a:chOff x="-3175" y="374904"/>
            <a:chExt cx="12198350" cy="3078480"/>
          </a:xfrm>
        </p:grpSpPr>
        <p:sp>
          <p:nvSpPr>
            <p:cNvPr id="3" name="object 3"/>
            <p:cNvSpPr/>
            <p:nvPr/>
          </p:nvSpPr>
          <p:spPr>
            <a:xfrm>
              <a:off x="5195315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4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4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5" y="973836"/>
                  </a:lnTo>
                  <a:lnTo>
                    <a:pt x="1804415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95315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4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5" y="108203"/>
                  </a:lnTo>
                  <a:lnTo>
                    <a:pt x="1804415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4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480" dirty="0"/>
              <a:t> </a:t>
            </a:r>
            <a:r>
              <a:rPr dirty="0"/>
              <a:t>Learning</a:t>
            </a:r>
            <a:r>
              <a:rPr spc="-480" dirty="0"/>
              <a:t> </a:t>
            </a:r>
            <a:r>
              <a:rPr spc="-25" dirty="0"/>
              <a:t>workflow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7160" y="2356104"/>
            <a:ext cx="1819910" cy="1097280"/>
            <a:chOff x="137160" y="2356104"/>
            <a:chExt cx="1819910" cy="1097280"/>
          </a:xfrm>
        </p:grpSpPr>
        <p:sp>
          <p:nvSpPr>
            <p:cNvPr id="7" name="object 7"/>
            <p:cNvSpPr/>
            <p:nvPr/>
          </p:nvSpPr>
          <p:spPr>
            <a:xfrm>
              <a:off x="144780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4" y="0"/>
                  </a:lnTo>
                  <a:lnTo>
                    <a:pt x="66088" y="8495"/>
                  </a:lnTo>
                  <a:lnTo>
                    <a:pt x="31694" y="31670"/>
                  </a:lnTo>
                  <a:lnTo>
                    <a:pt x="8504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504" y="1015978"/>
                  </a:lnTo>
                  <a:lnTo>
                    <a:pt x="31694" y="1050369"/>
                  </a:lnTo>
                  <a:lnTo>
                    <a:pt x="66088" y="1073544"/>
                  </a:lnTo>
                  <a:lnTo>
                    <a:pt x="108204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5" y="973836"/>
                  </a:lnTo>
                  <a:lnTo>
                    <a:pt x="1804415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780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504" y="66061"/>
                  </a:lnTo>
                  <a:lnTo>
                    <a:pt x="31694" y="31670"/>
                  </a:lnTo>
                  <a:lnTo>
                    <a:pt x="66088" y="8495"/>
                  </a:lnTo>
                  <a:lnTo>
                    <a:pt x="108204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5" y="108203"/>
                  </a:lnTo>
                  <a:lnTo>
                    <a:pt x="1804415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4" y="1082039"/>
                  </a:lnTo>
                  <a:lnTo>
                    <a:pt x="66088" y="1073544"/>
                  </a:lnTo>
                  <a:lnTo>
                    <a:pt x="31694" y="1050369"/>
                  </a:lnTo>
                  <a:lnTo>
                    <a:pt x="8504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53339" y="2708859"/>
            <a:ext cx="11855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Ingest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9027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5" h="448310">
                <a:moveTo>
                  <a:pt x="191262" y="0"/>
                </a:moveTo>
                <a:lnTo>
                  <a:pt x="191262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2" y="358394"/>
                </a:lnTo>
                <a:lnTo>
                  <a:pt x="191262" y="448056"/>
                </a:lnTo>
                <a:lnTo>
                  <a:pt x="382524" y="224028"/>
                </a:lnTo>
                <a:lnTo>
                  <a:pt x="191262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662427" y="2356104"/>
            <a:ext cx="1819910" cy="1097280"/>
            <a:chOff x="2662427" y="2356104"/>
            <a:chExt cx="1819910" cy="1097280"/>
          </a:xfrm>
        </p:grpSpPr>
        <p:sp>
          <p:nvSpPr>
            <p:cNvPr id="12" name="object 12"/>
            <p:cNvSpPr/>
            <p:nvPr/>
          </p:nvSpPr>
          <p:spPr>
            <a:xfrm>
              <a:off x="2670047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3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3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5" y="973836"/>
                  </a:lnTo>
                  <a:lnTo>
                    <a:pt x="1804415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70047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5" y="108203"/>
                  </a:lnTo>
                  <a:lnTo>
                    <a:pt x="1804415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3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53257" y="2569845"/>
            <a:ext cx="123888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3657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latin typeface="Calibri"/>
                <a:cs typeface="Calibri"/>
              </a:rPr>
              <a:t>Data Preparation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54296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4" h="448310">
                <a:moveTo>
                  <a:pt x="191262" y="0"/>
                </a:moveTo>
                <a:lnTo>
                  <a:pt x="191262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2" y="358394"/>
                </a:lnTo>
                <a:lnTo>
                  <a:pt x="191262" y="448056"/>
                </a:lnTo>
                <a:lnTo>
                  <a:pt x="382524" y="224028"/>
                </a:lnTo>
                <a:lnTo>
                  <a:pt x="191262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45963" y="2430272"/>
            <a:ext cx="1103630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55880" algn="just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Split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 (Training </a:t>
            </a:r>
            <a:r>
              <a:rPr sz="2000" spc="-50" dirty="0">
                <a:latin typeface="Calibri"/>
                <a:cs typeface="Calibri"/>
              </a:rPr>
              <a:t>+ </a:t>
            </a:r>
            <a:r>
              <a:rPr sz="2000" spc="-10" dirty="0">
                <a:latin typeface="Calibri"/>
                <a:cs typeface="Calibri"/>
              </a:rPr>
              <a:t>Testing)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79564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4" h="448310">
                <a:moveTo>
                  <a:pt x="191261" y="0"/>
                </a:moveTo>
                <a:lnTo>
                  <a:pt x="191261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1" y="358394"/>
                </a:lnTo>
                <a:lnTo>
                  <a:pt x="191261" y="448056"/>
                </a:lnTo>
                <a:lnTo>
                  <a:pt x="382524" y="224028"/>
                </a:lnTo>
                <a:lnTo>
                  <a:pt x="191261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7712964" y="2356104"/>
            <a:ext cx="1819910" cy="1097280"/>
            <a:chOff x="7712964" y="2356104"/>
            <a:chExt cx="1819910" cy="1097280"/>
          </a:xfrm>
        </p:grpSpPr>
        <p:sp>
          <p:nvSpPr>
            <p:cNvPr id="19" name="object 19"/>
            <p:cNvSpPr/>
            <p:nvPr/>
          </p:nvSpPr>
          <p:spPr>
            <a:xfrm>
              <a:off x="7720584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1696212" y="0"/>
                  </a:moveTo>
                  <a:lnTo>
                    <a:pt x="108204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4" y="1082039"/>
                  </a:lnTo>
                  <a:lnTo>
                    <a:pt x="1696212" y="1082039"/>
                  </a:lnTo>
                  <a:lnTo>
                    <a:pt x="1738354" y="1073544"/>
                  </a:lnTo>
                  <a:lnTo>
                    <a:pt x="1772745" y="1050369"/>
                  </a:lnTo>
                  <a:lnTo>
                    <a:pt x="1795920" y="1015978"/>
                  </a:lnTo>
                  <a:lnTo>
                    <a:pt x="1804416" y="973836"/>
                  </a:lnTo>
                  <a:lnTo>
                    <a:pt x="1804416" y="108203"/>
                  </a:lnTo>
                  <a:lnTo>
                    <a:pt x="1795920" y="66061"/>
                  </a:lnTo>
                  <a:lnTo>
                    <a:pt x="1772745" y="31670"/>
                  </a:lnTo>
                  <a:lnTo>
                    <a:pt x="1738354" y="84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20584" y="2363724"/>
              <a:ext cx="1804670" cy="1082040"/>
            </a:xfrm>
            <a:custGeom>
              <a:avLst/>
              <a:gdLst/>
              <a:ahLst/>
              <a:cxnLst/>
              <a:rect l="l" t="t" r="r" b="b"/>
              <a:pathLst>
                <a:path w="180467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4" y="0"/>
                  </a:lnTo>
                  <a:lnTo>
                    <a:pt x="1696212" y="0"/>
                  </a:lnTo>
                  <a:lnTo>
                    <a:pt x="1738354" y="8495"/>
                  </a:lnTo>
                  <a:lnTo>
                    <a:pt x="1772745" y="31670"/>
                  </a:lnTo>
                  <a:lnTo>
                    <a:pt x="1795920" y="66061"/>
                  </a:lnTo>
                  <a:lnTo>
                    <a:pt x="1804416" y="108203"/>
                  </a:lnTo>
                  <a:lnTo>
                    <a:pt x="1804416" y="973836"/>
                  </a:lnTo>
                  <a:lnTo>
                    <a:pt x="1795920" y="1015978"/>
                  </a:lnTo>
                  <a:lnTo>
                    <a:pt x="1772745" y="1050369"/>
                  </a:lnTo>
                  <a:lnTo>
                    <a:pt x="1738354" y="1073544"/>
                  </a:lnTo>
                  <a:lnTo>
                    <a:pt x="1696212" y="1082039"/>
                  </a:lnTo>
                  <a:lnTo>
                    <a:pt x="108204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34706" y="2430272"/>
            <a:ext cx="1379220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1270" algn="ctr">
              <a:lnSpc>
                <a:spcPct val="91800"/>
              </a:lnSpc>
              <a:spcBef>
                <a:spcPts val="300"/>
              </a:spcBef>
            </a:pPr>
            <a:r>
              <a:rPr sz="2000" dirty="0">
                <a:latin typeface="Calibri"/>
                <a:cs typeface="Calibri"/>
              </a:rPr>
              <a:t>Apply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ML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spc="-20" dirty="0">
                <a:latin typeface="Calibri"/>
                <a:cs typeface="Calibri"/>
              </a:rPr>
              <a:t>Training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704831" y="2680716"/>
            <a:ext cx="382905" cy="448309"/>
          </a:xfrm>
          <a:custGeom>
            <a:avLst/>
            <a:gdLst/>
            <a:ahLst/>
            <a:cxnLst/>
            <a:rect l="l" t="t" r="r" b="b"/>
            <a:pathLst>
              <a:path w="382904" h="448310">
                <a:moveTo>
                  <a:pt x="191262" y="0"/>
                </a:moveTo>
                <a:lnTo>
                  <a:pt x="191262" y="89662"/>
                </a:lnTo>
                <a:lnTo>
                  <a:pt x="0" y="89662"/>
                </a:lnTo>
                <a:lnTo>
                  <a:pt x="0" y="358394"/>
                </a:lnTo>
                <a:lnTo>
                  <a:pt x="191262" y="358394"/>
                </a:lnTo>
                <a:lnTo>
                  <a:pt x="191262" y="448056"/>
                </a:lnTo>
                <a:lnTo>
                  <a:pt x="382524" y="224028"/>
                </a:lnTo>
                <a:lnTo>
                  <a:pt x="191262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0239756" y="2356104"/>
            <a:ext cx="1818639" cy="1097280"/>
            <a:chOff x="10239756" y="2356104"/>
            <a:chExt cx="1818639" cy="1097280"/>
          </a:xfrm>
        </p:grpSpPr>
        <p:sp>
          <p:nvSpPr>
            <p:cNvPr id="24" name="object 24"/>
            <p:cNvSpPr/>
            <p:nvPr/>
          </p:nvSpPr>
          <p:spPr>
            <a:xfrm>
              <a:off x="10247376" y="2363724"/>
              <a:ext cx="1803400" cy="1082040"/>
            </a:xfrm>
            <a:custGeom>
              <a:avLst/>
              <a:gdLst/>
              <a:ahLst/>
              <a:cxnLst/>
              <a:rect l="l" t="t" r="r" b="b"/>
              <a:pathLst>
                <a:path w="1803400" h="1082039">
                  <a:moveTo>
                    <a:pt x="1694688" y="0"/>
                  </a:moveTo>
                  <a:lnTo>
                    <a:pt x="108203" y="0"/>
                  </a:lnTo>
                  <a:lnTo>
                    <a:pt x="66061" y="8495"/>
                  </a:lnTo>
                  <a:lnTo>
                    <a:pt x="31670" y="31670"/>
                  </a:lnTo>
                  <a:lnTo>
                    <a:pt x="8495" y="66061"/>
                  </a:lnTo>
                  <a:lnTo>
                    <a:pt x="0" y="108203"/>
                  </a:lnTo>
                  <a:lnTo>
                    <a:pt x="0" y="973836"/>
                  </a:lnTo>
                  <a:lnTo>
                    <a:pt x="8495" y="1015978"/>
                  </a:lnTo>
                  <a:lnTo>
                    <a:pt x="31670" y="1050369"/>
                  </a:lnTo>
                  <a:lnTo>
                    <a:pt x="66061" y="1073544"/>
                  </a:lnTo>
                  <a:lnTo>
                    <a:pt x="108203" y="1082039"/>
                  </a:lnTo>
                  <a:lnTo>
                    <a:pt x="1694688" y="1082039"/>
                  </a:lnTo>
                  <a:lnTo>
                    <a:pt x="1736830" y="1073544"/>
                  </a:lnTo>
                  <a:lnTo>
                    <a:pt x="1771221" y="1050369"/>
                  </a:lnTo>
                  <a:lnTo>
                    <a:pt x="1794396" y="1015978"/>
                  </a:lnTo>
                  <a:lnTo>
                    <a:pt x="1802892" y="973836"/>
                  </a:lnTo>
                  <a:lnTo>
                    <a:pt x="1802892" y="108203"/>
                  </a:lnTo>
                  <a:lnTo>
                    <a:pt x="1794396" y="66061"/>
                  </a:lnTo>
                  <a:lnTo>
                    <a:pt x="1771221" y="31670"/>
                  </a:lnTo>
                  <a:lnTo>
                    <a:pt x="1736830" y="8495"/>
                  </a:lnTo>
                  <a:lnTo>
                    <a:pt x="16946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47376" y="2363724"/>
              <a:ext cx="1803400" cy="1082040"/>
            </a:xfrm>
            <a:custGeom>
              <a:avLst/>
              <a:gdLst/>
              <a:ahLst/>
              <a:cxnLst/>
              <a:rect l="l" t="t" r="r" b="b"/>
              <a:pathLst>
                <a:path w="1803400" h="1082039">
                  <a:moveTo>
                    <a:pt x="0" y="108203"/>
                  </a:moveTo>
                  <a:lnTo>
                    <a:pt x="8495" y="66061"/>
                  </a:lnTo>
                  <a:lnTo>
                    <a:pt x="31670" y="31670"/>
                  </a:lnTo>
                  <a:lnTo>
                    <a:pt x="66061" y="8495"/>
                  </a:lnTo>
                  <a:lnTo>
                    <a:pt x="108203" y="0"/>
                  </a:lnTo>
                  <a:lnTo>
                    <a:pt x="1694688" y="0"/>
                  </a:lnTo>
                  <a:lnTo>
                    <a:pt x="1736830" y="8495"/>
                  </a:lnTo>
                  <a:lnTo>
                    <a:pt x="1771221" y="31670"/>
                  </a:lnTo>
                  <a:lnTo>
                    <a:pt x="1794396" y="66061"/>
                  </a:lnTo>
                  <a:lnTo>
                    <a:pt x="1802892" y="108203"/>
                  </a:lnTo>
                  <a:lnTo>
                    <a:pt x="1802892" y="973836"/>
                  </a:lnTo>
                  <a:lnTo>
                    <a:pt x="1794396" y="1015978"/>
                  </a:lnTo>
                  <a:lnTo>
                    <a:pt x="1771221" y="1050369"/>
                  </a:lnTo>
                  <a:lnTo>
                    <a:pt x="1736830" y="1073544"/>
                  </a:lnTo>
                  <a:lnTo>
                    <a:pt x="1694688" y="1082039"/>
                  </a:lnTo>
                  <a:lnTo>
                    <a:pt x="108203" y="1082039"/>
                  </a:lnTo>
                  <a:lnTo>
                    <a:pt x="66061" y="1073544"/>
                  </a:lnTo>
                  <a:lnTo>
                    <a:pt x="31670" y="1050369"/>
                  </a:lnTo>
                  <a:lnTo>
                    <a:pt x="8495" y="1015978"/>
                  </a:lnTo>
                  <a:lnTo>
                    <a:pt x="0" y="973836"/>
                  </a:lnTo>
                  <a:lnTo>
                    <a:pt x="0" y="108203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801857" y="2708859"/>
            <a:ext cx="6978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13304" y="4683252"/>
            <a:ext cx="1786255" cy="1079500"/>
            <a:chOff x="2813304" y="4683252"/>
            <a:chExt cx="1786255" cy="1079500"/>
          </a:xfrm>
        </p:grpSpPr>
        <p:sp>
          <p:nvSpPr>
            <p:cNvPr id="28" name="object 28"/>
            <p:cNvSpPr/>
            <p:nvPr/>
          </p:nvSpPr>
          <p:spPr>
            <a:xfrm>
              <a:off x="2820924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4" h="1064260">
                  <a:moveTo>
                    <a:pt x="1664462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957376"/>
                  </a:lnTo>
                  <a:lnTo>
                    <a:pt x="8360" y="998783"/>
                  </a:lnTo>
                  <a:lnTo>
                    <a:pt x="31162" y="1032595"/>
                  </a:lnTo>
                  <a:lnTo>
                    <a:pt x="64990" y="1055392"/>
                  </a:lnTo>
                  <a:lnTo>
                    <a:pt x="106425" y="1063752"/>
                  </a:lnTo>
                  <a:lnTo>
                    <a:pt x="1664462" y="1063752"/>
                  </a:lnTo>
                  <a:lnTo>
                    <a:pt x="1705897" y="1055392"/>
                  </a:lnTo>
                  <a:lnTo>
                    <a:pt x="1739725" y="1032595"/>
                  </a:lnTo>
                  <a:lnTo>
                    <a:pt x="1762527" y="998783"/>
                  </a:lnTo>
                  <a:lnTo>
                    <a:pt x="1770888" y="957376"/>
                  </a:lnTo>
                  <a:lnTo>
                    <a:pt x="1770888" y="106425"/>
                  </a:lnTo>
                  <a:lnTo>
                    <a:pt x="1762527" y="64990"/>
                  </a:lnTo>
                  <a:lnTo>
                    <a:pt x="1739725" y="31162"/>
                  </a:lnTo>
                  <a:lnTo>
                    <a:pt x="1705897" y="8360"/>
                  </a:lnTo>
                  <a:lnTo>
                    <a:pt x="1664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20924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4" h="1064260">
                  <a:moveTo>
                    <a:pt x="0" y="106425"/>
                  </a:moveTo>
                  <a:lnTo>
                    <a:pt x="8360" y="64990"/>
                  </a:lnTo>
                  <a:lnTo>
                    <a:pt x="31162" y="31162"/>
                  </a:lnTo>
                  <a:lnTo>
                    <a:pt x="64990" y="8360"/>
                  </a:lnTo>
                  <a:lnTo>
                    <a:pt x="106425" y="0"/>
                  </a:lnTo>
                  <a:lnTo>
                    <a:pt x="1664462" y="0"/>
                  </a:lnTo>
                  <a:lnTo>
                    <a:pt x="1705897" y="8360"/>
                  </a:lnTo>
                  <a:lnTo>
                    <a:pt x="1739725" y="31162"/>
                  </a:lnTo>
                  <a:lnTo>
                    <a:pt x="1762527" y="64990"/>
                  </a:lnTo>
                  <a:lnTo>
                    <a:pt x="1770888" y="106425"/>
                  </a:lnTo>
                  <a:lnTo>
                    <a:pt x="1770888" y="957376"/>
                  </a:lnTo>
                  <a:lnTo>
                    <a:pt x="1762527" y="998783"/>
                  </a:lnTo>
                  <a:lnTo>
                    <a:pt x="1739725" y="1032595"/>
                  </a:lnTo>
                  <a:lnTo>
                    <a:pt x="1705897" y="1055392"/>
                  </a:lnTo>
                  <a:lnTo>
                    <a:pt x="1664462" y="1063752"/>
                  </a:lnTo>
                  <a:lnTo>
                    <a:pt x="106425" y="1063752"/>
                  </a:lnTo>
                  <a:lnTo>
                    <a:pt x="64990" y="1055392"/>
                  </a:lnTo>
                  <a:lnTo>
                    <a:pt x="31162" y="1032595"/>
                  </a:lnTo>
                  <a:lnTo>
                    <a:pt x="8360" y="998783"/>
                  </a:lnTo>
                  <a:lnTo>
                    <a:pt x="0" y="957376"/>
                  </a:lnTo>
                  <a:lnTo>
                    <a:pt x="0" y="106425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39542" y="4991480"/>
            <a:ext cx="1534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Calibri"/>
                <a:cs typeface="Calibri"/>
              </a:rPr>
              <a:t>Testing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70120" y="5001767"/>
            <a:ext cx="375285" cy="440690"/>
          </a:xfrm>
          <a:custGeom>
            <a:avLst/>
            <a:gdLst/>
            <a:ahLst/>
            <a:cxnLst/>
            <a:rect l="l" t="t" r="r" b="b"/>
            <a:pathLst>
              <a:path w="375285" h="440689">
                <a:moveTo>
                  <a:pt x="187451" y="0"/>
                </a:moveTo>
                <a:lnTo>
                  <a:pt x="187451" y="88137"/>
                </a:lnTo>
                <a:lnTo>
                  <a:pt x="0" y="88137"/>
                </a:lnTo>
                <a:lnTo>
                  <a:pt x="0" y="352297"/>
                </a:lnTo>
                <a:lnTo>
                  <a:pt x="187451" y="352297"/>
                </a:lnTo>
                <a:lnTo>
                  <a:pt x="187451" y="440435"/>
                </a:lnTo>
                <a:lnTo>
                  <a:pt x="374903" y="220217"/>
                </a:lnTo>
                <a:lnTo>
                  <a:pt x="187451" y="0"/>
                </a:lnTo>
                <a:close/>
              </a:path>
            </a:pathLst>
          </a:custGeom>
          <a:solidFill>
            <a:srgbClr val="EEC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5294376" y="4683252"/>
            <a:ext cx="1786255" cy="1079500"/>
            <a:chOff x="5294376" y="4683252"/>
            <a:chExt cx="1786255" cy="1079500"/>
          </a:xfrm>
        </p:grpSpPr>
        <p:sp>
          <p:nvSpPr>
            <p:cNvPr id="33" name="object 33"/>
            <p:cNvSpPr/>
            <p:nvPr/>
          </p:nvSpPr>
          <p:spPr>
            <a:xfrm>
              <a:off x="5301996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1664461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957376"/>
                  </a:lnTo>
                  <a:lnTo>
                    <a:pt x="8360" y="998783"/>
                  </a:lnTo>
                  <a:lnTo>
                    <a:pt x="31162" y="1032595"/>
                  </a:lnTo>
                  <a:lnTo>
                    <a:pt x="64990" y="1055392"/>
                  </a:lnTo>
                  <a:lnTo>
                    <a:pt x="106425" y="1063752"/>
                  </a:lnTo>
                  <a:lnTo>
                    <a:pt x="1664461" y="1063752"/>
                  </a:lnTo>
                  <a:lnTo>
                    <a:pt x="1705897" y="1055392"/>
                  </a:lnTo>
                  <a:lnTo>
                    <a:pt x="1739725" y="1032595"/>
                  </a:lnTo>
                  <a:lnTo>
                    <a:pt x="1762527" y="998783"/>
                  </a:lnTo>
                  <a:lnTo>
                    <a:pt x="1770887" y="957376"/>
                  </a:lnTo>
                  <a:lnTo>
                    <a:pt x="1770887" y="106425"/>
                  </a:lnTo>
                  <a:lnTo>
                    <a:pt x="1762527" y="64990"/>
                  </a:lnTo>
                  <a:lnTo>
                    <a:pt x="1739725" y="31162"/>
                  </a:lnTo>
                  <a:lnTo>
                    <a:pt x="1705897" y="8360"/>
                  </a:lnTo>
                  <a:lnTo>
                    <a:pt x="1664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01996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0" y="106425"/>
                  </a:moveTo>
                  <a:lnTo>
                    <a:pt x="8360" y="64990"/>
                  </a:lnTo>
                  <a:lnTo>
                    <a:pt x="31162" y="31162"/>
                  </a:lnTo>
                  <a:lnTo>
                    <a:pt x="64990" y="8360"/>
                  </a:lnTo>
                  <a:lnTo>
                    <a:pt x="106425" y="0"/>
                  </a:lnTo>
                  <a:lnTo>
                    <a:pt x="1664461" y="0"/>
                  </a:lnTo>
                  <a:lnTo>
                    <a:pt x="1705897" y="8360"/>
                  </a:lnTo>
                  <a:lnTo>
                    <a:pt x="1739725" y="31162"/>
                  </a:lnTo>
                  <a:lnTo>
                    <a:pt x="1762527" y="64990"/>
                  </a:lnTo>
                  <a:lnTo>
                    <a:pt x="1770887" y="106425"/>
                  </a:lnTo>
                  <a:lnTo>
                    <a:pt x="1770887" y="957376"/>
                  </a:lnTo>
                  <a:lnTo>
                    <a:pt x="1762527" y="998783"/>
                  </a:lnTo>
                  <a:lnTo>
                    <a:pt x="1739725" y="1032595"/>
                  </a:lnTo>
                  <a:lnTo>
                    <a:pt x="1705897" y="1055392"/>
                  </a:lnTo>
                  <a:lnTo>
                    <a:pt x="1664461" y="1063752"/>
                  </a:lnTo>
                  <a:lnTo>
                    <a:pt x="106425" y="1063752"/>
                  </a:lnTo>
                  <a:lnTo>
                    <a:pt x="64990" y="1055392"/>
                  </a:lnTo>
                  <a:lnTo>
                    <a:pt x="31162" y="1032595"/>
                  </a:lnTo>
                  <a:lnTo>
                    <a:pt x="8360" y="998783"/>
                  </a:lnTo>
                  <a:lnTo>
                    <a:pt x="0" y="957376"/>
                  </a:lnTo>
                  <a:lnTo>
                    <a:pt x="0" y="106425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773292" y="4991480"/>
            <a:ext cx="82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251192" y="4683252"/>
            <a:ext cx="2310765" cy="1079500"/>
            <a:chOff x="7251192" y="4683252"/>
            <a:chExt cx="2310765" cy="1079500"/>
          </a:xfrm>
        </p:grpSpPr>
        <p:sp>
          <p:nvSpPr>
            <p:cNvPr id="37" name="object 37"/>
            <p:cNvSpPr/>
            <p:nvPr/>
          </p:nvSpPr>
          <p:spPr>
            <a:xfrm>
              <a:off x="7251192" y="5001768"/>
              <a:ext cx="375285" cy="440690"/>
            </a:xfrm>
            <a:custGeom>
              <a:avLst/>
              <a:gdLst/>
              <a:ahLst/>
              <a:cxnLst/>
              <a:rect l="l" t="t" r="r" b="b"/>
              <a:pathLst>
                <a:path w="375284" h="440689">
                  <a:moveTo>
                    <a:pt x="187451" y="0"/>
                  </a:moveTo>
                  <a:lnTo>
                    <a:pt x="187451" y="88137"/>
                  </a:lnTo>
                  <a:lnTo>
                    <a:pt x="0" y="88137"/>
                  </a:lnTo>
                  <a:lnTo>
                    <a:pt x="0" y="352297"/>
                  </a:lnTo>
                  <a:lnTo>
                    <a:pt x="187451" y="352297"/>
                  </a:lnTo>
                  <a:lnTo>
                    <a:pt x="187451" y="440435"/>
                  </a:lnTo>
                  <a:lnTo>
                    <a:pt x="374903" y="22021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EE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83068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1664461" y="0"/>
                  </a:moveTo>
                  <a:lnTo>
                    <a:pt x="106425" y="0"/>
                  </a:lnTo>
                  <a:lnTo>
                    <a:pt x="64990" y="8360"/>
                  </a:lnTo>
                  <a:lnTo>
                    <a:pt x="31162" y="31162"/>
                  </a:lnTo>
                  <a:lnTo>
                    <a:pt x="8360" y="64990"/>
                  </a:lnTo>
                  <a:lnTo>
                    <a:pt x="0" y="106425"/>
                  </a:lnTo>
                  <a:lnTo>
                    <a:pt x="0" y="957376"/>
                  </a:lnTo>
                  <a:lnTo>
                    <a:pt x="8360" y="998783"/>
                  </a:lnTo>
                  <a:lnTo>
                    <a:pt x="31162" y="1032595"/>
                  </a:lnTo>
                  <a:lnTo>
                    <a:pt x="64990" y="1055392"/>
                  </a:lnTo>
                  <a:lnTo>
                    <a:pt x="106425" y="1063752"/>
                  </a:lnTo>
                  <a:lnTo>
                    <a:pt x="1664461" y="1063752"/>
                  </a:lnTo>
                  <a:lnTo>
                    <a:pt x="1705897" y="1055392"/>
                  </a:lnTo>
                  <a:lnTo>
                    <a:pt x="1739725" y="1032595"/>
                  </a:lnTo>
                  <a:lnTo>
                    <a:pt x="1762527" y="998783"/>
                  </a:lnTo>
                  <a:lnTo>
                    <a:pt x="1770887" y="957376"/>
                  </a:lnTo>
                  <a:lnTo>
                    <a:pt x="1770887" y="106425"/>
                  </a:lnTo>
                  <a:lnTo>
                    <a:pt x="1762527" y="64990"/>
                  </a:lnTo>
                  <a:lnTo>
                    <a:pt x="1739725" y="31162"/>
                  </a:lnTo>
                  <a:lnTo>
                    <a:pt x="1705897" y="8360"/>
                  </a:lnTo>
                  <a:lnTo>
                    <a:pt x="1664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3068" y="4690872"/>
              <a:ext cx="1771014" cy="1064260"/>
            </a:xfrm>
            <a:custGeom>
              <a:avLst/>
              <a:gdLst/>
              <a:ahLst/>
              <a:cxnLst/>
              <a:rect l="l" t="t" r="r" b="b"/>
              <a:pathLst>
                <a:path w="1771015" h="1064260">
                  <a:moveTo>
                    <a:pt x="0" y="106425"/>
                  </a:moveTo>
                  <a:lnTo>
                    <a:pt x="8360" y="64990"/>
                  </a:lnTo>
                  <a:lnTo>
                    <a:pt x="31162" y="31162"/>
                  </a:lnTo>
                  <a:lnTo>
                    <a:pt x="64990" y="8360"/>
                  </a:lnTo>
                  <a:lnTo>
                    <a:pt x="106425" y="0"/>
                  </a:lnTo>
                  <a:lnTo>
                    <a:pt x="1664461" y="0"/>
                  </a:lnTo>
                  <a:lnTo>
                    <a:pt x="1705897" y="8360"/>
                  </a:lnTo>
                  <a:lnTo>
                    <a:pt x="1739725" y="31162"/>
                  </a:lnTo>
                  <a:lnTo>
                    <a:pt x="1762527" y="64990"/>
                  </a:lnTo>
                  <a:lnTo>
                    <a:pt x="1770887" y="106425"/>
                  </a:lnTo>
                  <a:lnTo>
                    <a:pt x="1770887" y="957376"/>
                  </a:lnTo>
                  <a:lnTo>
                    <a:pt x="1762527" y="998783"/>
                  </a:lnTo>
                  <a:lnTo>
                    <a:pt x="1739725" y="1032595"/>
                  </a:lnTo>
                  <a:lnTo>
                    <a:pt x="1705897" y="1055392"/>
                  </a:lnTo>
                  <a:lnTo>
                    <a:pt x="1664461" y="1063752"/>
                  </a:lnTo>
                  <a:lnTo>
                    <a:pt x="106425" y="1063752"/>
                  </a:lnTo>
                  <a:lnTo>
                    <a:pt x="64990" y="1055392"/>
                  </a:lnTo>
                  <a:lnTo>
                    <a:pt x="31162" y="1032595"/>
                  </a:lnTo>
                  <a:lnTo>
                    <a:pt x="8360" y="998783"/>
                  </a:lnTo>
                  <a:lnTo>
                    <a:pt x="0" y="957376"/>
                  </a:lnTo>
                  <a:lnTo>
                    <a:pt x="0" y="106425"/>
                  </a:lnTo>
                  <a:close/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024621" y="4991480"/>
            <a:ext cx="1289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04641" y="1530000"/>
            <a:ext cx="1711960" cy="1025525"/>
            <a:chOff x="6804641" y="1530000"/>
            <a:chExt cx="1711960" cy="1025525"/>
          </a:xfrm>
        </p:grpSpPr>
        <p:sp>
          <p:nvSpPr>
            <p:cNvPr id="42" name="object 42"/>
            <p:cNvSpPr/>
            <p:nvPr/>
          </p:nvSpPr>
          <p:spPr>
            <a:xfrm>
              <a:off x="6812261" y="1537620"/>
              <a:ext cx="1696720" cy="1010285"/>
            </a:xfrm>
            <a:custGeom>
              <a:avLst/>
              <a:gdLst/>
              <a:ahLst/>
              <a:cxnLst/>
              <a:rect l="l" t="t" r="r" b="b"/>
              <a:pathLst>
                <a:path w="1696720" h="1010285">
                  <a:moveTo>
                    <a:pt x="852702" y="0"/>
                  </a:moveTo>
                  <a:lnTo>
                    <a:pt x="800328" y="731"/>
                  </a:lnTo>
                  <a:lnTo>
                    <a:pt x="748274" y="3162"/>
                  </a:lnTo>
                  <a:lnTo>
                    <a:pt x="696693" y="7269"/>
                  </a:lnTo>
                  <a:lnTo>
                    <a:pt x="645736" y="13032"/>
                  </a:lnTo>
                  <a:lnTo>
                    <a:pt x="595558" y="20426"/>
                  </a:lnTo>
                  <a:lnTo>
                    <a:pt x="546308" y="29430"/>
                  </a:lnTo>
                  <a:lnTo>
                    <a:pt x="498141" y="40021"/>
                  </a:lnTo>
                  <a:lnTo>
                    <a:pt x="451208" y="52178"/>
                  </a:lnTo>
                  <a:lnTo>
                    <a:pt x="405661" y="65876"/>
                  </a:lnTo>
                  <a:lnTo>
                    <a:pt x="361654" y="81096"/>
                  </a:lnTo>
                  <a:lnTo>
                    <a:pt x="319338" y="97812"/>
                  </a:lnTo>
                  <a:lnTo>
                    <a:pt x="278866" y="116005"/>
                  </a:lnTo>
                  <a:lnTo>
                    <a:pt x="240389" y="135650"/>
                  </a:lnTo>
                  <a:lnTo>
                    <a:pt x="204062" y="156726"/>
                  </a:lnTo>
                  <a:lnTo>
                    <a:pt x="170035" y="179211"/>
                  </a:lnTo>
                  <a:lnTo>
                    <a:pt x="138461" y="203081"/>
                  </a:lnTo>
                  <a:lnTo>
                    <a:pt x="109492" y="228314"/>
                  </a:lnTo>
                  <a:lnTo>
                    <a:pt x="79151" y="259529"/>
                  </a:lnTo>
                  <a:lnTo>
                    <a:pt x="53828" y="291395"/>
                  </a:lnTo>
                  <a:lnTo>
                    <a:pt x="33453" y="323777"/>
                  </a:lnTo>
                  <a:lnTo>
                    <a:pt x="7260" y="389544"/>
                  </a:lnTo>
                  <a:lnTo>
                    <a:pt x="0" y="455743"/>
                  </a:lnTo>
                  <a:lnTo>
                    <a:pt x="3291" y="488665"/>
                  </a:lnTo>
                  <a:lnTo>
                    <a:pt x="23359" y="553471"/>
                  </a:lnTo>
                  <a:lnTo>
                    <a:pt x="60932" y="615988"/>
                  </a:lnTo>
                  <a:lnTo>
                    <a:pt x="86104" y="646048"/>
                  </a:lnTo>
                  <a:lnTo>
                    <a:pt x="115438" y="675129"/>
                  </a:lnTo>
                  <a:lnTo>
                    <a:pt x="148862" y="703093"/>
                  </a:lnTo>
                  <a:lnTo>
                    <a:pt x="186306" y="729804"/>
                  </a:lnTo>
                  <a:lnTo>
                    <a:pt x="227697" y="755128"/>
                  </a:lnTo>
                  <a:lnTo>
                    <a:pt x="272965" y="778927"/>
                  </a:lnTo>
                  <a:lnTo>
                    <a:pt x="322037" y="801066"/>
                  </a:lnTo>
                  <a:lnTo>
                    <a:pt x="374843" y="821409"/>
                  </a:lnTo>
                  <a:lnTo>
                    <a:pt x="431310" y="839819"/>
                  </a:lnTo>
                  <a:lnTo>
                    <a:pt x="494810" y="1009999"/>
                  </a:lnTo>
                  <a:lnTo>
                    <a:pt x="738396" y="893921"/>
                  </a:lnTo>
                  <a:lnTo>
                    <a:pt x="795432" y="896844"/>
                  </a:lnTo>
                  <a:lnTo>
                    <a:pt x="852173" y="897724"/>
                  </a:lnTo>
                  <a:lnTo>
                    <a:pt x="908456" y="896604"/>
                  </a:lnTo>
                  <a:lnTo>
                    <a:pt x="964117" y="893530"/>
                  </a:lnTo>
                  <a:lnTo>
                    <a:pt x="1018994" y="888543"/>
                  </a:lnTo>
                  <a:lnTo>
                    <a:pt x="1072924" y="881687"/>
                  </a:lnTo>
                  <a:lnTo>
                    <a:pt x="1125742" y="873007"/>
                  </a:lnTo>
                  <a:lnTo>
                    <a:pt x="1177287" y="862545"/>
                  </a:lnTo>
                  <a:lnTo>
                    <a:pt x="1227394" y="850345"/>
                  </a:lnTo>
                  <a:lnTo>
                    <a:pt x="1275901" y="836450"/>
                  </a:lnTo>
                  <a:lnTo>
                    <a:pt x="1322644" y="820905"/>
                  </a:lnTo>
                  <a:lnTo>
                    <a:pt x="1367460" y="803751"/>
                  </a:lnTo>
                  <a:lnTo>
                    <a:pt x="1410187" y="785034"/>
                  </a:lnTo>
                  <a:lnTo>
                    <a:pt x="1450660" y="764797"/>
                  </a:lnTo>
                  <a:lnTo>
                    <a:pt x="1488716" y="743083"/>
                  </a:lnTo>
                  <a:lnTo>
                    <a:pt x="1524194" y="719935"/>
                  </a:lnTo>
                  <a:lnTo>
                    <a:pt x="1556928" y="695397"/>
                  </a:lnTo>
                  <a:lnTo>
                    <a:pt x="1586756" y="669512"/>
                  </a:lnTo>
                  <a:lnTo>
                    <a:pt x="1617098" y="638298"/>
                  </a:lnTo>
                  <a:lnTo>
                    <a:pt x="1642421" y="606432"/>
                  </a:lnTo>
                  <a:lnTo>
                    <a:pt x="1662796" y="574050"/>
                  </a:lnTo>
                  <a:lnTo>
                    <a:pt x="1688989" y="508283"/>
                  </a:lnTo>
                  <a:lnTo>
                    <a:pt x="1696249" y="442084"/>
                  </a:lnTo>
                  <a:lnTo>
                    <a:pt x="1692958" y="409162"/>
                  </a:lnTo>
                  <a:lnTo>
                    <a:pt x="1672890" y="344356"/>
                  </a:lnTo>
                  <a:lnTo>
                    <a:pt x="1635317" y="281839"/>
                  </a:lnTo>
                  <a:lnTo>
                    <a:pt x="1610145" y="251778"/>
                  </a:lnTo>
                  <a:lnTo>
                    <a:pt x="1580811" y="222698"/>
                  </a:lnTo>
                  <a:lnTo>
                    <a:pt x="1547386" y="194734"/>
                  </a:lnTo>
                  <a:lnTo>
                    <a:pt x="1509943" y="168023"/>
                  </a:lnTo>
                  <a:lnTo>
                    <a:pt x="1468551" y="142699"/>
                  </a:lnTo>
                  <a:lnTo>
                    <a:pt x="1423284" y="118900"/>
                  </a:lnTo>
                  <a:lnTo>
                    <a:pt x="1374212" y="96761"/>
                  </a:lnTo>
                  <a:lnTo>
                    <a:pt x="1321406" y="76418"/>
                  </a:lnTo>
                  <a:lnTo>
                    <a:pt x="1264938" y="58007"/>
                  </a:lnTo>
                  <a:lnTo>
                    <a:pt x="1215487" y="44339"/>
                  </a:lnTo>
                  <a:lnTo>
                    <a:pt x="1165138" y="32549"/>
                  </a:lnTo>
                  <a:lnTo>
                    <a:pt x="1114042" y="22615"/>
                  </a:lnTo>
                  <a:lnTo>
                    <a:pt x="1062352" y="14514"/>
                  </a:lnTo>
                  <a:lnTo>
                    <a:pt x="1010221" y="8224"/>
                  </a:lnTo>
                  <a:lnTo>
                    <a:pt x="957801" y="3724"/>
                  </a:lnTo>
                  <a:lnTo>
                    <a:pt x="905243" y="990"/>
                  </a:lnTo>
                  <a:lnTo>
                    <a:pt x="852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12261" y="1537620"/>
              <a:ext cx="1696720" cy="1010285"/>
            </a:xfrm>
            <a:custGeom>
              <a:avLst/>
              <a:gdLst/>
              <a:ahLst/>
              <a:cxnLst/>
              <a:rect l="l" t="t" r="r" b="b"/>
              <a:pathLst>
                <a:path w="1696720" h="1010285">
                  <a:moveTo>
                    <a:pt x="494810" y="1009999"/>
                  </a:moveTo>
                  <a:lnTo>
                    <a:pt x="431310" y="839819"/>
                  </a:lnTo>
                  <a:lnTo>
                    <a:pt x="374843" y="821409"/>
                  </a:lnTo>
                  <a:lnTo>
                    <a:pt x="322037" y="801066"/>
                  </a:lnTo>
                  <a:lnTo>
                    <a:pt x="272965" y="778927"/>
                  </a:lnTo>
                  <a:lnTo>
                    <a:pt x="227697" y="755128"/>
                  </a:lnTo>
                  <a:lnTo>
                    <a:pt x="186306" y="729804"/>
                  </a:lnTo>
                  <a:lnTo>
                    <a:pt x="148862" y="703093"/>
                  </a:lnTo>
                  <a:lnTo>
                    <a:pt x="115438" y="675129"/>
                  </a:lnTo>
                  <a:lnTo>
                    <a:pt x="86104" y="646048"/>
                  </a:lnTo>
                  <a:lnTo>
                    <a:pt x="60932" y="615988"/>
                  </a:lnTo>
                  <a:lnTo>
                    <a:pt x="23359" y="553471"/>
                  </a:lnTo>
                  <a:lnTo>
                    <a:pt x="3291" y="488665"/>
                  </a:lnTo>
                  <a:lnTo>
                    <a:pt x="0" y="455743"/>
                  </a:lnTo>
                  <a:lnTo>
                    <a:pt x="1299" y="422658"/>
                  </a:lnTo>
                  <a:lnTo>
                    <a:pt x="17954" y="356538"/>
                  </a:lnTo>
                  <a:lnTo>
                    <a:pt x="53828" y="291395"/>
                  </a:lnTo>
                  <a:lnTo>
                    <a:pt x="79151" y="259529"/>
                  </a:lnTo>
                  <a:lnTo>
                    <a:pt x="109492" y="228314"/>
                  </a:lnTo>
                  <a:lnTo>
                    <a:pt x="138461" y="203081"/>
                  </a:lnTo>
                  <a:lnTo>
                    <a:pt x="170035" y="179211"/>
                  </a:lnTo>
                  <a:lnTo>
                    <a:pt x="204062" y="156726"/>
                  </a:lnTo>
                  <a:lnTo>
                    <a:pt x="240389" y="135650"/>
                  </a:lnTo>
                  <a:lnTo>
                    <a:pt x="278866" y="116005"/>
                  </a:lnTo>
                  <a:lnTo>
                    <a:pt x="319338" y="97812"/>
                  </a:lnTo>
                  <a:lnTo>
                    <a:pt x="361654" y="81096"/>
                  </a:lnTo>
                  <a:lnTo>
                    <a:pt x="405661" y="65876"/>
                  </a:lnTo>
                  <a:lnTo>
                    <a:pt x="451208" y="52178"/>
                  </a:lnTo>
                  <a:lnTo>
                    <a:pt x="498141" y="40021"/>
                  </a:lnTo>
                  <a:lnTo>
                    <a:pt x="546308" y="29430"/>
                  </a:lnTo>
                  <a:lnTo>
                    <a:pt x="595558" y="20426"/>
                  </a:lnTo>
                  <a:lnTo>
                    <a:pt x="645736" y="13032"/>
                  </a:lnTo>
                  <a:lnTo>
                    <a:pt x="696693" y="7269"/>
                  </a:lnTo>
                  <a:lnTo>
                    <a:pt x="748274" y="3162"/>
                  </a:lnTo>
                  <a:lnTo>
                    <a:pt x="800328" y="731"/>
                  </a:lnTo>
                  <a:lnTo>
                    <a:pt x="852702" y="0"/>
                  </a:lnTo>
                  <a:lnTo>
                    <a:pt x="905243" y="990"/>
                  </a:lnTo>
                  <a:lnTo>
                    <a:pt x="957801" y="3724"/>
                  </a:lnTo>
                  <a:lnTo>
                    <a:pt x="1010221" y="8224"/>
                  </a:lnTo>
                  <a:lnTo>
                    <a:pt x="1062352" y="14514"/>
                  </a:lnTo>
                  <a:lnTo>
                    <a:pt x="1114042" y="22615"/>
                  </a:lnTo>
                  <a:lnTo>
                    <a:pt x="1165138" y="32549"/>
                  </a:lnTo>
                  <a:lnTo>
                    <a:pt x="1215487" y="44339"/>
                  </a:lnTo>
                  <a:lnTo>
                    <a:pt x="1264938" y="58007"/>
                  </a:lnTo>
                  <a:lnTo>
                    <a:pt x="1321406" y="76418"/>
                  </a:lnTo>
                  <a:lnTo>
                    <a:pt x="1374212" y="96761"/>
                  </a:lnTo>
                  <a:lnTo>
                    <a:pt x="1423284" y="118900"/>
                  </a:lnTo>
                  <a:lnTo>
                    <a:pt x="1468551" y="142699"/>
                  </a:lnTo>
                  <a:lnTo>
                    <a:pt x="1509943" y="168023"/>
                  </a:lnTo>
                  <a:lnTo>
                    <a:pt x="1547386" y="194734"/>
                  </a:lnTo>
                  <a:lnTo>
                    <a:pt x="1580811" y="222698"/>
                  </a:lnTo>
                  <a:lnTo>
                    <a:pt x="1610145" y="251778"/>
                  </a:lnTo>
                  <a:lnTo>
                    <a:pt x="1635317" y="281839"/>
                  </a:lnTo>
                  <a:lnTo>
                    <a:pt x="1672890" y="344356"/>
                  </a:lnTo>
                  <a:lnTo>
                    <a:pt x="1692958" y="409162"/>
                  </a:lnTo>
                  <a:lnTo>
                    <a:pt x="1696249" y="442084"/>
                  </a:lnTo>
                  <a:lnTo>
                    <a:pt x="1694950" y="475169"/>
                  </a:lnTo>
                  <a:lnTo>
                    <a:pt x="1678295" y="541288"/>
                  </a:lnTo>
                  <a:lnTo>
                    <a:pt x="1642421" y="606432"/>
                  </a:lnTo>
                  <a:lnTo>
                    <a:pt x="1617098" y="638298"/>
                  </a:lnTo>
                  <a:lnTo>
                    <a:pt x="1586756" y="669512"/>
                  </a:lnTo>
                  <a:lnTo>
                    <a:pt x="1556928" y="695397"/>
                  </a:lnTo>
                  <a:lnTo>
                    <a:pt x="1524194" y="719935"/>
                  </a:lnTo>
                  <a:lnTo>
                    <a:pt x="1488716" y="743083"/>
                  </a:lnTo>
                  <a:lnTo>
                    <a:pt x="1450660" y="764797"/>
                  </a:lnTo>
                  <a:lnTo>
                    <a:pt x="1410187" y="785034"/>
                  </a:lnTo>
                  <a:lnTo>
                    <a:pt x="1367460" y="803751"/>
                  </a:lnTo>
                  <a:lnTo>
                    <a:pt x="1322644" y="820905"/>
                  </a:lnTo>
                  <a:lnTo>
                    <a:pt x="1275901" y="836450"/>
                  </a:lnTo>
                  <a:lnTo>
                    <a:pt x="1227394" y="850345"/>
                  </a:lnTo>
                  <a:lnTo>
                    <a:pt x="1177287" y="862545"/>
                  </a:lnTo>
                  <a:lnTo>
                    <a:pt x="1125742" y="873007"/>
                  </a:lnTo>
                  <a:lnTo>
                    <a:pt x="1072924" y="881687"/>
                  </a:lnTo>
                  <a:lnTo>
                    <a:pt x="1018994" y="888543"/>
                  </a:lnTo>
                  <a:lnTo>
                    <a:pt x="964117" y="893530"/>
                  </a:lnTo>
                  <a:lnTo>
                    <a:pt x="908456" y="896604"/>
                  </a:lnTo>
                  <a:lnTo>
                    <a:pt x="852173" y="897724"/>
                  </a:lnTo>
                  <a:lnTo>
                    <a:pt x="795432" y="896844"/>
                  </a:lnTo>
                  <a:lnTo>
                    <a:pt x="738396" y="893921"/>
                  </a:lnTo>
                  <a:lnTo>
                    <a:pt x="494810" y="1009999"/>
                  </a:lnTo>
                  <a:close/>
                </a:path>
              </a:pathLst>
            </a:custGeom>
            <a:ln w="1524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144004" y="1771650"/>
            <a:ext cx="1035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70082" y="3861887"/>
            <a:ext cx="1743710" cy="1104265"/>
            <a:chOff x="6870082" y="3861887"/>
            <a:chExt cx="1743710" cy="1104265"/>
          </a:xfrm>
        </p:grpSpPr>
        <p:sp>
          <p:nvSpPr>
            <p:cNvPr id="46" name="object 46"/>
            <p:cNvSpPr/>
            <p:nvPr/>
          </p:nvSpPr>
          <p:spPr>
            <a:xfrm>
              <a:off x="6877702" y="3869507"/>
              <a:ext cx="1728470" cy="1089025"/>
            </a:xfrm>
            <a:custGeom>
              <a:avLst/>
              <a:gdLst/>
              <a:ahLst/>
              <a:cxnLst/>
              <a:rect l="l" t="t" r="r" b="b"/>
              <a:pathLst>
                <a:path w="1728470" h="1089025">
                  <a:moveTo>
                    <a:pt x="885340" y="0"/>
                  </a:moveTo>
                  <a:lnTo>
                    <a:pt x="833961" y="178"/>
                  </a:lnTo>
                  <a:lnTo>
                    <a:pt x="782835" y="2057"/>
                  </a:lnTo>
                  <a:lnTo>
                    <a:pt x="732098" y="5617"/>
                  </a:lnTo>
                  <a:lnTo>
                    <a:pt x="681890" y="10836"/>
                  </a:lnTo>
                  <a:lnTo>
                    <a:pt x="632347" y="17692"/>
                  </a:lnTo>
                  <a:lnTo>
                    <a:pt x="583609" y="26164"/>
                  </a:lnTo>
                  <a:lnTo>
                    <a:pt x="535811" y="36231"/>
                  </a:lnTo>
                  <a:lnTo>
                    <a:pt x="489093" y="47870"/>
                  </a:lnTo>
                  <a:lnTo>
                    <a:pt x="443593" y="61061"/>
                  </a:lnTo>
                  <a:lnTo>
                    <a:pt x="399448" y="75782"/>
                  </a:lnTo>
                  <a:lnTo>
                    <a:pt x="356795" y="92011"/>
                  </a:lnTo>
                  <a:lnTo>
                    <a:pt x="315774" y="109728"/>
                  </a:lnTo>
                  <a:lnTo>
                    <a:pt x="276521" y="128910"/>
                  </a:lnTo>
                  <a:lnTo>
                    <a:pt x="239175" y="149536"/>
                  </a:lnTo>
                  <a:lnTo>
                    <a:pt x="203874" y="171585"/>
                  </a:lnTo>
                  <a:lnTo>
                    <a:pt x="170755" y="195035"/>
                  </a:lnTo>
                  <a:lnTo>
                    <a:pt x="139956" y="219866"/>
                  </a:lnTo>
                  <a:lnTo>
                    <a:pt x="111616" y="246054"/>
                  </a:lnTo>
                  <a:lnTo>
                    <a:pt x="81999" y="278147"/>
                  </a:lnTo>
                  <a:lnTo>
                    <a:pt x="57045" y="310887"/>
                  </a:lnTo>
                  <a:lnTo>
                    <a:pt x="36690" y="344147"/>
                  </a:lnTo>
                  <a:lnTo>
                    <a:pt x="9526" y="411714"/>
                  </a:lnTo>
                  <a:lnTo>
                    <a:pt x="0" y="479830"/>
                  </a:lnTo>
                  <a:lnTo>
                    <a:pt x="1691" y="513774"/>
                  </a:lnTo>
                  <a:lnTo>
                    <a:pt x="17669" y="580799"/>
                  </a:lnTo>
                  <a:lnTo>
                    <a:pt x="50016" y="645821"/>
                  </a:lnTo>
                  <a:lnTo>
                    <a:pt x="72169" y="677262"/>
                  </a:lnTo>
                  <a:lnTo>
                    <a:pt x="98224" y="707820"/>
                  </a:lnTo>
                  <a:lnTo>
                    <a:pt x="128118" y="737367"/>
                  </a:lnTo>
                  <a:lnTo>
                    <a:pt x="161787" y="765776"/>
                  </a:lnTo>
                  <a:lnTo>
                    <a:pt x="199167" y="792919"/>
                  </a:lnTo>
                  <a:lnTo>
                    <a:pt x="240197" y="818669"/>
                  </a:lnTo>
                  <a:lnTo>
                    <a:pt x="284811" y="842898"/>
                  </a:lnTo>
                  <a:lnTo>
                    <a:pt x="332947" y="865478"/>
                  </a:lnTo>
                  <a:lnTo>
                    <a:pt x="384541" y="886283"/>
                  </a:lnTo>
                  <a:lnTo>
                    <a:pt x="439530" y="905184"/>
                  </a:lnTo>
                  <a:lnTo>
                    <a:pt x="504173" y="1088572"/>
                  </a:lnTo>
                  <a:lnTo>
                    <a:pt x="752458" y="963604"/>
                  </a:lnTo>
                  <a:lnTo>
                    <a:pt x="807519" y="966633"/>
                  </a:lnTo>
                  <a:lnTo>
                    <a:pt x="862318" y="967686"/>
                  </a:lnTo>
                  <a:lnTo>
                    <a:pt x="916714" y="966803"/>
                  </a:lnTo>
                  <a:lnTo>
                    <a:pt x="970565" y="964022"/>
                  </a:lnTo>
                  <a:lnTo>
                    <a:pt x="1023731" y="959383"/>
                  </a:lnTo>
                  <a:lnTo>
                    <a:pt x="1076069" y="952927"/>
                  </a:lnTo>
                  <a:lnTo>
                    <a:pt x="1127438" y="944692"/>
                  </a:lnTo>
                  <a:lnTo>
                    <a:pt x="1177697" y="934717"/>
                  </a:lnTo>
                  <a:lnTo>
                    <a:pt x="1226704" y="923044"/>
                  </a:lnTo>
                  <a:lnTo>
                    <a:pt x="1274319" y="909711"/>
                  </a:lnTo>
                  <a:lnTo>
                    <a:pt x="1320398" y="894757"/>
                  </a:lnTo>
                  <a:lnTo>
                    <a:pt x="1364802" y="878223"/>
                  </a:lnTo>
                  <a:lnTo>
                    <a:pt x="1407388" y="860147"/>
                  </a:lnTo>
                  <a:lnTo>
                    <a:pt x="1448015" y="840570"/>
                  </a:lnTo>
                  <a:lnTo>
                    <a:pt x="1486542" y="819530"/>
                  </a:lnTo>
                  <a:lnTo>
                    <a:pt x="1522828" y="797068"/>
                  </a:lnTo>
                  <a:lnTo>
                    <a:pt x="1556730" y="773223"/>
                  </a:lnTo>
                  <a:lnTo>
                    <a:pt x="1588108" y="748034"/>
                  </a:lnTo>
                  <a:lnTo>
                    <a:pt x="1616820" y="721542"/>
                  </a:lnTo>
                  <a:lnTo>
                    <a:pt x="1646436" y="689449"/>
                  </a:lnTo>
                  <a:lnTo>
                    <a:pt x="1671390" y="656709"/>
                  </a:lnTo>
                  <a:lnTo>
                    <a:pt x="1691745" y="623450"/>
                  </a:lnTo>
                  <a:lnTo>
                    <a:pt x="1718909" y="555882"/>
                  </a:lnTo>
                  <a:lnTo>
                    <a:pt x="1728436" y="487766"/>
                  </a:lnTo>
                  <a:lnTo>
                    <a:pt x="1726744" y="453822"/>
                  </a:lnTo>
                  <a:lnTo>
                    <a:pt x="1710766" y="386797"/>
                  </a:lnTo>
                  <a:lnTo>
                    <a:pt x="1678420" y="321775"/>
                  </a:lnTo>
                  <a:lnTo>
                    <a:pt x="1656267" y="290334"/>
                  </a:lnTo>
                  <a:lnTo>
                    <a:pt x="1630211" y="259776"/>
                  </a:lnTo>
                  <a:lnTo>
                    <a:pt x="1600318" y="230229"/>
                  </a:lnTo>
                  <a:lnTo>
                    <a:pt x="1566649" y="201820"/>
                  </a:lnTo>
                  <a:lnTo>
                    <a:pt x="1529268" y="174677"/>
                  </a:lnTo>
                  <a:lnTo>
                    <a:pt x="1488239" y="148927"/>
                  </a:lnTo>
                  <a:lnTo>
                    <a:pt x="1443624" y="124698"/>
                  </a:lnTo>
                  <a:lnTo>
                    <a:pt x="1395488" y="102118"/>
                  </a:lnTo>
                  <a:lnTo>
                    <a:pt x="1343894" y="81313"/>
                  </a:lnTo>
                  <a:lnTo>
                    <a:pt x="1288906" y="62412"/>
                  </a:lnTo>
                  <a:lnTo>
                    <a:pt x="1240472" y="48204"/>
                  </a:lnTo>
                  <a:lnTo>
                    <a:pt x="1191188" y="35869"/>
                  </a:lnTo>
                  <a:lnTo>
                    <a:pt x="1141191" y="25386"/>
                  </a:lnTo>
                  <a:lnTo>
                    <a:pt x="1090619" y="16734"/>
                  </a:lnTo>
                  <a:lnTo>
                    <a:pt x="1039610" y="9890"/>
                  </a:lnTo>
                  <a:lnTo>
                    <a:pt x="988302" y="4834"/>
                  </a:lnTo>
                  <a:lnTo>
                    <a:pt x="936833" y="1545"/>
                  </a:lnTo>
                  <a:lnTo>
                    <a:pt x="885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77702" y="3869507"/>
              <a:ext cx="1728470" cy="1089025"/>
            </a:xfrm>
            <a:custGeom>
              <a:avLst/>
              <a:gdLst/>
              <a:ahLst/>
              <a:cxnLst/>
              <a:rect l="l" t="t" r="r" b="b"/>
              <a:pathLst>
                <a:path w="1728470" h="1089025">
                  <a:moveTo>
                    <a:pt x="504173" y="1088572"/>
                  </a:moveTo>
                  <a:lnTo>
                    <a:pt x="439530" y="905184"/>
                  </a:lnTo>
                  <a:lnTo>
                    <a:pt x="384541" y="886283"/>
                  </a:lnTo>
                  <a:lnTo>
                    <a:pt x="332947" y="865478"/>
                  </a:lnTo>
                  <a:lnTo>
                    <a:pt x="284811" y="842898"/>
                  </a:lnTo>
                  <a:lnTo>
                    <a:pt x="240197" y="818669"/>
                  </a:lnTo>
                  <a:lnTo>
                    <a:pt x="199167" y="792919"/>
                  </a:lnTo>
                  <a:lnTo>
                    <a:pt x="161787" y="765776"/>
                  </a:lnTo>
                  <a:lnTo>
                    <a:pt x="128118" y="737367"/>
                  </a:lnTo>
                  <a:lnTo>
                    <a:pt x="98224" y="707820"/>
                  </a:lnTo>
                  <a:lnTo>
                    <a:pt x="72169" y="677262"/>
                  </a:lnTo>
                  <a:lnTo>
                    <a:pt x="50016" y="645821"/>
                  </a:lnTo>
                  <a:lnTo>
                    <a:pt x="17669" y="580799"/>
                  </a:lnTo>
                  <a:lnTo>
                    <a:pt x="1691" y="513774"/>
                  </a:lnTo>
                  <a:lnTo>
                    <a:pt x="0" y="479830"/>
                  </a:lnTo>
                  <a:lnTo>
                    <a:pt x="2590" y="445767"/>
                  </a:lnTo>
                  <a:lnTo>
                    <a:pt x="20872" y="377798"/>
                  </a:lnTo>
                  <a:lnTo>
                    <a:pt x="57045" y="310887"/>
                  </a:lnTo>
                  <a:lnTo>
                    <a:pt x="81999" y="278147"/>
                  </a:lnTo>
                  <a:lnTo>
                    <a:pt x="111616" y="246054"/>
                  </a:lnTo>
                  <a:lnTo>
                    <a:pt x="139956" y="219866"/>
                  </a:lnTo>
                  <a:lnTo>
                    <a:pt x="170755" y="195035"/>
                  </a:lnTo>
                  <a:lnTo>
                    <a:pt x="203874" y="171585"/>
                  </a:lnTo>
                  <a:lnTo>
                    <a:pt x="239175" y="149536"/>
                  </a:lnTo>
                  <a:lnTo>
                    <a:pt x="276521" y="128910"/>
                  </a:lnTo>
                  <a:lnTo>
                    <a:pt x="315774" y="109728"/>
                  </a:lnTo>
                  <a:lnTo>
                    <a:pt x="356795" y="92011"/>
                  </a:lnTo>
                  <a:lnTo>
                    <a:pt x="399448" y="75782"/>
                  </a:lnTo>
                  <a:lnTo>
                    <a:pt x="443593" y="61061"/>
                  </a:lnTo>
                  <a:lnTo>
                    <a:pt x="489093" y="47870"/>
                  </a:lnTo>
                  <a:lnTo>
                    <a:pt x="535811" y="36231"/>
                  </a:lnTo>
                  <a:lnTo>
                    <a:pt x="583609" y="26164"/>
                  </a:lnTo>
                  <a:lnTo>
                    <a:pt x="632347" y="17692"/>
                  </a:lnTo>
                  <a:lnTo>
                    <a:pt x="681890" y="10836"/>
                  </a:lnTo>
                  <a:lnTo>
                    <a:pt x="732098" y="5617"/>
                  </a:lnTo>
                  <a:lnTo>
                    <a:pt x="782835" y="2057"/>
                  </a:lnTo>
                  <a:lnTo>
                    <a:pt x="833961" y="178"/>
                  </a:lnTo>
                  <a:lnTo>
                    <a:pt x="885340" y="0"/>
                  </a:lnTo>
                  <a:lnTo>
                    <a:pt x="936833" y="1545"/>
                  </a:lnTo>
                  <a:lnTo>
                    <a:pt x="988302" y="4834"/>
                  </a:lnTo>
                  <a:lnTo>
                    <a:pt x="1039610" y="9890"/>
                  </a:lnTo>
                  <a:lnTo>
                    <a:pt x="1090619" y="16734"/>
                  </a:lnTo>
                  <a:lnTo>
                    <a:pt x="1141191" y="25386"/>
                  </a:lnTo>
                  <a:lnTo>
                    <a:pt x="1191188" y="35869"/>
                  </a:lnTo>
                  <a:lnTo>
                    <a:pt x="1240472" y="48204"/>
                  </a:lnTo>
                  <a:lnTo>
                    <a:pt x="1288906" y="62412"/>
                  </a:lnTo>
                  <a:lnTo>
                    <a:pt x="1343894" y="81313"/>
                  </a:lnTo>
                  <a:lnTo>
                    <a:pt x="1395488" y="102118"/>
                  </a:lnTo>
                  <a:lnTo>
                    <a:pt x="1443624" y="124698"/>
                  </a:lnTo>
                  <a:lnTo>
                    <a:pt x="1488239" y="148927"/>
                  </a:lnTo>
                  <a:lnTo>
                    <a:pt x="1529268" y="174677"/>
                  </a:lnTo>
                  <a:lnTo>
                    <a:pt x="1566649" y="201820"/>
                  </a:lnTo>
                  <a:lnTo>
                    <a:pt x="1600318" y="230229"/>
                  </a:lnTo>
                  <a:lnTo>
                    <a:pt x="1630211" y="259776"/>
                  </a:lnTo>
                  <a:lnTo>
                    <a:pt x="1656267" y="290334"/>
                  </a:lnTo>
                  <a:lnTo>
                    <a:pt x="1678420" y="321775"/>
                  </a:lnTo>
                  <a:lnTo>
                    <a:pt x="1710766" y="386797"/>
                  </a:lnTo>
                  <a:lnTo>
                    <a:pt x="1726744" y="453822"/>
                  </a:lnTo>
                  <a:lnTo>
                    <a:pt x="1728436" y="487766"/>
                  </a:lnTo>
                  <a:lnTo>
                    <a:pt x="1725845" y="521829"/>
                  </a:lnTo>
                  <a:lnTo>
                    <a:pt x="1707563" y="589798"/>
                  </a:lnTo>
                  <a:lnTo>
                    <a:pt x="1671390" y="656709"/>
                  </a:lnTo>
                  <a:lnTo>
                    <a:pt x="1646436" y="689449"/>
                  </a:lnTo>
                  <a:lnTo>
                    <a:pt x="1616820" y="721542"/>
                  </a:lnTo>
                  <a:lnTo>
                    <a:pt x="1588108" y="748034"/>
                  </a:lnTo>
                  <a:lnTo>
                    <a:pt x="1556730" y="773223"/>
                  </a:lnTo>
                  <a:lnTo>
                    <a:pt x="1522828" y="797068"/>
                  </a:lnTo>
                  <a:lnTo>
                    <a:pt x="1486542" y="819530"/>
                  </a:lnTo>
                  <a:lnTo>
                    <a:pt x="1448015" y="840570"/>
                  </a:lnTo>
                  <a:lnTo>
                    <a:pt x="1407388" y="860147"/>
                  </a:lnTo>
                  <a:lnTo>
                    <a:pt x="1364802" y="878223"/>
                  </a:lnTo>
                  <a:lnTo>
                    <a:pt x="1320398" y="894757"/>
                  </a:lnTo>
                  <a:lnTo>
                    <a:pt x="1274319" y="909711"/>
                  </a:lnTo>
                  <a:lnTo>
                    <a:pt x="1226704" y="923044"/>
                  </a:lnTo>
                  <a:lnTo>
                    <a:pt x="1177697" y="934717"/>
                  </a:lnTo>
                  <a:lnTo>
                    <a:pt x="1127438" y="944692"/>
                  </a:lnTo>
                  <a:lnTo>
                    <a:pt x="1076069" y="952927"/>
                  </a:lnTo>
                  <a:lnTo>
                    <a:pt x="1023731" y="959383"/>
                  </a:lnTo>
                  <a:lnTo>
                    <a:pt x="970565" y="964022"/>
                  </a:lnTo>
                  <a:lnTo>
                    <a:pt x="916714" y="966803"/>
                  </a:lnTo>
                  <a:lnTo>
                    <a:pt x="862318" y="967686"/>
                  </a:lnTo>
                  <a:lnTo>
                    <a:pt x="807519" y="966633"/>
                  </a:lnTo>
                  <a:lnTo>
                    <a:pt x="752458" y="963604"/>
                  </a:lnTo>
                  <a:lnTo>
                    <a:pt x="504173" y="1088572"/>
                  </a:lnTo>
                  <a:close/>
                </a:path>
              </a:pathLst>
            </a:custGeom>
            <a:ln w="15240">
              <a:solidFill>
                <a:srgbClr val="FABB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215631" y="4105402"/>
            <a:ext cx="1055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74904"/>
            <a:ext cx="12192000" cy="5631815"/>
            <a:chOff x="0" y="374904"/>
            <a:chExt cx="12192000" cy="5631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79" y="1615440"/>
              <a:ext cx="6089904" cy="21656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05755" y="3826763"/>
              <a:ext cx="273685" cy="2172335"/>
            </a:xfrm>
            <a:custGeom>
              <a:avLst/>
              <a:gdLst/>
              <a:ahLst/>
              <a:cxnLst/>
              <a:rect l="l" t="t" r="r" b="b"/>
              <a:pathLst>
                <a:path w="273685" h="2172335">
                  <a:moveTo>
                    <a:pt x="0" y="0"/>
                  </a:moveTo>
                  <a:lnTo>
                    <a:pt x="0" y="2172106"/>
                  </a:lnTo>
                  <a:lnTo>
                    <a:pt x="273431" y="2172106"/>
                  </a:lnTo>
                </a:path>
                <a:path w="273685" h="2172335">
                  <a:moveTo>
                    <a:pt x="0" y="0"/>
                  </a:moveTo>
                  <a:lnTo>
                    <a:pt x="0" y="858266"/>
                  </a:lnTo>
                  <a:lnTo>
                    <a:pt x="273431" y="858266"/>
                  </a:lnTo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29000" y="2532887"/>
              <a:ext cx="2205990" cy="382905"/>
            </a:xfrm>
            <a:custGeom>
              <a:avLst/>
              <a:gdLst/>
              <a:ahLst/>
              <a:cxnLst/>
              <a:rect l="l" t="t" r="r" b="b"/>
              <a:pathLst>
                <a:path w="2205990" h="382905">
                  <a:moveTo>
                    <a:pt x="0" y="0"/>
                  </a:moveTo>
                  <a:lnTo>
                    <a:pt x="0" y="191388"/>
                  </a:lnTo>
                  <a:lnTo>
                    <a:pt x="2205482" y="191388"/>
                  </a:lnTo>
                  <a:lnTo>
                    <a:pt x="2205482" y="382777"/>
                  </a:lnTo>
                </a:path>
              </a:pathLst>
            </a:custGeom>
            <a:ln w="15240">
              <a:solidFill>
                <a:srgbClr val="B66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00527" y="3826763"/>
              <a:ext cx="273685" cy="838835"/>
            </a:xfrm>
            <a:custGeom>
              <a:avLst/>
              <a:gdLst/>
              <a:ahLst/>
              <a:cxnLst/>
              <a:rect l="l" t="t" r="r" b="b"/>
              <a:pathLst>
                <a:path w="273685" h="838835">
                  <a:moveTo>
                    <a:pt x="0" y="0"/>
                  </a:moveTo>
                  <a:lnTo>
                    <a:pt x="0" y="838454"/>
                  </a:lnTo>
                  <a:lnTo>
                    <a:pt x="273431" y="838454"/>
                  </a:lnTo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29000" y="2532887"/>
              <a:ext cx="0" cy="382905"/>
            </a:xfrm>
            <a:custGeom>
              <a:avLst/>
              <a:gdLst/>
              <a:ahLst/>
              <a:cxnLst/>
              <a:rect l="l" t="t" r="r" b="b"/>
              <a:pathLst>
                <a:path h="382905">
                  <a:moveTo>
                    <a:pt x="0" y="0"/>
                  </a:moveTo>
                  <a:lnTo>
                    <a:pt x="0" y="382777"/>
                  </a:lnTo>
                </a:path>
              </a:pathLst>
            </a:custGeom>
            <a:ln w="15240">
              <a:solidFill>
                <a:srgbClr val="B66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300" y="3826763"/>
              <a:ext cx="273685" cy="2132965"/>
            </a:xfrm>
            <a:custGeom>
              <a:avLst/>
              <a:gdLst/>
              <a:ahLst/>
              <a:cxnLst/>
              <a:rect l="l" t="t" r="r" b="b"/>
              <a:pathLst>
                <a:path w="273684" h="2132965">
                  <a:moveTo>
                    <a:pt x="0" y="0"/>
                  </a:moveTo>
                  <a:lnTo>
                    <a:pt x="0" y="2132520"/>
                  </a:lnTo>
                  <a:lnTo>
                    <a:pt x="273405" y="2132520"/>
                  </a:lnTo>
                </a:path>
                <a:path w="273684" h="2132965">
                  <a:moveTo>
                    <a:pt x="0" y="0"/>
                  </a:moveTo>
                  <a:lnTo>
                    <a:pt x="0" y="838454"/>
                  </a:lnTo>
                  <a:lnTo>
                    <a:pt x="273405" y="838454"/>
                  </a:lnTo>
                </a:path>
              </a:pathLst>
            </a:custGeom>
            <a:ln w="15240">
              <a:solidFill>
                <a:srgbClr val="CF76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23772" y="2532887"/>
              <a:ext cx="2205990" cy="382905"/>
            </a:xfrm>
            <a:custGeom>
              <a:avLst/>
              <a:gdLst/>
              <a:ahLst/>
              <a:cxnLst/>
              <a:rect l="l" t="t" r="r" b="b"/>
              <a:pathLst>
                <a:path w="2205990" h="382905">
                  <a:moveTo>
                    <a:pt x="2205481" y="0"/>
                  </a:moveTo>
                  <a:lnTo>
                    <a:pt x="2205481" y="191388"/>
                  </a:lnTo>
                  <a:lnTo>
                    <a:pt x="0" y="191388"/>
                  </a:lnTo>
                  <a:lnTo>
                    <a:pt x="0" y="382777"/>
                  </a:lnTo>
                </a:path>
              </a:pathLst>
            </a:custGeom>
            <a:ln w="15240">
              <a:solidFill>
                <a:srgbClr val="B66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873" rIns="0" bIns="0" rtlCol="0">
            <a:spAutoFit/>
          </a:bodyPr>
          <a:lstStyle/>
          <a:p>
            <a:pPr marL="636905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60" dirty="0"/>
              <a:t> </a:t>
            </a:r>
            <a:r>
              <a:rPr dirty="0"/>
              <a:t>Learning</a:t>
            </a:r>
            <a:r>
              <a:rPr spc="-355" dirty="0"/>
              <a:t> </a:t>
            </a:r>
            <a:r>
              <a:rPr dirty="0"/>
              <a:t>+</a:t>
            </a:r>
            <a:r>
              <a:rPr spc="-355" dirty="0"/>
              <a:t> </a:t>
            </a:r>
            <a:r>
              <a:rPr spc="-25" dirty="0"/>
              <a:t>GCP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88820" y="1621536"/>
            <a:ext cx="289877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54000" rIns="0" bIns="0" rtlCol="0">
            <a:spAutoFit/>
          </a:bodyPr>
          <a:lstStyle/>
          <a:p>
            <a:pPr marL="387985">
              <a:lnSpc>
                <a:spcPct val="100000"/>
              </a:lnSpc>
              <a:spcBef>
                <a:spcPts val="2000"/>
              </a:spcBef>
            </a:pPr>
            <a:r>
              <a:rPr sz="2400" b="1" dirty="0">
                <a:latin typeface="Calibri"/>
                <a:cs typeface="Calibri"/>
              </a:rPr>
              <a:t>GCP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ML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Solution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420" y="2915411"/>
            <a:ext cx="1823085" cy="911860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ts val="2305"/>
              </a:lnSpc>
              <a:spcBef>
                <a:spcPts val="1045"/>
              </a:spcBef>
            </a:pP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Pre-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Trained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305"/>
              </a:lnSpc>
            </a:pP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095" y="4209288"/>
            <a:ext cx="1823085" cy="921385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95580" rIns="0" bIns="0" rtlCol="0">
            <a:spAutoFit/>
          </a:bodyPr>
          <a:lstStyle/>
          <a:p>
            <a:pPr marL="662305" marR="197485" indent="-457200">
              <a:lnSpc>
                <a:spcPts val="1970"/>
              </a:lnSpc>
              <a:spcBef>
                <a:spcPts val="1540"/>
              </a:spcBef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generic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use </a:t>
            </a:r>
            <a:r>
              <a:rPr sz="1800" spc="-10" dirty="0">
                <a:latin typeface="Calibri"/>
                <a:cs typeface="Calibri"/>
              </a:rPr>
              <a:t>cases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095" y="5522976"/>
            <a:ext cx="1823085" cy="911860"/>
          </a:xfrm>
          <a:prstGeom prst="rect">
            <a:avLst/>
          </a:prstGeom>
          <a:solidFill>
            <a:srgbClr val="FFFFFF"/>
          </a:solidFill>
          <a:ln w="15239">
            <a:solidFill>
              <a:srgbClr val="CF760E"/>
            </a:solidFill>
          </a:ln>
        </p:spPr>
        <p:txBody>
          <a:bodyPr vert="horz" wrap="square" lIns="0" tIns="175895" rIns="0" bIns="0" rtlCol="0">
            <a:spAutoFit/>
          </a:bodyPr>
          <a:lstStyle/>
          <a:p>
            <a:pPr marL="81280" marR="52705" indent="-22860">
              <a:lnSpc>
                <a:spcPts val="1970"/>
              </a:lnSpc>
              <a:spcBef>
                <a:spcPts val="1385"/>
              </a:spcBef>
            </a:pPr>
            <a:r>
              <a:rPr sz="1800" dirty="0">
                <a:latin typeface="Calibri"/>
                <a:cs typeface="Calibri"/>
              </a:rPr>
              <a:t>Vision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API,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Speech </a:t>
            </a:r>
            <a:r>
              <a:rPr sz="1800" dirty="0">
                <a:latin typeface="Calibri"/>
                <a:cs typeface="Calibri"/>
              </a:rPr>
              <a:t>API,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</a:t>
            </a:r>
            <a:r>
              <a:rPr sz="1800" spc="-25" dirty="0">
                <a:latin typeface="Calibri"/>
                <a:cs typeface="Calibri"/>
              </a:rPr>
              <a:t> API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7648" y="2915411"/>
            <a:ext cx="182308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72415" rIns="0" bIns="0" rtlCol="0">
            <a:spAutoFit/>
          </a:bodyPr>
          <a:lstStyle/>
          <a:p>
            <a:pPr marL="471805">
              <a:lnSpc>
                <a:spcPct val="100000"/>
              </a:lnSpc>
              <a:spcBef>
                <a:spcPts val="214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Auto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3323" y="4209288"/>
            <a:ext cx="1823085" cy="9213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45720" marR="35560" algn="ctr">
              <a:lnSpc>
                <a:spcPct val="91500"/>
              </a:lnSpc>
              <a:spcBef>
                <a:spcPts val="509"/>
              </a:spcBef>
            </a:pPr>
            <a:r>
              <a:rPr sz="1800" dirty="0">
                <a:latin typeface="Calibri"/>
                <a:cs typeface="Calibri"/>
              </a:rPr>
              <a:t>Throw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&amp; </a:t>
            </a:r>
            <a:r>
              <a:rPr sz="1800" dirty="0">
                <a:latin typeface="Calibri"/>
                <a:cs typeface="Calibri"/>
              </a:rPr>
              <a:t>rest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GCP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take care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22876" y="2915411"/>
            <a:ext cx="182308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72415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14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Custom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Training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8552" y="4209288"/>
            <a:ext cx="2205355" cy="921385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2540" algn="ctr">
              <a:lnSpc>
                <a:spcPts val="2065"/>
              </a:lnSpc>
              <a:spcBef>
                <a:spcPts val="1470"/>
              </a:spcBef>
            </a:pPr>
            <a:r>
              <a:rPr sz="1800" spc="-30" dirty="0">
                <a:latin typeface="Calibri"/>
                <a:cs typeface="Calibri"/>
              </a:rPr>
              <a:t>Tensorflow,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PyTorch,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ts val="2065"/>
              </a:lnSpc>
            </a:pPr>
            <a:r>
              <a:rPr sz="1800" spc="-10" dirty="0">
                <a:latin typeface="Calibri"/>
                <a:cs typeface="Calibri"/>
              </a:rPr>
              <a:t>Scikit-learn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78552" y="5522976"/>
            <a:ext cx="1823085" cy="911860"/>
          </a:xfrm>
          <a:prstGeom prst="rect">
            <a:avLst/>
          </a:prstGeom>
          <a:solidFill>
            <a:srgbClr val="FFFFFF"/>
          </a:solidFill>
          <a:ln w="15240">
            <a:solidFill>
              <a:srgbClr val="CF760E"/>
            </a:solidFill>
          </a:ln>
        </p:spPr>
        <p:txBody>
          <a:bodyPr vert="horz" wrap="square" lIns="0" tIns="215900" rIns="0" bIns="0" rtlCol="0">
            <a:spAutoFit/>
          </a:bodyPr>
          <a:lstStyle/>
          <a:p>
            <a:pPr marL="313055" marR="302895" indent="139700">
              <a:lnSpc>
                <a:spcPts val="1970"/>
              </a:lnSpc>
              <a:spcBef>
                <a:spcPts val="1700"/>
              </a:spcBef>
            </a:pPr>
            <a:r>
              <a:rPr sz="1800" dirty="0">
                <a:latin typeface="Calibri"/>
                <a:cs typeface="Calibri"/>
              </a:rPr>
              <a:t>Spark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ML, </a:t>
            </a:r>
            <a:r>
              <a:rPr sz="1800" dirty="0">
                <a:latin typeface="Calibri"/>
                <a:cs typeface="Calibri"/>
              </a:rPr>
              <a:t>BigQuery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2917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DataPrep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353" y="1361287"/>
            <a:ext cx="7973059" cy="437007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Preparation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Visually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explore,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clean,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prepare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Trifacta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Third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Party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native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one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code,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just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click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Dataprep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deploy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detect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schema,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anomalies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consuming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easily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Concern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Trifacta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4904"/>
            <a:ext cx="12192000" cy="6076315"/>
            <a:chOff x="0" y="374904"/>
            <a:chExt cx="12192000" cy="6076315"/>
          </a:xfrm>
        </p:grpSpPr>
        <p:sp>
          <p:nvSpPr>
            <p:cNvPr id="4" name="object 4"/>
            <p:cNvSpPr/>
            <p:nvPr/>
          </p:nvSpPr>
          <p:spPr>
            <a:xfrm>
              <a:off x="0" y="143255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7083" y="374904"/>
              <a:ext cx="1575816" cy="12283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843" y="1493519"/>
              <a:ext cx="11672316" cy="495757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7607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DataPrep</a:t>
            </a:r>
            <a:r>
              <a:rPr spc="-375" dirty="0"/>
              <a:t> </a:t>
            </a:r>
            <a:r>
              <a:rPr dirty="0"/>
              <a:t>ETL</a:t>
            </a:r>
            <a:r>
              <a:rPr spc="-355" dirty="0"/>
              <a:t> </a:t>
            </a:r>
            <a:r>
              <a:rPr spc="-25" dirty="0"/>
              <a:t>Pipeline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641" y="528320"/>
            <a:ext cx="3998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275" dirty="0"/>
              <a:t> </a:t>
            </a:r>
            <a:r>
              <a:rPr spc="-35" dirty="0"/>
              <a:t>Studio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2353" y="1361287"/>
            <a:ext cx="11248390" cy="292163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500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tool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Connect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spreadsheets,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Analytics,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Ads,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BigQuery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connectors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Drag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drop,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Dashboards</a:t>
            </a:r>
            <a:endParaRPr sz="2000">
              <a:latin typeface="Calibri"/>
              <a:cs typeface="Calibri"/>
            </a:endParaRPr>
          </a:p>
          <a:p>
            <a:pPr marL="269875" indent="-257175">
              <a:lnSpc>
                <a:spcPct val="10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269875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Free</a:t>
            </a:r>
            <a:endParaRPr sz="20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26924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97E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2980</Words>
  <Application>Microsoft Office PowerPoint</Application>
  <PresentationFormat>Widescreen</PresentationFormat>
  <Paragraphs>714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Aptos</vt:lpstr>
      <vt:lpstr>Calibri</vt:lpstr>
      <vt:lpstr>Courier New</vt:lpstr>
      <vt:lpstr>Lucida Console</vt:lpstr>
      <vt:lpstr>Times New Roman</vt:lpstr>
      <vt:lpstr>Wingdings</vt:lpstr>
      <vt:lpstr>Office Theme</vt:lpstr>
      <vt:lpstr>PowerPoint Presentation</vt:lpstr>
      <vt:lpstr>Data engineering Overview</vt:lpstr>
      <vt:lpstr>PowerPoint Presentation</vt:lpstr>
      <vt:lpstr>Ingest</vt:lpstr>
      <vt:lpstr>Store</vt:lpstr>
      <vt:lpstr>Process &amp; Analyze</vt:lpstr>
      <vt:lpstr>Explore and visualize</vt:lpstr>
      <vt:lpstr>IAM – Roles &amp; Permission</vt:lpstr>
      <vt:lpstr>Different storage product</vt:lpstr>
      <vt:lpstr>Different storage product</vt:lpstr>
      <vt:lpstr>Object Organization</vt:lpstr>
      <vt:lpstr>Storage Class</vt:lpstr>
      <vt:lpstr>Data Transfer Service</vt:lpstr>
      <vt:lpstr>On-premises to (GCS)</vt:lpstr>
      <vt:lpstr>Transfer Appliance</vt:lpstr>
      <vt:lpstr>Online vs Offline transfer</vt:lpstr>
      <vt:lpstr>Transfer Service|cloud data</vt:lpstr>
      <vt:lpstr>Storage</vt:lpstr>
      <vt:lpstr>OLTP</vt:lpstr>
      <vt:lpstr>OLAP</vt:lpstr>
      <vt:lpstr>Vertical – Horizontal Scaling</vt:lpstr>
      <vt:lpstr>RTO &amp; RPO</vt:lpstr>
      <vt:lpstr>RTO &amp; RPO</vt:lpstr>
      <vt:lpstr>RTO &amp; RPO</vt:lpstr>
      <vt:lpstr>Durability</vt:lpstr>
      <vt:lpstr>Availability</vt:lpstr>
      <vt:lpstr>GCP Database products</vt:lpstr>
      <vt:lpstr>Google Cloud SQL</vt:lpstr>
      <vt:lpstr>Google Cloud SQL</vt:lpstr>
      <vt:lpstr>Google Cloud Spanner</vt:lpstr>
      <vt:lpstr>Spanner vs RDBMS-SQL</vt:lpstr>
      <vt:lpstr>Cloud Spanner Demo</vt:lpstr>
      <vt:lpstr>Which database to use when</vt:lpstr>
      <vt:lpstr>NoSQL Introduction</vt:lpstr>
      <vt:lpstr>Semi-structured data</vt:lpstr>
      <vt:lpstr>Cloud Datastore</vt:lpstr>
      <vt:lpstr>Cloud Firestore</vt:lpstr>
      <vt:lpstr>Cloud BigTable</vt:lpstr>
      <vt:lpstr>Cloud BigTable</vt:lpstr>
      <vt:lpstr>GCP Data Processing Solution</vt:lpstr>
      <vt:lpstr>Cloud BigQuery</vt:lpstr>
      <vt:lpstr>BigQuery Data organization</vt:lpstr>
      <vt:lpstr>When BigQuery should be used</vt:lpstr>
      <vt:lpstr>Cloud BigQuery Pricing</vt:lpstr>
      <vt:lpstr>PubSub</vt:lpstr>
      <vt:lpstr>How PubSub works</vt:lpstr>
      <vt:lpstr>Cloud PubSub</vt:lpstr>
      <vt:lpstr>Advantage PubSub</vt:lpstr>
      <vt:lpstr>Cloud DataFlow</vt:lpstr>
      <vt:lpstr>How DataFlow Works</vt:lpstr>
      <vt:lpstr>Apache Beam</vt:lpstr>
      <vt:lpstr>Cloud DataProc</vt:lpstr>
      <vt:lpstr>Cloud Data Fusion</vt:lpstr>
      <vt:lpstr>Cloud Data Fusion Demo</vt:lpstr>
      <vt:lpstr>Cloud Composer</vt:lpstr>
      <vt:lpstr>How Data Catalog works</vt:lpstr>
      <vt:lpstr>Metadata</vt:lpstr>
      <vt:lpstr>Machine Learning - GCP</vt:lpstr>
      <vt:lpstr>Machine Learning</vt:lpstr>
      <vt:lpstr>Machine Learning</vt:lpstr>
      <vt:lpstr>Types of ML System</vt:lpstr>
      <vt:lpstr>Machine Learning workflow</vt:lpstr>
      <vt:lpstr>Machine Learning + GCP</vt:lpstr>
      <vt:lpstr>DataPrep</vt:lpstr>
      <vt:lpstr>DataPrep ETL Pipeline</vt:lpstr>
      <vt:lpstr>Data Studio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LAMBDA</dc:title>
  <dc:creator>ankit mistry</dc:creator>
  <cp:lastModifiedBy>Vikash Verma</cp:lastModifiedBy>
  <cp:revision>5</cp:revision>
  <dcterms:created xsi:type="dcterms:W3CDTF">2026-04-07T03:58:44Z</dcterms:created>
  <dcterms:modified xsi:type="dcterms:W3CDTF">2026-04-08T03:54:06Z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2026-04-07T00:00:00Z</vt:filetime>
  </property>
  <property fmtid="{D5CDD505-2E9C-101B-9397-08002B2CF9AE}" pid="5" name="Producer">
    <vt:lpwstr>Microsoft® PowerPoint® 2016</vt:lpwstr>
  </property>
</Properties>
</file>
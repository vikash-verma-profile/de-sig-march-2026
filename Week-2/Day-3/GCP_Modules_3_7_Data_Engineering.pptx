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62AA40-1861-428E-A9B6-2771DD1D6E4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794BCD2-6D40-4A07-875E-3143BFCC8AC5}">
      <dgm:prSet/>
      <dgm:spPr/>
      <dgm:t>
        <a:bodyPr/>
        <a:lstStyle/>
        <a:p>
          <a:pPr>
            <a:defRPr cap="all"/>
          </a:pPr>
          <a:r>
            <a:rPr lang="en-US"/>
            <a:t>- Messaging service</a:t>
          </a:r>
        </a:p>
      </dgm:t>
    </dgm:pt>
    <dgm:pt modelId="{52A7DB39-BF16-4DC3-B920-10EC42A97049}" type="parTrans" cxnId="{6370FF42-773A-452F-A3B2-7653E8B679CD}">
      <dgm:prSet/>
      <dgm:spPr/>
      <dgm:t>
        <a:bodyPr/>
        <a:lstStyle/>
        <a:p>
          <a:endParaRPr lang="en-US"/>
        </a:p>
      </dgm:t>
    </dgm:pt>
    <dgm:pt modelId="{22B7E539-11B0-422E-B728-9508231DA2EE}" type="sibTrans" cxnId="{6370FF42-773A-452F-A3B2-7653E8B679CD}">
      <dgm:prSet/>
      <dgm:spPr/>
      <dgm:t>
        <a:bodyPr/>
        <a:lstStyle/>
        <a:p>
          <a:endParaRPr lang="en-US"/>
        </a:p>
      </dgm:t>
    </dgm:pt>
    <dgm:pt modelId="{83AF4097-EBE3-4E41-8CD1-E70681556215}">
      <dgm:prSet/>
      <dgm:spPr/>
      <dgm:t>
        <a:bodyPr/>
        <a:lstStyle/>
        <a:p>
          <a:pPr>
            <a:defRPr cap="all"/>
          </a:pPr>
          <a:r>
            <a:rPr lang="en-US"/>
            <a:t>- Decouples producers &amp; consumers</a:t>
          </a:r>
        </a:p>
      </dgm:t>
    </dgm:pt>
    <dgm:pt modelId="{14814FD7-B153-45CC-9152-70C3B788811A}" type="parTrans" cxnId="{1D5112E8-4594-4BD5-A490-293E7E76D069}">
      <dgm:prSet/>
      <dgm:spPr/>
      <dgm:t>
        <a:bodyPr/>
        <a:lstStyle/>
        <a:p>
          <a:endParaRPr lang="en-US"/>
        </a:p>
      </dgm:t>
    </dgm:pt>
    <dgm:pt modelId="{522D4818-0B16-4A9B-8BA2-CF967FA2CA6F}" type="sibTrans" cxnId="{1D5112E8-4594-4BD5-A490-293E7E76D069}">
      <dgm:prSet/>
      <dgm:spPr/>
      <dgm:t>
        <a:bodyPr/>
        <a:lstStyle/>
        <a:p>
          <a:endParaRPr lang="en-US"/>
        </a:p>
      </dgm:t>
    </dgm:pt>
    <dgm:pt modelId="{5354601F-DBA8-44B7-AA1B-E19CE58CA064}">
      <dgm:prSet/>
      <dgm:spPr/>
      <dgm:t>
        <a:bodyPr/>
        <a:lstStyle/>
        <a:p>
          <a:pPr>
            <a:defRPr cap="all"/>
          </a:pPr>
          <a:r>
            <a:rPr lang="en-US"/>
            <a:t>- Real-time ingestion backbone</a:t>
          </a:r>
        </a:p>
      </dgm:t>
    </dgm:pt>
    <dgm:pt modelId="{8405D889-ACFE-4389-90C8-17D890A2F1AA}" type="parTrans" cxnId="{39C8B10C-C250-486D-BF01-84924FAF118C}">
      <dgm:prSet/>
      <dgm:spPr/>
      <dgm:t>
        <a:bodyPr/>
        <a:lstStyle/>
        <a:p>
          <a:endParaRPr lang="en-US"/>
        </a:p>
      </dgm:t>
    </dgm:pt>
    <dgm:pt modelId="{5156CCBB-764B-4E52-97CB-6FE4C953F6E8}" type="sibTrans" cxnId="{39C8B10C-C250-486D-BF01-84924FAF118C}">
      <dgm:prSet/>
      <dgm:spPr/>
      <dgm:t>
        <a:bodyPr/>
        <a:lstStyle/>
        <a:p>
          <a:endParaRPr lang="en-US"/>
        </a:p>
      </dgm:t>
    </dgm:pt>
    <dgm:pt modelId="{6C35E266-903E-4159-842D-C72995A58D77}" type="pres">
      <dgm:prSet presAssocID="{C362AA40-1861-428E-A9B6-2771DD1D6E49}" presName="root" presStyleCnt="0">
        <dgm:presLayoutVars>
          <dgm:dir/>
          <dgm:resizeHandles val="exact"/>
        </dgm:presLayoutVars>
      </dgm:prSet>
      <dgm:spPr/>
    </dgm:pt>
    <dgm:pt modelId="{7DB0D63A-C8D5-498A-BD4E-96C82D305538}" type="pres">
      <dgm:prSet presAssocID="{9794BCD2-6D40-4A07-875E-3143BFCC8AC5}" presName="compNode" presStyleCnt="0"/>
      <dgm:spPr/>
    </dgm:pt>
    <dgm:pt modelId="{F3CE4A6A-6CC3-49FA-9F87-27F41D1B1353}" type="pres">
      <dgm:prSet presAssocID="{9794BCD2-6D40-4A07-875E-3143BFCC8AC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05ACBF7-6093-468D-B52E-82EB7609430B}" type="pres">
      <dgm:prSet presAssocID="{9794BCD2-6D40-4A07-875E-3143BFCC8AC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3D911B4-FF69-420D-B8C2-6244D01D19EB}" type="pres">
      <dgm:prSet presAssocID="{9794BCD2-6D40-4A07-875E-3143BFCC8AC5}" presName="spaceRect" presStyleCnt="0"/>
      <dgm:spPr/>
    </dgm:pt>
    <dgm:pt modelId="{10DC8A5E-2814-445D-849F-A360DB7C48F6}" type="pres">
      <dgm:prSet presAssocID="{9794BCD2-6D40-4A07-875E-3143BFCC8AC5}" presName="textRect" presStyleLbl="revTx" presStyleIdx="0" presStyleCnt="3">
        <dgm:presLayoutVars>
          <dgm:chMax val="1"/>
          <dgm:chPref val="1"/>
        </dgm:presLayoutVars>
      </dgm:prSet>
      <dgm:spPr/>
    </dgm:pt>
    <dgm:pt modelId="{4579EA62-3FB7-489D-9E80-FCCABDB03661}" type="pres">
      <dgm:prSet presAssocID="{22B7E539-11B0-422E-B728-9508231DA2EE}" presName="sibTrans" presStyleCnt="0"/>
      <dgm:spPr/>
    </dgm:pt>
    <dgm:pt modelId="{6F12D7CE-8BD1-4884-9EEF-42E7EEC8647D}" type="pres">
      <dgm:prSet presAssocID="{83AF4097-EBE3-4E41-8CD1-E70681556215}" presName="compNode" presStyleCnt="0"/>
      <dgm:spPr/>
    </dgm:pt>
    <dgm:pt modelId="{B82F8927-909F-49EE-ADDC-251B0FE858AE}" type="pres">
      <dgm:prSet presAssocID="{83AF4097-EBE3-4E41-8CD1-E7068155621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3D7F173-9114-4BD7-B456-64A828DB608A}" type="pres">
      <dgm:prSet presAssocID="{83AF4097-EBE3-4E41-8CD1-E7068155621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0469CCE-A73D-47B9-B2D2-D6DA07988001}" type="pres">
      <dgm:prSet presAssocID="{83AF4097-EBE3-4E41-8CD1-E70681556215}" presName="spaceRect" presStyleCnt="0"/>
      <dgm:spPr/>
    </dgm:pt>
    <dgm:pt modelId="{3A37B5E1-36C5-4818-88D9-CCD12C89C595}" type="pres">
      <dgm:prSet presAssocID="{83AF4097-EBE3-4E41-8CD1-E70681556215}" presName="textRect" presStyleLbl="revTx" presStyleIdx="1" presStyleCnt="3">
        <dgm:presLayoutVars>
          <dgm:chMax val="1"/>
          <dgm:chPref val="1"/>
        </dgm:presLayoutVars>
      </dgm:prSet>
      <dgm:spPr/>
    </dgm:pt>
    <dgm:pt modelId="{38D23787-5519-4B4B-89F8-D685E83589D3}" type="pres">
      <dgm:prSet presAssocID="{522D4818-0B16-4A9B-8BA2-CF967FA2CA6F}" presName="sibTrans" presStyleCnt="0"/>
      <dgm:spPr/>
    </dgm:pt>
    <dgm:pt modelId="{39D79D43-C935-4982-A826-06E49041D337}" type="pres">
      <dgm:prSet presAssocID="{5354601F-DBA8-44B7-AA1B-E19CE58CA064}" presName="compNode" presStyleCnt="0"/>
      <dgm:spPr/>
    </dgm:pt>
    <dgm:pt modelId="{CD1FD0EA-551D-4DD9-8848-13928D0AB204}" type="pres">
      <dgm:prSet presAssocID="{5354601F-DBA8-44B7-AA1B-E19CE58CA06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9ADF9A9-9669-4BF8-B95C-8CFEEE018C96}" type="pres">
      <dgm:prSet presAssocID="{5354601F-DBA8-44B7-AA1B-E19CE58CA06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471BE681-BC42-447B-975E-3D8F1F48C381}" type="pres">
      <dgm:prSet presAssocID="{5354601F-DBA8-44B7-AA1B-E19CE58CA064}" presName="spaceRect" presStyleCnt="0"/>
      <dgm:spPr/>
    </dgm:pt>
    <dgm:pt modelId="{E1C92EED-E431-43FB-892A-3BE73E42A76B}" type="pres">
      <dgm:prSet presAssocID="{5354601F-DBA8-44B7-AA1B-E19CE58CA0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C8B10C-C250-486D-BF01-84924FAF118C}" srcId="{C362AA40-1861-428E-A9B6-2771DD1D6E49}" destId="{5354601F-DBA8-44B7-AA1B-E19CE58CA064}" srcOrd="2" destOrd="0" parTransId="{8405D889-ACFE-4389-90C8-17D890A2F1AA}" sibTransId="{5156CCBB-764B-4E52-97CB-6FE4C953F6E8}"/>
    <dgm:cxn modelId="{6370FF42-773A-452F-A3B2-7653E8B679CD}" srcId="{C362AA40-1861-428E-A9B6-2771DD1D6E49}" destId="{9794BCD2-6D40-4A07-875E-3143BFCC8AC5}" srcOrd="0" destOrd="0" parTransId="{52A7DB39-BF16-4DC3-B920-10EC42A97049}" sibTransId="{22B7E539-11B0-422E-B728-9508231DA2EE}"/>
    <dgm:cxn modelId="{0E43B645-361C-4674-9FBA-D3BB539DCF77}" type="presOf" srcId="{5354601F-DBA8-44B7-AA1B-E19CE58CA064}" destId="{E1C92EED-E431-43FB-892A-3BE73E42A76B}" srcOrd="0" destOrd="0" presId="urn:microsoft.com/office/officeart/2018/5/layout/IconLeafLabelList"/>
    <dgm:cxn modelId="{0B20694E-01D6-42BF-8396-BA0BA55579C8}" type="presOf" srcId="{9794BCD2-6D40-4A07-875E-3143BFCC8AC5}" destId="{10DC8A5E-2814-445D-849F-A360DB7C48F6}" srcOrd="0" destOrd="0" presId="urn:microsoft.com/office/officeart/2018/5/layout/IconLeafLabelList"/>
    <dgm:cxn modelId="{7CC01A5A-BA29-406A-A8A1-A934538E8208}" type="presOf" srcId="{C362AA40-1861-428E-A9B6-2771DD1D6E49}" destId="{6C35E266-903E-4159-842D-C72995A58D77}" srcOrd="0" destOrd="0" presId="urn:microsoft.com/office/officeart/2018/5/layout/IconLeafLabelList"/>
    <dgm:cxn modelId="{1D5112E8-4594-4BD5-A490-293E7E76D069}" srcId="{C362AA40-1861-428E-A9B6-2771DD1D6E49}" destId="{83AF4097-EBE3-4E41-8CD1-E70681556215}" srcOrd="1" destOrd="0" parTransId="{14814FD7-B153-45CC-9152-70C3B788811A}" sibTransId="{522D4818-0B16-4A9B-8BA2-CF967FA2CA6F}"/>
    <dgm:cxn modelId="{BB0338F2-07AD-4842-97D2-EE2067934916}" type="presOf" srcId="{83AF4097-EBE3-4E41-8CD1-E70681556215}" destId="{3A37B5E1-36C5-4818-88D9-CCD12C89C595}" srcOrd="0" destOrd="0" presId="urn:microsoft.com/office/officeart/2018/5/layout/IconLeafLabelList"/>
    <dgm:cxn modelId="{DB709EA0-36F2-4770-917A-26981103E857}" type="presParOf" srcId="{6C35E266-903E-4159-842D-C72995A58D77}" destId="{7DB0D63A-C8D5-498A-BD4E-96C82D305538}" srcOrd="0" destOrd="0" presId="urn:microsoft.com/office/officeart/2018/5/layout/IconLeafLabelList"/>
    <dgm:cxn modelId="{11C1DFE4-3815-4FDE-B3D0-946DD59575B9}" type="presParOf" srcId="{7DB0D63A-C8D5-498A-BD4E-96C82D305538}" destId="{F3CE4A6A-6CC3-49FA-9F87-27F41D1B1353}" srcOrd="0" destOrd="0" presId="urn:microsoft.com/office/officeart/2018/5/layout/IconLeafLabelList"/>
    <dgm:cxn modelId="{0F6520FF-0E6E-4BB4-82C8-B3F1510A0398}" type="presParOf" srcId="{7DB0D63A-C8D5-498A-BD4E-96C82D305538}" destId="{D05ACBF7-6093-468D-B52E-82EB7609430B}" srcOrd="1" destOrd="0" presId="urn:microsoft.com/office/officeart/2018/5/layout/IconLeafLabelList"/>
    <dgm:cxn modelId="{27B042B2-573B-48E6-83C2-93A3434DA6CF}" type="presParOf" srcId="{7DB0D63A-C8D5-498A-BD4E-96C82D305538}" destId="{D3D911B4-FF69-420D-B8C2-6244D01D19EB}" srcOrd="2" destOrd="0" presId="urn:microsoft.com/office/officeart/2018/5/layout/IconLeafLabelList"/>
    <dgm:cxn modelId="{AFD084B5-383C-422D-AF60-CB10D21E93C3}" type="presParOf" srcId="{7DB0D63A-C8D5-498A-BD4E-96C82D305538}" destId="{10DC8A5E-2814-445D-849F-A360DB7C48F6}" srcOrd="3" destOrd="0" presId="urn:microsoft.com/office/officeart/2018/5/layout/IconLeafLabelList"/>
    <dgm:cxn modelId="{B1C96669-440B-4376-AB0B-9CC9311A127C}" type="presParOf" srcId="{6C35E266-903E-4159-842D-C72995A58D77}" destId="{4579EA62-3FB7-489D-9E80-FCCABDB03661}" srcOrd="1" destOrd="0" presId="urn:microsoft.com/office/officeart/2018/5/layout/IconLeafLabelList"/>
    <dgm:cxn modelId="{31950317-0B2E-4297-B5F7-FEC046E3A02B}" type="presParOf" srcId="{6C35E266-903E-4159-842D-C72995A58D77}" destId="{6F12D7CE-8BD1-4884-9EEF-42E7EEC8647D}" srcOrd="2" destOrd="0" presId="urn:microsoft.com/office/officeart/2018/5/layout/IconLeafLabelList"/>
    <dgm:cxn modelId="{CDC383D9-B46F-475B-B952-7A8D7A757C6C}" type="presParOf" srcId="{6F12D7CE-8BD1-4884-9EEF-42E7EEC8647D}" destId="{B82F8927-909F-49EE-ADDC-251B0FE858AE}" srcOrd="0" destOrd="0" presId="urn:microsoft.com/office/officeart/2018/5/layout/IconLeafLabelList"/>
    <dgm:cxn modelId="{932D42E7-A1CA-4680-8B59-68895C6986B1}" type="presParOf" srcId="{6F12D7CE-8BD1-4884-9EEF-42E7EEC8647D}" destId="{93D7F173-9114-4BD7-B456-64A828DB608A}" srcOrd="1" destOrd="0" presId="urn:microsoft.com/office/officeart/2018/5/layout/IconLeafLabelList"/>
    <dgm:cxn modelId="{837F751A-8A31-4B2D-B3E7-3C1712E29490}" type="presParOf" srcId="{6F12D7CE-8BD1-4884-9EEF-42E7EEC8647D}" destId="{10469CCE-A73D-47B9-B2D2-D6DA07988001}" srcOrd="2" destOrd="0" presId="urn:microsoft.com/office/officeart/2018/5/layout/IconLeafLabelList"/>
    <dgm:cxn modelId="{F4ECAD98-853E-440E-8FF9-D9F8EB3483B2}" type="presParOf" srcId="{6F12D7CE-8BD1-4884-9EEF-42E7EEC8647D}" destId="{3A37B5E1-36C5-4818-88D9-CCD12C89C595}" srcOrd="3" destOrd="0" presId="urn:microsoft.com/office/officeart/2018/5/layout/IconLeafLabelList"/>
    <dgm:cxn modelId="{081D5CB8-FA80-4123-86C7-C4F6DD29998B}" type="presParOf" srcId="{6C35E266-903E-4159-842D-C72995A58D77}" destId="{38D23787-5519-4B4B-89F8-D685E83589D3}" srcOrd="3" destOrd="0" presId="urn:microsoft.com/office/officeart/2018/5/layout/IconLeafLabelList"/>
    <dgm:cxn modelId="{6CDE55BE-1E26-4700-A795-55358FB855E3}" type="presParOf" srcId="{6C35E266-903E-4159-842D-C72995A58D77}" destId="{39D79D43-C935-4982-A826-06E49041D337}" srcOrd="4" destOrd="0" presId="urn:microsoft.com/office/officeart/2018/5/layout/IconLeafLabelList"/>
    <dgm:cxn modelId="{476DC732-597F-4E8D-B523-2E6F8C574882}" type="presParOf" srcId="{39D79D43-C935-4982-A826-06E49041D337}" destId="{CD1FD0EA-551D-4DD9-8848-13928D0AB204}" srcOrd="0" destOrd="0" presId="urn:microsoft.com/office/officeart/2018/5/layout/IconLeafLabelList"/>
    <dgm:cxn modelId="{C5C5330A-7312-4910-AFC5-E9A5AD7CE6D3}" type="presParOf" srcId="{39D79D43-C935-4982-A826-06E49041D337}" destId="{D9ADF9A9-9669-4BF8-B95C-8CFEEE018C96}" srcOrd="1" destOrd="0" presId="urn:microsoft.com/office/officeart/2018/5/layout/IconLeafLabelList"/>
    <dgm:cxn modelId="{FCE105D6-7DBF-4EA4-99B4-D386EE8DD01D}" type="presParOf" srcId="{39D79D43-C935-4982-A826-06E49041D337}" destId="{471BE681-BC42-447B-975E-3D8F1F48C381}" srcOrd="2" destOrd="0" presId="urn:microsoft.com/office/officeart/2018/5/layout/IconLeafLabelList"/>
    <dgm:cxn modelId="{E116E768-3890-4B94-8A21-E031DC42A74E}" type="presParOf" srcId="{39D79D43-C935-4982-A826-06E49041D337}" destId="{E1C92EED-E431-43FB-892A-3BE73E42A76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E4A6A-6CC3-49FA-9F87-27F41D1B1353}">
      <dsp:nvSpPr>
        <dsp:cNvPr id="0" name=""/>
        <dsp:cNvSpPr/>
      </dsp:nvSpPr>
      <dsp:spPr>
        <a:xfrm>
          <a:off x="481598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ACBF7-6093-468D-B52E-82EB7609430B}">
      <dsp:nvSpPr>
        <dsp:cNvPr id="0" name=""/>
        <dsp:cNvSpPr/>
      </dsp:nvSpPr>
      <dsp:spPr>
        <a:xfrm>
          <a:off x="759473" y="1074237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C8A5E-2814-445D-849F-A360DB7C48F6}">
      <dsp:nvSpPr>
        <dsp:cNvPr id="0" name=""/>
        <dsp:cNvSpPr/>
      </dsp:nvSpPr>
      <dsp:spPr>
        <a:xfrm>
          <a:off x="64785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- Messaging service</a:t>
          </a:r>
        </a:p>
      </dsp:txBody>
      <dsp:txXfrm>
        <a:off x="64785" y="2506362"/>
        <a:ext cx="2137500" cy="720000"/>
      </dsp:txXfrm>
    </dsp:sp>
    <dsp:sp modelId="{B82F8927-909F-49EE-ADDC-251B0FE858AE}">
      <dsp:nvSpPr>
        <dsp:cNvPr id="0" name=""/>
        <dsp:cNvSpPr/>
      </dsp:nvSpPr>
      <dsp:spPr>
        <a:xfrm>
          <a:off x="2993160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7F173-9114-4BD7-B456-64A828DB608A}">
      <dsp:nvSpPr>
        <dsp:cNvPr id="0" name=""/>
        <dsp:cNvSpPr/>
      </dsp:nvSpPr>
      <dsp:spPr>
        <a:xfrm>
          <a:off x="3271035" y="1074237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7B5E1-36C5-4818-88D9-CCD12C89C595}">
      <dsp:nvSpPr>
        <dsp:cNvPr id="0" name=""/>
        <dsp:cNvSpPr/>
      </dsp:nvSpPr>
      <dsp:spPr>
        <a:xfrm>
          <a:off x="2576348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- Decouples producers &amp; consumers</a:t>
          </a:r>
        </a:p>
      </dsp:txBody>
      <dsp:txXfrm>
        <a:off x="2576348" y="2506362"/>
        <a:ext cx="2137500" cy="720000"/>
      </dsp:txXfrm>
    </dsp:sp>
    <dsp:sp modelId="{CD1FD0EA-551D-4DD9-8848-13928D0AB204}">
      <dsp:nvSpPr>
        <dsp:cNvPr id="0" name=""/>
        <dsp:cNvSpPr/>
      </dsp:nvSpPr>
      <dsp:spPr>
        <a:xfrm>
          <a:off x="5504723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DF9A9-9669-4BF8-B95C-8CFEEE018C96}">
      <dsp:nvSpPr>
        <dsp:cNvPr id="0" name=""/>
        <dsp:cNvSpPr/>
      </dsp:nvSpPr>
      <dsp:spPr>
        <a:xfrm>
          <a:off x="5782598" y="1074237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92EED-E431-43FB-892A-3BE73E42A76B}">
      <dsp:nvSpPr>
        <dsp:cNvPr id="0" name=""/>
        <dsp:cNvSpPr/>
      </dsp:nvSpPr>
      <dsp:spPr>
        <a:xfrm>
          <a:off x="5087911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- Real-time ingestion backbone</a:t>
          </a:r>
        </a:p>
      </dsp:txBody>
      <dsp:txXfrm>
        <a:off x="5087911" y="2506362"/>
        <a:ext cx="21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6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6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36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7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1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12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1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6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77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3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37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4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572" y="977900"/>
            <a:ext cx="490466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700" spc="200" dirty="0"/>
              <a:t>Data Ingestion &amp; 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572" y="4621235"/>
            <a:ext cx="4904668" cy="12250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chemeClr val="tx1">
                    <a:lumMod val="95000"/>
                    <a:lumOff val="5000"/>
                  </a:schemeClr>
                </a:solidFill>
              </a:rPr>
              <a:t>Pub/Sub and ingestion patterns in GCP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Pub/Sub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ED891D-7D12-867A-636B-FA63E840B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5494829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&amp; Subscriptions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Topic: Message stream</a:t>
            </a:r>
          </a:p>
          <a:p>
            <a:r>
              <a:t>- Subscription: Consumer endpoint</a:t>
            </a:r>
          </a:p>
          <a:p>
            <a:r>
              <a:t>- Multiple subscribers per topic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vs Pull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Push: Pub/Sub pushes to endpoint</a:t>
            </a:r>
          </a:p>
          <a:p>
            <a:r>
              <a:t>- Pull: Consumer pulls messages</a:t>
            </a:r>
          </a:p>
          <a:p>
            <a:r>
              <a:t>- Use cases differ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Default retention (7 days)</a:t>
            </a:r>
          </a:p>
          <a:p>
            <a:r>
              <a:t>- Replay capability</a:t>
            </a:r>
          </a:p>
          <a:p>
            <a:r>
              <a:t>- Acknowledgement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Ingestion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Event-driven ingestion</a:t>
            </a:r>
          </a:p>
          <a:p>
            <a:r>
              <a:t>- IoT, logs, clickstream</a:t>
            </a:r>
          </a:p>
          <a:p>
            <a:r>
              <a:t>- Pub/Sub → Dataflow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Ingestion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Scheduled ingestion</a:t>
            </a:r>
          </a:p>
          <a:p>
            <a:r>
              <a:t>- Files to GCS</a:t>
            </a:r>
          </a:p>
          <a:p>
            <a:r>
              <a:t>- Batch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GCS as Landing Zone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Raw data storage</a:t>
            </a:r>
          </a:p>
          <a:p>
            <a:r>
              <a:t>- Source for batch processing</a:t>
            </a:r>
          </a:p>
          <a:p>
            <a:r>
              <a:t>- Data lake entry 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— Processing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Dataflow and Dataproc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Dataflow (Apache Beam)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Fully managed</a:t>
            </a:r>
          </a:p>
          <a:p>
            <a:r>
              <a:t>- Batch &amp; streaming</a:t>
            </a:r>
          </a:p>
          <a:p>
            <a:r>
              <a:t>- Serverless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PCollection</a:t>
            </a:r>
          </a:p>
          <a:p>
            <a:r>
              <a:t>- PTransform</a:t>
            </a:r>
          </a:p>
          <a:p>
            <a:r>
              <a:t>-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vs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Batch: finite data</a:t>
            </a:r>
          </a:p>
          <a:p>
            <a:r>
              <a:t>- Streaming: continuous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 → Transform → Sink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Dataproc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Managed Spark/Hadoop</a:t>
            </a:r>
          </a:p>
          <a:p>
            <a:r>
              <a:t>- Flexible clusters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Single node</a:t>
            </a:r>
          </a:p>
          <a:p>
            <a:r>
              <a:t>- Standard</a:t>
            </a:r>
          </a:p>
          <a:p>
            <a:r>
              <a:t>- HA clusters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Dynamic scaling</a:t>
            </a:r>
          </a:p>
          <a:p>
            <a:r>
              <a:t>- Cost optimization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Submitting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PySpark</a:t>
            </a:r>
          </a:p>
          <a:p>
            <a:r>
              <a:t>- Spark SQL</a:t>
            </a:r>
          </a:p>
          <a:p>
            <a:r>
              <a:t>- CLI/API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— BigQuery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warehouse layer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Serverless</a:t>
            </a:r>
          </a:p>
          <a:p>
            <a:r>
              <a:t>- Storage &amp; Compute separation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Dataset container</a:t>
            </a:r>
          </a:p>
          <a:p>
            <a:r>
              <a:t>- Tables store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Time-based partitioning</a:t>
            </a:r>
          </a:p>
          <a:p>
            <a:r>
              <a:t>- Cost optimization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Sorted storage</a:t>
            </a:r>
          </a:p>
          <a:p>
            <a:r>
              <a:t>- Faster queries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Avoid SELECT *</a:t>
            </a:r>
          </a:p>
          <a:p>
            <a:r>
              <a:t>- Use partitions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Analytical queries</a:t>
            </a:r>
          </a:p>
          <a:p>
            <a:r>
              <a:t>- Window functions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Query GCS data</a:t>
            </a:r>
          </a:p>
          <a:p>
            <a:r>
              <a:t>- No ingestion needed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Batch load</a:t>
            </a:r>
          </a:p>
          <a:p>
            <a:r>
              <a:t>- Streaming</a:t>
            </a:r>
          </a:p>
          <a:p>
            <a:r>
              <a:t>- External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—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Composer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Composer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Managed Airflow</a:t>
            </a:r>
          </a:p>
          <a:p>
            <a:r>
              <a:t>- DAG orchestration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DAG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Stored in GCS</a:t>
            </a:r>
          </a:p>
          <a:p>
            <a:r>
              <a:t>- Python-based workflows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BigQuery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Schedule queries</a:t>
            </a:r>
          </a:p>
          <a:p>
            <a:r>
              <a:t>- Data loads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Dataflow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Trigger pipelines</a:t>
            </a:r>
          </a:p>
          <a:p>
            <a:r>
              <a:t>- Monitor execution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Dataproc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Submit Spark jobs</a:t>
            </a:r>
          </a:p>
          <a:p>
            <a:r>
              <a:t>- Cluster control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Composer vs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Managed vs self-managed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— End-to-End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&amp; Streaming pipelines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GCS → Dataflow/Dataproc → BigQuery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Pub/Sub → Dataflow → BigQuery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Logs</a:t>
            </a:r>
          </a:p>
          <a:p>
            <a:r>
              <a:t>- Alerts</a:t>
            </a:r>
          </a:p>
          <a:p>
            <a:r>
              <a:t>- Metrics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Optimize compute</a:t>
            </a:r>
          </a:p>
          <a:p>
            <a:r>
              <a:t>- Storage lifecycle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396</Words>
  <Application>Microsoft Office PowerPoint</Application>
  <PresentationFormat>On-screen Show (4:3)</PresentationFormat>
  <Paragraphs>118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Tw Cen MT</vt:lpstr>
      <vt:lpstr>Tw Cen MT Condensed</vt:lpstr>
      <vt:lpstr>Wingdings 3</vt:lpstr>
      <vt:lpstr>Integral</vt:lpstr>
      <vt:lpstr>Data Ingestion &amp; Messaging</vt:lpstr>
      <vt:lpstr>Pub/Sub Overview</vt:lpstr>
      <vt:lpstr>Topics &amp; Subscriptions</vt:lpstr>
      <vt:lpstr>Push vs Pull</vt:lpstr>
      <vt:lpstr>Message Retention</vt:lpstr>
      <vt:lpstr>Real-Time Ingestion Patterns</vt:lpstr>
      <vt:lpstr>Batch Ingestion Patterns</vt:lpstr>
      <vt:lpstr>GCS as Landing Zone</vt:lpstr>
      <vt:lpstr>Module 4 — Processing Services</vt:lpstr>
      <vt:lpstr>Dataflow (Apache Beam)</vt:lpstr>
      <vt:lpstr>Beam Model</vt:lpstr>
      <vt:lpstr>Batch vs Streaming</vt:lpstr>
      <vt:lpstr>Typical Pipeline</vt:lpstr>
      <vt:lpstr>Dataproc Overview</vt:lpstr>
      <vt:lpstr>Cluster Modes</vt:lpstr>
      <vt:lpstr>Autoscaling</vt:lpstr>
      <vt:lpstr>Submitting Jobs</vt:lpstr>
      <vt:lpstr>Module 5 — BigQuery</vt:lpstr>
      <vt:lpstr>Architecture</vt:lpstr>
      <vt:lpstr>Datasets &amp; Tables</vt:lpstr>
      <vt:lpstr>Partitioning</vt:lpstr>
      <vt:lpstr>Clustering</vt:lpstr>
      <vt:lpstr>Cost Optimization</vt:lpstr>
      <vt:lpstr>SQL Hands-on</vt:lpstr>
      <vt:lpstr>External Tables</vt:lpstr>
      <vt:lpstr>GCS Integration</vt:lpstr>
      <vt:lpstr>Module 6 — Orchestration</vt:lpstr>
      <vt:lpstr>Cloud Composer</vt:lpstr>
      <vt:lpstr>DAG Deployment</vt:lpstr>
      <vt:lpstr>BigQuery Jobs</vt:lpstr>
      <vt:lpstr>Dataflow Jobs</vt:lpstr>
      <vt:lpstr>Dataproc Jobs</vt:lpstr>
      <vt:lpstr>Composer vs Airflow</vt:lpstr>
      <vt:lpstr>Module 7 — End-to-End Integration</vt:lpstr>
      <vt:lpstr>Batch Pipeline</vt:lpstr>
      <vt:lpstr>Streaming Pipeline</vt:lpstr>
      <vt:lpstr>Monitoring</vt:lpstr>
      <vt:lpstr>Cost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2026-04-05T12:03:52Z</dcterms:modified>
  <cp:category/>
</cp:coreProperties>
</file>
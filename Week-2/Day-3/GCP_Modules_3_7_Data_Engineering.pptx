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1522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362AA40-1861-428E-A9B6-2771DD1D6E49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9794BCD2-6D40-4A07-875E-3143BFCC8AC5}">
      <dgm:prSet/>
      <dgm:spPr/>
      <dgm:t>
        <a:bodyPr/>
        <a:lstStyle/>
        <a:p>
          <a:pPr>
            <a:defRPr cap="all"/>
          </a:pPr>
          <a:r>
            <a:rPr lang="en-US"/>
            <a:t>- Messaging service</a:t>
          </a:r>
        </a:p>
      </dgm:t>
    </dgm:pt>
    <dgm:pt modelId="{52A7DB39-BF16-4DC3-B920-10EC42A97049}" type="parTrans" cxnId="{6370FF42-773A-452F-A3B2-7653E8B679CD}">
      <dgm:prSet/>
      <dgm:spPr/>
      <dgm:t>
        <a:bodyPr/>
        <a:lstStyle/>
        <a:p>
          <a:endParaRPr lang="en-US"/>
        </a:p>
      </dgm:t>
    </dgm:pt>
    <dgm:pt modelId="{22B7E539-11B0-422E-B728-9508231DA2EE}" type="sibTrans" cxnId="{6370FF42-773A-452F-A3B2-7653E8B679CD}">
      <dgm:prSet/>
      <dgm:spPr/>
      <dgm:t>
        <a:bodyPr/>
        <a:lstStyle/>
        <a:p>
          <a:endParaRPr lang="en-US"/>
        </a:p>
      </dgm:t>
    </dgm:pt>
    <dgm:pt modelId="{83AF4097-EBE3-4E41-8CD1-E70681556215}">
      <dgm:prSet/>
      <dgm:spPr/>
      <dgm:t>
        <a:bodyPr/>
        <a:lstStyle/>
        <a:p>
          <a:pPr>
            <a:defRPr cap="all"/>
          </a:pPr>
          <a:r>
            <a:rPr lang="en-US"/>
            <a:t>- Decouples producers &amp; consumers</a:t>
          </a:r>
        </a:p>
      </dgm:t>
    </dgm:pt>
    <dgm:pt modelId="{14814FD7-B153-45CC-9152-70C3B788811A}" type="parTrans" cxnId="{1D5112E8-4594-4BD5-A490-293E7E76D069}">
      <dgm:prSet/>
      <dgm:spPr/>
      <dgm:t>
        <a:bodyPr/>
        <a:lstStyle/>
        <a:p>
          <a:endParaRPr lang="en-US"/>
        </a:p>
      </dgm:t>
    </dgm:pt>
    <dgm:pt modelId="{522D4818-0B16-4A9B-8BA2-CF967FA2CA6F}" type="sibTrans" cxnId="{1D5112E8-4594-4BD5-A490-293E7E76D069}">
      <dgm:prSet/>
      <dgm:spPr/>
      <dgm:t>
        <a:bodyPr/>
        <a:lstStyle/>
        <a:p>
          <a:endParaRPr lang="en-US"/>
        </a:p>
      </dgm:t>
    </dgm:pt>
    <dgm:pt modelId="{5354601F-DBA8-44B7-AA1B-E19CE58CA064}">
      <dgm:prSet/>
      <dgm:spPr/>
      <dgm:t>
        <a:bodyPr/>
        <a:lstStyle/>
        <a:p>
          <a:pPr>
            <a:defRPr cap="all"/>
          </a:pPr>
          <a:r>
            <a:rPr lang="en-US"/>
            <a:t>- Real-time ingestion backbone</a:t>
          </a:r>
        </a:p>
      </dgm:t>
    </dgm:pt>
    <dgm:pt modelId="{8405D889-ACFE-4389-90C8-17D890A2F1AA}" type="parTrans" cxnId="{39C8B10C-C250-486D-BF01-84924FAF118C}">
      <dgm:prSet/>
      <dgm:spPr/>
      <dgm:t>
        <a:bodyPr/>
        <a:lstStyle/>
        <a:p>
          <a:endParaRPr lang="en-US"/>
        </a:p>
      </dgm:t>
    </dgm:pt>
    <dgm:pt modelId="{5156CCBB-764B-4E52-97CB-6FE4C953F6E8}" type="sibTrans" cxnId="{39C8B10C-C250-486D-BF01-84924FAF118C}">
      <dgm:prSet/>
      <dgm:spPr/>
      <dgm:t>
        <a:bodyPr/>
        <a:lstStyle/>
        <a:p>
          <a:endParaRPr lang="en-US"/>
        </a:p>
      </dgm:t>
    </dgm:pt>
    <dgm:pt modelId="{6C35E266-903E-4159-842D-C72995A58D77}" type="pres">
      <dgm:prSet presAssocID="{C362AA40-1861-428E-A9B6-2771DD1D6E49}" presName="root" presStyleCnt="0">
        <dgm:presLayoutVars>
          <dgm:dir/>
          <dgm:resizeHandles val="exact"/>
        </dgm:presLayoutVars>
      </dgm:prSet>
      <dgm:spPr/>
    </dgm:pt>
    <dgm:pt modelId="{7DB0D63A-C8D5-498A-BD4E-96C82D305538}" type="pres">
      <dgm:prSet presAssocID="{9794BCD2-6D40-4A07-875E-3143BFCC8AC5}" presName="compNode" presStyleCnt="0"/>
      <dgm:spPr/>
    </dgm:pt>
    <dgm:pt modelId="{F3CE4A6A-6CC3-49FA-9F87-27F41D1B1353}" type="pres">
      <dgm:prSet presAssocID="{9794BCD2-6D40-4A07-875E-3143BFCC8AC5}" presName="iconBgRect" presStyleLbl="bgShp" presStyleIdx="0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D05ACBF7-6093-468D-B52E-82EB7609430B}" type="pres">
      <dgm:prSet presAssocID="{9794BCD2-6D40-4A07-875E-3143BFCC8AC5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at Bubble"/>
        </a:ext>
      </dgm:extLst>
    </dgm:pt>
    <dgm:pt modelId="{D3D911B4-FF69-420D-B8C2-6244D01D19EB}" type="pres">
      <dgm:prSet presAssocID="{9794BCD2-6D40-4A07-875E-3143BFCC8AC5}" presName="spaceRect" presStyleCnt="0"/>
      <dgm:spPr/>
    </dgm:pt>
    <dgm:pt modelId="{10DC8A5E-2814-445D-849F-A360DB7C48F6}" type="pres">
      <dgm:prSet presAssocID="{9794BCD2-6D40-4A07-875E-3143BFCC8AC5}" presName="textRect" presStyleLbl="revTx" presStyleIdx="0" presStyleCnt="3">
        <dgm:presLayoutVars>
          <dgm:chMax val="1"/>
          <dgm:chPref val="1"/>
        </dgm:presLayoutVars>
      </dgm:prSet>
      <dgm:spPr/>
    </dgm:pt>
    <dgm:pt modelId="{4579EA62-3FB7-489D-9E80-FCCABDB03661}" type="pres">
      <dgm:prSet presAssocID="{22B7E539-11B0-422E-B728-9508231DA2EE}" presName="sibTrans" presStyleCnt="0"/>
      <dgm:spPr/>
    </dgm:pt>
    <dgm:pt modelId="{6F12D7CE-8BD1-4884-9EEF-42E7EEC8647D}" type="pres">
      <dgm:prSet presAssocID="{83AF4097-EBE3-4E41-8CD1-E70681556215}" presName="compNode" presStyleCnt="0"/>
      <dgm:spPr/>
    </dgm:pt>
    <dgm:pt modelId="{B82F8927-909F-49EE-ADDC-251B0FE858AE}" type="pres">
      <dgm:prSet presAssocID="{83AF4097-EBE3-4E41-8CD1-E70681556215}" presName="iconBgRect" presStyleLbl="bgShp" presStyleIdx="1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93D7F173-9114-4BD7-B456-64A828DB608A}" type="pres">
      <dgm:prSet presAssocID="{83AF4097-EBE3-4E41-8CD1-E70681556215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actory"/>
        </a:ext>
      </dgm:extLst>
    </dgm:pt>
    <dgm:pt modelId="{10469CCE-A73D-47B9-B2D2-D6DA07988001}" type="pres">
      <dgm:prSet presAssocID="{83AF4097-EBE3-4E41-8CD1-E70681556215}" presName="spaceRect" presStyleCnt="0"/>
      <dgm:spPr/>
    </dgm:pt>
    <dgm:pt modelId="{3A37B5E1-36C5-4818-88D9-CCD12C89C595}" type="pres">
      <dgm:prSet presAssocID="{83AF4097-EBE3-4E41-8CD1-E70681556215}" presName="textRect" presStyleLbl="revTx" presStyleIdx="1" presStyleCnt="3">
        <dgm:presLayoutVars>
          <dgm:chMax val="1"/>
          <dgm:chPref val="1"/>
        </dgm:presLayoutVars>
      </dgm:prSet>
      <dgm:spPr/>
    </dgm:pt>
    <dgm:pt modelId="{38D23787-5519-4B4B-89F8-D685E83589D3}" type="pres">
      <dgm:prSet presAssocID="{522D4818-0B16-4A9B-8BA2-CF967FA2CA6F}" presName="sibTrans" presStyleCnt="0"/>
      <dgm:spPr/>
    </dgm:pt>
    <dgm:pt modelId="{39D79D43-C935-4982-A826-06E49041D337}" type="pres">
      <dgm:prSet presAssocID="{5354601F-DBA8-44B7-AA1B-E19CE58CA064}" presName="compNode" presStyleCnt="0"/>
      <dgm:spPr/>
    </dgm:pt>
    <dgm:pt modelId="{CD1FD0EA-551D-4DD9-8848-13928D0AB204}" type="pres">
      <dgm:prSet presAssocID="{5354601F-DBA8-44B7-AA1B-E19CE58CA064}" presName="iconBgRect" presStyleLbl="bgShp" presStyleIdx="2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D9ADF9A9-9669-4BF8-B95C-8CFEEE018C96}" type="pres">
      <dgm:prSet presAssocID="{5354601F-DBA8-44B7-AA1B-E19CE58CA064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atellite dish"/>
        </a:ext>
      </dgm:extLst>
    </dgm:pt>
    <dgm:pt modelId="{471BE681-BC42-447B-975E-3D8F1F48C381}" type="pres">
      <dgm:prSet presAssocID="{5354601F-DBA8-44B7-AA1B-E19CE58CA064}" presName="spaceRect" presStyleCnt="0"/>
      <dgm:spPr/>
    </dgm:pt>
    <dgm:pt modelId="{E1C92EED-E431-43FB-892A-3BE73E42A76B}" type="pres">
      <dgm:prSet presAssocID="{5354601F-DBA8-44B7-AA1B-E19CE58CA064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39C8B10C-C250-486D-BF01-84924FAF118C}" srcId="{C362AA40-1861-428E-A9B6-2771DD1D6E49}" destId="{5354601F-DBA8-44B7-AA1B-E19CE58CA064}" srcOrd="2" destOrd="0" parTransId="{8405D889-ACFE-4389-90C8-17D890A2F1AA}" sibTransId="{5156CCBB-764B-4E52-97CB-6FE4C953F6E8}"/>
    <dgm:cxn modelId="{6370FF42-773A-452F-A3B2-7653E8B679CD}" srcId="{C362AA40-1861-428E-A9B6-2771DD1D6E49}" destId="{9794BCD2-6D40-4A07-875E-3143BFCC8AC5}" srcOrd="0" destOrd="0" parTransId="{52A7DB39-BF16-4DC3-B920-10EC42A97049}" sibTransId="{22B7E539-11B0-422E-B728-9508231DA2EE}"/>
    <dgm:cxn modelId="{0E43B645-361C-4674-9FBA-D3BB539DCF77}" type="presOf" srcId="{5354601F-DBA8-44B7-AA1B-E19CE58CA064}" destId="{E1C92EED-E431-43FB-892A-3BE73E42A76B}" srcOrd="0" destOrd="0" presId="urn:microsoft.com/office/officeart/2018/5/layout/IconLeafLabelList"/>
    <dgm:cxn modelId="{0B20694E-01D6-42BF-8396-BA0BA55579C8}" type="presOf" srcId="{9794BCD2-6D40-4A07-875E-3143BFCC8AC5}" destId="{10DC8A5E-2814-445D-849F-A360DB7C48F6}" srcOrd="0" destOrd="0" presId="urn:microsoft.com/office/officeart/2018/5/layout/IconLeafLabelList"/>
    <dgm:cxn modelId="{7CC01A5A-BA29-406A-A8A1-A934538E8208}" type="presOf" srcId="{C362AA40-1861-428E-A9B6-2771DD1D6E49}" destId="{6C35E266-903E-4159-842D-C72995A58D77}" srcOrd="0" destOrd="0" presId="urn:microsoft.com/office/officeart/2018/5/layout/IconLeafLabelList"/>
    <dgm:cxn modelId="{1D5112E8-4594-4BD5-A490-293E7E76D069}" srcId="{C362AA40-1861-428E-A9B6-2771DD1D6E49}" destId="{83AF4097-EBE3-4E41-8CD1-E70681556215}" srcOrd="1" destOrd="0" parTransId="{14814FD7-B153-45CC-9152-70C3B788811A}" sibTransId="{522D4818-0B16-4A9B-8BA2-CF967FA2CA6F}"/>
    <dgm:cxn modelId="{BB0338F2-07AD-4842-97D2-EE2067934916}" type="presOf" srcId="{83AF4097-EBE3-4E41-8CD1-E70681556215}" destId="{3A37B5E1-36C5-4818-88D9-CCD12C89C595}" srcOrd="0" destOrd="0" presId="urn:microsoft.com/office/officeart/2018/5/layout/IconLeafLabelList"/>
    <dgm:cxn modelId="{DB709EA0-36F2-4770-917A-26981103E857}" type="presParOf" srcId="{6C35E266-903E-4159-842D-C72995A58D77}" destId="{7DB0D63A-C8D5-498A-BD4E-96C82D305538}" srcOrd="0" destOrd="0" presId="urn:microsoft.com/office/officeart/2018/5/layout/IconLeafLabelList"/>
    <dgm:cxn modelId="{11C1DFE4-3815-4FDE-B3D0-946DD59575B9}" type="presParOf" srcId="{7DB0D63A-C8D5-498A-BD4E-96C82D305538}" destId="{F3CE4A6A-6CC3-49FA-9F87-27F41D1B1353}" srcOrd="0" destOrd="0" presId="urn:microsoft.com/office/officeart/2018/5/layout/IconLeafLabelList"/>
    <dgm:cxn modelId="{0F6520FF-0E6E-4BB4-82C8-B3F1510A0398}" type="presParOf" srcId="{7DB0D63A-C8D5-498A-BD4E-96C82D305538}" destId="{D05ACBF7-6093-468D-B52E-82EB7609430B}" srcOrd="1" destOrd="0" presId="urn:microsoft.com/office/officeart/2018/5/layout/IconLeafLabelList"/>
    <dgm:cxn modelId="{27B042B2-573B-48E6-83C2-93A3434DA6CF}" type="presParOf" srcId="{7DB0D63A-C8D5-498A-BD4E-96C82D305538}" destId="{D3D911B4-FF69-420D-B8C2-6244D01D19EB}" srcOrd="2" destOrd="0" presId="urn:microsoft.com/office/officeart/2018/5/layout/IconLeafLabelList"/>
    <dgm:cxn modelId="{AFD084B5-383C-422D-AF60-CB10D21E93C3}" type="presParOf" srcId="{7DB0D63A-C8D5-498A-BD4E-96C82D305538}" destId="{10DC8A5E-2814-445D-849F-A360DB7C48F6}" srcOrd="3" destOrd="0" presId="urn:microsoft.com/office/officeart/2018/5/layout/IconLeafLabelList"/>
    <dgm:cxn modelId="{B1C96669-440B-4376-AB0B-9CC9311A127C}" type="presParOf" srcId="{6C35E266-903E-4159-842D-C72995A58D77}" destId="{4579EA62-3FB7-489D-9E80-FCCABDB03661}" srcOrd="1" destOrd="0" presId="urn:microsoft.com/office/officeart/2018/5/layout/IconLeafLabelList"/>
    <dgm:cxn modelId="{31950317-0B2E-4297-B5F7-FEC046E3A02B}" type="presParOf" srcId="{6C35E266-903E-4159-842D-C72995A58D77}" destId="{6F12D7CE-8BD1-4884-9EEF-42E7EEC8647D}" srcOrd="2" destOrd="0" presId="urn:microsoft.com/office/officeart/2018/5/layout/IconLeafLabelList"/>
    <dgm:cxn modelId="{CDC383D9-B46F-475B-B952-7A8D7A757C6C}" type="presParOf" srcId="{6F12D7CE-8BD1-4884-9EEF-42E7EEC8647D}" destId="{B82F8927-909F-49EE-ADDC-251B0FE858AE}" srcOrd="0" destOrd="0" presId="urn:microsoft.com/office/officeart/2018/5/layout/IconLeafLabelList"/>
    <dgm:cxn modelId="{932D42E7-A1CA-4680-8B59-68895C6986B1}" type="presParOf" srcId="{6F12D7CE-8BD1-4884-9EEF-42E7EEC8647D}" destId="{93D7F173-9114-4BD7-B456-64A828DB608A}" srcOrd="1" destOrd="0" presId="urn:microsoft.com/office/officeart/2018/5/layout/IconLeafLabelList"/>
    <dgm:cxn modelId="{837F751A-8A31-4B2D-B3E7-3C1712E29490}" type="presParOf" srcId="{6F12D7CE-8BD1-4884-9EEF-42E7EEC8647D}" destId="{10469CCE-A73D-47B9-B2D2-D6DA07988001}" srcOrd="2" destOrd="0" presId="urn:microsoft.com/office/officeart/2018/5/layout/IconLeafLabelList"/>
    <dgm:cxn modelId="{F4ECAD98-853E-440E-8FF9-D9F8EB3483B2}" type="presParOf" srcId="{6F12D7CE-8BD1-4884-9EEF-42E7EEC8647D}" destId="{3A37B5E1-36C5-4818-88D9-CCD12C89C595}" srcOrd="3" destOrd="0" presId="urn:microsoft.com/office/officeart/2018/5/layout/IconLeafLabelList"/>
    <dgm:cxn modelId="{081D5CB8-FA80-4123-86C7-C4F6DD29998B}" type="presParOf" srcId="{6C35E266-903E-4159-842D-C72995A58D77}" destId="{38D23787-5519-4B4B-89F8-D685E83589D3}" srcOrd="3" destOrd="0" presId="urn:microsoft.com/office/officeart/2018/5/layout/IconLeafLabelList"/>
    <dgm:cxn modelId="{6CDE55BE-1E26-4700-A795-55358FB855E3}" type="presParOf" srcId="{6C35E266-903E-4159-842D-C72995A58D77}" destId="{39D79D43-C935-4982-A826-06E49041D337}" srcOrd="4" destOrd="0" presId="urn:microsoft.com/office/officeart/2018/5/layout/IconLeafLabelList"/>
    <dgm:cxn modelId="{476DC732-597F-4E8D-B523-2E6F8C574882}" type="presParOf" srcId="{39D79D43-C935-4982-A826-06E49041D337}" destId="{CD1FD0EA-551D-4DD9-8848-13928D0AB204}" srcOrd="0" destOrd="0" presId="urn:microsoft.com/office/officeart/2018/5/layout/IconLeafLabelList"/>
    <dgm:cxn modelId="{C5C5330A-7312-4910-AFC5-E9A5AD7CE6D3}" type="presParOf" srcId="{39D79D43-C935-4982-A826-06E49041D337}" destId="{D9ADF9A9-9669-4BF8-B95C-8CFEEE018C96}" srcOrd="1" destOrd="0" presId="urn:microsoft.com/office/officeart/2018/5/layout/IconLeafLabelList"/>
    <dgm:cxn modelId="{FCE105D6-7DBF-4EA4-99B4-D386EE8DD01D}" type="presParOf" srcId="{39D79D43-C935-4982-A826-06E49041D337}" destId="{471BE681-BC42-447B-975E-3D8F1F48C381}" srcOrd="2" destOrd="0" presId="urn:microsoft.com/office/officeart/2018/5/layout/IconLeafLabelList"/>
    <dgm:cxn modelId="{E116E768-3890-4B94-8A21-E031DC42A74E}" type="presParOf" srcId="{39D79D43-C935-4982-A826-06E49041D337}" destId="{E1C92EED-E431-43FB-892A-3BE73E42A76B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3CE4A6A-6CC3-49FA-9F87-27F41D1B1353}">
      <dsp:nvSpPr>
        <dsp:cNvPr id="0" name=""/>
        <dsp:cNvSpPr/>
      </dsp:nvSpPr>
      <dsp:spPr>
        <a:xfrm>
          <a:off x="481598" y="796362"/>
          <a:ext cx="1303875" cy="1303875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05ACBF7-6093-468D-B52E-82EB7609430B}">
      <dsp:nvSpPr>
        <dsp:cNvPr id="0" name=""/>
        <dsp:cNvSpPr/>
      </dsp:nvSpPr>
      <dsp:spPr>
        <a:xfrm>
          <a:off x="759473" y="1074237"/>
          <a:ext cx="748125" cy="74812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0DC8A5E-2814-445D-849F-A360DB7C48F6}">
      <dsp:nvSpPr>
        <dsp:cNvPr id="0" name=""/>
        <dsp:cNvSpPr/>
      </dsp:nvSpPr>
      <dsp:spPr>
        <a:xfrm>
          <a:off x="64785" y="2506362"/>
          <a:ext cx="21375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900" kern="1200"/>
            <a:t>- Messaging service</a:t>
          </a:r>
        </a:p>
      </dsp:txBody>
      <dsp:txXfrm>
        <a:off x="64785" y="2506362"/>
        <a:ext cx="2137500" cy="720000"/>
      </dsp:txXfrm>
    </dsp:sp>
    <dsp:sp modelId="{B82F8927-909F-49EE-ADDC-251B0FE858AE}">
      <dsp:nvSpPr>
        <dsp:cNvPr id="0" name=""/>
        <dsp:cNvSpPr/>
      </dsp:nvSpPr>
      <dsp:spPr>
        <a:xfrm>
          <a:off x="2993160" y="796362"/>
          <a:ext cx="1303875" cy="1303875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D7F173-9114-4BD7-B456-64A828DB608A}">
      <dsp:nvSpPr>
        <dsp:cNvPr id="0" name=""/>
        <dsp:cNvSpPr/>
      </dsp:nvSpPr>
      <dsp:spPr>
        <a:xfrm>
          <a:off x="3271035" y="1074237"/>
          <a:ext cx="748125" cy="74812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A37B5E1-36C5-4818-88D9-CCD12C89C595}">
      <dsp:nvSpPr>
        <dsp:cNvPr id="0" name=""/>
        <dsp:cNvSpPr/>
      </dsp:nvSpPr>
      <dsp:spPr>
        <a:xfrm>
          <a:off x="2576348" y="2506362"/>
          <a:ext cx="21375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900" kern="1200"/>
            <a:t>- Decouples producers &amp; consumers</a:t>
          </a:r>
        </a:p>
      </dsp:txBody>
      <dsp:txXfrm>
        <a:off x="2576348" y="2506362"/>
        <a:ext cx="2137500" cy="720000"/>
      </dsp:txXfrm>
    </dsp:sp>
    <dsp:sp modelId="{CD1FD0EA-551D-4DD9-8848-13928D0AB204}">
      <dsp:nvSpPr>
        <dsp:cNvPr id="0" name=""/>
        <dsp:cNvSpPr/>
      </dsp:nvSpPr>
      <dsp:spPr>
        <a:xfrm>
          <a:off x="5504723" y="796362"/>
          <a:ext cx="1303875" cy="1303875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9ADF9A9-9669-4BF8-B95C-8CFEEE018C96}">
      <dsp:nvSpPr>
        <dsp:cNvPr id="0" name=""/>
        <dsp:cNvSpPr/>
      </dsp:nvSpPr>
      <dsp:spPr>
        <a:xfrm>
          <a:off x="5782598" y="1074237"/>
          <a:ext cx="748125" cy="74812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C92EED-E431-43FB-892A-3BE73E42A76B}">
      <dsp:nvSpPr>
        <dsp:cNvPr id="0" name=""/>
        <dsp:cNvSpPr/>
      </dsp:nvSpPr>
      <dsp:spPr>
        <a:xfrm>
          <a:off x="5087911" y="2506362"/>
          <a:ext cx="21375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900" kern="1200"/>
            <a:t>- Real-time ingestion backbone</a:t>
          </a:r>
        </a:p>
      </dsp:txBody>
      <dsp:txXfrm>
        <a:off x="5087911" y="2506362"/>
        <a:ext cx="21375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Freeform 9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0062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867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Freeform 10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63694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8096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1990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375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2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096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91990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2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91990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2319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17120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80173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768096" y="471509"/>
            <a:ext cx="329184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6250" y="822960"/>
            <a:ext cx="4258818" cy="518464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6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096" y="2257506"/>
            <a:ext cx="329184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7618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8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9141714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7950" y="4960138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67794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0309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762000"/>
            <a:ext cx="1971675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951" y="762000"/>
            <a:ext cx="5686425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7543800" y="173563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33705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286000"/>
            <a:ext cx="7290055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8097" y="6470704"/>
            <a:ext cx="161560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32200" y="6470704"/>
            <a:ext cx="4426094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28000" y="6470704"/>
            <a:ext cx="73025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5715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4425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E194971-2F2D-44B0-8AE6-FF2DCCEE0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0" name="Oval 5">
            <a:extLst>
              <a:ext uri="{FF2B5EF4-FFF2-40B4-BE49-F238E27FC236}">
                <a16:creationId xmlns:a16="http://schemas.microsoft.com/office/drawing/2014/main" id="{1FF9A61E-EB11-4C46-82E1-3E00A3B4B4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E564EB3-35F2-4EFF-87DC-642DC02052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A540FAC9-3505-49ED-9B06-A0F8C14853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544" cy="685897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879B3CD-E329-42F5-B136-BA1F37EC05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9098" y="484632"/>
            <a:ext cx="5590153" cy="58809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prstClr val="white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2572" y="977900"/>
            <a:ext cx="4904668" cy="332773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700" spc="200" dirty="0"/>
              <a:t>Data Ingestion &amp; Messaging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42572" y="4621235"/>
            <a:ext cx="4904668" cy="122502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700">
                <a:solidFill>
                  <a:schemeClr val="tx1">
                    <a:lumMod val="95000"/>
                    <a:lumOff val="5000"/>
                  </a:schemeClr>
                </a:solidFill>
              </a:rPr>
              <a:t>Pub/Sub and ingestion patterns in GCP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1B042EF-3024-4C57-B282-1B30607FB7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619010" y="4476657"/>
            <a:ext cx="4028230" cy="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EA0B4097-B645-43E0-A2B5-B8D688E745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89902" y="484632"/>
            <a:ext cx="2688168" cy="588091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prstClr val="white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>
            <a:normAutofit/>
          </a:bodyPr>
          <a:lstStyle/>
          <a:p>
            <a:r>
              <a:t>Pub/Sub Overview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2ED891D-7D12-867A-636B-FA63E840BA4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5494829"/>
              </p:ext>
            </p:extLst>
          </p:nvPr>
        </p:nvGraphicFramePr>
        <p:xfrm>
          <a:off x="767953" y="2286000"/>
          <a:ext cx="7290197" cy="40227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Topics &amp; Subscriptions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Topic: Message stream</a:t>
            </a:r>
          </a:p>
          <a:p>
            <a:r>
              <a:t>- Subscription: Consumer endpoint</a:t>
            </a:r>
          </a:p>
          <a:p>
            <a:r>
              <a:t>- Multiple subscribers per topic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Push vs Pull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Push: Pub/Sub pushes to endpoint</a:t>
            </a:r>
          </a:p>
          <a:p>
            <a:r>
              <a:t>- Pull: Consumer pulls messages</a:t>
            </a:r>
          </a:p>
          <a:p>
            <a:r>
              <a:t>- Use cases differ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Message Retention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Default retention (7 days)</a:t>
            </a:r>
          </a:p>
          <a:p>
            <a:r>
              <a:t>- Replay capability</a:t>
            </a:r>
          </a:p>
          <a:p>
            <a:r>
              <a:t>- Acknowledgement handling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Real-Time Ingestion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Event-driven ingestion</a:t>
            </a:r>
          </a:p>
          <a:p>
            <a:r>
              <a:t>- IoT, logs, clickstream</a:t>
            </a:r>
          </a:p>
          <a:p>
            <a:r>
              <a:t>- Pub/Sub → Dataflow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Batch Ingestion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Scheduled ingestion</a:t>
            </a:r>
          </a:p>
          <a:p>
            <a:r>
              <a:t>- Files to GCS</a:t>
            </a:r>
          </a:p>
          <a:p>
            <a:r>
              <a:t>- Batch pipelines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GCS as Landing Zone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Raw data storage</a:t>
            </a:r>
          </a:p>
          <a:p>
            <a:r>
              <a:t>- Source for batch processing</a:t>
            </a:r>
          </a:p>
          <a:p>
            <a:r>
              <a:t>- Data lake entry point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Processing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Dataflow and Dataproc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Dataflow (Apache Beam)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Fully managed</a:t>
            </a:r>
          </a:p>
          <a:p>
            <a:r>
              <a:t>- Batch &amp; streaming</a:t>
            </a:r>
          </a:p>
          <a:p>
            <a:r>
              <a:t>- Serverless execution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Beam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PCollection</a:t>
            </a:r>
          </a:p>
          <a:p>
            <a:r>
              <a:t>- PTransform</a:t>
            </a:r>
          </a:p>
          <a:p>
            <a:r>
              <a:t>- Pipeline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Batch vs Streaming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Batch: finite data</a:t>
            </a:r>
          </a:p>
          <a:p>
            <a:r>
              <a:t>- Streaming: continuous data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Typical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Source → Transform → Sink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Dataproc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Managed Spark/Hadoop</a:t>
            </a:r>
          </a:p>
          <a:p>
            <a:r>
              <a:t>- Flexible clusters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Cluster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Single node</a:t>
            </a:r>
          </a:p>
          <a:p>
            <a:r>
              <a:t>- Standard</a:t>
            </a:r>
          </a:p>
          <a:p>
            <a:r>
              <a:t>- HA clusters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Autoscaling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Dynamic scaling</a:t>
            </a:r>
          </a:p>
          <a:p>
            <a:r>
              <a:t>- Cost optimization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Submitting Jobs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PySpark</a:t>
            </a:r>
          </a:p>
          <a:p>
            <a:r>
              <a:t>- Spark SQL</a:t>
            </a:r>
          </a:p>
          <a:p>
            <a:r>
              <a:t>- CLI/API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BigQuery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Data warehouse layer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Serverless</a:t>
            </a:r>
          </a:p>
          <a:p>
            <a:r>
              <a:t>- Storage &amp; Compute separation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Datasets &amp; 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Dataset container</a:t>
            </a:r>
          </a:p>
          <a:p>
            <a:r>
              <a:t>- Tables store data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Time-based partitioning</a:t>
            </a:r>
          </a:p>
          <a:p>
            <a:r>
              <a:t>- Cost optimization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Sorted storage</a:t>
            </a:r>
          </a:p>
          <a:p>
            <a:r>
              <a:t>- Faster queries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Cost Optimization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Avoid SELECT *</a:t>
            </a:r>
          </a:p>
          <a:p>
            <a:r>
              <a:t>- Use partitions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SQL Hands-on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Analytical queries</a:t>
            </a:r>
          </a:p>
          <a:p>
            <a:r>
              <a:t>- Window functions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External 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Query GCS data</a:t>
            </a:r>
          </a:p>
          <a:p>
            <a:r>
              <a:t>- No ingestion needed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GCS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Batch load</a:t>
            </a:r>
          </a:p>
          <a:p>
            <a:r>
              <a:t>- Streaming</a:t>
            </a:r>
          </a:p>
          <a:p>
            <a:r>
              <a:t>- External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Orchestration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Cloud Composer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Cloud Composer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Managed Airflow</a:t>
            </a:r>
          </a:p>
          <a:p>
            <a:r>
              <a:t>- DAG orchestration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DAG Deployment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Stored in GCS</a:t>
            </a:r>
          </a:p>
          <a:p>
            <a:r>
              <a:t>- Python-based workflows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BigQuery Jobs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Schedule queries</a:t>
            </a:r>
          </a:p>
          <a:p>
            <a:r>
              <a:t>- Data loads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Dataflow Jobs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Trigger pipelines</a:t>
            </a:r>
          </a:p>
          <a:p>
            <a:r>
              <a:t>- Monitor execution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Dataproc Jobs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Submit Spark jobs</a:t>
            </a:r>
          </a:p>
          <a:p>
            <a:r>
              <a:t>- Cluster control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Composer vs Airflow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Managed vs self-managed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End-to-End </a:t>
            </a:r>
            <a:r>
              <a:rPr dirty="0"/>
              <a:t>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Batch &amp; Streaming pipelines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Batch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GCS → Dataflow/Dataproc → BigQuery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Streaming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Pub/Sub → Dataflow → BigQuery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Logs</a:t>
            </a:r>
          </a:p>
          <a:p>
            <a:r>
              <a:t>- Alerts</a:t>
            </a:r>
          </a:p>
          <a:p>
            <a:r>
              <a:t>- Metrics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Cost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Optimize compute</a:t>
            </a:r>
          </a:p>
          <a:p>
            <a:r>
              <a:t>- Storage lifecycle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1</TotalTime>
  <Words>384</Words>
  <Application>Microsoft Office PowerPoint</Application>
  <PresentationFormat>On-screen Show (4:3)</PresentationFormat>
  <Paragraphs>118</Paragraphs>
  <Slides>38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2" baseType="lpstr">
      <vt:lpstr>Tw Cen MT</vt:lpstr>
      <vt:lpstr>Tw Cen MT Condensed</vt:lpstr>
      <vt:lpstr>Wingdings 3</vt:lpstr>
      <vt:lpstr>Integral</vt:lpstr>
      <vt:lpstr>Data Ingestion &amp; Messaging</vt:lpstr>
      <vt:lpstr>Pub/Sub Overview</vt:lpstr>
      <vt:lpstr>Topics &amp; Subscriptions</vt:lpstr>
      <vt:lpstr>Push vs Pull</vt:lpstr>
      <vt:lpstr>Message Retention</vt:lpstr>
      <vt:lpstr>Real-Time Ingestion Patterns</vt:lpstr>
      <vt:lpstr>Batch Ingestion Patterns</vt:lpstr>
      <vt:lpstr>GCS as Landing Zone</vt:lpstr>
      <vt:lpstr>Processing Services</vt:lpstr>
      <vt:lpstr>Dataflow (Apache Beam)</vt:lpstr>
      <vt:lpstr>Beam Model</vt:lpstr>
      <vt:lpstr>Batch vs Streaming</vt:lpstr>
      <vt:lpstr>Typical Pipeline</vt:lpstr>
      <vt:lpstr>Dataproc Overview</vt:lpstr>
      <vt:lpstr>Cluster Modes</vt:lpstr>
      <vt:lpstr>Autoscaling</vt:lpstr>
      <vt:lpstr>Submitting Jobs</vt:lpstr>
      <vt:lpstr>BigQuery</vt:lpstr>
      <vt:lpstr>Architecture</vt:lpstr>
      <vt:lpstr>Datasets &amp; Tables</vt:lpstr>
      <vt:lpstr>Partitioning</vt:lpstr>
      <vt:lpstr>Clustering</vt:lpstr>
      <vt:lpstr>Cost Optimization</vt:lpstr>
      <vt:lpstr>SQL Hands-on</vt:lpstr>
      <vt:lpstr>External Tables</vt:lpstr>
      <vt:lpstr>GCS Integration</vt:lpstr>
      <vt:lpstr>Orchestration</vt:lpstr>
      <vt:lpstr>Cloud Composer</vt:lpstr>
      <vt:lpstr>DAG Deployment</vt:lpstr>
      <vt:lpstr>BigQuery Jobs</vt:lpstr>
      <vt:lpstr>Dataflow Jobs</vt:lpstr>
      <vt:lpstr>Dataproc Jobs</vt:lpstr>
      <vt:lpstr>Composer vs Airflow</vt:lpstr>
      <vt:lpstr>End-to-End Integration</vt:lpstr>
      <vt:lpstr>Batch Pipeline</vt:lpstr>
      <vt:lpstr>Streaming Pipeline</vt:lpstr>
      <vt:lpstr>Monitoring</vt:lpstr>
      <vt:lpstr>Cost Considerations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Vikash Verma</cp:lastModifiedBy>
  <cp:revision>5</cp:revision>
  <dcterms:created xsi:type="dcterms:W3CDTF">2013-01-27T09:14:16Z</dcterms:created>
  <dcterms:modified xsi:type="dcterms:W3CDTF">2026-04-08T03:33:11Z</dcterms:modified>
  <cp:category/>
</cp:coreProperties>
</file>
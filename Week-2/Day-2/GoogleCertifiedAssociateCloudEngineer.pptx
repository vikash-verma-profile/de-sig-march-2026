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2" r:id="rId83"/>
    <p:sldId id="343" r:id="rId84"/>
    <p:sldId id="344" r:id="rId85"/>
    <p:sldId id="345" r:id="rId86"/>
    <p:sldId id="346" r:id="rId87"/>
    <p:sldId id="347" r:id="rId88"/>
    <p:sldId id="348" r:id="rId89"/>
    <p:sldId id="349" r:id="rId90"/>
    <p:sldId id="350" r:id="rId91"/>
    <p:sldId id="351" r:id="rId92"/>
    <p:sldId id="352" r:id="rId93"/>
    <p:sldId id="353" r:id="rId94"/>
    <p:sldId id="354" r:id="rId95"/>
    <p:sldId id="355" r:id="rId96"/>
    <p:sldId id="356" r:id="rId97"/>
    <p:sldId id="357" r:id="rId98"/>
    <p:sldId id="358" r:id="rId99"/>
    <p:sldId id="359" r:id="rId100"/>
    <p:sldId id="360" r:id="rId101"/>
    <p:sldId id="361" r:id="rId102"/>
    <p:sldId id="362" r:id="rId103"/>
    <p:sldId id="363" r:id="rId104"/>
    <p:sldId id="364" r:id="rId105"/>
    <p:sldId id="365" r:id="rId106"/>
    <p:sldId id="366" r:id="rId107"/>
    <p:sldId id="367" r:id="rId108"/>
    <p:sldId id="368" r:id="rId109"/>
    <p:sldId id="369" r:id="rId110"/>
    <p:sldId id="370" r:id="rId111"/>
    <p:sldId id="371" r:id="rId112"/>
    <p:sldId id="372" r:id="rId113"/>
    <p:sldId id="373" r:id="rId114"/>
    <p:sldId id="374" r:id="rId115"/>
    <p:sldId id="375" r:id="rId116"/>
    <p:sldId id="376" r:id="rId117"/>
    <p:sldId id="377" r:id="rId118"/>
    <p:sldId id="378" r:id="rId119"/>
    <p:sldId id="379" r:id="rId120"/>
    <p:sldId id="380" r:id="rId121"/>
    <p:sldId id="381" r:id="rId122"/>
    <p:sldId id="382" r:id="rId123"/>
    <p:sldId id="383" r:id="rId124"/>
    <p:sldId id="384" r:id="rId125"/>
    <p:sldId id="385" r:id="rId126"/>
    <p:sldId id="386" r:id="rId127"/>
    <p:sldId id="387" r:id="rId128"/>
    <p:sldId id="388" r:id="rId129"/>
    <p:sldId id="389" r:id="rId130"/>
    <p:sldId id="390" r:id="rId131"/>
    <p:sldId id="391" r:id="rId132"/>
    <p:sldId id="392" r:id="rId133"/>
    <p:sldId id="393" r:id="rId134"/>
    <p:sldId id="394" r:id="rId135"/>
    <p:sldId id="395" r:id="rId136"/>
    <p:sldId id="396" r:id="rId137"/>
    <p:sldId id="397" r:id="rId138"/>
    <p:sldId id="398" r:id="rId139"/>
    <p:sldId id="399" r:id="rId140"/>
    <p:sldId id="400" r:id="rId141"/>
    <p:sldId id="401" r:id="rId142"/>
    <p:sldId id="402" r:id="rId143"/>
    <p:sldId id="403" r:id="rId144"/>
    <p:sldId id="404" r:id="rId145"/>
    <p:sldId id="405" r:id="rId146"/>
    <p:sldId id="406" r:id="rId147"/>
    <p:sldId id="407" r:id="rId148"/>
    <p:sldId id="408" r:id="rId149"/>
    <p:sldId id="409" r:id="rId150"/>
    <p:sldId id="410" r:id="rId151"/>
    <p:sldId id="411" r:id="rId152"/>
    <p:sldId id="412" r:id="rId153"/>
    <p:sldId id="413" r:id="rId154"/>
    <p:sldId id="414" r:id="rId155"/>
    <p:sldId id="415" r:id="rId156"/>
    <p:sldId id="416" r:id="rId157"/>
    <p:sldId id="417" r:id="rId158"/>
    <p:sldId id="418" r:id="rId159"/>
    <p:sldId id="419" r:id="rId160"/>
    <p:sldId id="420" r:id="rId161"/>
    <p:sldId id="421" r:id="rId162"/>
    <p:sldId id="422" r:id="rId163"/>
    <p:sldId id="423" r:id="rId164"/>
    <p:sldId id="424" r:id="rId165"/>
    <p:sldId id="425" r:id="rId166"/>
    <p:sldId id="426" r:id="rId167"/>
    <p:sldId id="427" r:id="rId168"/>
    <p:sldId id="428" r:id="rId169"/>
    <p:sldId id="429" r:id="rId170"/>
    <p:sldId id="430" r:id="rId171"/>
    <p:sldId id="431" r:id="rId172"/>
    <p:sldId id="432" r:id="rId173"/>
    <p:sldId id="433" r:id="rId174"/>
    <p:sldId id="434" r:id="rId175"/>
    <p:sldId id="435" r:id="rId176"/>
    <p:sldId id="436" r:id="rId177"/>
    <p:sldId id="437" r:id="rId178"/>
    <p:sldId id="438" r:id="rId179"/>
    <p:sldId id="439" r:id="rId180"/>
    <p:sldId id="440" r:id="rId181"/>
    <p:sldId id="441" r:id="rId182"/>
    <p:sldId id="442" r:id="rId183"/>
    <p:sldId id="443" r:id="rId184"/>
    <p:sldId id="444" r:id="rId185"/>
    <p:sldId id="445" r:id="rId186"/>
    <p:sldId id="446" r:id="rId187"/>
    <p:sldId id="447" r:id="rId188"/>
    <p:sldId id="448" r:id="rId189"/>
    <p:sldId id="449" r:id="rId190"/>
    <p:sldId id="450" r:id="rId191"/>
    <p:sldId id="451" r:id="rId192"/>
    <p:sldId id="452" r:id="rId193"/>
    <p:sldId id="453" r:id="rId194"/>
    <p:sldId id="454" r:id="rId195"/>
    <p:sldId id="455" r:id="rId196"/>
    <p:sldId id="456" r:id="rId197"/>
    <p:sldId id="457" r:id="rId198"/>
    <p:sldId id="458" r:id="rId199"/>
    <p:sldId id="459" r:id="rId200"/>
    <p:sldId id="460" r:id="rId201"/>
    <p:sldId id="461" r:id="rId202"/>
    <p:sldId id="462" r:id="rId203"/>
    <p:sldId id="463" r:id="rId204"/>
    <p:sldId id="464" r:id="rId205"/>
    <p:sldId id="465" r:id="rId206"/>
    <p:sldId id="466" r:id="rId207"/>
    <p:sldId id="467" r:id="rId208"/>
    <p:sldId id="468" r:id="rId209"/>
    <p:sldId id="469" r:id="rId210"/>
    <p:sldId id="470" r:id="rId211"/>
    <p:sldId id="471" r:id="rId212"/>
    <p:sldId id="472" r:id="rId213"/>
    <p:sldId id="473" r:id="rId214"/>
    <p:sldId id="474" r:id="rId215"/>
    <p:sldId id="475" r:id="rId216"/>
    <p:sldId id="476" r:id="rId217"/>
    <p:sldId id="477" r:id="rId218"/>
    <p:sldId id="478" r:id="rId219"/>
    <p:sldId id="479" r:id="rId220"/>
    <p:sldId id="480" r:id="rId221"/>
    <p:sldId id="481" r:id="rId222"/>
    <p:sldId id="482" r:id="rId223"/>
    <p:sldId id="483" r:id="rId224"/>
    <p:sldId id="484" r:id="rId225"/>
    <p:sldId id="485" r:id="rId226"/>
    <p:sldId id="486" r:id="rId227"/>
    <p:sldId id="487" r:id="rId228"/>
    <p:sldId id="488" r:id="rId229"/>
    <p:sldId id="489" r:id="rId230"/>
    <p:sldId id="490" r:id="rId231"/>
    <p:sldId id="491" r:id="rId232"/>
    <p:sldId id="492" r:id="rId233"/>
    <p:sldId id="493" r:id="rId234"/>
    <p:sldId id="494" r:id="rId235"/>
    <p:sldId id="495" r:id="rId236"/>
    <p:sldId id="496" r:id="rId237"/>
    <p:sldId id="497" r:id="rId238"/>
    <p:sldId id="498" r:id="rId239"/>
    <p:sldId id="499" r:id="rId240"/>
    <p:sldId id="500" r:id="rId241"/>
    <p:sldId id="501" r:id="rId242"/>
    <p:sldId id="502" r:id="rId243"/>
    <p:sldId id="503" r:id="rId244"/>
    <p:sldId id="504" r:id="rId245"/>
    <p:sldId id="505" r:id="rId246"/>
    <p:sldId id="506" r:id="rId247"/>
    <p:sldId id="507" r:id="rId248"/>
    <p:sldId id="508" r:id="rId249"/>
    <p:sldId id="509" r:id="rId250"/>
    <p:sldId id="510" r:id="rId251"/>
    <p:sldId id="511" r:id="rId252"/>
    <p:sldId id="512" r:id="rId253"/>
    <p:sldId id="513" r:id="rId254"/>
    <p:sldId id="514" r:id="rId255"/>
    <p:sldId id="515" r:id="rId256"/>
    <p:sldId id="516" r:id="rId257"/>
    <p:sldId id="517" r:id="rId258"/>
    <p:sldId id="518" r:id="rId259"/>
    <p:sldId id="519" r:id="rId260"/>
    <p:sldId id="520" r:id="rId261"/>
    <p:sldId id="521" r:id="rId262"/>
    <p:sldId id="522" r:id="rId263"/>
    <p:sldId id="523" r:id="rId264"/>
    <p:sldId id="524" r:id="rId265"/>
    <p:sldId id="525" r:id="rId266"/>
    <p:sldId id="526" r:id="rId267"/>
    <p:sldId id="527" r:id="rId268"/>
    <p:sldId id="528" r:id="rId269"/>
    <p:sldId id="529" r:id="rId270"/>
    <p:sldId id="530" r:id="rId271"/>
    <p:sldId id="531" r:id="rId272"/>
    <p:sldId id="532" r:id="rId273"/>
    <p:sldId id="533" r:id="rId274"/>
    <p:sldId id="534" r:id="rId275"/>
    <p:sldId id="535" r:id="rId276"/>
    <p:sldId id="536" r:id="rId277"/>
    <p:sldId id="537" r:id="rId278"/>
    <p:sldId id="538" r:id="rId279"/>
    <p:sldId id="539" r:id="rId280"/>
    <p:sldId id="540" r:id="rId281"/>
    <p:sldId id="541" r:id="rId282"/>
    <p:sldId id="542" r:id="rId283"/>
    <p:sldId id="543" r:id="rId284"/>
    <p:sldId id="544" r:id="rId285"/>
    <p:sldId id="545" r:id="rId286"/>
    <p:sldId id="546" r:id="rId287"/>
    <p:sldId id="547" r:id="rId288"/>
    <p:sldId id="548" r:id="rId289"/>
    <p:sldId id="549" r:id="rId290"/>
    <p:sldId id="550" r:id="rId291"/>
    <p:sldId id="551" r:id="rId292"/>
    <p:sldId id="552" r:id="rId293"/>
    <p:sldId id="553" r:id="rId294"/>
    <p:sldId id="554" r:id="rId295"/>
    <p:sldId id="555" r:id="rId296"/>
    <p:sldId id="556" r:id="rId297"/>
    <p:sldId id="557" r:id="rId298"/>
    <p:sldId id="558" r:id="rId299"/>
    <p:sldId id="559" r:id="rId300"/>
    <p:sldId id="560" r:id="rId301"/>
    <p:sldId id="561" r:id="rId302"/>
    <p:sldId id="562" r:id="rId303"/>
    <p:sldId id="563" r:id="rId304"/>
    <p:sldId id="564" r:id="rId305"/>
    <p:sldId id="565" r:id="rId306"/>
    <p:sldId id="566" r:id="rId307"/>
    <p:sldId id="567" r:id="rId308"/>
    <p:sldId id="568" r:id="rId309"/>
    <p:sldId id="569" r:id="rId310"/>
    <p:sldId id="570" r:id="rId311"/>
    <p:sldId id="571" r:id="rId312"/>
    <p:sldId id="572" r:id="rId313"/>
    <p:sldId id="573" r:id="rId314"/>
    <p:sldId id="574" r:id="rId315"/>
    <p:sldId id="575" r:id="rId316"/>
    <p:sldId id="576" r:id="rId317"/>
    <p:sldId id="577" r:id="rId318"/>
    <p:sldId id="578" r:id="rId319"/>
    <p:sldId id="579" r:id="rId320"/>
    <p:sldId id="580" r:id="rId321"/>
    <p:sldId id="581" r:id="rId322"/>
    <p:sldId id="582" r:id="rId323"/>
    <p:sldId id="583" r:id="rId324"/>
    <p:sldId id="584" r:id="rId325"/>
    <p:sldId id="585" r:id="rId326"/>
    <p:sldId id="586" r:id="rId327"/>
    <p:sldId id="587" r:id="rId328"/>
    <p:sldId id="588" r:id="rId329"/>
    <p:sldId id="589" r:id="rId330"/>
    <p:sldId id="590" r:id="rId331"/>
    <p:sldId id="591" r:id="rId332"/>
    <p:sldId id="592" r:id="rId333"/>
    <p:sldId id="593" r:id="rId33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24" Type="http://schemas.openxmlformats.org/officeDocument/2006/relationships/slide" Target="slides/slide323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335" Type="http://schemas.openxmlformats.org/officeDocument/2006/relationships/presProps" Target="presProps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326" Type="http://schemas.openxmlformats.org/officeDocument/2006/relationships/slide" Target="slides/slide325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172" Type="http://schemas.openxmlformats.org/officeDocument/2006/relationships/slide" Target="slides/slide171.xml"/><Relationship Id="rId228" Type="http://schemas.openxmlformats.org/officeDocument/2006/relationships/slide" Target="slides/slide227.xml"/><Relationship Id="rId281" Type="http://schemas.openxmlformats.org/officeDocument/2006/relationships/slide" Target="slides/slide280.xml"/><Relationship Id="rId337" Type="http://schemas.openxmlformats.org/officeDocument/2006/relationships/theme" Target="theme/theme1.xml"/><Relationship Id="rId34" Type="http://schemas.openxmlformats.org/officeDocument/2006/relationships/slide" Target="slides/slide33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83" Type="http://schemas.openxmlformats.org/officeDocument/2006/relationships/slide" Target="slides/slide182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45" Type="http://schemas.openxmlformats.org/officeDocument/2006/relationships/slide" Target="slides/slide44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17" Type="http://schemas.openxmlformats.org/officeDocument/2006/relationships/slide" Target="slides/slide316.xml"/><Relationship Id="rId338" Type="http://schemas.openxmlformats.org/officeDocument/2006/relationships/tableStyles" Target="tableStyles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28" Type="http://schemas.openxmlformats.org/officeDocument/2006/relationships/slide" Target="slides/slide327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318" Type="http://schemas.openxmlformats.org/officeDocument/2006/relationships/slide" Target="slides/slide317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329" Type="http://schemas.openxmlformats.org/officeDocument/2006/relationships/slide" Target="slides/slide328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19" Type="http://schemas.openxmlformats.org/officeDocument/2006/relationships/slide" Target="slides/slide318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330" Type="http://schemas.openxmlformats.org/officeDocument/2006/relationships/slide" Target="slides/slide329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320" Type="http://schemas.openxmlformats.org/officeDocument/2006/relationships/slide" Target="slides/slide319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310" Type="http://schemas.openxmlformats.org/officeDocument/2006/relationships/slide" Target="slides/slide309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331" Type="http://schemas.openxmlformats.org/officeDocument/2006/relationships/slide" Target="slides/slide330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32" Type="http://schemas.openxmlformats.org/officeDocument/2006/relationships/slide" Target="slides/slide331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22" Type="http://schemas.openxmlformats.org/officeDocument/2006/relationships/slide" Target="slides/slide32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slide" Target="slides/slide311.xml"/><Relationship Id="rId333" Type="http://schemas.openxmlformats.org/officeDocument/2006/relationships/slide" Target="slides/slide332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323" Type="http://schemas.openxmlformats.org/officeDocument/2006/relationships/slide" Target="slides/slide32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313" Type="http://schemas.openxmlformats.org/officeDocument/2006/relationships/slide" Target="slides/slide31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334" Type="http://schemas.openxmlformats.org/officeDocument/2006/relationships/slide" Target="slides/slide333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303" Type="http://schemas.openxmlformats.org/officeDocument/2006/relationships/slide" Target="slides/slide302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36" Type="http://schemas.openxmlformats.org/officeDocument/2006/relationships/viewProps" Target="viewProps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16" Type="http://schemas.openxmlformats.org/officeDocument/2006/relationships/slide" Target="slides/slide315.xml"/><Relationship Id="rId55" Type="http://schemas.openxmlformats.org/officeDocument/2006/relationships/slide" Target="slides/slide54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62" Type="http://schemas.openxmlformats.org/officeDocument/2006/relationships/slide" Target="slides/slide161.xml"/><Relationship Id="rId218" Type="http://schemas.openxmlformats.org/officeDocument/2006/relationships/slide" Target="slides/slide217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0250" y="240668"/>
            <a:ext cx="6681470" cy="494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A529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212121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A529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212121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5249" cy="5895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50" y="0"/>
            <a:ext cx="12096749" cy="952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82390" y="152400"/>
            <a:ext cx="657225" cy="58102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A529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A529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5249" cy="5895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250" y="0"/>
            <a:ext cx="12096749" cy="952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382390" y="152400"/>
            <a:ext cx="657225" cy="5810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0250" y="234992"/>
            <a:ext cx="9851499" cy="541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A529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70747" y="1898081"/>
            <a:ext cx="9741535" cy="4069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212121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64677" y="6614411"/>
            <a:ext cx="254634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5.jpg"/><Relationship Id="rId7" Type="http://schemas.openxmlformats.org/officeDocument/2006/relationships/image" Target="../media/image3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36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1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8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5.jpg"/><Relationship Id="rId4" Type="http://schemas.openxmlformats.org/officeDocument/2006/relationships/image" Target="../media/image52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8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5.jpg"/><Relationship Id="rId4" Type="http://schemas.openxmlformats.org/officeDocument/2006/relationships/image" Target="../media/image43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oud.google.com/" TargetMode="External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5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oud.google.com/sdk/docs/install" TargetMode="External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3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testing@gmail.com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apis.com/compute/v1/projects/windows-sql-cloud/global/images/sql-2019-web-windows-2019-dc-v20210112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31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51.png"/><Relationship Id="rId7" Type="http://schemas.openxmlformats.org/officeDocument/2006/relationships/image" Target="../media/image31.pn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5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5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5.jpg"/><Relationship Id="rId4" Type="http://schemas.openxmlformats.org/officeDocument/2006/relationships/image" Target="../media/image66.jp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5.jpg"/><Relationship Id="rId4" Type="http://schemas.openxmlformats.org/officeDocument/2006/relationships/image" Target="../media/image66.jp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load-balancing/images/choose-lb.svg" TargetMode="External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20.jp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7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4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7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hyperlink" Target="mailto:PROJECT_NO-compute@developer.gserviceaccount.com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PROJECT_ID@appspot.gserviceaccount.com" TargetMode="External"/><Relationship Id="rId5" Type="http://schemas.openxmlformats.org/officeDocument/2006/relationships/hyperlink" Target="https://cloud.google.com/functions/docs/runtime-support" TargetMode="External"/><Relationship Id="rId4" Type="http://schemas.openxmlformats.org/officeDocument/2006/relationships/image" Target="../media/image74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3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80.jp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80.jp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1.png"/><Relationship Id="rId7" Type="http://schemas.openxmlformats.org/officeDocument/2006/relationships/image" Target="../media/image3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80.jpg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7.pn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90.jpg"/></Relationships>
</file>

<file path=ppt/slides/_rels/slide1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51.png"/><Relationship Id="rId7" Type="http://schemas.openxmlformats.org/officeDocument/2006/relationships/image" Target="../media/image31.pn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90.jpg"/></Relationships>
</file>

<file path=ppt/slides/_rels/slide1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50.jpg"/><Relationship Id="rId7" Type="http://schemas.openxmlformats.org/officeDocument/2006/relationships/image" Target="../media/image8.pn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2.jpg"/><Relationship Id="rId4" Type="http://schemas.openxmlformats.org/officeDocument/2006/relationships/image" Target="../media/image91.png"/><Relationship Id="rId9" Type="http://schemas.openxmlformats.org/officeDocument/2006/relationships/image" Target="../media/image3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compute/docs/machine-images" TargetMode="External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6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5.png"/><Relationship Id="rId4" Type="http://schemas.openxmlformats.org/officeDocument/2006/relationships/image" Target="../media/image80.jpg"/></Relationships>
</file>

<file path=ppt/slides/_rels/slide1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1.png"/><Relationship Id="rId7" Type="http://schemas.openxmlformats.org/officeDocument/2006/relationships/image" Target="../media/image31.pn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3.jpg"/></Relationships>
</file>

<file path=ppt/slides/_rels/slide1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50.jpg"/><Relationship Id="rId7" Type="http://schemas.openxmlformats.org/officeDocument/2006/relationships/image" Target="../media/image8.pn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2.jpg"/><Relationship Id="rId4" Type="http://schemas.openxmlformats.org/officeDocument/2006/relationships/image" Target="../media/image91.png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3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95.jpg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1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1.png"/><Relationship Id="rId7" Type="http://schemas.openxmlformats.org/officeDocument/2006/relationships/image" Target="../media/image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5.png"/><Relationship Id="rId4" Type="http://schemas.openxmlformats.org/officeDocument/2006/relationships/image" Target="../media/image95.jp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hyperlink" Target="mailto:myAppName@appspot.gserviceaccount.com" TargetMode="External"/><Relationship Id="rId2" Type="http://schemas.openxmlformats.org/officeDocument/2006/relationships/hyperlink" Target="mailto:you@in28minutes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dministrators@in28minutes.com" TargetMode="Externa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1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1.png"/><Relationship Id="rId7" Type="http://schemas.openxmlformats.org/officeDocument/2006/relationships/image" Target="../media/image3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95.jpg"/><Relationship Id="rId9" Type="http://schemas.openxmlformats.org/officeDocument/2006/relationships/hyperlink" Target="mailto:id-compute@developer.gserviceaccount.com" TargetMode="Externa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95.jpg"/></Relationships>
</file>

<file path=ppt/slides/_rels/slide1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1.png"/><Relationship Id="rId7" Type="http://schemas.openxmlformats.org/officeDocument/2006/relationships/image" Target="../media/image3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95.jp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95.jpg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06.jpg"/><Relationship Id="rId7" Type="http://schemas.openxmlformats.org/officeDocument/2006/relationships/image" Target="../media/image8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07.jpg"/><Relationship Id="rId4" Type="http://schemas.openxmlformats.org/officeDocument/2006/relationships/image" Target="../media/image18.jp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7.png"/><Relationship Id="rId4" Type="http://schemas.openxmlformats.org/officeDocument/2006/relationships/image" Target="../media/image31.png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g"/><Relationship Id="rId7" Type="http://schemas.openxmlformats.org/officeDocument/2006/relationships/image" Target="../media/image8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5.png"/><Relationship Id="rId4" Type="http://schemas.openxmlformats.org/officeDocument/2006/relationships/image" Target="../media/image107.jp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113.jp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1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5.png"/><Relationship Id="rId4" Type="http://schemas.openxmlformats.org/officeDocument/2006/relationships/image" Target="../media/image31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91.png"/><Relationship Id="rId7" Type="http://schemas.openxmlformats.org/officeDocument/2006/relationships/image" Target="../media/image5.png"/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jpg"/><Relationship Id="rId5" Type="http://schemas.openxmlformats.org/officeDocument/2006/relationships/image" Target="../media/image16.jpg"/><Relationship Id="rId4" Type="http://schemas.openxmlformats.org/officeDocument/2006/relationships/image" Target="../media/image36.jpg"/><Relationship Id="rId9" Type="http://schemas.openxmlformats.org/officeDocument/2006/relationships/image" Target="../media/image8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30.jp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.png"/><Relationship Id="rId4" Type="http://schemas.openxmlformats.org/officeDocument/2006/relationships/image" Target="../media/image132.jp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oud.google.com/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75.png"/><Relationship Id="rId4" Type="http://schemas.openxmlformats.org/officeDocument/2006/relationships/image" Target="../media/image31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8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cloud.google.com/" TargetMode="External"/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3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2.xml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jpg"/><Relationship Id="rId7" Type="http://schemas.openxmlformats.org/officeDocument/2006/relationships/image" Target="../media/image7.png"/><Relationship Id="rId2" Type="http://schemas.openxmlformats.org/officeDocument/2006/relationships/image" Target="../media/image14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50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oud.google.com/" TargetMode="External"/><Relationship Id="rId4" Type="http://schemas.openxmlformats.org/officeDocument/2006/relationships/image" Target="../media/image26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2.jp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(ranga@in28minutes.com" TargetMode="External"/><Relationship Id="rId4" Type="http://schemas.openxmlformats.org/officeDocument/2006/relationships/image" Target="../media/image31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6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5726" y="2417608"/>
            <a:ext cx="679132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55" dirty="0">
                <a:solidFill>
                  <a:srgbClr val="1BA74A"/>
                </a:solidFill>
              </a:rPr>
              <a:t>GCP</a:t>
            </a:r>
            <a:r>
              <a:rPr sz="5900" spc="-550" dirty="0">
                <a:solidFill>
                  <a:srgbClr val="1BA74A"/>
                </a:solidFill>
              </a:rPr>
              <a:t> </a:t>
            </a:r>
            <a:r>
              <a:rPr sz="5900" spc="-260" dirty="0">
                <a:solidFill>
                  <a:srgbClr val="1BA74A"/>
                </a:solidFill>
              </a:rPr>
              <a:t>-</a:t>
            </a:r>
            <a:r>
              <a:rPr sz="5900" spc="-550" dirty="0">
                <a:solidFill>
                  <a:srgbClr val="1BA74A"/>
                </a:solidFill>
              </a:rPr>
              <a:t> </a:t>
            </a:r>
            <a:r>
              <a:rPr sz="5900" spc="-225" dirty="0">
                <a:solidFill>
                  <a:srgbClr val="1BA74A"/>
                </a:solidFill>
              </a:rPr>
              <a:t>Getting</a:t>
            </a:r>
            <a:r>
              <a:rPr sz="5900" spc="-550" dirty="0">
                <a:solidFill>
                  <a:srgbClr val="1BA74A"/>
                </a:solidFill>
              </a:rPr>
              <a:t> </a:t>
            </a:r>
            <a:r>
              <a:rPr sz="5900" spc="-175" dirty="0">
                <a:solidFill>
                  <a:srgbClr val="1BA74A"/>
                </a:solidFill>
              </a:rPr>
              <a:t>started</a:t>
            </a:r>
            <a:endParaRPr sz="5900" dirty="0"/>
          </a:p>
        </p:txBody>
      </p:sp>
      <p:sp>
        <p:nvSpPr>
          <p:cNvPr id="3" name="object 3"/>
          <p:cNvSpPr/>
          <p:nvPr/>
        </p:nvSpPr>
        <p:spPr>
          <a:xfrm>
            <a:off x="11953890" y="6572250"/>
            <a:ext cx="161925" cy="209550"/>
          </a:xfrm>
          <a:custGeom>
            <a:avLst/>
            <a:gdLst/>
            <a:ahLst/>
            <a:cxnLst/>
            <a:rect l="l" t="t" r="r" b="b"/>
            <a:pathLst>
              <a:path w="161925" h="209550">
                <a:moveTo>
                  <a:pt x="1619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161925" y="0"/>
                </a:lnTo>
                <a:lnTo>
                  <a:pt x="1619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40" dirty="0"/>
              <a:t>Before</a:t>
            </a:r>
            <a:r>
              <a:rPr spc="-265" dirty="0"/>
              <a:t> </a:t>
            </a:r>
            <a:r>
              <a:rPr spc="-145" dirty="0"/>
              <a:t>the</a:t>
            </a:r>
            <a:r>
              <a:rPr spc="-260" dirty="0"/>
              <a:t> </a:t>
            </a:r>
            <a:r>
              <a:rPr spc="-85" dirty="0"/>
              <a:t>Cloud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10" dirty="0"/>
              <a:t>Example</a:t>
            </a:r>
            <a:r>
              <a:rPr spc="-260" dirty="0"/>
              <a:t> </a:t>
            </a:r>
            <a:r>
              <a:rPr spc="-220" dirty="0"/>
              <a:t>1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10" dirty="0"/>
              <a:t>Online</a:t>
            </a:r>
            <a:r>
              <a:rPr spc="-260" dirty="0"/>
              <a:t> </a:t>
            </a:r>
            <a:r>
              <a:rPr spc="-45" dirty="0"/>
              <a:t>Shopping</a:t>
            </a:r>
            <a:r>
              <a:rPr spc="-260" dirty="0"/>
              <a:t> </a:t>
            </a:r>
            <a:r>
              <a:rPr spc="-25" dirty="0"/>
              <a:t>App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5853" y="1053015"/>
            <a:ext cx="4499113" cy="22620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74081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409139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446701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892721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523495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5531278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70747" y="3519433"/>
            <a:ext cx="7234555" cy="215074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Challenge: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Peak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usage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during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holidays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weekends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Less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during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rest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Solution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(before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Cloud):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PEAK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LOAD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provisioning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Procure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(Buy)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peak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load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doing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during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periods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low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loads?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953890" y="6572250"/>
            <a:ext cx="161925" cy="209550"/>
          </a:xfrm>
          <a:custGeom>
            <a:avLst/>
            <a:gdLst/>
            <a:ahLst/>
            <a:cxnLst/>
            <a:rect l="l" t="t" r="r" b="b"/>
            <a:pathLst>
              <a:path w="161925" h="209550">
                <a:moveTo>
                  <a:pt x="1619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161925" y="0"/>
                </a:lnTo>
                <a:lnTo>
                  <a:pt x="1619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40" dirty="0"/>
              <a:t>Before</a:t>
            </a:r>
            <a:r>
              <a:rPr spc="-270" dirty="0"/>
              <a:t> </a:t>
            </a:r>
            <a:r>
              <a:rPr spc="-145" dirty="0"/>
              <a:t>the</a:t>
            </a:r>
            <a:r>
              <a:rPr spc="-265" dirty="0"/>
              <a:t> </a:t>
            </a:r>
            <a:r>
              <a:rPr spc="-85" dirty="0"/>
              <a:t>Cloud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110" dirty="0"/>
              <a:t>Example</a:t>
            </a:r>
            <a:r>
              <a:rPr spc="-270" dirty="0"/>
              <a:t> </a:t>
            </a:r>
            <a:r>
              <a:rPr spc="-220" dirty="0"/>
              <a:t>2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45" dirty="0"/>
              <a:t>Startup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5853" y="1053015"/>
            <a:ext cx="4499113" cy="22620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74081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409139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446701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892721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523495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5531278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70747" y="3519433"/>
            <a:ext cx="6731000" cy="215074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Challenge: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Startup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suddenly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becomes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popular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handle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sudden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increase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load?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Solution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(before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Cloud):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Procure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(Buy)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assuming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successful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successful?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953890" y="6572250"/>
            <a:ext cx="161925" cy="209550"/>
          </a:xfrm>
          <a:custGeom>
            <a:avLst/>
            <a:gdLst/>
            <a:ahLst/>
            <a:cxnLst/>
            <a:rect l="l" t="t" r="r" b="b"/>
            <a:pathLst>
              <a:path w="161925" h="209550">
                <a:moveTo>
                  <a:pt x="1619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161925" y="0"/>
                </a:lnTo>
                <a:lnTo>
                  <a:pt x="1619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40" dirty="0"/>
              <a:t>Before</a:t>
            </a:r>
            <a:r>
              <a:rPr spc="-265" dirty="0"/>
              <a:t> </a:t>
            </a:r>
            <a:r>
              <a:rPr spc="-145" dirty="0"/>
              <a:t>the</a:t>
            </a:r>
            <a:r>
              <a:rPr spc="-260" dirty="0"/>
              <a:t> </a:t>
            </a:r>
            <a:r>
              <a:rPr spc="-85" dirty="0"/>
              <a:t>Cloud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70" dirty="0"/>
              <a:t>Challenges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5853" y="1053015"/>
            <a:ext cx="4499113" cy="22620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74081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199906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659000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5109747"/>
            <a:ext cx="91818" cy="918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70747" y="3462673"/>
            <a:ext cx="8685530" cy="1853564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procuring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endParaRPr sz="2350">
              <a:latin typeface="Yu Gothic"/>
              <a:cs typeface="Yu Gothic"/>
            </a:endParaRPr>
          </a:p>
          <a:p>
            <a:pPr marL="12700" marR="1363345">
              <a:lnSpc>
                <a:spcPct val="128200"/>
              </a:lnSpc>
            </a:pP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ahead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planning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guess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future?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)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Low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utilization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PEAK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LOAD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provisioning)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Dedicated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maintenance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team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startup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afford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it?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953890" y="6572250"/>
            <a:ext cx="161925" cy="209550"/>
          </a:xfrm>
          <a:custGeom>
            <a:avLst/>
            <a:gdLst/>
            <a:ahLst/>
            <a:cxnLst/>
            <a:rect l="l" t="t" r="r" b="b"/>
            <a:pathLst>
              <a:path w="161925" h="209550">
                <a:moveTo>
                  <a:pt x="1619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161925" y="0"/>
                </a:lnTo>
                <a:lnTo>
                  <a:pt x="1619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9258" y="1459533"/>
            <a:ext cx="1686664" cy="10848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716" y="1370218"/>
            <a:ext cx="141901" cy="14190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33033" y="3682382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117475" h="117475">
                <a:moveTo>
                  <a:pt x="116860" y="116860"/>
                </a:moveTo>
                <a:lnTo>
                  <a:pt x="0" y="116860"/>
                </a:lnTo>
                <a:lnTo>
                  <a:pt x="0" y="0"/>
                </a:lnTo>
                <a:lnTo>
                  <a:pt x="116860" y="0"/>
                </a:lnTo>
                <a:lnTo>
                  <a:pt x="116860" y="11686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33033" y="4216600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117475" h="117475">
                <a:moveTo>
                  <a:pt x="116860" y="116860"/>
                </a:moveTo>
                <a:lnTo>
                  <a:pt x="0" y="116860"/>
                </a:lnTo>
                <a:lnTo>
                  <a:pt x="0" y="0"/>
                </a:lnTo>
                <a:lnTo>
                  <a:pt x="116860" y="0"/>
                </a:lnTo>
                <a:lnTo>
                  <a:pt x="116860" y="11686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70250" y="1080393"/>
            <a:ext cx="7838440" cy="33883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08500"/>
              </a:lnSpc>
              <a:spcBef>
                <a:spcPts val="75"/>
              </a:spcBef>
            </a:pP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3550" spc="80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3550" spc="80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3550" b="1" dirty="0">
                <a:solidFill>
                  <a:srgbClr val="212121"/>
                </a:solidFill>
                <a:latin typeface="Trebuchet MS"/>
                <a:cs typeface="Trebuchet MS"/>
              </a:rPr>
              <a:t>provisioning</a:t>
            </a:r>
            <a:r>
              <a:rPr sz="3550" b="1" spc="750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3550" b="1" spc="-114" dirty="0">
                <a:solidFill>
                  <a:srgbClr val="212121"/>
                </a:solidFill>
                <a:latin typeface="Trebuchet MS"/>
                <a:cs typeface="Trebuchet MS"/>
              </a:rPr>
              <a:t>(renting) </a:t>
            </a:r>
            <a:r>
              <a:rPr sz="3550" b="1" dirty="0">
                <a:solidFill>
                  <a:srgbClr val="212121"/>
                </a:solidFill>
                <a:latin typeface="Trebuchet MS"/>
                <a:cs typeface="Trebuchet MS"/>
              </a:rPr>
              <a:t>resources</a:t>
            </a:r>
            <a:r>
              <a:rPr sz="3550" b="1" spc="6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3550" spc="6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3550" spc="6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3550" spc="6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3550" spc="6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80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3550" spc="-75" dirty="0">
                <a:solidFill>
                  <a:srgbClr val="212121"/>
                </a:solidFill>
                <a:latin typeface="Yu Gothic"/>
                <a:cs typeface="Yu Gothic"/>
              </a:rPr>
              <a:t>releasing</a:t>
            </a:r>
            <a:r>
              <a:rPr sz="3550" spc="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3550" spc="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back</a:t>
            </a:r>
            <a:r>
              <a:rPr sz="3550" spc="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3550" spc="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3550" spc="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3550" spc="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30" dirty="0">
                <a:solidFill>
                  <a:srgbClr val="212121"/>
                </a:solidFill>
                <a:latin typeface="Yu Gothic"/>
                <a:cs typeface="Yu Gothic"/>
              </a:rPr>
              <a:t>not </a:t>
            </a:r>
            <a:r>
              <a:rPr sz="3550" spc="-190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3550" spc="-2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0" dirty="0">
                <a:solidFill>
                  <a:srgbClr val="212121"/>
                </a:solidFill>
                <a:latin typeface="Yu Gothic"/>
                <a:cs typeface="Yu Gothic"/>
              </a:rPr>
              <a:t>them?</a:t>
            </a:r>
            <a:endParaRPr sz="35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34"/>
              </a:spcBef>
            </a:pPr>
            <a:r>
              <a:rPr sz="2800" b="1" spc="-95" dirty="0">
                <a:solidFill>
                  <a:srgbClr val="212121"/>
                </a:solidFill>
                <a:latin typeface="Trebuchet MS"/>
                <a:cs typeface="Trebuchet MS"/>
              </a:rPr>
              <a:t>On-</a:t>
            </a:r>
            <a:r>
              <a:rPr sz="2800" b="1" spc="-70" dirty="0">
                <a:solidFill>
                  <a:srgbClr val="212121"/>
                </a:solidFill>
                <a:latin typeface="Trebuchet MS"/>
                <a:cs typeface="Trebuchet MS"/>
              </a:rPr>
              <a:t>demand</a:t>
            </a:r>
            <a:r>
              <a:rPr sz="280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b="1" spc="-135" dirty="0">
                <a:solidFill>
                  <a:srgbClr val="212121"/>
                </a:solidFill>
                <a:latin typeface="Trebuchet MS"/>
                <a:cs typeface="Trebuchet MS"/>
              </a:rPr>
              <a:t>resource</a:t>
            </a:r>
            <a:r>
              <a:rPr sz="280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212121"/>
                </a:solidFill>
                <a:latin typeface="Trebuchet MS"/>
                <a:cs typeface="Trebuchet MS"/>
              </a:rPr>
              <a:t>provisioning</a:t>
            </a:r>
            <a:endParaRPr sz="28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844"/>
              </a:spcBef>
            </a:pPr>
            <a:r>
              <a:rPr sz="2800" spc="-15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280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00" dirty="0">
                <a:solidFill>
                  <a:srgbClr val="212121"/>
                </a:solidFill>
                <a:latin typeface="Yu Gothic"/>
                <a:cs typeface="Yu Gothic"/>
              </a:rPr>
              <a:t>called</a:t>
            </a:r>
            <a:r>
              <a:rPr sz="28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b="1" spc="-10" dirty="0">
                <a:solidFill>
                  <a:srgbClr val="212121"/>
                </a:solidFill>
                <a:latin typeface="Trebuchet MS"/>
                <a:cs typeface="Trebuchet MS"/>
              </a:rPr>
              <a:t>Elasticity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0250" y="220719"/>
            <a:ext cx="6289040" cy="728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600" spc="-155" dirty="0"/>
              <a:t>Silver</a:t>
            </a:r>
            <a:r>
              <a:rPr sz="4600" spc="-415" dirty="0"/>
              <a:t> </a:t>
            </a:r>
            <a:r>
              <a:rPr sz="4600" spc="-140" dirty="0"/>
              <a:t>Lining</a:t>
            </a:r>
            <a:r>
              <a:rPr sz="4600" spc="-415" dirty="0"/>
              <a:t> </a:t>
            </a:r>
            <a:r>
              <a:rPr sz="4600" spc="-165" dirty="0"/>
              <a:t>in</a:t>
            </a:r>
            <a:r>
              <a:rPr sz="4600" spc="-415" dirty="0"/>
              <a:t> </a:t>
            </a:r>
            <a:r>
              <a:rPr sz="4600" spc="-220" dirty="0"/>
              <a:t>the</a:t>
            </a:r>
            <a:r>
              <a:rPr sz="4600" spc="-409" dirty="0"/>
              <a:t> </a:t>
            </a:r>
            <a:r>
              <a:rPr sz="4600" spc="-75" dirty="0"/>
              <a:t>Cloud</a:t>
            </a:r>
            <a:endParaRPr sz="4600"/>
          </a:p>
        </p:txBody>
      </p:sp>
      <p:sp>
        <p:nvSpPr>
          <p:cNvPr id="8" name="object 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9258" y="1416965"/>
            <a:ext cx="1686664" cy="10778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410" y="1320136"/>
            <a:ext cx="133554" cy="1335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38317" y="1087071"/>
            <a:ext cx="2570480" cy="5308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83285" algn="l"/>
              </a:tabLst>
            </a:pPr>
            <a:r>
              <a:rPr sz="330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b="1" spc="-55" dirty="0">
                <a:solidFill>
                  <a:srgbClr val="212121"/>
                </a:solidFill>
                <a:latin typeface="Trebuchet MS"/>
                <a:cs typeface="Trebuchet MS"/>
              </a:rPr>
              <a:t>"variable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0250" y="1040994"/>
            <a:ext cx="4915535" cy="112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  <a:tabLst>
                <a:tab pos="1389380" algn="l"/>
                <a:tab pos="3208655" algn="l"/>
              </a:tabLst>
            </a:pP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Trade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b="1" spc="-10" dirty="0">
                <a:solidFill>
                  <a:srgbClr val="212121"/>
                </a:solidFill>
                <a:latin typeface="Trebuchet MS"/>
                <a:cs typeface="Trebuchet MS"/>
              </a:rPr>
              <a:t>"capital</a:t>
            </a:r>
            <a:r>
              <a:rPr sz="33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300" b="1" spc="-100" dirty="0">
                <a:solidFill>
                  <a:srgbClr val="212121"/>
                </a:solidFill>
                <a:latin typeface="Trebuchet MS"/>
                <a:cs typeface="Trebuchet MS"/>
              </a:rPr>
              <a:t>expense" </a:t>
            </a:r>
            <a:r>
              <a:rPr sz="3300" b="1" spc="-10" dirty="0">
                <a:solidFill>
                  <a:srgbClr val="212121"/>
                </a:solidFill>
                <a:latin typeface="Trebuchet MS"/>
                <a:cs typeface="Trebuchet MS"/>
              </a:rPr>
              <a:t>expense"</a:t>
            </a:r>
            <a:endParaRPr sz="33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410" y="2497085"/>
            <a:ext cx="133554" cy="13355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410" y="3114775"/>
            <a:ext cx="133554" cy="13355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70250" y="2151166"/>
            <a:ext cx="7214234" cy="126111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3300" spc="-160" dirty="0">
                <a:solidFill>
                  <a:srgbClr val="212121"/>
                </a:solidFill>
                <a:latin typeface="Yu Gothic"/>
                <a:cs typeface="Yu Gothic"/>
              </a:rPr>
              <a:t>Benefit</a:t>
            </a:r>
            <a:r>
              <a:rPr sz="3300" spc="-2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2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3300" spc="-2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80" dirty="0">
                <a:solidFill>
                  <a:srgbClr val="212121"/>
                </a:solidFill>
                <a:latin typeface="Yu Gothic"/>
                <a:cs typeface="Yu Gothic"/>
              </a:rPr>
              <a:t>massive</a:t>
            </a:r>
            <a:r>
              <a:rPr sz="3300" spc="-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b="1" spc="-130" dirty="0">
                <a:solidFill>
                  <a:srgbClr val="212121"/>
                </a:solidFill>
                <a:latin typeface="Trebuchet MS"/>
                <a:cs typeface="Trebuchet MS"/>
              </a:rPr>
              <a:t>economies</a:t>
            </a:r>
            <a:r>
              <a:rPr sz="3300" b="1" spc="-2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300" b="1" spc="-13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3300" b="1" spc="-2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300" b="1" spc="-50" dirty="0">
                <a:solidFill>
                  <a:srgbClr val="212121"/>
                </a:solidFill>
                <a:latin typeface="Trebuchet MS"/>
                <a:cs typeface="Trebuchet MS"/>
              </a:rPr>
              <a:t>scale</a:t>
            </a:r>
            <a:endParaRPr sz="3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3300" spc="-145" dirty="0">
                <a:solidFill>
                  <a:srgbClr val="212121"/>
                </a:solidFill>
                <a:latin typeface="Yu Gothic"/>
                <a:cs typeface="Yu Gothic"/>
              </a:rPr>
              <a:t>Stop</a:t>
            </a:r>
            <a:r>
              <a:rPr sz="3300" spc="-2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b="1" spc="-65" dirty="0">
                <a:solidFill>
                  <a:srgbClr val="212121"/>
                </a:solidFill>
                <a:latin typeface="Trebuchet MS"/>
                <a:cs typeface="Trebuchet MS"/>
              </a:rPr>
              <a:t>guessing</a:t>
            </a:r>
            <a:r>
              <a:rPr sz="3300" b="1" spc="-2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capacity</a:t>
            </a:r>
            <a:endParaRPr sz="3300">
              <a:latin typeface="Yu Gothic"/>
              <a:cs typeface="Yu Gothic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7410" y="3740812"/>
            <a:ext cx="133554" cy="13355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401843" y="3507747"/>
            <a:ext cx="2607310" cy="5308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915160" algn="l"/>
              </a:tabLst>
            </a:pP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spc="-9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endParaRPr sz="3300">
              <a:latin typeface="Yu Gothic"/>
              <a:cs typeface="Yu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410" y="4901068"/>
            <a:ext cx="133554" cy="13355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3470018"/>
            <a:ext cx="4735195" cy="1728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95"/>
              </a:spcBef>
              <a:tabLst>
                <a:tab pos="1358900" algn="l"/>
                <a:tab pos="3507740" algn="l"/>
              </a:tabLst>
            </a:pPr>
            <a:r>
              <a:rPr sz="3300" spc="-20" dirty="0">
                <a:solidFill>
                  <a:srgbClr val="212121"/>
                </a:solidFill>
                <a:latin typeface="Yu Gothic"/>
                <a:cs typeface="Yu Gothic"/>
              </a:rPr>
              <a:t>Stop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spending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spc="-114" dirty="0">
                <a:solidFill>
                  <a:srgbClr val="212121"/>
                </a:solidFill>
                <a:latin typeface="Yu Gothic"/>
                <a:cs typeface="Yu Gothic"/>
              </a:rPr>
              <a:t>money </a:t>
            </a:r>
            <a:r>
              <a:rPr sz="3300" spc="-110" dirty="0">
                <a:solidFill>
                  <a:srgbClr val="212121"/>
                </a:solidFill>
                <a:latin typeface="Yu Gothic"/>
                <a:cs typeface="Yu Gothic"/>
              </a:rPr>
              <a:t>maintaining</a:t>
            </a:r>
            <a:r>
              <a:rPr sz="3300" spc="-2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25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3300" spc="-2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30" dirty="0">
                <a:solidFill>
                  <a:srgbClr val="212121"/>
                </a:solidFill>
                <a:latin typeface="Yu Gothic"/>
                <a:cs typeface="Yu Gothic"/>
              </a:rPr>
              <a:t>centers</a:t>
            </a:r>
            <a:endParaRPr sz="33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3300" b="1" spc="60" dirty="0">
                <a:solidFill>
                  <a:srgbClr val="212121"/>
                </a:solidFill>
                <a:latin typeface="Trebuchet MS"/>
                <a:cs typeface="Trebuchet MS"/>
              </a:rPr>
              <a:t>"Go</a:t>
            </a:r>
            <a:r>
              <a:rPr sz="3300" b="1" spc="-2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300" b="1" dirty="0">
                <a:solidFill>
                  <a:srgbClr val="212121"/>
                </a:solidFill>
                <a:latin typeface="Trebuchet MS"/>
                <a:cs typeface="Trebuchet MS"/>
              </a:rPr>
              <a:t>global"</a:t>
            </a:r>
            <a:r>
              <a:rPr sz="3300" b="1" spc="-2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300" spc="-9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3300" spc="-2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minutes</a:t>
            </a:r>
            <a:endParaRPr sz="33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70250" y="217964"/>
            <a:ext cx="4529455" cy="681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300" spc="-125" dirty="0"/>
              <a:t>Cloud</a:t>
            </a:r>
            <a:r>
              <a:rPr sz="4300" spc="-395" dirty="0"/>
              <a:t> </a:t>
            </a:r>
            <a:r>
              <a:rPr sz="4300" spc="-210" dirty="0"/>
              <a:t>-</a:t>
            </a:r>
            <a:r>
              <a:rPr sz="4300" spc="-390" dirty="0"/>
              <a:t> </a:t>
            </a:r>
            <a:r>
              <a:rPr sz="4300" spc="-125" dirty="0"/>
              <a:t>Advantages</a:t>
            </a:r>
            <a:endParaRPr sz="4300"/>
          </a:p>
        </p:txBody>
      </p:sp>
      <p:sp>
        <p:nvSpPr>
          <p:cNvPr id="14" name="object 14"/>
          <p:cNvSpPr/>
          <p:nvPr/>
        </p:nvSpPr>
        <p:spPr>
          <a:xfrm>
            <a:off x="11906250" y="65722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09550" y="0"/>
                </a:lnTo>
                <a:lnTo>
                  <a:pt x="2095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1939" y="1228316"/>
            <a:ext cx="1419017" cy="163604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146" y="1194928"/>
            <a:ext cx="116860" cy="1168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146" y="1737494"/>
            <a:ext cx="116860" cy="1168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9146" y="2271712"/>
            <a:ext cx="116860" cy="11686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274768" y="2689070"/>
            <a:ext cx="92075" cy="92075"/>
          </a:xfrm>
          <a:custGeom>
            <a:avLst/>
            <a:gdLst/>
            <a:ahLst/>
            <a:cxnLst/>
            <a:rect l="l" t="t" r="r" b="b"/>
            <a:pathLst>
              <a:path w="92075" h="92075">
                <a:moveTo>
                  <a:pt x="91818" y="91818"/>
                </a:moveTo>
                <a:lnTo>
                  <a:pt x="0" y="91818"/>
                </a:lnTo>
                <a:lnTo>
                  <a:pt x="0" y="0"/>
                </a:lnTo>
                <a:lnTo>
                  <a:pt x="91818" y="0"/>
                </a:lnTo>
                <a:lnTo>
                  <a:pt x="91818" y="91818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146" y="3557175"/>
            <a:ext cx="116860" cy="11686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274768" y="3974533"/>
            <a:ext cx="92075" cy="92075"/>
          </a:xfrm>
          <a:custGeom>
            <a:avLst/>
            <a:gdLst/>
            <a:ahLst/>
            <a:cxnLst/>
            <a:rect l="l" t="t" r="r" b="b"/>
            <a:pathLst>
              <a:path w="92075" h="92075">
                <a:moveTo>
                  <a:pt x="91818" y="91818"/>
                </a:moveTo>
                <a:lnTo>
                  <a:pt x="0" y="91818"/>
                </a:lnTo>
                <a:lnTo>
                  <a:pt x="0" y="0"/>
                </a:lnTo>
                <a:lnTo>
                  <a:pt x="91818" y="0"/>
                </a:lnTo>
                <a:lnTo>
                  <a:pt x="91818" y="91818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146" y="4842638"/>
            <a:ext cx="116860" cy="1168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878726"/>
            <a:ext cx="7838440" cy="4683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769110">
              <a:lnSpc>
                <a:spcPct val="127099"/>
              </a:lnSpc>
              <a:spcBef>
                <a:spcPts val="90"/>
              </a:spcBef>
            </a:pPr>
            <a:r>
              <a:rPr sz="2800" b="1" spc="-114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2800" b="1" spc="-2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b="1" spc="-10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800" b="1" spc="-2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b="1" spc="-125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800" b="1" spc="-2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b="1" spc="-155" dirty="0">
                <a:solidFill>
                  <a:srgbClr val="212121"/>
                </a:solidFill>
                <a:latin typeface="Trebuchet MS"/>
                <a:cs typeface="Trebuchet MS"/>
              </a:rPr>
              <a:t>Top</a:t>
            </a:r>
            <a:r>
              <a:rPr sz="2800" b="1" spc="-2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b="1" spc="-204" dirty="0">
                <a:solidFill>
                  <a:srgbClr val="212121"/>
                </a:solidFill>
                <a:latin typeface="Trebuchet MS"/>
                <a:cs typeface="Trebuchet MS"/>
              </a:rPr>
              <a:t>3</a:t>
            </a:r>
            <a:r>
              <a:rPr sz="2800" b="1" spc="-2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spc="-8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80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3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80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70" dirty="0">
                <a:solidFill>
                  <a:srgbClr val="212121"/>
                </a:solidFill>
                <a:latin typeface="Yu Gothic"/>
                <a:cs typeface="Yu Gothic"/>
              </a:rPr>
              <a:t>providers </a:t>
            </a:r>
            <a:r>
              <a:rPr sz="2800" spc="-12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80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2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8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9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28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8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5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28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275" dirty="0">
                <a:solidFill>
                  <a:srgbClr val="212121"/>
                </a:solidFill>
                <a:latin typeface="Yu Gothic"/>
                <a:cs typeface="Yu Gothic"/>
              </a:rPr>
              <a:t>(200+)</a:t>
            </a:r>
            <a:endParaRPr sz="28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800" spc="-105" dirty="0">
                <a:solidFill>
                  <a:srgbClr val="212121"/>
                </a:solidFill>
                <a:latin typeface="Yu Gothic"/>
                <a:cs typeface="Yu Gothic"/>
              </a:rPr>
              <a:t>Reliable,</a:t>
            </a:r>
            <a:r>
              <a:rPr sz="280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55" dirty="0">
                <a:solidFill>
                  <a:srgbClr val="212121"/>
                </a:solidFill>
                <a:latin typeface="Yu Gothic"/>
                <a:cs typeface="Yu Gothic"/>
              </a:rPr>
              <a:t>secure</a:t>
            </a:r>
            <a:r>
              <a:rPr sz="280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80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10" dirty="0">
                <a:solidFill>
                  <a:srgbClr val="212121"/>
                </a:solidFill>
                <a:latin typeface="Yu Gothic"/>
                <a:cs typeface="Yu Gothic"/>
              </a:rPr>
              <a:t>highly-</a:t>
            </a:r>
            <a:r>
              <a:rPr sz="2800" spc="-10" dirty="0">
                <a:solidFill>
                  <a:srgbClr val="212121"/>
                </a:solidFill>
                <a:latin typeface="Yu Gothic"/>
                <a:cs typeface="Yu Gothic"/>
              </a:rPr>
              <a:t>performant:</a:t>
            </a:r>
            <a:endParaRPr sz="28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20"/>
              </a:spcBef>
            </a:pPr>
            <a:r>
              <a:rPr sz="2250" spc="-90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55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10" dirty="0">
                <a:solidFill>
                  <a:srgbClr val="212121"/>
                </a:solidFill>
                <a:latin typeface="Yu Gothic"/>
                <a:cs typeface="Yu Gothic"/>
              </a:rPr>
              <a:t>powers</a:t>
            </a:r>
            <a:r>
              <a:rPr sz="22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25" dirty="0">
                <a:solidFill>
                  <a:srgbClr val="212121"/>
                </a:solidFill>
                <a:latin typeface="Yu Gothic"/>
                <a:cs typeface="Yu Gothic"/>
              </a:rPr>
              <a:t>8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14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6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70" dirty="0">
                <a:solidFill>
                  <a:srgbClr val="212121"/>
                </a:solidFill>
                <a:latin typeface="Yu Gothic"/>
                <a:cs typeface="Yu Gothic"/>
              </a:rPr>
              <a:t>over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25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65" dirty="0">
                <a:solidFill>
                  <a:srgbClr val="212121"/>
                </a:solidFill>
                <a:latin typeface="Yu Gothic"/>
                <a:cs typeface="Yu Gothic"/>
              </a:rPr>
              <a:t>Billion</a:t>
            </a:r>
            <a:r>
              <a:rPr sz="22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05" dirty="0">
                <a:solidFill>
                  <a:srgbClr val="212121"/>
                </a:solidFill>
                <a:latin typeface="Yu Gothic"/>
                <a:cs typeface="Yu Gothic"/>
              </a:rPr>
              <a:t>Users: </a:t>
            </a:r>
            <a:r>
              <a:rPr sz="2250" spc="-90" dirty="0">
                <a:solidFill>
                  <a:srgbClr val="212121"/>
                </a:solidFill>
                <a:latin typeface="Yu Gothic"/>
                <a:cs typeface="Yu Gothic"/>
              </a:rPr>
              <a:t>Gmail,</a:t>
            </a:r>
            <a:r>
              <a:rPr sz="22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0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2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10" dirty="0">
                <a:solidFill>
                  <a:srgbClr val="212121"/>
                </a:solidFill>
                <a:latin typeface="Yu Gothic"/>
                <a:cs typeface="Yu Gothic"/>
              </a:rPr>
              <a:t>Search,</a:t>
            </a:r>
            <a:r>
              <a:rPr sz="22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80" dirty="0">
                <a:solidFill>
                  <a:srgbClr val="212121"/>
                </a:solidFill>
                <a:latin typeface="Yu Gothic"/>
                <a:cs typeface="Yu Gothic"/>
              </a:rPr>
              <a:t>YouTube</a:t>
            </a:r>
            <a:r>
              <a:rPr sz="22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22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800" spc="-15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80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75" dirty="0">
                <a:solidFill>
                  <a:srgbClr val="212121"/>
                </a:solidFill>
                <a:latin typeface="Yu Gothic"/>
                <a:cs typeface="Yu Gothic"/>
              </a:rPr>
              <a:t>thing</a:t>
            </a:r>
            <a:r>
              <a:rPr sz="280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80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8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80" dirty="0">
                <a:solidFill>
                  <a:srgbClr val="212121"/>
                </a:solidFill>
                <a:latin typeface="Yu Gothic"/>
                <a:cs typeface="Yu Gothic"/>
              </a:rPr>
              <a:t>love</a:t>
            </a:r>
            <a:r>
              <a:rPr sz="280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0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8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b="1" spc="-55" dirty="0">
                <a:solidFill>
                  <a:srgbClr val="212121"/>
                </a:solidFill>
                <a:latin typeface="Trebuchet MS"/>
                <a:cs typeface="Trebuchet MS"/>
              </a:rPr>
              <a:t>"cleanest</a:t>
            </a:r>
            <a:r>
              <a:rPr sz="2800" b="1" spc="-2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212121"/>
                </a:solidFill>
                <a:latin typeface="Trebuchet MS"/>
                <a:cs typeface="Trebuchet MS"/>
              </a:rPr>
              <a:t>cloud"</a:t>
            </a:r>
            <a:endParaRPr sz="2800">
              <a:latin typeface="Trebuchet MS"/>
              <a:cs typeface="Trebuchet MS"/>
            </a:endParaRPr>
          </a:p>
          <a:p>
            <a:pPr marL="346075" marR="5080">
              <a:lnSpc>
                <a:spcPct val="109500"/>
              </a:lnSpc>
              <a:spcBef>
                <a:spcPts val="25"/>
              </a:spcBef>
            </a:pPr>
            <a:r>
              <a:rPr sz="2250" spc="-145" dirty="0">
                <a:solidFill>
                  <a:srgbClr val="212121"/>
                </a:solidFill>
                <a:latin typeface="Yu Gothic"/>
                <a:cs typeface="Yu Gothic"/>
              </a:rPr>
              <a:t>Net</a:t>
            </a:r>
            <a:r>
              <a:rPr sz="22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10" dirty="0">
                <a:solidFill>
                  <a:srgbClr val="212121"/>
                </a:solidFill>
                <a:latin typeface="Yu Gothic"/>
                <a:cs typeface="Yu Gothic"/>
              </a:rPr>
              <a:t>carbon-</a:t>
            </a:r>
            <a:r>
              <a:rPr sz="2250" spc="-80" dirty="0">
                <a:solidFill>
                  <a:srgbClr val="212121"/>
                </a:solidFill>
                <a:latin typeface="Yu Gothic"/>
                <a:cs typeface="Yu Gothic"/>
              </a:rPr>
              <a:t>neutral</a:t>
            </a:r>
            <a:r>
              <a:rPr sz="22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7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2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(electricity</a:t>
            </a:r>
            <a:r>
              <a:rPr sz="22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2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90" dirty="0">
                <a:solidFill>
                  <a:srgbClr val="212121"/>
                </a:solidFill>
                <a:latin typeface="Yu Gothic"/>
                <a:cs typeface="Yu Gothic"/>
              </a:rPr>
              <a:t>matched</a:t>
            </a:r>
            <a:r>
              <a:rPr sz="22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100%</a:t>
            </a:r>
            <a:r>
              <a:rPr sz="22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20" dirty="0">
                <a:solidFill>
                  <a:srgbClr val="212121"/>
                </a:solidFill>
                <a:latin typeface="Yu Gothic"/>
                <a:cs typeface="Yu Gothic"/>
              </a:rPr>
              <a:t>with </a:t>
            </a:r>
            <a:r>
              <a:rPr sz="2250" spc="-95" dirty="0">
                <a:solidFill>
                  <a:srgbClr val="212121"/>
                </a:solidFill>
                <a:latin typeface="Yu Gothic"/>
                <a:cs typeface="Yu Gothic"/>
              </a:rPr>
              <a:t>renewable</a:t>
            </a:r>
            <a:r>
              <a:rPr sz="22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0" dirty="0">
                <a:solidFill>
                  <a:srgbClr val="212121"/>
                </a:solidFill>
                <a:latin typeface="Yu Gothic"/>
                <a:cs typeface="Yu Gothic"/>
              </a:rPr>
              <a:t>energy)</a:t>
            </a:r>
            <a:endParaRPr sz="22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05"/>
              </a:spcBef>
            </a:pPr>
            <a:r>
              <a:rPr sz="2800" spc="-11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8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65" dirty="0">
                <a:solidFill>
                  <a:srgbClr val="212121"/>
                </a:solidFill>
                <a:latin typeface="Yu Gothic"/>
                <a:cs typeface="Yu Gothic"/>
              </a:rPr>
              <a:t>entire</a:t>
            </a:r>
            <a:r>
              <a:rPr sz="28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10" dirty="0">
                <a:solidFill>
                  <a:srgbClr val="212121"/>
                </a:solidFill>
                <a:latin typeface="Yu Gothic"/>
                <a:cs typeface="Yu Gothic"/>
              </a:rPr>
              <a:t>course</a:t>
            </a:r>
            <a:r>
              <a:rPr sz="28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2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80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80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2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28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295" dirty="0">
                <a:solidFill>
                  <a:srgbClr val="212121"/>
                </a:solidFill>
                <a:latin typeface="Yu Gothic"/>
                <a:cs typeface="Yu Gothic"/>
              </a:rPr>
              <a:t>GCP.</a:t>
            </a:r>
            <a:r>
              <a:rPr sz="28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229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8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28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45" dirty="0">
                <a:solidFill>
                  <a:srgbClr val="212121"/>
                </a:solidFill>
                <a:latin typeface="Yu Gothic"/>
                <a:cs typeface="Yu Gothic"/>
              </a:rPr>
              <a:t>learn</a:t>
            </a:r>
            <a:r>
              <a:rPr sz="28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25" dirty="0">
                <a:solidFill>
                  <a:srgbClr val="212121"/>
                </a:solidFill>
                <a:latin typeface="Yu Gothic"/>
                <a:cs typeface="Yu Gothic"/>
              </a:rPr>
              <a:t>it </a:t>
            </a:r>
            <a:r>
              <a:rPr sz="2800" spc="-19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2800" spc="-2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7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280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05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2800" spc="-2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0" dirty="0">
                <a:solidFill>
                  <a:srgbClr val="212121"/>
                </a:solidFill>
                <a:latin typeface="Yu Gothic"/>
                <a:cs typeface="Yu Gothic"/>
              </a:rPr>
              <a:t>further.</a:t>
            </a:r>
            <a:endParaRPr sz="28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70250" y="229316"/>
            <a:ext cx="5844540" cy="588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00" spc="-114" dirty="0"/>
              <a:t>Google</a:t>
            </a:r>
            <a:r>
              <a:rPr sz="3700" spc="-320" dirty="0"/>
              <a:t> </a:t>
            </a:r>
            <a:r>
              <a:rPr sz="3700" spc="-125" dirty="0"/>
              <a:t>Cloud</a:t>
            </a:r>
            <a:r>
              <a:rPr sz="3700" spc="-320" dirty="0"/>
              <a:t> </a:t>
            </a:r>
            <a:r>
              <a:rPr sz="3700" spc="-120" dirty="0"/>
              <a:t>Platform</a:t>
            </a:r>
            <a:r>
              <a:rPr sz="3700" spc="-320" dirty="0"/>
              <a:t> </a:t>
            </a:r>
            <a:r>
              <a:rPr sz="3700" spc="-75" dirty="0"/>
              <a:t>(GCP)</a:t>
            </a:r>
            <a:endParaRPr sz="3700"/>
          </a:p>
        </p:txBody>
      </p:sp>
      <p:sp>
        <p:nvSpPr>
          <p:cNvPr id="12" name="object 12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23640"/>
            <a:ext cx="50723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20" dirty="0"/>
              <a:t>Best</a:t>
            </a:r>
            <a:r>
              <a:rPr sz="4000" spc="-365" dirty="0"/>
              <a:t> </a:t>
            </a:r>
            <a:r>
              <a:rPr sz="4000" spc="-135" dirty="0"/>
              <a:t>path</a:t>
            </a:r>
            <a:r>
              <a:rPr sz="4000" spc="-365" dirty="0"/>
              <a:t> </a:t>
            </a:r>
            <a:r>
              <a:rPr sz="4000" spc="-140" dirty="0"/>
              <a:t>to</a:t>
            </a:r>
            <a:r>
              <a:rPr sz="4000" spc="-365" dirty="0"/>
              <a:t> </a:t>
            </a:r>
            <a:r>
              <a:rPr sz="4000" spc="-175" dirty="0"/>
              <a:t>learn</a:t>
            </a:r>
            <a:r>
              <a:rPr sz="4000" spc="-365" dirty="0"/>
              <a:t> </a:t>
            </a:r>
            <a:r>
              <a:rPr sz="4000" spc="-75" dirty="0"/>
              <a:t>GCP!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5938" y="1078068"/>
            <a:ext cx="818021" cy="10016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04462" y="1069723"/>
            <a:ext cx="818021" cy="10016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39685" y="1069723"/>
            <a:ext cx="809674" cy="100165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49832" y="1069723"/>
            <a:ext cx="818021" cy="93488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76708" y="1069723"/>
            <a:ext cx="818021" cy="100165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95233" y="1069723"/>
            <a:ext cx="818022" cy="100165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6421" y="2597251"/>
            <a:ext cx="125207" cy="12520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60871" y="2385889"/>
            <a:ext cx="872744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spc="-12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05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45" dirty="0">
                <a:solidFill>
                  <a:srgbClr val="212121"/>
                </a:solidFill>
                <a:latin typeface="Yu Gothic"/>
                <a:cs typeface="Yu Gothic"/>
              </a:rPr>
              <a:t>make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9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2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8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3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2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endParaRPr sz="3050">
              <a:latin typeface="Yu Gothic"/>
              <a:cs typeface="Yu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6421" y="3173205"/>
            <a:ext cx="125207" cy="12520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881128" y="2961843"/>
            <a:ext cx="133096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spc="-15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endParaRPr sz="3050">
              <a:latin typeface="Yu Gothic"/>
              <a:cs typeface="Yu Gothic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6421" y="4249989"/>
            <a:ext cx="125207" cy="12520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560871" y="2929790"/>
            <a:ext cx="7991475" cy="1603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700"/>
              </a:lnSpc>
              <a:spcBef>
                <a:spcPts val="95"/>
              </a:spcBef>
              <a:tabLst>
                <a:tab pos="1307465" algn="l"/>
                <a:tab pos="1922145" algn="l"/>
                <a:tab pos="2710815" algn="l"/>
                <a:tab pos="4062729" algn="l"/>
                <a:tab pos="5196205" algn="l"/>
                <a:tab pos="5890895" algn="l"/>
                <a:tab pos="7082155" algn="l"/>
              </a:tabLst>
            </a:pP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There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b="1" spc="-35" dirty="0">
                <a:solidFill>
                  <a:srgbClr val="212121"/>
                </a:solidFill>
                <a:latin typeface="Trebuchet MS"/>
                <a:cs typeface="Trebuchet MS"/>
              </a:rPr>
              <a:t>no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b="1" spc="-10" dirty="0">
                <a:solidFill>
                  <a:srgbClr val="212121"/>
                </a:solidFill>
                <a:latin typeface="Trebuchet MS"/>
                <a:cs typeface="Trebuchet MS"/>
              </a:rPr>
              <a:t>single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b="1" spc="-20" dirty="0">
                <a:solidFill>
                  <a:srgbClr val="212121"/>
                </a:solidFill>
                <a:latin typeface="Trebuchet MS"/>
                <a:cs typeface="Trebuchet MS"/>
              </a:rPr>
              <a:t>path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learn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165" dirty="0">
                <a:solidFill>
                  <a:srgbClr val="212121"/>
                </a:solidFill>
                <a:latin typeface="Yu Gothic"/>
                <a:cs typeface="Yu Gothic"/>
              </a:rPr>
              <a:t>these 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independently</a:t>
            </a:r>
            <a:endParaRPr sz="30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050" spc="-275" dirty="0">
                <a:solidFill>
                  <a:srgbClr val="212121"/>
                </a:solidFill>
                <a:latin typeface="Yu Gothic"/>
                <a:cs typeface="Yu Gothic"/>
              </a:rPr>
              <a:t>HOWEVER,</a:t>
            </a:r>
            <a:r>
              <a:rPr sz="3050" spc="-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14" dirty="0">
                <a:solidFill>
                  <a:srgbClr val="212121"/>
                </a:solidFill>
                <a:latin typeface="Yu Gothic"/>
                <a:cs typeface="Yu Gothic"/>
              </a:rPr>
              <a:t>we've</a:t>
            </a:r>
            <a:r>
              <a:rPr sz="3050" spc="-2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25" dirty="0">
                <a:solidFill>
                  <a:srgbClr val="212121"/>
                </a:solidFill>
                <a:latin typeface="Yu Gothic"/>
                <a:cs typeface="Yu Gothic"/>
              </a:rPr>
              <a:t>worked</a:t>
            </a:r>
            <a:r>
              <a:rPr sz="3050" spc="-2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80" dirty="0">
                <a:solidFill>
                  <a:srgbClr val="212121"/>
                </a:solidFill>
                <a:latin typeface="Yu Gothic"/>
                <a:cs typeface="Yu Gothic"/>
              </a:rPr>
              <a:t>out</a:t>
            </a:r>
            <a:r>
              <a:rPr sz="3050" spc="-2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4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3050" spc="-2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20" dirty="0">
                <a:solidFill>
                  <a:srgbClr val="212121"/>
                </a:solidFill>
                <a:latin typeface="Yu Gothic"/>
                <a:cs typeface="Yu Gothic"/>
              </a:rPr>
              <a:t>simple</a:t>
            </a:r>
            <a:r>
              <a:rPr sz="3050" spc="-2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path!</a:t>
            </a:r>
            <a:endParaRPr sz="305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0250" y="220719"/>
            <a:ext cx="5934710" cy="728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600" b="1" spc="-125" dirty="0">
                <a:solidFill>
                  <a:srgbClr val="A52929"/>
                </a:solidFill>
                <a:latin typeface="Trebuchet MS"/>
                <a:cs typeface="Trebuchet MS"/>
              </a:rPr>
              <a:t>Setting</a:t>
            </a:r>
            <a:r>
              <a:rPr sz="4600" b="1" spc="-420" dirty="0">
                <a:solidFill>
                  <a:srgbClr val="A52929"/>
                </a:solidFill>
                <a:latin typeface="Trebuchet MS"/>
                <a:cs typeface="Trebuchet MS"/>
              </a:rPr>
              <a:t> </a:t>
            </a:r>
            <a:r>
              <a:rPr sz="4600" b="1" spc="-130" dirty="0">
                <a:solidFill>
                  <a:srgbClr val="A52929"/>
                </a:solidFill>
                <a:latin typeface="Trebuchet MS"/>
                <a:cs typeface="Trebuchet MS"/>
              </a:rPr>
              <a:t>up</a:t>
            </a:r>
            <a:r>
              <a:rPr sz="4600" b="1" spc="-415" dirty="0">
                <a:solidFill>
                  <a:srgbClr val="A52929"/>
                </a:solidFill>
                <a:latin typeface="Trebuchet MS"/>
                <a:cs typeface="Trebuchet MS"/>
              </a:rPr>
              <a:t> </a:t>
            </a:r>
            <a:r>
              <a:rPr sz="4600" b="1" spc="-125" dirty="0">
                <a:solidFill>
                  <a:srgbClr val="A52929"/>
                </a:solidFill>
                <a:latin typeface="Trebuchet MS"/>
                <a:cs typeface="Trebuchet MS"/>
              </a:rPr>
              <a:t>GCP</a:t>
            </a:r>
            <a:r>
              <a:rPr sz="4600" b="1" spc="-415" dirty="0">
                <a:solidFill>
                  <a:srgbClr val="A52929"/>
                </a:solidFill>
                <a:latin typeface="Trebuchet MS"/>
                <a:cs typeface="Trebuchet MS"/>
              </a:rPr>
              <a:t> </a:t>
            </a:r>
            <a:r>
              <a:rPr sz="4600" b="1" spc="-195" dirty="0">
                <a:solidFill>
                  <a:srgbClr val="A52929"/>
                </a:solidFill>
                <a:latin typeface="Trebuchet MS"/>
                <a:cs typeface="Trebuchet MS"/>
              </a:rPr>
              <a:t>Account</a:t>
            </a:r>
            <a:endParaRPr sz="46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1463" y="1370218"/>
            <a:ext cx="141901" cy="1419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20996" y="1123798"/>
            <a:ext cx="375539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50" spc="-2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3550" spc="-2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37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8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3550">
              <a:latin typeface="Yu Gothic"/>
              <a:cs typeface="Yu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2091" y="2417608"/>
            <a:ext cx="605853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55" dirty="0">
                <a:solidFill>
                  <a:srgbClr val="1BA74A"/>
                </a:solidFill>
              </a:rPr>
              <a:t>Regions</a:t>
            </a:r>
            <a:r>
              <a:rPr sz="5900" spc="-530" dirty="0">
                <a:solidFill>
                  <a:srgbClr val="1BA74A"/>
                </a:solidFill>
              </a:rPr>
              <a:t> </a:t>
            </a:r>
            <a:r>
              <a:rPr sz="5900" spc="-140" dirty="0">
                <a:solidFill>
                  <a:srgbClr val="1BA74A"/>
                </a:solidFill>
              </a:rPr>
              <a:t>and</a:t>
            </a:r>
            <a:r>
              <a:rPr sz="5900" spc="-530" dirty="0">
                <a:solidFill>
                  <a:srgbClr val="1BA74A"/>
                </a:solidFill>
              </a:rPr>
              <a:t> </a:t>
            </a:r>
            <a:r>
              <a:rPr sz="5900" spc="-130" dirty="0">
                <a:solidFill>
                  <a:srgbClr val="1BA74A"/>
                </a:solidFill>
              </a:rPr>
              <a:t>Zones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34992"/>
            <a:ext cx="3476625" cy="5416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50" spc="-80" dirty="0"/>
              <a:t>Regions</a:t>
            </a:r>
            <a:r>
              <a:rPr sz="3350" spc="-295" dirty="0"/>
              <a:t> </a:t>
            </a:r>
            <a:r>
              <a:rPr sz="3350" spc="-70" dirty="0"/>
              <a:t>and</a:t>
            </a:r>
            <a:r>
              <a:rPr sz="3350" spc="-290" dirty="0"/>
              <a:t> </a:t>
            </a:r>
            <a:r>
              <a:rPr sz="3350" spc="-55" dirty="0"/>
              <a:t>Zones</a:t>
            </a:r>
            <a:endParaRPr sz="33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3070" y="977892"/>
            <a:ext cx="1844722" cy="23455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9727" y="3757507"/>
            <a:ext cx="108513" cy="1085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9727" y="4258336"/>
            <a:ext cx="108513" cy="10851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25349" y="4659000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25349" y="5068011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88451" y="5381030"/>
            <a:ext cx="75124" cy="751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00745" y="3468666"/>
            <a:ext cx="9415780" cy="2072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100"/>
              </a:spcBef>
            </a:pPr>
            <a:r>
              <a:rPr sz="2600" spc="-114" dirty="0">
                <a:solidFill>
                  <a:srgbClr val="212121"/>
                </a:solidFill>
                <a:latin typeface="Yu Gothic"/>
                <a:cs typeface="Yu Gothic"/>
              </a:rPr>
              <a:t>Imagine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85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8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5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60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0" dirty="0">
                <a:solidFill>
                  <a:srgbClr val="212121"/>
                </a:solidFill>
                <a:latin typeface="Yu Gothic"/>
                <a:cs typeface="Yu Gothic"/>
              </a:rPr>
              <a:t>deployed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8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4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60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35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8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50" dirty="0">
                <a:solidFill>
                  <a:srgbClr val="212121"/>
                </a:solidFill>
                <a:latin typeface="Yu Gothic"/>
                <a:cs typeface="Yu Gothic"/>
              </a:rPr>
              <a:t>London </a:t>
            </a:r>
            <a:r>
              <a:rPr sz="2600" spc="-17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5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3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4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45" dirty="0">
                <a:solidFill>
                  <a:srgbClr val="212121"/>
                </a:solidFill>
                <a:latin typeface="Yu Gothic"/>
                <a:cs typeface="Yu Gothic"/>
              </a:rPr>
              <a:t>challenges?</a:t>
            </a:r>
            <a:endParaRPr sz="26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0"/>
              </a:spcBef>
            </a:pP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Challenge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20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Slow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2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6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parts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5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050" b="1" spc="-70" dirty="0">
                <a:solidFill>
                  <a:srgbClr val="212121"/>
                </a:solidFill>
                <a:latin typeface="Trebuchet MS"/>
                <a:cs typeface="Trebuchet MS"/>
              </a:rPr>
              <a:t>high</a:t>
            </a:r>
            <a:r>
              <a:rPr sz="20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0" dirty="0">
                <a:solidFill>
                  <a:srgbClr val="212121"/>
                </a:solidFill>
                <a:latin typeface="Trebuchet MS"/>
                <a:cs typeface="Trebuchet MS"/>
              </a:rPr>
              <a:t>latency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0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Challenge</a:t>
            </a:r>
            <a:r>
              <a:rPr sz="20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20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20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0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0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20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crashes?</a:t>
            </a:r>
            <a:endParaRPr sz="205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40"/>
              </a:spcBef>
            </a:pP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goes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low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750" spc="-90" dirty="0"/>
              <a:t>Multiple</a:t>
            </a:r>
            <a:r>
              <a:rPr sz="2750" spc="-225" dirty="0"/>
              <a:t> </a:t>
            </a:r>
            <a:r>
              <a:rPr sz="2750" spc="-70" dirty="0"/>
              <a:t>data</a:t>
            </a:r>
            <a:r>
              <a:rPr sz="2750" spc="-225" dirty="0"/>
              <a:t> </a:t>
            </a:r>
            <a:r>
              <a:rPr sz="2750" spc="-110" dirty="0"/>
              <a:t>centers</a:t>
            </a:r>
            <a:endParaRPr sz="2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7011" y="886087"/>
            <a:ext cx="3096798" cy="23455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4685" y="3623952"/>
            <a:ext cx="83471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4685" y="4049657"/>
            <a:ext cx="83471" cy="8347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591961" y="4366849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10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91961" y="4717430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10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46715" y="4963671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591961" y="5285037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10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46715" y="5539625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440619" y="3364844"/>
            <a:ext cx="6097270" cy="2310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43940">
              <a:lnSpc>
                <a:spcPct val="133000"/>
              </a:lnSpc>
              <a:spcBef>
                <a:spcPts val="95"/>
              </a:spcBef>
            </a:pPr>
            <a:r>
              <a:rPr sz="2100" spc="-13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1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b="1" spc="-25" dirty="0">
                <a:solidFill>
                  <a:srgbClr val="212121"/>
                </a:solidFill>
                <a:latin typeface="Trebuchet MS"/>
                <a:cs typeface="Trebuchet MS"/>
              </a:rPr>
              <a:t>add</a:t>
            </a:r>
            <a:r>
              <a:rPr sz="210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100" b="1" spc="-65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1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100" b="1" spc="-75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21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100" b="1" spc="-85" dirty="0">
                <a:solidFill>
                  <a:srgbClr val="212121"/>
                </a:solidFill>
                <a:latin typeface="Trebuchet MS"/>
                <a:cs typeface="Trebuchet MS"/>
              </a:rPr>
              <a:t>more</a:t>
            </a:r>
            <a:r>
              <a:rPr sz="210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100" b="1" spc="-4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1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100" b="1" spc="-120" dirty="0">
                <a:solidFill>
                  <a:srgbClr val="212121"/>
                </a:solidFill>
                <a:latin typeface="Trebuchet MS"/>
                <a:cs typeface="Trebuchet MS"/>
              </a:rPr>
              <a:t>center</a:t>
            </a:r>
            <a:r>
              <a:rPr sz="210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1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1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65" dirty="0">
                <a:solidFill>
                  <a:srgbClr val="212121"/>
                </a:solidFill>
                <a:latin typeface="Yu Gothic"/>
                <a:cs typeface="Yu Gothic"/>
              </a:rPr>
              <a:t>London </a:t>
            </a:r>
            <a:r>
              <a:rPr sz="2100" spc="-12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1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6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21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9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1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8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1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" dirty="0">
                <a:solidFill>
                  <a:srgbClr val="212121"/>
                </a:solidFill>
                <a:latin typeface="Yu Gothic"/>
                <a:cs typeface="Yu Gothic"/>
              </a:rPr>
              <a:t>challenges?</a:t>
            </a:r>
            <a:endParaRPr sz="21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80"/>
              </a:spcBef>
            </a:pP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Challenge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Slow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4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users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parts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endParaRPr sz="17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20"/>
              </a:spcBef>
            </a:pP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Challenge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700" b="1" spc="-105" dirty="0">
                <a:solidFill>
                  <a:srgbClr val="212121"/>
                </a:solidFill>
                <a:latin typeface="Trebuchet MS"/>
                <a:cs typeface="Trebuchet MS"/>
              </a:rPr>
              <a:t>SOLVED</a:t>
            </a:r>
            <a:r>
              <a:rPr sz="1700" spc="-105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2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crashes?</a:t>
            </a:r>
            <a:endParaRPr sz="17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0"/>
              </a:spcBef>
            </a:pPr>
            <a:r>
              <a:rPr sz="1350" spc="-10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is</a:t>
            </a:r>
            <a:r>
              <a:rPr sz="1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b="1" spc="-40" dirty="0">
                <a:solidFill>
                  <a:srgbClr val="212121"/>
                </a:solidFill>
                <a:latin typeface="Trebuchet MS"/>
                <a:cs typeface="Trebuchet MS"/>
              </a:rPr>
              <a:t>still</a:t>
            </a:r>
            <a:r>
              <a:rPr sz="13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350" b="1" spc="-45" dirty="0">
                <a:solidFill>
                  <a:srgbClr val="212121"/>
                </a:solidFill>
                <a:latin typeface="Trebuchet MS"/>
                <a:cs typeface="Trebuchet MS"/>
              </a:rPr>
              <a:t>available</a:t>
            </a:r>
            <a:r>
              <a:rPr sz="1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35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5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1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endParaRPr sz="1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60"/>
              </a:spcBef>
            </a:pP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Challenge</a:t>
            </a:r>
            <a:r>
              <a:rPr sz="17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3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700" spc="-120" dirty="0">
                <a:solidFill>
                  <a:srgbClr val="212121"/>
                </a:solidFill>
                <a:latin typeface="Yu Gothic"/>
                <a:cs typeface="Yu Gothic"/>
              </a:rPr>
              <a:t> What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7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b="1" spc="-95" dirty="0">
                <a:solidFill>
                  <a:srgbClr val="212121"/>
                </a:solidFill>
                <a:latin typeface="Trebuchet MS"/>
                <a:cs typeface="Trebuchet MS"/>
              </a:rPr>
              <a:t>entire</a:t>
            </a:r>
            <a:r>
              <a:rPr sz="17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700" b="1" spc="-70" dirty="0">
                <a:solidFill>
                  <a:srgbClr val="212121"/>
                </a:solidFill>
                <a:latin typeface="Trebuchet MS"/>
                <a:cs typeface="Trebuchet MS"/>
              </a:rPr>
              <a:t>region</a:t>
            </a:r>
            <a:r>
              <a:rPr sz="17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7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London</a:t>
            </a:r>
            <a:r>
              <a:rPr sz="17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unavailable?</a:t>
            </a:r>
            <a:endParaRPr sz="17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15"/>
              </a:spcBef>
            </a:pPr>
            <a:r>
              <a:rPr sz="1350" spc="-10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goes</a:t>
            </a:r>
            <a:r>
              <a:rPr sz="1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20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endParaRPr sz="135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750" spc="-90" dirty="0"/>
              <a:t>Multiple</a:t>
            </a:r>
            <a:r>
              <a:rPr sz="2750" spc="-215" dirty="0"/>
              <a:t> </a:t>
            </a:r>
            <a:r>
              <a:rPr sz="2750" spc="-65" dirty="0"/>
              <a:t>regions</a:t>
            </a:r>
            <a:endParaRPr sz="2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591" y="886071"/>
            <a:ext cx="6435669" cy="24290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4685" y="3707424"/>
            <a:ext cx="83471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4685" y="4124782"/>
            <a:ext cx="83471" cy="8347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591961" y="4441974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10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46715" y="4696562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591961" y="5017928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10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46715" y="5264169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591961" y="5585535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10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0888" y="5844297"/>
            <a:ext cx="59055" cy="52069"/>
          </a:xfrm>
          <a:custGeom>
            <a:avLst/>
            <a:gdLst/>
            <a:ahLst/>
            <a:cxnLst/>
            <a:rect l="l" t="t" r="r" b="b"/>
            <a:pathLst>
              <a:path w="59055" h="52070">
                <a:moveTo>
                  <a:pt x="10345" y="51662"/>
                </a:moveTo>
                <a:lnTo>
                  <a:pt x="8556" y="49874"/>
                </a:lnTo>
                <a:lnTo>
                  <a:pt x="5817" y="47136"/>
                </a:lnTo>
                <a:lnTo>
                  <a:pt x="3706" y="43972"/>
                </a:lnTo>
                <a:lnTo>
                  <a:pt x="2223" y="40391"/>
                </a:lnTo>
                <a:lnTo>
                  <a:pt x="741" y="36819"/>
                </a:lnTo>
                <a:lnTo>
                  <a:pt x="0" y="33088"/>
                </a:lnTo>
                <a:lnTo>
                  <a:pt x="0" y="29215"/>
                </a:lnTo>
                <a:lnTo>
                  <a:pt x="0" y="25341"/>
                </a:lnTo>
                <a:lnTo>
                  <a:pt x="741" y="21610"/>
                </a:lnTo>
                <a:lnTo>
                  <a:pt x="2223" y="18038"/>
                </a:lnTo>
                <a:lnTo>
                  <a:pt x="3706" y="14457"/>
                </a:lnTo>
                <a:lnTo>
                  <a:pt x="5817" y="11293"/>
                </a:lnTo>
                <a:lnTo>
                  <a:pt x="8556" y="8555"/>
                </a:lnTo>
                <a:lnTo>
                  <a:pt x="11296" y="5817"/>
                </a:lnTo>
                <a:lnTo>
                  <a:pt x="14455" y="3706"/>
                </a:lnTo>
                <a:lnTo>
                  <a:pt x="18034" y="2220"/>
                </a:lnTo>
                <a:lnTo>
                  <a:pt x="21614" y="742"/>
                </a:lnTo>
                <a:lnTo>
                  <a:pt x="25341" y="0"/>
                </a:lnTo>
                <a:lnTo>
                  <a:pt x="29215" y="0"/>
                </a:lnTo>
                <a:lnTo>
                  <a:pt x="33088" y="0"/>
                </a:lnTo>
                <a:lnTo>
                  <a:pt x="56206" y="18038"/>
                </a:lnTo>
                <a:lnTo>
                  <a:pt x="57688" y="21610"/>
                </a:lnTo>
                <a:lnTo>
                  <a:pt x="58430" y="25341"/>
                </a:lnTo>
                <a:lnTo>
                  <a:pt x="58430" y="29215"/>
                </a:lnTo>
                <a:lnTo>
                  <a:pt x="58430" y="33088"/>
                </a:lnTo>
                <a:lnTo>
                  <a:pt x="57688" y="36819"/>
                </a:lnTo>
                <a:lnTo>
                  <a:pt x="56206" y="40391"/>
                </a:lnTo>
                <a:lnTo>
                  <a:pt x="54723" y="43972"/>
                </a:lnTo>
                <a:lnTo>
                  <a:pt x="52612" y="47136"/>
                </a:lnTo>
                <a:lnTo>
                  <a:pt x="49873" y="49874"/>
                </a:lnTo>
                <a:lnTo>
                  <a:pt x="48084" y="51662"/>
                </a:lnTo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40619" y="3456663"/>
            <a:ext cx="7719695" cy="2518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086860">
              <a:lnSpc>
                <a:spcPct val="130400"/>
              </a:lnSpc>
              <a:spcBef>
                <a:spcPts val="95"/>
              </a:spcBef>
            </a:pPr>
            <a:r>
              <a:rPr sz="2100" spc="-13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1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65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21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1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21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7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21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1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5" dirty="0">
                <a:solidFill>
                  <a:srgbClr val="212121"/>
                </a:solidFill>
                <a:latin typeface="Yu Gothic"/>
                <a:cs typeface="Yu Gothic"/>
              </a:rPr>
              <a:t>Mumbai </a:t>
            </a:r>
            <a:r>
              <a:rPr sz="2100" spc="-12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1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6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21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9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1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8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1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" dirty="0">
                <a:solidFill>
                  <a:srgbClr val="212121"/>
                </a:solidFill>
                <a:latin typeface="Yu Gothic"/>
                <a:cs typeface="Yu Gothic"/>
              </a:rPr>
              <a:t>challenges?</a:t>
            </a:r>
            <a:endParaRPr sz="21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80"/>
              </a:spcBef>
            </a:pP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Challenge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1 </a:t>
            </a:r>
            <a:r>
              <a:rPr sz="1700" spc="-14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700" b="1" spc="-145" dirty="0">
                <a:solidFill>
                  <a:srgbClr val="212121"/>
                </a:solidFill>
                <a:latin typeface="Trebuchet MS"/>
                <a:cs typeface="Trebuchet MS"/>
              </a:rPr>
              <a:t>PARTLY</a:t>
            </a:r>
            <a:r>
              <a:rPr sz="17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700" b="1" spc="-95" dirty="0">
                <a:solidFill>
                  <a:srgbClr val="212121"/>
                </a:solidFill>
                <a:latin typeface="Trebuchet MS"/>
                <a:cs typeface="Trebuchet MS"/>
              </a:rPr>
              <a:t>SOLVED</a:t>
            </a: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Slow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4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users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parts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endParaRPr sz="17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15"/>
              </a:spcBef>
            </a:pPr>
            <a:r>
              <a:rPr sz="1350" spc="-13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can </a:t>
            </a:r>
            <a:r>
              <a:rPr sz="1350" spc="-60" dirty="0">
                <a:solidFill>
                  <a:srgbClr val="212121"/>
                </a:solidFill>
                <a:latin typeface="Yu Gothic"/>
                <a:cs typeface="Yu Gothic"/>
              </a:rPr>
              <a:t>solve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6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adding</a:t>
            </a:r>
            <a:r>
              <a:rPr sz="1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5" dirty="0">
                <a:solidFill>
                  <a:srgbClr val="212121"/>
                </a:solidFill>
                <a:latin typeface="Yu Gothic"/>
                <a:cs typeface="Yu Gothic"/>
              </a:rPr>
              <a:t>deployments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5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10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endParaRPr sz="1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60"/>
              </a:spcBef>
            </a:pP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Challenge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200" dirty="0">
                <a:solidFill>
                  <a:srgbClr val="212121"/>
                </a:solidFill>
                <a:latin typeface="Yu Gothic"/>
                <a:cs typeface="Yu Gothic"/>
              </a:rPr>
              <a:t>(SOLVED)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2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crashes?</a:t>
            </a:r>
            <a:endParaRPr sz="17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0"/>
              </a:spcBef>
            </a:pPr>
            <a:r>
              <a:rPr sz="1350" spc="-10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0" dirty="0">
                <a:solidFill>
                  <a:srgbClr val="212121"/>
                </a:solidFill>
                <a:latin typeface="Yu Gothic"/>
                <a:cs typeface="Yu Gothic"/>
              </a:rPr>
              <a:t>still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0" dirty="0">
                <a:solidFill>
                  <a:srgbClr val="212121"/>
                </a:solidFill>
                <a:latin typeface="Yu Gothic"/>
                <a:cs typeface="Yu Gothic"/>
              </a:rPr>
              <a:t>live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5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10" dirty="0">
                <a:solidFill>
                  <a:srgbClr val="212121"/>
                </a:solidFill>
                <a:latin typeface="Yu Gothic"/>
                <a:cs typeface="Yu Gothic"/>
              </a:rPr>
              <a:t>centers</a:t>
            </a:r>
            <a:endParaRPr sz="1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60"/>
              </a:spcBef>
            </a:pP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Challenge</a:t>
            </a:r>
            <a:r>
              <a:rPr sz="17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3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700" b="1" spc="-105" dirty="0">
                <a:solidFill>
                  <a:srgbClr val="212121"/>
                </a:solidFill>
                <a:latin typeface="Trebuchet MS"/>
                <a:cs typeface="Trebuchet MS"/>
              </a:rPr>
              <a:t>SOLVED</a:t>
            </a:r>
            <a:r>
              <a:rPr sz="1700" spc="-105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2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entire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London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unavailable?</a:t>
            </a:r>
            <a:endParaRPr sz="17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15"/>
              </a:spcBef>
            </a:pPr>
            <a:r>
              <a:rPr sz="1350" spc="-10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is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60" dirty="0">
                <a:solidFill>
                  <a:srgbClr val="212121"/>
                </a:solidFill>
                <a:latin typeface="Yu Gothic"/>
                <a:cs typeface="Yu Gothic"/>
              </a:rPr>
              <a:t>served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10" dirty="0">
                <a:solidFill>
                  <a:srgbClr val="212121"/>
                </a:solidFill>
                <a:latin typeface="Yu Gothic"/>
                <a:cs typeface="Yu Gothic"/>
              </a:rPr>
              <a:t>Mumbai</a:t>
            </a:r>
            <a:endParaRPr sz="135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1595" y="1094759"/>
            <a:ext cx="4807976" cy="25291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238323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98122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398578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249989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460057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9761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53518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57357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70250" y="866705"/>
            <a:ext cx="4833620" cy="5046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205865" algn="l"/>
                <a:tab pos="2242820" algn="l"/>
                <a:tab pos="2746375" algn="l"/>
                <a:tab pos="3489960" algn="l"/>
                <a:tab pos="458216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Imagine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setting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centers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in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around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Would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that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easy?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  <a:tabLst>
                <a:tab pos="1635125" algn="l"/>
                <a:tab pos="2898140" algn="l"/>
                <a:tab pos="435800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(Solution)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20+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regions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around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Expanding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year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  <a:tabLst>
                <a:tab pos="1315085" algn="l"/>
                <a:tab pos="1797685" algn="l"/>
                <a:tab pos="319087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Region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geographical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location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Advantages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endParaRPr sz="1900">
              <a:latin typeface="Yu Gothic"/>
              <a:cs typeface="Yu Gothic"/>
            </a:endParaRPr>
          </a:p>
          <a:p>
            <a:pPr marL="346075" marR="2830830">
              <a:lnSpc>
                <a:spcPct val="129700"/>
              </a:lnSpc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Low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Latency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Global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Footprint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Adhere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government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regulations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Regions</a:t>
            </a:r>
          </a:p>
        </p:txBody>
      </p:sp>
      <p:sp>
        <p:nvSpPr>
          <p:cNvPr id="15" name="object 15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0931" y="1161527"/>
            <a:ext cx="3071748" cy="32720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238323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697417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548827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428337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5017928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866705"/>
            <a:ext cx="5835650" cy="4750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achieve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same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(or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geographic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location)?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Enter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Zones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three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zones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(Advantage)</a:t>
            </a:r>
            <a:r>
              <a:rPr sz="2350" spc="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Increased</a:t>
            </a:r>
            <a:r>
              <a:rPr sz="2350" b="1" spc="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2350" b="1" spc="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fault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tolerance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90"/>
              </a:spcBef>
              <a:tabLst>
                <a:tab pos="1766570" algn="l"/>
                <a:tab pos="2563495" algn="l"/>
                <a:tab pos="3380104" algn="l"/>
                <a:tab pos="4008754" algn="l"/>
                <a:tab pos="4679950" algn="l"/>
                <a:tab pos="514223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or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more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discrete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clusters</a:t>
            </a:r>
            <a:endParaRPr sz="2350">
              <a:latin typeface="Trebuchet MS"/>
              <a:cs typeface="Trebuchet MS"/>
            </a:endParaRPr>
          </a:p>
          <a:p>
            <a:pPr marL="346075" marR="5080">
              <a:lnSpc>
                <a:spcPct val="109500"/>
              </a:lnSpc>
              <a:spcBef>
                <a:spcPts val="45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: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distinct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physical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that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housed in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connected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through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low-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latency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links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02933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Zones</a:t>
            </a:r>
          </a:p>
        </p:txBody>
      </p:sp>
      <p:sp>
        <p:nvSpPr>
          <p:cNvPr id="12" name="object 12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29316"/>
            <a:ext cx="5809615" cy="588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00" spc="-110" dirty="0"/>
              <a:t>Regions</a:t>
            </a:r>
            <a:r>
              <a:rPr sz="3700" spc="-325" dirty="0"/>
              <a:t> </a:t>
            </a:r>
            <a:r>
              <a:rPr sz="3700" spc="-100" dirty="0"/>
              <a:t>and</a:t>
            </a:r>
            <a:r>
              <a:rPr sz="3700" spc="-325" dirty="0"/>
              <a:t> </a:t>
            </a:r>
            <a:r>
              <a:rPr sz="3700" spc="-135" dirty="0"/>
              <a:t>Zones</a:t>
            </a:r>
            <a:r>
              <a:rPr sz="3700" spc="-325" dirty="0"/>
              <a:t> </a:t>
            </a:r>
            <a:r>
              <a:rPr sz="3700" spc="-120" dirty="0"/>
              <a:t>examples</a:t>
            </a:r>
            <a:endParaRPr sz="37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82950" y="2170563"/>
          <a:ext cx="10015855" cy="3692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2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3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784">
                <a:tc>
                  <a:txBody>
                    <a:bodyPr/>
                    <a:lstStyle/>
                    <a:p>
                      <a:pPr marL="36830" algn="ctr">
                        <a:lnSpc>
                          <a:spcPts val="2305"/>
                        </a:lnSpc>
                      </a:pPr>
                      <a:r>
                        <a:rPr sz="19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Region</a:t>
                      </a:r>
                      <a:r>
                        <a:rPr sz="19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9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Code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2305"/>
                        </a:lnSpc>
                      </a:pPr>
                      <a:r>
                        <a:rPr sz="19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Region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2420" algn="ctr">
                        <a:lnSpc>
                          <a:spcPts val="2305"/>
                        </a:lnSpc>
                      </a:pPr>
                      <a:r>
                        <a:rPr sz="19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Zones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305"/>
                        </a:lnSpc>
                      </a:pPr>
                      <a:r>
                        <a:rPr sz="19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Zones</a:t>
                      </a:r>
                      <a:r>
                        <a:rPr sz="1950" b="1" spc="-1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9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List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365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950" b="1" spc="-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us-</a:t>
                      </a:r>
                      <a:r>
                        <a:rPr sz="19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west1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9842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88595" marR="455930">
                        <a:lnSpc>
                          <a:spcPct val="109500"/>
                        </a:lnSpc>
                        <a:spcBef>
                          <a:spcPts val="555"/>
                        </a:spcBef>
                      </a:pPr>
                      <a:r>
                        <a:rPr sz="19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The </a:t>
                      </a:r>
                      <a:r>
                        <a:rPr sz="19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Dalles,</a:t>
                      </a:r>
                      <a:r>
                        <a:rPr sz="19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9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Oregon,</a:t>
                      </a:r>
                      <a:r>
                        <a:rPr sz="19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9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North </a:t>
                      </a:r>
                      <a:r>
                        <a:rPr sz="19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America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7048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31242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3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9842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51130" marR="2299970">
                        <a:lnSpc>
                          <a:spcPct val="109500"/>
                        </a:lnSpc>
                        <a:spcBef>
                          <a:spcPts val="555"/>
                        </a:spcBef>
                      </a:pPr>
                      <a:r>
                        <a:rPr sz="1950" spc="-1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us-</a:t>
                      </a:r>
                      <a:r>
                        <a:rPr sz="1950" spc="-13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west1-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 </a:t>
                      </a:r>
                      <a:r>
                        <a:rPr sz="1950" spc="-1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us-</a:t>
                      </a:r>
                      <a:r>
                        <a:rPr sz="1950" spc="-13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west1-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7048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310"/>
                        </a:lnSpc>
                      </a:pPr>
                      <a:r>
                        <a:rPr sz="1950" spc="-1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us-</a:t>
                      </a:r>
                      <a:r>
                        <a:rPr sz="1950" spc="-13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west1-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3165">
                <a:tc>
                  <a:txBody>
                    <a:bodyPr/>
                    <a:lstStyle/>
                    <a:p>
                      <a:pPr marL="537210" marR="434340" indent="-58419">
                        <a:lnSpc>
                          <a:spcPct val="109500"/>
                        </a:lnSpc>
                        <a:spcBef>
                          <a:spcPts val="555"/>
                        </a:spcBef>
                      </a:pPr>
                      <a:r>
                        <a:rPr sz="19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europe- </a:t>
                      </a:r>
                      <a:r>
                        <a:rPr sz="19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north1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7048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9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Hamina,</a:t>
                      </a:r>
                      <a:r>
                        <a:rPr sz="19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9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Finland,</a:t>
                      </a:r>
                      <a:r>
                        <a:rPr sz="19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9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Europe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9842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242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3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9842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130" marR="774065">
                        <a:lnSpc>
                          <a:spcPct val="109500"/>
                        </a:lnSpc>
                        <a:spcBef>
                          <a:spcPts val="555"/>
                        </a:spcBef>
                      </a:pPr>
                      <a:r>
                        <a:rPr sz="19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europe-</a:t>
                      </a:r>
                      <a:r>
                        <a:rPr sz="19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north1-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a,</a:t>
                      </a:r>
                      <a:r>
                        <a:rPr sz="19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9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europe- north1-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</a:t>
                      </a:r>
                      <a:endParaRPr sz="1950">
                        <a:latin typeface="Yu Gothic"/>
                        <a:cs typeface="Yu Gothic"/>
                      </a:endParaRPr>
                    </a:p>
                    <a:p>
                      <a:pPr marL="1511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europe-</a:t>
                      </a:r>
                      <a:r>
                        <a:rPr sz="19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north1-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7048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044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950" b="1" spc="-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asia-</a:t>
                      </a:r>
                      <a:r>
                        <a:rPr sz="19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south1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9842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9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Mumbai,</a:t>
                      </a:r>
                      <a:r>
                        <a:rPr sz="19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9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India</a:t>
                      </a:r>
                      <a:r>
                        <a:rPr sz="19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9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APAC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9842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242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3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9842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130" marR="460375">
                        <a:lnSpc>
                          <a:spcPct val="112400"/>
                        </a:lnSpc>
                        <a:spcBef>
                          <a:spcPts val="484"/>
                        </a:spcBef>
                      </a:pPr>
                      <a:r>
                        <a:rPr sz="19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asia-</a:t>
                      </a:r>
                      <a:r>
                        <a:rPr sz="19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south1-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a,</a:t>
                      </a:r>
                      <a:r>
                        <a:rPr sz="1950" spc="-1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9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asia-</a:t>
                      </a:r>
                      <a:r>
                        <a:rPr sz="19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south1-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 </a:t>
                      </a:r>
                      <a:r>
                        <a:rPr sz="19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asia-</a:t>
                      </a:r>
                      <a:r>
                        <a:rPr sz="19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south1-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61594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632492" y="1009650"/>
            <a:ext cx="7117080" cy="914400"/>
          </a:xfrm>
          <a:prstGeom prst="rect">
            <a:avLst/>
          </a:prstGeom>
          <a:ln w="20909">
            <a:solidFill>
              <a:srgbClr val="000000"/>
            </a:solidFill>
          </a:ln>
        </p:spPr>
        <p:txBody>
          <a:bodyPr vert="horz" wrap="square" lIns="0" tIns="213360" rIns="0" bIns="0" rtlCol="0">
            <a:spAutoFit/>
          </a:bodyPr>
          <a:lstStyle/>
          <a:p>
            <a:pPr marL="238760">
              <a:lnSpc>
                <a:spcPct val="100000"/>
              </a:lnSpc>
              <a:spcBef>
                <a:spcPts val="1680"/>
              </a:spcBef>
            </a:pPr>
            <a:r>
              <a:rPr sz="2800" i="1" spc="-105" dirty="0">
                <a:solidFill>
                  <a:srgbClr val="212121"/>
                </a:solidFill>
                <a:latin typeface="Trebuchet MS"/>
                <a:cs typeface="Trebuchet MS"/>
              </a:rPr>
              <a:t>New</a:t>
            </a:r>
            <a:r>
              <a:rPr sz="2800" i="1" spc="-2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i="1" spc="-65" dirty="0">
                <a:solidFill>
                  <a:srgbClr val="212121"/>
                </a:solidFill>
                <a:latin typeface="Trebuchet MS"/>
                <a:cs typeface="Trebuchet MS"/>
              </a:rPr>
              <a:t>Regions</a:t>
            </a:r>
            <a:r>
              <a:rPr sz="2800" i="1" spc="-2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i="1" spc="-25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800" i="1" spc="-2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i="1" spc="-85" dirty="0">
                <a:solidFill>
                  <a:srgbClr val="212121"/>
                </a:solidFill>
                <a:latin typeface="Trebuchet MS"/>
                <a:cs typeface="Trebuchet MS"/>
              </a:rPr>
              <a:t>Zones</a:t>
            </a:r>
            <a:r>
              <a:rPr sz="2800" i="1" spc="-2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i="1" spc="-114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2800" i="1" spc="-2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i="1" spc="-114" dirty="0">
                <a:solidFill>
                  <a:srgbClr val="212121"/>
                </a:solidFill>
                <a:latin typeface="Trebuchet MS"/>
                <a:cs typeface="Trebuchet MS"/>
              </a:rPr>
              <a:t>constantly</a:t>
            </a:r>
            <a:r>
              <a:rPr sz="2800" i="1" spc="-2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i="1" spc="-10" dirty="0">
                <a:solidFill>
                  <a:srgbClr val="212121"/>
                </a:solidFill>
                <a:latin typeface="Trebuchet MS"/>
                <a:cs typeface="Trebuchet MS"/>
              </a:rPr>
              <a:t>added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6667" y="2417608"/>
            <a:ext cx="298894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90" dirty="0">
                <a:solidFill>
                  <a:srgbClr val="1BA74A"/>
                </a:solidFill>
              </a:rPr>
              <a:t>Compute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3715" y="1966861"/>
            <a:ext cx="5354955" cy="182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8140" marR="5080" indent="-346075">
              <a:lnSpc>
                <a:spcPct val="100299"/>
              </a:lnSpc>
              <a:spcBef>
                <a:spcPts val="95"/>
              </a:spcBef>
            </a:pPr>
            <a:r>
              <a:rPr sz="5900" spc="-225" dirty="0">
                <a:solidFill>
                  <a:srgbClr val="1BA74A"/>
                </a:solidFill>
              </a:rPr>
              <a:t>Compute</a:t>
            </a:r>
            <a:r>
              <a:rPr sz="5900" spc="-530" dirty="0">
                <a:solidFill>
                  <a:srgbClr val="1BA74A"/>
                </a:solidFill>
              </a:rPr>
              <a:t> </a:t>
            </a:r>
            <a:r>
              <a:rPr sz="5900" spc="-150" dirty="0">
                <a:solidFill>
                  <a:srgbClr val="1BA74A"/>
                </a:solidFill>
              </a:rPr>
              <a:t>Engine </a:t>
            </a:r>
            <a:r>
              <a:rPr sz="5900" spc="-110" dirty="0">
                <a:solidFill>
                  <a:srgbClr val="1BA74A"/>
                </a:solidFill>
              </a:rPr>
              <a:t>Fundamentals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286746"/>
            <a:ext cx="818021" cy="10016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410" y="1320136"/>
            <a:ext cx="133554" cy="1335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410" y="2480391"/>
            <a:ext cx="133554" cy="13355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49727" y="3532133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4" h="108585">
                <a:moveTo>
                  <a:pt x="108513" y="108513"/>
                </a:moveTo>
                <a:lnTo>
                  <a:pt x="0" y="108513"/>
                </a:lnTo>
                <a:lnTo>
                  <a:pt x="0" y="0"/>
                </a:lnTo>
                <a:lnTo>
                  <a:pt x="108513" y="0"/>
                </a:lnTo>
                <a:lnTo>
                  <a:pt x="108513" y="108513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49727" y="4032963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4" h="108585">
                <a:moveTo>
                  <a:pt x="108513" y="108513"/>
                </a:moveTo>
                <a:lnTo>
                  <a:pt x="0" y="108513"/>
                </a:lnTo>
                <a:lnTo>
                  <a:pt x="0" y="0"/>
                </a:lnTo>
                <a:lnTo>
                  <a:pt x="108513" y="0"/>
                </a:lnTo>
                <a:lnTo>
                  <a:pt x="108513" y="108513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49727" y="4533793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4" h="108585">
                <a:moveTo>
                  <a:pt x="108513" y="108513"/>
                </a:moveTo>
                <a:lnTo>
                  <a:pt x="0" y="108513"/>
                </a:lnTo>
                <a:lnTo>
                  <a:pt x="0" y="0"/>
                </a:lnTo>
                <a:lnTo>
                  <a:pt x="108513" y="0"/>
                </a:lnTo>
                <a:lnTo>
                  <a:pt x="108513" y="108513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0250" y="1049342"/>
            <a:ext cx="7838440" cy="4165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95"/>
              </a:spcBef>
            </a:pP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33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80" dirty="0">
                <a:solidFill>
                  <a:srgbClr val="212121"/>
                </a:solidFill>
                <a:latin typeface="Yu Gothic"/>
                <a:cs typeface="Yu Gothic"/>
              </a:rPr>
              <a:t>corporate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14" dirty="0">
                <a:solidFill>
                  <a:srgbClr val="212121"/>
                </a:solidFill>
                <a:latin typeface="Yu Gothic"/>
                <a:cs typeface="Yu Gothic"/>
              </a:rPr>
              <a:t>centers,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8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33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65" dirty="0">
                <a:solidFill>
                  <a:srgbClr val="212121"/>
                </a:solidFill>
                <a:latin typeface="Yu Gothic"/>
                <a:cs typeface="Yu Gothic"/>
              </a:rPr>
              <a:t>are </a:t>
            </a:r>
            <a:r>
              <a:rPr sz="3300" spc="-114" dirty="0">
                <a:solidFill>
                  <a:srgbClr val="212121"/>
                </a:solidFill>
                <a:latin typeface="Yu Gothic"/>
                <a:cs typeface="Yu Gothic"/>
              </a:rPr>
              <a:t>deployed</a:t>
            </a:r>
            <a:r>
              <a:rPr sz="3300" spc="-2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7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3300" spc="-2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35" dirty="0">
                <a:solidFill>
                  <a:srgbClr val="212121"/>
                </a:solidFill>
                <a:latin typeface="Yu Gothic"/>
                <a:cs typeface="Yu Gothic"/>
              </a:rPr>
              <a:t>physical</a:t>
            </a:r>
            <a:r>
              <a:rPr sz="3300" spc="-2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servers</a:t>
            </a:r>
            <a:endParaRPr sz="3300">
              <a:latin typeface="Yu Gothic"/>
              <a:cs typeface="Yu Gothic"/>
            </a:endParaRPr>
          </a:p>
          <a:p>
            <a:pPr marL="12700" marR="5080">
              <a:lnSpc>
                <a:spcPct val="107900"/>
              </a:lnSpc>
              <a:spcBef>
                <a:spcPts val="590"/>
              </a:spcBef>
              <a:tabLst>
                <a:tab pos="1344930" algn="l"/>
                <a:tab pos="2021205" algn="l"/>
                <a:tab pos="2887345" algn="l"/>
                <a:tab pos="4307840" algn="l"/>
                <a:tab pos="6697345" algn="l"/>
                <a:tab pos="7245984" algn="l"/>
              </a:tabLst>
            </a:pP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Where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spc="-2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spc="-13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cloud?</a:t>
            </a:r>
            <a:endParaRPr sz="33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70"/>
              </a:spcBef>
            </a:pPr>
            <a:r>
              <a:rPr sz="2650" spc="-145" dirty="0">
                <a:solidFill>
                  <a:srgbClr val="212121"/>
                </a:solidFill>
                <a:latin typeface="Yu Gothic"/>
                <a:cs typeface="Yu Gothic"/>
              </a:rPr>
              <a:t>Rent</a:t>
            </a:r>
            <a:r>
              <a:rPr sz="265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8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26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10" dirty="0">
                <a:solidFill>
                  <a:srgbClr val="212121"/>
                </a:solidFill>
                <a:latin typeface="Yu Gothic"/>
                <a:cs typeface="Yu Gothic"/>
              </a:rPr>
              <a:t>servers</a:t>
            </a:r>
            <a:endParaRPr sz="26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5"/>
              </a:spcBef>
            </a:pPr>
            <a:r>
              <a:rPr sz="2650" b="1" spc="-120" dirty="0">
                <a:solidFill>
                  <a:srgbClr val="212121"/>
                </a:solidFill>
                <a:latin typeface="Trebuchet MS"/>
                <a:cs typeface="Trebuchet MS"/>
              </a:rPr>
              <a:t>Virtual</a:t>
            </a:r>
            <a:r>
              <a:rPr sz="2650" b="1" spc="-2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50" b="1" spc="-90" dirty="0">
                <a:solidFill>
                  <a:srgbClr val="212121"/>
                </a:solidFill>
                <a:latin typeface="Trebuchet MS"/>
                <a:cs typeface="Trebuchet MS"/>
              </a:rPr>
              <a:t>Machines</a:t>
            </a:r>
            <a:r>
              <a:rPr sz="2650" b="1" spc="-229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50" spc="-33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6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125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26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145" dirty="0">
                <a:solidFill>
                  <a:srgbClr val="212121"/>
                </a:solidFill>
                <a:latin typeface="Yu Gothic"/>
                <a:cs typeface="Yu Gothic"/>
              </a:rPr>
              <a:t>servers</a:t>
            </a:r>
            <a:r>
              <a:rPr sz="26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8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6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3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endParaRPr sz="26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9"/>
              </a:spcBef>
            </a:pPr>
            <a:r>
              <a:rPr sz="2650" b="1" spc="-80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Compute</a:t>
            </a:r>
            <a:r>
              <a:rPr sz="26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50" b="1" spc="-9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26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50" b="1" spc="-125" dirty="0">
                <a:solidFill>
                  <a:srgbClr val="212121"/>
                </a:solidFill>
                <a:latin typeface="Trebuchet MS"/>
                <a:cs typeface="Trebuchet MS"/>
              </a:rPr>
              <a:t>(GCE)</a:t>
            </a:r>
            <a:r>
              <a:rPr sz="26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50" spc="-33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6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110" dirty="0">
                <a:solidFill>
                  <a:srgbClr val="212121"/>
                </a:solidFill>
                <a:latin typeface="Yu Gothic"/>
                <a:cs typeface="Yu Gothic"/>
              </a:rPr>
              <a:t>Provision</a:t>
            </a:r>
            <a:r>
              <a:rPr sz="26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30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6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155" dirty="0">
                <a:solidFill>
                  <a:srgbClr val="212121"/>
                </a:solidFill>
                <a:latin typeface="Yu Gothic"/>
                <a:cs typeface="Yu Gothic"/>
              </a:rPr>
              <a:t>Manage </a:t>
            </a:r>
            <a:r>
              <a:rPr sz="2650" spc="-125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26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60" dirty="0">
                <a:solidFill>
                  <a:srgbClr val="212121"/>
                </a:solidFill>
                <a:latin typeface="Yu Gothic"/>
                <a:cs typeface="Yu Gothic"/>
              </a:rPr>
              <a:t>Machines</a:t>
            </a:r>
            <a:endParaRPr sz="2650">
              <a:latin typeface="Yu Gothic"/>
              <a:cs typeface="Yu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70250" y="217964"/>
            <a:ext cx="7089140" cy="681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300" spc="-125" dirty="0"/>
              <a:t>Google</a:t>
            </a:r>
            <a:r>
              <a:rPr sz="4300" spc="-360" dirty="0"/>
              <a:t> </a:t>
            </a:r>
            <a:r>
              <a:rPr sz="4300" spc="-160" dirty="0"/>
              <a:t>Compute</a:t>
            </a:r>
            <a:r>
              <a:rPr sz="4300" spc="-360" dirty="0"/>
              <a:t> </a:t>
            </a:r>
            <a:r>
              <a:rPr sz="4300" spc="-150" dirty="0"/>
              <a:t>Engine</a:t>
            </a:r>
            <a:r>
              <a:rPr sz="4300" spc="-355" dirty="0"/>
              <a:t> </a:t>
            </a:r>
            <a:r>
              <a:rPr sz="4300" spc="-125" dirty="0"/>
              <a:t>(GCE)</a:t>
            </a:r>
            <a:endParaRPr sz="4300"/>
          </a:p>
        </p:txBody>
      </p:sp>
      <p:sp>
        <p:nvSpPr>
          <p:cNvPr id="10" name="object 10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60" dirty="0"/>
              <a:t> </a:t>
            </a:r>
            <a:r>
              <a:rPr spc="-90" dirty="0"/>
              <a:t>Engine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25" dirty="0"/>
              <a:t>Features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8764" y="944514"/>
            <a:ext cx="818021" cy="10016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8937" y="936168"/>
            <a:ext cx="818021" cy="10016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00758" y="927820"/>
            <a:ext cx="818021" cy="100165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2405266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2864360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3323454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41380" y="3774201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41380" y="4233295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5838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495949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20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pc="-140" dirty="0"/>
              <a:t>Create</a:t>
            </a:r>
            <a:r>
              <a:rPr spc="-160" dirty="0"/>
              <a:t> </a:t>
            </a:r>
            <a:r>
              <a:rPr spc="-90" dirty="0"/>
              <a:t>and</a:t>
            </a:r>
            <a:r>
              <a:rPr spc="-155" dirty="0"/>
              <a:t> </a:t>
            </a:r>
            <a:r>
              <a:rPr spc="-110" dirty="0"/>
              <a:t>manage</a:t>
            </a:r>
            <a:r>
              <a:rPr spc="-160" dirty="0"/>
              <a:t> </a:t>
            </a:r>
            <a:r>
              <a:rPr spc="-100" dirty="0"/>
              <a:t>lifecycle</a:t>
            </a:r>
            <a:r>
              <a:rPr spc="-155" dirty="0"/>
              <a:t> </a:t>
            </a:r>
            <a:r>
              <a:rPr spc="-85" dirty="0"/>
              <a:t>of</a:t>
            </a:r>
            <a:r>
              <a:rPr spc="-160" dirty="0"/>
              <a:t> </a:t>
            </a:r>
            <a:r>
              <a:rPr spc="-100" dirty="0"/>
              <a:t>Virtual</a:t>
            </a:r>
            <a:r>
              <a:rPr spc="-155" dirty="0"/>
              <a:t> Machine </a:t>
            </a:r>
            <a:r>
              <a:rPr spc="-290" dirty="0"/>
              <a:t>(VM)</a:t>
            </a:r>
            <a:r>
              <a:rPr spc="-160" dirty="0"/>
              <a:t> </a:t>
            </a:r>
            <a:r>
              <a:rPr spc="-10" dirty="0"/>
              <a:t>instances</a:t>
            </a: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b="1" spc="-75" dirty="0">
                <a:latin typeface="Trebuchet MS"/>
                <a:cs typeface="Trebuchet MS"/>
              </a:rPr>
              <a:t>Load</a:t>
            </a:r>
            <a:r>
              <a:rPr b="1" spc="-190" dirty="0">
                <a:latin typeface="Trebuchet MS"/>
                <a:cs typeface="Trebuchet MS"/>
              </a:rPr>
              <a:t> </a:t>
            </a:r>
            <a:r>
              <a:rPr b="1" spc="-55" dirty="0">
                <a:latin typeface="Trebuchet MS"/>
                <a:cs typeface="Trebuchet MS"/>
              </a:rPr>
              <a:t>balancing</a:t>
            </a:r>
            <a:r>
              <a:rPr b="1" spc="-200" dirty="0">
                <a:latin typeface="Trebuchet MS"/>
                <a:cs typeface="Trebuchet MS"/>
              </a:rPr>
              <a:t> </a:t>
            </a:r>
            <a:r>
              <a:rPr spc="-90" dirty="0"/>
              <a:t>and</a:t>
            </a:r>
            <a:r>
              <a:rPr spc="-155" dirty="0"/>
              <a:t> </a:t>
            </a:r>
            <a:r>
              <a:rPr b="1" spc="-65" dirty="0">
                <a:latin typeface="Trebuchet MS"/>
                <a:cs typeface="Trebuchet MS"/>
              </a:rPr>
              <a:t>auto</a:t>
            </a:r>
            <a:r>
              <a:rPr b="1" spc="-190" dirty="0">
                <a:latin typeface="Trebuchet MS"/>
                <a:cs typeface="Trebuchet MS"/>
              </a:rPr>
              <a:t> </a:t>
            </a:r>
            <a:r>
              <a:rPr b="1" spc="-50" dirty="0">
                <a:latin typeface="Trebuchet MS"/>
                <a:cs typeface="Trebuchet MS"/>
              </a:rPr>
              <a:t>scaling</a:t>
            </a:r>
            <a:r>
              <a:rPr b="1" spc="-200" dirty="0">
                <a:latin typeface="Trebuchet MS"/>
                <a:cs typeface="Trebuchet MS"/>
              </a:rPr>
              <a:t> </a:t>
            </a:r>
            <a:r>
              <a:rPr spc="-80" dirty="0"/>
              <a:t>for</a:t>
            </a:r>
            <a:r>
              <a:rPr spc="-155" dirty="0"/>
              <a:t> </a:t>
            </a:r>
            <a:r>
              <a:rPr spc="-60" dirty="0"/>
              <a:t>multiple</a:t>
            </a:r>
            <a:r>
              <a:rPr spc="-160" dirty="0"/>
              <a:t> </a:t>
            </a:r>
            <a:r>
              <a:rPr spc="-390" dirty="0"/>
              <a:t>VM</a:t>
            </a:r>
            <a:r>
              <a:rPr spc="-155" dirty="0"/>
              <a:t> </a:t>
            </a:r>
            <a:r>
              <a:rPr spc="-10" dirty="0"/>
              <a:t>instances</a:t>
            </a: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b="1" spc="-110" dirty="0">
                <a:latin typeface="Trebuchet MS"/>
                <a:cs typeface="Trebuchet MS"/>
              </a:rPr>
              <a:t>Attach</a:t>
            </a:r>
            <a:r>
              <a:rPr b="1" spc="-195" dirty="0">
                <a:latin typeface="Trebuchet MS"/>
                <a:cs typeface="Trebuchet MS"/>
              </a:rPr>
              <a:t> </a:t>
            </a:r>
            <a:r>
              <a:rPr b="1" spc="-80" dirty="0">
                <a:latin typeface="Trebuchet MS"/>
                <a:cs typeface="Trebuchet MS"/>
              </a:rPr>
              <a:t>storage</a:t>
            </a:r>
            <a:r>
              <a:rPr b="1" spc="-204" dirty="0">
                <a:latin typeface="Trebuchet MS"/>
                <a:cs typeface="Trebuchet MS"/>
              </a:rPr>
              <a:t> </a:t>
            </a:r>
            <a:r>
              <a:rPr spc="-240" dirty="0"/>
              <a:t>(&amp;</a:t>
            </a:r>
            <a:r>
              <a:rPr spc="-165" dirty="0"/>
              <a:t> </a:t>
            </a:r>
            <a:r>
              <a:rPr spc="-90" dirty="0"/>
              <a:t>network</a:t>
            </a:r>
            <a:r>
              <a:rPr spc="-165" dirty="0"/>
              <a:t> </a:t>
            </a:r>
            <a:r>
              <a:rPr spc="-130" dirty="0"/>
              <a:t>storage)</a:t>
            </a:r>
            <a:r>
              <a:rPr spc="-165" dirty="0"/>
              <a:t> </a:t>
            </a:r>
            <a:r>
              <a:rPr spc="-55" dirty="0"/>
              <a:t>to</a:t>
            </a:r>
            <a:r>
              <a:rPr spc="-165" dirty="0"/>
              <a:t> </a:t>
            </a:r>
            <a:r>
              <a:rPr spc="-60" dirty="0"/>
              <a:t>your</a:t>
            </a:r>
            <a:r>
              <a:rPr spc="-165" dirty="0"/>
              <a:t> </a:t>
            </a:r>
            <a:r>
              <a:rPr spc="-390" dirty="0"/>
              <a:t>VM</a:t>
            </a:r>
            <a:r>
              <a:rPr spc="-165" dirty="0"/>
              <a:t> </a:t>
            </a:r>
            <a:r>
              <a:rPr spc="-10" dirty="0"/>
              <a:t>instances</a:t>
            </a: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pc="-175" dirty="0"/>
              <a:t>Manage</a:t>
            </a:r>
            <a:r>
              <a:rPr spc="-150" dirty="0"/>
              <a:t> </a:t>
            </a:r>
            <a:r>
              <a:rPr b="1" spc="-100" dirty="0">
                <a:latin typeface="Trebuchet MS"/>
                <a:cs typeface="Trebuchet MS"/>
              </a:rPr>
              <a:t>network</a:t>
            </a:r>
            <a:r>
              <a:rPr b="1" spc="-175" dirty="0">
                <a:latin typeface="Trebuchet MS"/>
                <a:cs typeface="Trebuchet MS"/>
              </a:rPr>
              <a:t> </a:t>
            </a:r>
            <a:r>
              <a:rPr b="1" spc="-105" dirty="0">
                <a:latin typeface="Trebuchet MS"/>
                <a:cs typeface="Trebuchet MS"/>
              </a:rPr>
              <a:t>connectivity</a:t>
            </a:r>
            <a:r>
              <a:rPr b="1" spc="-180" dirty="0">
                <a:latin typeface="Trebuchet MS"/>
                <a:cs typeface="Trebuchet MS"/>
              </a:rPr>
              <a:t> </a:t>
            </a:r>
            <a:r>
              <a:rPr b="1" spc="-40" dirty="0">
                <a:latin typeface="Trebuchet MS"/>
                <a:cs typeface="Trebuchet MS"/>
              </a:rPr>
              <a:t>and</a:t>
            </a:r>
            <a:r>
              <a:rPr b="1" spc="-175" dirty="0">
                <a:latin typeface="Trebuchet MS"/>
                <a:cs typeface="Trebuchet MS"/>
              </a:rPr>
              <a:t> </a:t>
            </a:r>
            <a:r>
              <a:rPr b="1" spc="-85" dirty="0">
                <a:latin typeface="Trebuchet MS"/>
                <a:cs typeface="Trebuchet MS"/>
              </a:rPr>
              <a:t>configuration</a:t>
            </a:r>
            <a:r>
              <a:rPr b="1" spc="-185" dirty="0">
                <a:latin typeface="Trebuchet MS"/>
                <a:cs typeface="Trebuchet MS"/>
              </a:rPr>
              <a:t> </a:t>
            </a:r>
            <a:r>
              <a:rPr spc="-80" dirty="0"/>
              <a:t>for</a:t>
            </a:r>
            <a:r>
              <a:rPr spc="-145" dirty="0"/>
              <a:t> </a:t>
            </a:r>
            <a:r>
              <a:rPr spc="-60" dirty="0"/>
              <a:t>your</a:t>
            </a:r>
            <a:r>
              <a:rPr spc="-150" dirty="0"/>
              <a:t> </a:t>
            </a:r>
            <a:r>
              <a:rPr spc="-390" dirty="0"/>
              <a:t>VM</a:t>
            </a:r>
            <a:r>
              <a:rPr spc="-145" dirty="0"/>
              <a:t> </a:t>
            </a:r>
            <a:r>
              <a:rPr spc="-95" dirty="0"/>
              <a:t>instances</a:t>
            </a: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b="1" spc="-100" dirty="0">
                <a:latin typeface="Trebuchet MS"/>
                <a:cs typeface="Trebuchet MS"/>
              </a:rPr>
              <a:t>Our</a:t>
            </a:r>
            <a:r>
              <a:rPr b="1" spc="-210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Goal</a:t>
            </a:r>
            <a:r>
              <a:rPr spc="-10" dirty="0"/>
              <a:t>:</a:t>
            </a: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110" dirty="0"/>
              <a:t>Setup</a:t>
            </a:r>
            <a:r>
              <a:rPr sz="1900" spc="-140" dirty="0"/>
              <a:t> </a:t>
            </a:r>
            <a:r>
              <a:rPr sz="1900" spc="-330" dirty="0"/>
              <a:t>VM</a:t>
            </a:r>
            <a:r>
              <a:rPr sz="1900" spc="-140" dirty="0"/>
              <a:t> </a:t>
            </a:r>
            <a:r>
              <a:rPr sz="1900" spc="-114" dirty="0"/>
              <a:t>instances</a:t>
            </a:r>
            <a:r>
              <a:rPr sz="1900" spc="-135" dirty="0"/>
              <a:t> </a:t>
            </a:r>
            <a:r>
              <a:rPr sz="1900" spc="-140" dirty="0"/>
              <a:t>as </a:t>
            </a:r>
            <a:r>
              <a:rPr sz="1900" spc="-190" dirty="0"/>
              <a:t>HTTP</a:t>
            </a:r>
            <a:r>
              <a:rPr sz="1900" spc="-135" dirty="0"/>
              <a:t> </a:t>
            </a:r>
            <a:r>
              <a:rPr sz="1900" spc="-170" dirty="0"/>
              <a:t>(Web)</a:t>
            </a:r>
            <a:r>
              <a:rPr sz="1900" spc="-140" dirty="0"/>
              <a:t> </a:t>
            </a:r>
            <a:r>
              <a:rPr sz="1900" spc="-10" dirty="0"/>
              <a:t>Server</a:t>
            </a:r>
            <a:endParaRPr sz="1900"/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95" dirty="0"/>
              <a:t>Distribute</a:t>
            </a:r>
            <a:r>
              <a:rPr sz="1900" spc="-135" dirty="0"/>
              <a:t> </a:t>
            </a:r>
            <a:r>
              <a:rPr sz="1900" spc="-70" dirty="0"/>
              <a:t>load</a:t>
            </a:r>
            <a:r>
              <a:rPr sz="1900" spc="-130" dirty="0"/>
              <a:t> </a:t>
            </a:r>
            <a:r>
              <a:rPr sz="1900" spc="-75" dirty="0"/>
              <a:t>with</a:t>
            </a:r>
            <a:r>
              <a:rPr sz="1900" spc="-130" dirty="0"/>
              <a:t> </a:t>
            </a:r>
            <a:r>
              <a:rPr sz="1900" spc="-125" dirty="0"/>
              <a:t>Load</a:t>
            </a:r>
            <a:r>
              <a:rPr sz="1900" spc="-130" dirty="0"/>
              <a:t> </a:t>
            </a:r>
            <a:r>
              <a:rPr sz="1900" spc="-10" dirty="0"/>
              <a:t>Balancers</a:t>
            </a:r>
            <a:endParaRPr sz="1900"/>
          </a:p>
        </p:txBody>
      </p:sp>
      <p:sp>
        <p:nvSpPr>
          <p:cNvPr id="14" name="object 14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32848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716" y="1370218"/>
            <a:ext cx="141901" cy="1419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716" y="2613946"/>
            <a:ext cx="141901" cy="1419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0716" y="3265024"/>
            <a:ext cx="141901" cy="1419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0250" y="1080393"/>
            <a:ext cx="8740140" cy="2505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sz="3550" spc="-215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35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7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35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3550" spc="-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200" dirty="0">
                <a:solidFill>
                  <a:srgbClr val="212121"/>
                </a:solidFill>
                <a:latin typeface="Yu Gothic"/>
                <a:cs typeface="Yu Gothic"/>
              </a:rPr>
              <a:t>few</a:t>
            </a:r>
            <a:r>
              <a:rPr sz="35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58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35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9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35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8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35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50" dirty="0">
                <a:solidFill>
                  <a:srgbClr val="212121"/>
                </a:solidFill>
                <a:latin typeface="Yu Gothic"/>
                <a:cs typeface="Yu Gothic"/>
              </a:rPr>
              <a:t>play</a:t>
            </a:r>
            <a:r>
              <a:rPr sz="35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60" dirty="0">
                <a:solidFill>
                  <a:srgbClr val="212121"/>
                </a:solidFill>
                <a:latin typeface="Yu Gothic"/>
                <a:cs typeface="Yu Gothic"/>
              </a:rPr>
              <a:t>with </a:t>
            </a:r>
            <a:r>
              <a:rPr sz="3550" spc="-2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endParaRPr sz="3550">
              <a:latin typeface="Yu Gothic"/>
              <a:cs typeface="Yu Gothic"/>
            </a:endParaRPr>
          </a:p>
          <a:p>
            <a:pPr marL="12700" marR="596265">
              <a:lnSpc>
                <a:spcPct val="120300"/>
              </a:lnSpc>
              <a:spcBef>
                <a:spcPts val="65"/>
              </a:spcBef>
            </a:pPr>
            <a:r>
              <a:rPr sz="3550" spc="-229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200" dirty="0">
                <a:solidFill>
                  <a:srgbClr val="212121"/>
                </a:solidFill>
                <a:latin typeface="Yu Gothic"/>
                <a:cs typeface="Yu Gothic"/>
              </a:rPr>
              <a:t>check</a:t>
            </a:r>
            <a:r>
              <a:rPr sz="3550" spc="-2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95" dirty="0">
                <a:solidFill>
                  <a:srgbClr val="212121"/>
                </a:solidFill>
                <a:latin typeface="Yu Gothic"/>
                <a:cs typeface="Yu Gothic"/>
              </a:rPr>
              <a:t>out</a:t>
            </a:r>
            <a:r>
              <a:rPr sz="3550" spc="-2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55" dirty="0">
                <a:solidFill>
                  <a:srgbClr val="212121"/>
                </a:solidFill>
                <a:latin typeface="Yu Gothic"/>
                <a:cs typeface="Yu Gothic"/>
              </a:rPr>
              <a:t>lifecycle</a:t>
            </a:r>
            <a:r>
              <a:rPr sz="3550" spc="-2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3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3550" spc="-2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58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85" dirty="0">
                <a:solidFill>
                  <a:srgbClr val="212121"/>
                </a:solidFill>
                <a:latin typeface="Yu Gothic"/>
                <a:cs typeface="Yu Gothic"/>
              </a:rPr>
              <a:t>instances </a:t>
            </a:r>
            <a:r>
              <a:rPr sz="3550" spc="-229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3550" spc="-2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24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36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9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8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9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58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7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3550">
              <a:latin typeface="Yu Gothic"/>
              <a:cs typeface="Yu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0250" y="220719"/>
            <a:ext cx="6750684" cy="728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600" spc="-165" dirty="0"/>
              <a:t>Compute</a:t>
            </a:r>
            <a:r>
              <a:rPr sz="4600" spc="-370" dirty="0"/>
              <a:t> </a:t>
            </a:r>
            <a:r>
              <a:rPr sz="4600" spc="-150" dirty="0"/>
              <a:t>Engine</a:t>
            </a:r>
            <a:r>
              <a:rPr sz="4600" spc="-370" dirty="0"/>
              <a:t> </a:t>
            </a:r>
            <a:r>
              <a:rPr sz="4600" spc="-95" dirty="0"/>
              <a:t>Hands-</a:t>
            </a:r>
            <a:r>
              <a:rPr sz="4600" spc="-25" dirty="0"/>
              <a:t>on</a:t>
            </a:r>
            <a:endParaRPr sz="4600"/>
          </a:p>
        </p:txBody>
      </p:sp>
      <p:sp>
        <p:nvSpPr>
          <p:cNvPr id="8" name="object 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144847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1128151"/>
            <a:ext cx="108513" cy="1085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1620633"/>
            <a:ext cx="108513" cy="10851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91463" y="2029644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4564" y="2334316"/>
            <a:ext cx="75124" cy="7512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291463" y="2714112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4564" y="3018783"/>
            <a:ext cx="75124" cy="7512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291463" y="3398578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4564" y="3703250"/>
            <a:ext cx="75124" cy="751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847657"/>
            <a:ext cx="8588375" cy="301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300"/>
              </a:lnSpc>
              <a:spcBef>
                <a:spcPts val="100"/>
              </a:spcBef>
            </a:pPr>
            <a:r>
              <a:rPr sz="2600" spc="-17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30" dirty="0">
                <a:solidFill>
                  <a:srgbClr val="212121"/>
                </a:solidFill>
                <a:latin typeface="Yu Gothic"/>
                <a:cs typeface="Yu Gothic"/>
              </a:rPr>
              <a:t>hardware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6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2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7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0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8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on? </a:t>
            </a:r>
            <a:r>
              <a:rPr sz="2600" spc="-155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260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80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26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50" dirty="0">
                <a:solidFill>
                  <a:srgbClr val="212121"/>
                </a:solidFill>
                <a:latin typeface="Yu Gothic"/>
                <a:cs typeface="Yu Gothic"/>
              </a:rPr>
              <a:t>Families</a:t>
            </a:r>
            <a:r>
              <a:rPr sz="26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60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55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26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Workloads:</a:t>
            </a:r>
            <a:endParaRPr sz="26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85"/>
              </a:spcBef>
            </a:pPr>
            <a:r>
              <a:rPr sz="2050" b="1" spc="-90" dirty="0">
                <a:solidFill>
                  <a:srgbClr val="212121"/>
                </a:solidFill>
                <a:latin typeface="Trebuchet MS"/>
                <a:cs typeface="Trebuchet MS"/>
              </a:rPr>
              <a:t>General</a:t>
            </a:r>
            <a:r>
              <a:rPr sz="20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55" dirty="0">
                <a:solidFill>
                  <a:srgbClr val="212121"/>
                </a:solidFill>
                <a:latin typeface="Trebuchet MS"/>
                <a:cs typeface="Trebuchet MS"/>
              </a:rPr>
              <a:t>Purpose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20" dirty="0">
                <a:solidFill>
                  <a:srgbClr val="212121"/>
                </a:solidFill>
                <a:latin typeface="Trebuchet MS"/>
                <a:cs typeface="Trebuchet MS"/>
              </a:rPr>
              <a:t>(E2,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10" dirty="0">
                <a:solidFill>
                  <a:srgbClr val="212121"/>
                </a:solidFill>
                <a:latin typeface="Trebuchet MS"/>
                <a:cs typeface="Trebuchet MS"/>
              </a:rPr>
              <a:t>N2,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90" dirty="0">
                <a:solidFill>
                  <a:srgbClr val="212121"/>
                </a:solidFill>
                <a:latin typeface="Trebuchet MS"/>
                <a:cs typeface="Trebuchet MS"/>
              </a:rPr>
              <a:t>N2D,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80" dirty="0">
                <a:solidFill>
                  <a:srgbClr val="212121"/>
                </a:solidFill>
                <a:latin typeface="Trebuchet MS"/>
                <a:cs typeface="Trebuchet MS"/>
              </a:rPr>
              <a:t>N1)</a:t>
            </a:r>
            <a:r>
              <a:rPr sz="20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Best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0" dirty="0">
                <a:solidFill>
                  <a:srgbClr val="212121"/>
                </a:solidFill>
                <a:latin typeface="Yu Gothic"/>
                <a:cs typeface="Yu Gothic"/>
              </a:rPr>
              <a:t>price-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ratio</a:t>
            </a:r>
            <a:endParaRPr sz="205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75"/>
              </a:spcBef>
            </a:pP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Web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servers,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Small-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medium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databases,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Dev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environments</a:t>
            </a:r>
            <a:endParaRPr sz="16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75"/>
              </a:spcBef>
            </a:pPr>
            <a:r>
              <a:rPr sz="2050" b="1" spc="-60" dirty="0">
                <a:solidFill>
                  <a:srgbClr val="212121"/>
                </a:solidFill>
                <a:latin typeface="Trebuchet MS"/>
                <a:cs typeface="Trebuchet MS"/>
              </a:rPr>
              <a:t>Memory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80" dirty="0">
                <a:solidFill>
                  <a:srgbClr val="212121"/>
                </a:solidFill>
                <a:latin typeface="Trebuchet MS"/>
                <a:cs typeface="Trebuchet MS"/>
              </a:rPr>
              <a:t>Optimized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05" dirty="0">
                <a:solidFill>
                  <a:srgbClr val="212121"/>
                </a:solidFill>
                <a:latin typeface="Trebuchet MS"/>
                <a:cs typeface="Trebuchet MS"/>
              </a:rPr>
              <a:t>(M2,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75" dirty="0">
                <a:solidFill>
                  <a:srgbClr val="212121"/>
                </a:solidFill>
                <a:latin typeface="Trebuchet MS"/>
                <a:cs typeface="Trebuchet MS"/>
              </a:rPr>
              <a:t>M1)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Ultra</a:t>
            </a:r>
            <a:r>
              <a:rPr sz="20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65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60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endParaRPr sz="205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75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Large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in-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In-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analytics</a:t>
            </a:r>
            <a:endParaRPr sz="16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75"/>
              </a:spcBef>
            </a:pPr>
            <a:r>
              <a:rPr sz="2050" b="1" spc="-6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20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80" dirty="0">
                <a:solidFill>
                  <a:srgbClr val="212121"/>
                </a:solidFill>
                <a:latin typeface="Trebuchet MS"/>
                <a:cs typeface="Trebuchet MS"/>
              </a:rPr>
              <a:t>Optimized</a:t>
            </a:r>
            <a:r>
              <a:rPr sz="20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95" dirty="0">
                <a:solidFill>
                  <a:srgbClr val="212121"/>
                </a:solidFill>
                <a:latin typeface="Trebuchet MS"/>
                <a:cs typeface="Trebuchet MS"/>
              </a:rPr>
              <a:t>(C2)</a:t>
            </a:r>
            <a:r>
              <a:rPr sz="2050" spc="-9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9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0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intensive</a:t>
            </a:r>
            <a:r>
              <a:rPr sz="20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endParaRPr sz="205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75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Gaming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50" spc="-105" dirty="0"/>
              <a:t>Compute</a:t>
            </a:r>
            <a:r>
              <a:rPr sz="3350" spc="-275" dirty="0"/>
              <a:t> </a:t>
            </a:r>
            <a:r>
              <a:rPr sz="3350" spc="-100" dirty="0"/>
              <a:t>Engine</a:t>
            </a:r>
            <a:r>
              <a:rPr sz="3350" spc="-270" dirty="0"/>
              <a:t> </a:t>
            </a:r>
            <a:r>
              <a:rPr sz="3350" spc="-110" dirty="0"/>
              <a:t>Machine</a:t>
            </a:r>
            <a:r>
              <a:rPr sz="3350" spc="-270" dirty="0"/>
              <a:t> </a:t>
            </a:r>
            <a:r>
              <a:rPr sz="3350" spc="-90" dirty="0"/>
              <a:t>Family</a:t>
            </a:r>
            <a:endParaRPr sz="3350"/>
          </a:p>
        </p:txBody>
      </p:sp>
      <p:sp>
        <p:nvSpPr>
          <p:cNvPr id="13" name="object 1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35114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50" dirty="0"/>
              <a:t> </a:t>
            </a:r>
            <a:r>
              <a:rPr spc="-90" dirty="0"/>
              <a:t>Engine</a:t>
            </a:r>
            <a:r>
              <a:rPr spc="-245" dirty="0"/>
              <a:t> </a:t>
            </a:r>
            <a:r>
              <a:rPr spc="-105" dirty="0"/>
              <a:t>Machine</a:t>
            </a:r>
            <a:r>
              <a:rPr spc="-245" dirty="0"/>
              <a:t> </a:t>
            </a:r>
            <a:r>
              <a:rPr spc="-85" dirty="0"/>
              <a:t>Types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1969" y="927820"/>
            <a:ext cx="7211955" cy="20700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473703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38242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41999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496230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813422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1756" y="5130615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5502063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470747" y="3252324"/>
            <a:ext cx="8595360" cy="245618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much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CPU,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want?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Variety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each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family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example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e2-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standard-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e2</a:t>
            </a:r>
            <a:r>
              <a:rPr sz="15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Machine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Family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standard</a:t>
            </a:r>
            <a:r>
              <a:rPr sz="15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workload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5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CPUs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Memory,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networking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capabilities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increase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along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vCPUs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29316"/>
            <a:ext cx="1271270" cy="588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00" spc="-70" dirty="0"/>
              <a:t>Image</a:t>
            </a:r>
            <a:endParaRPr sz="3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4546" y="1061374"/>
            <a:ext cx="1602656" cy="6009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4061" y="1345178"/>
            <a:ext cx="567608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33479" y="1019641"/>
            <a:ext cx="1669433" cy="6677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8074" y="2188240"/>
            <a:ext cx="116860" cy="1168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8074" y="3189900"/>
            <a:ext cx="116860" cy="11686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30743" y="1947162"/>
            <a:ext cx="9681845" cy="1494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0"/>
              </a:spcBef>
            </a:pPr>
            <a:r>
              <a:rPr sz="2800" spc="-13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8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65" dirty="0">
                <a:solidFill>
                  <a:srgbClr val="212121"/>
                </a:solidFill>
                <a:latin typeface="Yu Gothic"/>
                <a:cs typeface="Yu Gothic"/>
              </a:rPr>
              <a:t>operating</a:t>
            </a:r>
            <a:r>
              <a:rPr sz="28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20" dirty="0">
                <a:solidFill>
                  <a:srgbClr val="212121"/>
                </a:solidFill>
                <a:latin typeface="Yu Gothic"/>
                <a:cs typeface="Yu Gothic"/>
              </a:rPr>
              <a:t>system</a:t>
            </a:r>
            <a:r>
              <a:rPr sz="28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8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5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25" dirty="0">
                <a:solidFill>
                  <a:srgbClr val="212121"/>
                </a:solidFill>
                <a:latin typeface="Yu Gothic"/>
                <a:cs typeface="Yu Gothic"/>
              </a:rPr>
              <a:t>software</a:t>
            </a:r>
            <a:r>
              <a:rPr sz="28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8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5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2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2800" spc="-40" dirty="0">
                <a:solidFill>
                  <a:srgbClr val="212121"/>
                </a:solidFill>
                <a:latin typeface="Yu Gothic"/>
                <a:cs typeface="Yu Gothic"/>
              </a:rPr>
              <a:t>instance?</a:t>
            </a:r>
            <a:endParaRPr sz="28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800" spc="-160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80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80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0" dirty="0">
                <a:solidFill>
                  <a:srgbClr val="212121"/>
                </a:solidFill>
                <a:latin typeface="Yu Gothic"/>
                <a:cs typeface="Yu Gothic"/>
              </a:rPr>
              <a:t>Images:</a:t>
            </a:r>
            <a:endParaRPr sz="2800">
              <a:latin typeface="Yu Gothic"/>
              <a:cs typeface="Yu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33696" y="3607258"/>
            <a:ext cx="92075" cy="92075"/>
          </a:xfrm>
          <a:custGeom>
            <a:avLst/>
            <a:gdLst/>
            <a:ahLst/>
            <a:cxnLst/>
            <a:rect l="l" t="t" r="r" b="b"/>
            <a:pathLst>
              <a:path w="92075" h="92075">
                <a:moveTo>
                  <a:pt x="91818" y="91818"/>
                </a:moveTo>
                <a:lnTo>
                  <a:pt x="0" y="91818"/>
                </a:lnTo>
                <a:lnTo>
                  <a:pt x="0" y="0"/>
                </a:lnTo>
                <a:lnTo>
                  <a:pt x="91818" y="0"/>
                </a:lnTo>
                <a:lnTo>
                  <a:pt x="91818" y="91818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934773" y="3447982"/>
            <a:ext cx="3277870" cy="3721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095375" algn="l"/>
                <a:tab pos="1582420" algn="l"/>
                <a:tab pos="2465070" algn="l"/>
              </a:tabLst>
            </a:pPr>
            <a:r>
              <a:rPr sz="225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2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25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2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250" spc="-20" dirty="0">
                <a:solidFill>
                  <a:srgbClr val="212121"/>
                </a:solidFill>
                <a:latin typeface="Yu Gothic"/>
                <a:cs typeface="Yu Gothic"/>
              </a:rPr>
              <a:t>Open</a:t>
            </a:r>
            <a:r>
              <a:rPr sz="22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250" spc="-100" dirty="0">
                <a:solidFill>
                  <a:srgbClr val="212121"/>
                </a:solidFill>
                <a:latin typeface="Yu Gothic"/>
                <a:cs typeface="Yu Gothic"/>
              </a:rPr>
              <a:t>source</a:t>
            </a:r>
            <a:endParaRPr sz="2250">
              <a:latin typeface="Yu Gothic"/>
              <a:cs typeface="Yu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33696" y="4425279"/>
            <a:ext cx="92075" cy="92075"/>
          </a:xfrm>
          <a:custGeom>
            <a:avLst/>
            <a:gdLst/>
            <a:ahLst/>
            <a:cxnLst/>
            <a:rect l="l" t="t" r="r" b="b"/>
            <a:pathLst>
              <a:path w="92075" h="92075">
                <a:moveTo>
                  <a:pt x="91818" y="91818"/>
                </a:moveTo>
                <a:lnTo>
                  <a:pt x="0" y="91818"/>
                </a:lnTo>
                <a:lnTo>
                  <a:pt x="0" y="0"/>
                </a:lnTo>
                <a:lnTo>
                  <a:pt x="91818" y="0"/>
                </a:lnTo>
                <a:lnTo>
                  <a:pt x="91818" y="91818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864629" y="3418533"/>
            <a:ext cx="5895340" cy="121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4925">
              <a:lnSpc>
                <a:spcPct val="109500"/>
              </a:lnSpc>
              <a:spcBef>
                <a:spcPts val="95"/>
              </a:spcBef>
              <a:tabLst>
                <a:tab pos="1024255" algn="l"/>
                <a:tab pos="2217420" algn="l"/>
                <a:tab pos="3535045" algn="l"/>
                <a:tab pos="3941445" algn="l"/>
                <a:tab pos="5558155" algn="l"/>
              </a:tabLst>
            </a:pPr>
            <a:r>
              <a:rPr sz="2250" b="1" spc="-10" dirty="0">
                <a:solidFill>
                  <a:srgbClr val="212121"/>
                </a:solidFill>
                <a:latin typeface="Trebuchet MS"/>
                <a:cs typeface="Trebuchet MS"/>
              </a:rPr>
              <a:t>Public</a:t>
            </a:r>
            <a:r>
              <a:rPr sz="22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250" b="1" spc="-10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22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2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250" spc="-10" dirty="0">
                <a:solidFill>
                  <a:srgbClr val="212121"/>
                </a:solidFill>
                <a:latin typeface="Yu Gothic"/>
                <a:cs typeface="Yu Gothic"/>
              </a:rPr>
              <a:t>Provided</a:t>
            </a:r>
            <a:r>
              <a:rPr sz="22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250" spc="-50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2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250" spc="-10" dirty="0">
                <a:solidFill>
                  <a:srgbClr val="212121"/>
                </a:solidFill>
                <a:latin typeface="Yu Gothic"/>
                <a:cs typeface="Yu Gothic"/>
              </a:rPr>
              <a:t>maintained</a:t>
            </a:r>
            <a:r>
              <a:rPr sz="22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250" spc="-75" dirty="0">
                <a:solidFill>
                  <a:srgbClr val="212121"/>
                </a:solidFill>
                <a:latin typeface="Yu Gothic"/>
                <a:cs typeface="Yu Gothic"/>
              </a:rPr>
              <a:t>by </a:t>
            </a:r>
            <a:r>
              <a:rPr sz="2250" spc="-90" dirty="0">
                <a:solidFill>
                  <a:srgbClr val="212121"/>
                </a:solidFill>
                <a:latin typeface="Yu Gothic"/>
                <a:cs typeface="Yu Gothic"/>
              </a:rPr>
              <a:t>communities</a:t>
            </a:r>
            <a:r>
              <a:rPr sz="22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4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2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55" dirty="0">
                <a:solidFill>
                  <a:srgbClr val="212121"/>
                </a:solidFill>
                <a:latin typeface="Yu Gothic"/>
                <a:cs typeface="Yu Gothic"/>
              </a:rPr>
              <a:t>third</a:t>
            </a:r>
            <a:r>
              <a:rPr sz="22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65" dirty="0">
                <a:solidFill>
                  <a:srgbClr val="212121"/>
                </a:solidFill>
                <a:latin typeface="Yu Gothic"/>
                <a:cs typeface="Yu Gothic"/>
              </a:rPr>
              <a:t>party</a:t>
            </a:r>
            <a:r>
              <a:rPr sz="22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0" dirty="0">
                <a:solidFill>
                  <a:srgbClr val="212121"/>
                </a:solidFill>
                <a:latin typeface="Yu Gothic"/>
                <a:cs typeface="Yu Gothic"/>
              </a:rPr>
              <a:t>vendors</a:t>
            </a:r>
            <a:endParaRPr sz="22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250" b="1" spc="-65" dirty="0">
                <a:solidFill>
                  <a:srgbClr val="212121"/>
                </a:solidFill>
                <a:latin typeface="Trebuchet MS"/>
                <a:cs typeface="Trebuchet MS"/>
              </a:rPr>
              <a:t>Custom</a:t>
            </a:r>
            <a:r>
              <a:rPr sz="22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250" b="1" spc="-45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2250" spc="-4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2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2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2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6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2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7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2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2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2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55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225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891603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65" dirty="0"/>
              <a:t> </a:t>
            </a:r>
            <a:r>
              <a:rPr spc="-90" dirty="0"/>
              <a:t>Engine</a:t>
            </a:r>
            <a:r>
              <a:rPr spc="-260" dirty="0"/>
              <a:t> </a:t>
            </a:r>
            <a:r>
              <a:rPr spc="-65" dirty="0"/>
              <a:t>Hands-</a:t>
            </a:r>
            <a:r>
              <a:rPr spc="-80" dirty="0"/>
              <a:t>on</a:t>
            </a:r>
            <a:r>
              <a:rPr spc="-265" dirty="0"/>
              <a:t> </a:t>
            </a:r>
            <a:r>
              <a:rPr spc="-285" dirty="0"/>
              <a:t>:</a:t>
            </a:r>
            <a:r>
              <a:rPr spc="-260" dirty="0"/>
              <a:t> </a:t>
            </a:r>
            <a:r>
              <a:rPr spc="-70" dirty="0"/>
              <a:t>Setting</a:t>
            </a:r>
            <a:r>
              <a:rPr spc="-260" dirty="0"/>
              <a:t> </a:t>
            </a:r>
            <a:r>
              <a:rPr spc="-90" dirty="0"/>
              <a:t>up</a:t>
            </a:r>
            <a:r>
              <a:rPr spc="-265" dirty="0"/>
              <a:t> </a:t>
            </a:r>
            <a:r>
              <a:rPr spc="-40" dirty="0"/>
              <a:t>a</a:t>
            </a:r>
            <a:r>
              <a:rPr spc="-260" dirty="0"/>
              <a:t> </a:t>
            </a:r>
            <a:r>
              <a:rPr spc="-110" dirty="0"/>
              <a:t>HTTP</a:t>
            </a:r>
            <a:r>
              <a:rPr spc="-265" dirty="0"/>
              <a:t> </a:t>
            </a:r>
            <a:r>
              <a:rPr spc="-80" dirty="0"/>
              <a:t>server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914443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32733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36573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40496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8655" y="443362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482594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520991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55938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70747" y="2682630"/>
            <a:ext cx="9229725" cy="30892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Commands: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sudo</a:t>
            </a:r>
            <a:r>
              <a:rPr sz="1900" spc="5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su</a:t>
            </a:r>
            <a:r>
              <a:rPr sz="1900" spc="-74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execute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root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apt</a:t>
            </a:r>
            <a:r>
              <a:rPr sz="1900" spc="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update</a:t>
            </a:r>
            <a:r>
              <a:rPr sz="1900" spc="-74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Update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package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index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pull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latest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changes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APT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repositories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810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apt</a:t>
            </a:r>
            <a:r>
              <a:rPr sz="19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-y</a:t>
            </a:r>
            <a:r>
              <a:rPr sz="1900" spc="2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install</a:t>
            </a:r>
            <a:r>
              <a:rPr sz="19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apache2</a:t>
            </a:r>
            <a:r>
              <a:rPr sz="1900" spc="-75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Install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apache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web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sudo</a:t>
            </a:r>
            <a:r>
              <a:rPr sz="19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service</a:t>
            </a:r>
            <a:r>
              <a:rPr sz="19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apache2</a:t>
            </a:r>
            <a:r>
              <a:rPr sz="19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start</a:t>
            </a:r>
            <a:r>
              <a:rPr sz="1900" spc="-7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apache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web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810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echo</a:t>
            </a:r>
            <a:r>
              <a:rPr sz="19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"Hello</a:t>
            </a:r>
            <a:r>
              <a:rPr sz="19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World"</a:t>
            </a:r>
            <a:r>
              <a:rPr sz="19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&gt;</a:t>
            </a:r>
            <a:r>
              <a:rPr sz="19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/var/www/html/index.html</a:t>
            </a:r>
            <a:r>
              <a:rPr sz="1900" spc="-7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Write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index.html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$(hostname)</a:t>
            </a:r>
            <a:r>
              <a:rPr sz="1900" spc="-74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name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$(hostname</a:t>
            </a:r>
            <a:r>
              <a:rPr sz="1900" spc="4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-I)</a:t>
            </a:r>
            <a:r>
              <a:rPr sz="1900" spc="-74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internal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49609" y="894080"/>
            <a:ext cx="9083040" cy="1736725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75565" marR="7805420">
              <a:lnSpc>
                <a:spcPct val="101099"/>
              </a:lnSpc>
              <a:spcBef>
                <a:spcPts val="459"/>
              </a:spcBef>
            </a:pPr>
            <a:r>
              <a:rPr sz="1300" dirty="0">
                <a:solidFill>
                  <a:srgbClr val="2A90AF"/>
                </a:solidFill>
                <a:latin typeface="Courier New"/>
                <a:cs typeface="Courier New"/>
              </a:rPr>
              <a:t>#! </a:t>
            </a:r>
            <a:r>
              <a:rPr sz="1300" spc="-10" dirty="0">
                <a:solidFill>
                  <a:srgbClr val="2A90AF"/>
                </a:solidFill>
                <a:latin typeface="Courier New"/>
                <a:cs typeface="Courier New"/>
              </a:rPr>
              <a:t>/bin/bash </a:t>
            </a:r>
            <a:r>
              <a:rPr sz="1300" dirty="0">
                <a:latin typeface="Courier New"/>
                <a:cs typeface="Courier New"/>
              </a:rPr>
              <a:t>sudo </a:t>
            </a:r>
            <a:r>
              <a:rPr sz="1300" spc="-25" dirty="0">
                <a:latin typeface="Courier New"/>
                <a:cs typeface="Courier New"/>
              </a:rPr>
              <a:t>su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35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apt </a:t>
            </a:r>
            <a:r>
              <a:rPr sz="1300" spc="-10" dirty="0">
                <a:latin typeface="Courier New"/>
                <a:cs typeface="Courier New"/>
              </a:rPr>
              <a:t>update</a:t>
            </a:r>
            <a:endParaRPr sz="1300">
              <a:latin typeface="Courier New"/>
              <a:cs typeface="Courier New"/>
            </a:endParaRPr>
          </a:p>
          <a:p>
            <a:pPr marL="75565" marR="6412865">
              <a:lnSpc>
                <a:spcPts val="1580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apt -y install </a:t>
            </a:r>
            <a:r>
              <a:rPr sz="1300" spc="-10" dirty="0">
                <a:latin typeface="Courier New"/>
                <a:cs typeface="Courier New"/>
              </a:rPr>
              <a:t>apache2 </a:t>
            </a:r>
            <a:r>
              <a:rPr sz="1300" dirty="0">
                <a:latin typeface="Courier New"/>
                <a:cs typeface="Courier New"/>
              </a:rPr>
              <a:t>sudo service apache2 </a:t>
            </a:r>
            <a:r>
              <a:rPr sz="1300" spc="-10" dirty="0">
                <a:latin typeface="Courier New"/>
                <a:cs typeface="Courier New"/>
              </a:rPr>
              <a:t>start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20"/>
              </a:lnSpc>
            </a:pPr>
            <a:r>
              <a:rPr sz="1300" dirty="0">
                <a:latin typeface="Courier New"/>
                <a:cs typeface="Courier New"/>
              </a:rPr>
              <a:t>sudo update-rc.d apache2 </a:t>
            </a:r>
            <a:r>
              <a:rPr sz="1300" spc="-10" dirty="0">
                <a:solidFill>
                  <a:srgbClr val="0000FF"/>
                </a:solidFill>
                <a:latin typeface="Courier New"/>
                <a:cs typeface="Courier New"/>
              </a:rPr>
              <a:t>enable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35"/>
              </a:lnSpc>
              <a:spcBef>
                <a:spcPts val="15"/>
              </a:spcBef>
            </a:pP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echo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"Hello World" </a:t>
            </a:r>
            <a:r>
              <a:rPr sz="1300" dirty="0">
                <a:latin typeface="Courier New"/>
                <a:cs typeface="Courier New"/>
              </a:rPr>
              <a:t>&gt; </a:t>
            </a:r>
            <a:r>
              <a:rPr sz="1300" spc="-10" dirty="0">
                <a:latin typeface="Courier New"/>
                <a:cs typeface="Courier New"/>
              </a:rPr>
              <a:t>/var/www/html/index.html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35"/>
              </a:lnSpc>
            </a:pP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echo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"Hello world from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$(hostname) $(hostname -I)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" </a:t>
            </a:r>
            <a:r>
              <a:rPr sz="1300" dirty="0">
                <a:latin typeface="Courier New"/>
                <a:cs typeface="Courier New"/>
              </a:rPr>
              <a:t>&gt; </a:t>
            </a:r>
            <a:r>
              <a:rPr sz="1300" spc="-10" dirty="0">
                <a:latin typeface="Courier New"/>
                <a:cs typeface="Courier New"/>
              </a:rPr>
              <a:t>/var/www/html/index.html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465356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924450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427503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692389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799928"/>
            <a:ext cx="8740140" cy="409892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External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(Public)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Internet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addressable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.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18900"/>
              </a:lnSpc>
              <a:spcBef>
                <a:spcPts val="260"/>
              </a:spcBef>
              <a:tabLst>
                <a:tab pos="624205" algn="l"/>
                <a:tab pos="1858010" algn="l"/>
                <a:tab pos="2618105" algn="l"/>
                <a:tab pos="3252470" algn="l"/>
                <a:tab pos="4617085" algn="l"/>
                <a:tab pos="5326380" algn="l"/>
                <a:tab pos="6159500" algn="l"/>
                <a:tab pos="7098665" algn="l"/>
                <a:tab pos="8474710" algn="l"/>
              </a:tabLst>
            </a:pP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Internal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(Private)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internal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corporate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network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(External)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IP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address.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HOWEVER,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corporate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networks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Internal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(private)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assigned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least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Internal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Creation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enabled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stop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instance,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lost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DEMO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Internal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IPs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Internal</a:t>
            </a:r>
            <a:r>
              <a:rPr spc="-245" dirty="0"/>
              <a:t> </a:t>
            </a:r>
            <a:r>
              <a:rPr spc="-65" dirty="0"/>
              <a:t>and</a:t>
            </a:r>
            <a:r>
              <a:rPr spc="-245" dirty="0"/>
              <a:t> </a:t>
            </a:r>
            <a:r>
              <a:rPr spc="-130" dirty="0"/>
              <a:t>External</a:t>
            </a:r>
            <a:r>
              <a:rPr spc="-245" dirty="0"/>
              <a:t> </a:t>
            </a:r>
            <a:r>
              <a:rPr dirty="0"/>
              <a:t>IP</a:t>
            </a:r>
            <a:r>
              <a:rPr spc="-245" dirty="0"/>
              <a:t> </a:t>
            </a:r>
            <a:r>
              <a:rPr spc="-80" dirty="0"/>
              <a:t>Addresses</a:t>
            </a:r>
          </a:p>
        </p:txBody>
      </p:sp>
      <p:sp>
        <p:nvSpPr>
          <p:cNvPr id="13" name="object 1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32848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716" y="1370218"/>
            <a:ext cx="141901" cy="14190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33033" y="2513780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117475" h="117475">
                <a:moveTo>
                  <a:pt x="116860" y="116860"/>
                </a:moveTo>
                <a:lnTo>
                  <a:pt x="0" y="116860"/>
                </a:lnTo>
                <a:lnTo>
                  <a:pt x="0" y="0"/>
                </a:lnTo>
                <a:lnTo>
                  <a:pt x="116860" y="0"/>
                </a:lnTo>
                <a:lnTo>
                  <a:pt x="116860" y="11686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716" y="3548827"/>
            <a:ext cx="141901" cy="1419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0250" y="1080393"/>
            <a:ext cx="8740140" cy="3373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sz="3550" spc="-180" dirty="0">
                <a:solidFill>
                  <a:srgbClr val="212121"/>
                </a:solidFill>
                <a:latin typeface="Yu Gothic"/>
                <a:cs typeface="Yu Gothic"/>
              </a:rPr>
              <a:t>Scenario</a:t>
            </a:r>
            <a:r>
              <a:rPr sz="35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4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35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2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35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6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35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14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35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204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35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8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35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70" dirty="0">
                <a:solidFill>
                  <a:srgbClr val="212121"/>
                </a:solidFill>
                <a:latin typeface="Yu Gothic"/>
                <a:cs typeface="Yu Gothic"/>
              </a:rPr>
              <a:t>constant</a:t>
            </a:r>
            <a:r>
              <a:rPr sz="3550" spc="-130" dirty="0">
                <a:solidFill>
                  <a:srgbClr val="212121"/>
                </a:solidFill>
                <a:latin typeface="Yu Gothic"/>
                <a:cs typeface="Yu Gothic"/>
              </a:rPr>
              <a:t> External </a:t>
            </a:r>
            <a:r>
              <a:rPr sz="3550" spc="-229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3550" spc="-2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204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3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8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58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3550" spc="-2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80" dirty="0">
                <a:solidFill>
                  <a:srgbClr val="212121"/>
                </a:solidFill>
                <a:latin typeface="Yu Gothic"/>
                <a:cs typeface="Yu Gothic"/>
              </a:rPr>
              <a:t>instance?</a:t>
            </a:r>
            <a:endParaRPr sz="35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180"/>
              </a:spcBef>
            </a:pPr>
            <a:r>
              <a:rPr sz="2800" spc="-105" dirty="0">
                <a:solidFill>
                  <a:srgbClr val="212121"/>
                </a:solidFill>
                <a:latin typeface="Yu Gothic"/>
                <a:cs typeface="Yu Gothic"/>
              </a:rPr>
              <a:t>Quick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8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20" dirty="0">
                <a:solidFill>
                  <a:srgbClr val="212121"/>
                </a:solidFill>
                <a:latin typeface="Yu Gothic"/>
                <a:cs typeface="Yu Gothic"/>
              </a:rPr>
              <a:t>dirty</a:t>
            </a:r>
            <a:r>
              <a:rPr sz="280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10" dirty="0">
                <a:solidFill>
                  <a:srgbClr val="212121"/>
                </a:solidFill>
                <a:latin typeface="Yu Gothic"/>
                <a:cs typeface="Yu Gothic"/>
              </a:rPr>
              <a:t>way</a:t>
            </a:r>
            <a:r>
              <a:rPr sz="28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4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8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40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2800" spc="-60" dirty="0">
                <a:solidFill>
                  <a:srgbClr val="212121"/>
                </a:solidFill>
                <a:latin typeface="Yu Gothic"/>
                <a:cs typeface="Yu Gothic"/>
              </a:rPr>
              <a:t> an</a:t>
            </a:r>
            <a:r>
              <a:rPr sz="28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14" dirty="0">
                <a:solidFill>
                  <a:srgbClr val="212121"/>
                </a:solidFill>
                <a:latin typeface="Yu Gothic"/>
                <a:cs typeface="Yu Gothic"/>
              </a:rPr>
              <a:t>Static</a:t>
            </a:r>
            <a:r>
              <a:rPr sz="28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55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28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65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r>
              <a:rPr sz="28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80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355" dirty="0">
                <a:solidFill>
                  <a:srgbClr val="212121"/>
                </a:solidFill>
                <a:latin typeface="Yu Gothic"/>
                <a:cs typeface="Yu Gothic"/>
              </a:rPr>
              <a:t>VM!</a:t>
            </a:r>
            <a:endParaRPr sz="2800">
              <a:latin typeface="Yu Gothic"/>
              <a:cs typeface="Yu Gothic"/>
            </a:endParaRPr>
          </a:p>
          <a:p>
            <a:pPr marL="12700" marR="5080">
              <a:lnSpc>
                <a:spcPct val="108000"/>
              </a:lnSpc>
              <a:spcBef>
                <a:spcPts val="409"/>
              </a:spcBef>
              <a:tabLst>
                <a:tab pos="1509395" algn="l"/>
                <a:tab pos="2792095" algn="l"/>
                <a:tab pos="4097020" algn="l"/>
                <a:tab pos="4696460" algn="l"/>
                <a:tab pos="6416040" algn="l"/>
                <a:tab pos="7468870" algn="l"/>
                <a:tab pos="8167370" algn="l"/>
              </a:tabLst>
            </a:pPr>
            <a:r>
              <a:rPr sz="3550" b="1" spc="-10" dirty="0">
                <a:solidFill>
                  <a:srgbClr val="212121"/>
                </a:solidFill>
                <a:latin typeface="Trebuchet MS"/>
                <a:cs typeface="Trebuchet MS"/>
              </a:rPr>
              <a:t>DEMO</a:t>
            </a:r>
            <a:r>
              <a:rPr sz="35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550" spc="-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550" spc="-10" dirty="0">
                <a:solidFill>
                  <a:srgbClr val="212121"/>
                </a:solidFill>
                <a:latin typeface="Yu Gothic"/>
                <a:cs typeface="Yu Gothic"/>
              </a:rPr>
              <a:t>Static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550" spc="-25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550" spc="-1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55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550" spc="-2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550" spc="-610" dirty="0">
                <a:solidFill>
                  <a:srgbClr val="212121"/>
                </a:solidFill>
                <a:latin typeface="Yu Gothic"/>
                <a:cs typeface="Yu Gothic"/>
              </a:rPr>
              <a:t>VM </a:t>
            </a:r>
            <a:r>
              <a:rPr sz="3550" spc="-65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3550">
              <a:latin typeface="Yu Gothic"/>
              <a:cs typeface="Yu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0250" y="220719"/>
            <a:ext cx="4791710" cy="728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600" spc="-130" dirty="0"/>
              <a:t>Static</a:t>
            </a:r>
            <a:r>
              <a:rPr sz="4600" spc="-400" dirty="0"/>
              <a:t> </a:t>
            </a:r>
            <a:r>
              <a:rPr sz="4600" dirty="0"/>
              <a:t>IP</a:t>
            </a:r>
            <a:r>
              <a:rPr sz="4600" spc="-395" dirty="0"/>
              <a:t> </a:t>
            </a:r>
            <a:r>
              <a:rPr sz="4600" spc="-140" dirty="0"/>
              <a:t>Addresses</a:t>
            </a:r>
            <a:endParaRPr sz="4600"/>
          </a:p>
        </p:txBody>
      </p:sp>
      <p:sp>
        <p:nvSpPr>
          <p:cNvPr id="8" name="object 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236665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05" y="1245011"/>
            <a:ext cx="125207" cy="1252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05" y="2330142"/>
            <a:ext cx="125207" cy="1252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05" y="3406926"/>
            <a:ext cx="125207" cy="12520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258074" y="4391891"/>
            <a:ext cx="100330" cy="100330"/>
          </a:xfrm>
          <a:custGeom>
            <a:avLst/>
            <a:gdLst/>
            <a:ahLst/>
            <a:cxnLst/>
            <a:rect l="l" t="t" r="r" b="b"/>
            <a:pathLst>
              <a:path w="100330" h="100329">
                <a:moveTo>
                  <a:pt x="100165" y="100165"/>
                </a:moveTo>
                <a:lnTo>
                  <a:pt x="0" y="100165"/>
                </a:lnTo>
                <a:lnTo>
                  <a:pt x="0" y="0"/>
                </a:lnTo>
                <a:lnTo>
                  <a:pt x="100165" y="0"/>
                </a:lnTo>
                <a:lnTo>
                  <a:pt x="100165" y="100165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0250" y="993249"/>
            <a:ext cx="8740140" cy="403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3050" spc="-105" dirty="0">
                <a:solidFill>
                  <a:srgbClr val="212121"/>
                </a:solidFill>
                <a:latin typeface="Yu Gothic"/>
                <a:cs typeface="Yu Gothic"/>
              </a:rPr>
              <a:t>Static</a:t>
            </a:r>
            <a:r>
              <a:rPr sz="30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3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305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b="1" spc="-20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30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30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spc="-90" dirty="0">
                <a:solidFill>
                  <a:srgbClr val="212121"/>
                </a:solidFill>
                <a:latin typeface="Trebuchet MS"/>
                <a:cs typeface="Trebuchet MS"/>
              </a:rPr>
              <a:t>switched</a:t>
            </a:r>
            <a:r>
              <a:rPr sz="30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30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70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r>
              <a:rPr sz="30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49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305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3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30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in </a:t>
            </a:r>
            <a:r>
              <a:rPr sz="3050" spc="-17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3050" spc="-2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3050">
              <a:latin typeface="Yu Gothic"/>
              <a:cs typeface="Yu Gothic"/>
            </a:endParaRPr>
          </a:p>
          <a:p>
            <a:pPr marL="12700" marR="5080">
              <a:lnSpc>
                <a:spcPct val="107700"/>
              </a:lnSpc>
              <a:spcBef>
                <a:spcPts val="595"/>
              </a:spcBef>
              <a:tabLst>
                <a:tab pos="1167130" algn="l"/>
                <a:tab pos="1710689" algn="l"/>
                <a:tab pos="3289935" algn="l"/>
                <a:tab pos="5006975" algn="l"/>
                <a:tab pos="6005830" algn="l"/>
                <a:tab pos="6431915" algn="l"/>
                <a:tab pos="7252334" algn="l"/>
                <a:tab pos="8188325" algn="l"/>
              </a:tabLst>
            </a:pP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Static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b="1" spc="-10" dirty="0">
                <a:solidFill>
                  <a:srgbClr val="212121"/>
                </a:solidFill>
                <a:latin typeface="Trebuchet MS"/>
                <a:cs typeface="Trebuchet MS"/>
              </a:rPr>
              <a:t>remains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b="1" spc="-10" dirty="0">
                <a:solidFill>
                  <a:srgbClr val="212121"/>
                </a:solidFill>
                <a:latin typeface="Trebuchet MS"/>
                <a:cs typeface="Trebuchet MS"/>
              </a:rPr>
              <a:t>attached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spc="-20" dirty="0">
                <a:solidFill>
                  <a:srgbClr val="212121"/>
                </a:solidFill>
                <a:latin typeface="Yu Gothic"/>
                <a:cs typeface="Yu Gothic"/>
              </a:rPr>
              <a:t>even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20" dirty="0">
                <a:solidFill>
                  <a:srgbClr val="212121"/>
                </a:solidFill>
                <a:latin typeface="Yu Gothic"/>
                <a:cs typeface="Yu Gothic"/>
              </a:rPr>
              <a:t>stop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114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3050" spc="-140" dirty="0">
                <a:solidFill>
                  <a:srgbClr val="212121"/>
                </a:solidFill>
                <a:latin typeface="Yu Gothic"/>
                <a:cs typeface="Yu Gothic"/>
              </a:rPr>
              <a:t>instance.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27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3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7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3050" spc="-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90" dirty="0">
                <a:solidFill>
                  <a:srgbClr val="212121"/>
                </a:solidFill>
                <a:latin typeface="Yu Gothic"/>
                <a:cs typeface="Yu Gothic"/>
              </a:rPr>
              <a:t>manually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45" dirty="0">
                <a:solidFill>
                  <a:srgbClr val="212121"/>
                </a:solidFill>
                <a:latin typeface="Yu Gothic"/>
                <a:cs typeface="Yu Gothic"/>
              </a:rPr>
              <a:t>detach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it.</a:t>
            </a:r>
            <a:endParaRPr sz="30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3050" spc="-140" dirty="0">
                <a:solidFill>
                  <a:srgbClr val="212121"/>
                </a:solidFill>
                <a:latin typeface="Yu Gothic"/>
                <a:cs typeface="Yu Gothic"/>
              </a:rPr>
              <a:t>Remember</a:t>
            </a:r>
            <a:r>
              <a:rPr sz="30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30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27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30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2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30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b="1" spc="-90" dirty="0">
                <a:solidFill>
                  <a:srgbClr val="212121"/>
                </a:solidFill>
                <a:latin typeface="Trebuchet MS"/>
                <a:cs typeface="Trebuchet MS"/>
              </a:rPr>
              <a:t>billed</a:t>
            </a:r>
            <a:r>
              <a:rPr sz="30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spc="-13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30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30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30" dirty="0">
                <a:solidFill>
                  <a:srgbClr val="212121"/>
                </a:solidFill>
                <a:latin typeface="Yu Gothic"/>
                <a:cs typeface="Yu Gothic"/>
              </a:rPr>
              <a:t>Static</a:t>
            </a:r>
            <a:r>
              <a:rPr sz="30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7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30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30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b="1" spc="-25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3050" b="1" spc="-145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3050" b="1" spc="-2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spc="-135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3050" b="1" spc="-2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spc="-55" dirty="0">
                <a:solidFill>
                  <a:srgbClr val="212121"/>
                </a:solidFill>
                <a:latin typeface="Trebuchet MS"/>
                <a:cs typeface="Trebuchet MS"/>
              </a:rPr>
              <a:t>using</a:t>
            </a:r>
            <a:r>
              <a:rPr sz="3050" b="1" spc="-2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spc="-25" dirty="0">
                <a:solidFill>
                  <a:srgbClr val="212121"/>
                </a:solidFill>
                <a:latin typeface="Trebuchet MS"/>
                <a:cs typeface="Trebuchet MS"/>
              </a:rPr>
              <a:t>it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!</a:t>
            </a:r>
            <a:endParaRPr sz="30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80"/>
              </a:spcBef>
            </a:pPr>
            <a:r>
              <a:rPr sz="2450" spc="-220" dirty="0">
                <a:solidFill>
                  <a:srgbClr val="212121"/>
                </a:solidFill>
                <a:latin typeface="Yu Gothic"/>
                <a:cs typeface="Yu Gothic"/>
              </a:rPr>
              <a:t>Make</a:t>
            </a:r>
            <a:r>
              <a:rPr sz="245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110" dirty="0">
                <a:solidFill>
                  <a:srgbClr val="212121"/>
                </a:solidFill>
                <a:latin typeface="Yu Gothic"/>
                <a:cs typeface="Yu Gothic"/>
              </a:rPr>
              <a:t>sure</a:t>
            </a:r>
            <a:r>
              <a:rPr sz="24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25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4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1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4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55" dirty="0">
                <a:solidFill>
                  <a:srgbClr val="212121"/>
                </a:solidFill>
                <a:latin typeface="Yu Gothic"/>
                <a:cs typeface="Yu Gothic"/>
              </a:rPr>
              <a:t>explicitly</a:t>
            </a:r>
            <a:r>
              <a:rPr sz="2450" spc="-120" dirty="0">
                <a:solidFill>
                  <a:srgbClr val="212121"/>
                </a:solidFill>
                <a:latin typeface="Yu Gothic"/>
                <a:cs typeface="Yu Gothic"/>
              </a:rPr>
              <a:t> release</a:t>
            </a:r>
            <a:r>
              <a:rPr sz="24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4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90" dirty="0">
                <a:solidFill>
                  <a:srgbClr val="212121"/>
                </a:solidFill>
                <a:latin typeface="Yu Gothic"/>
                <a:cs typeface="Yu Gothic"/>
              </a:rPr>
              <a:t>Static</a:t>
            </a:r>
            <a:r>
              <a:rPr sz="24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8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24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9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4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1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4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25" dirty="0">
                <a:solidFill>
                  <a:srgbClr val="212121"/>
                </a:solidFill>
                <a:latin typeface="Yu Gothic"/>
                <a:cs typeface="Yu Gothic"/>
              </a:rPr>
              <a:t>are </a:t>
            </a:r>
            <a:r>
              <a:rPr sz="2450" spc="-6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4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12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4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25" dirty="0">
                <a:solidFill>
                  <a:srgbClr val="212121"/>
                </a:solidFill>
                <a:latin typeface="Yu Gothic"/>
                <a:cs typeface="Yu Gothic"/>
              </a:rPr>
              <a:t>it.</a:t>
            </a:r>
            <a:endParaRPr sz="2450">
              <a:latin typeface="Yu Gothic"/>
              <a:cs typeface="Yu Gothic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70250" y="223640"/>
            <a:ext cx="69310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/>
              <a:t>Static</a:t>
            </a:r>
            <a:r>
              <a:rPr sz="4000" spc="-360" dirty="0"/>
              <a:t> </a:t>
            </a:r>
            <a:r>
              <a:rPr sz="4000" dirty="0"/>
              <a:t>IP</a:t>
            </a:r>
            <a:r>
              <a:rPr sz="4000" spc="-355" dirty="0"/>
              <a:t> </a:t>
            </a:r>
            <a:r>
              <a:rPr sz="4000" spc="-160" dirty="0"/>
              <a:t>Addresses</a:t>
            </a:r>
            <a:r>
              <a:rPr sz="4000" spc="-355" dirty="0"/>
              <a:t> </a:t>
            </a:r>
            <a:r>
              <a:rPr sz="4000" spc="-200" dirty="0"/>
              <a:t>-</a:t>
            </a:r>
            <a:r>
              <a:rPr sz="4000" spc="-360" dirty="0"/>
              <a:t> </a:t>
            </a:r>
            <a:r>
              <a:rPr sz="4000" spc="-140" dirty="0"/>
              <a:t>Remember</a:t>
            </a:r>
            <a:endParaRPr sz="4000"/>
          </a:p>
        </p:txBody>
      </p:sp>
      <p:sp>
        <p:nvSpPr>
          <p:cNvPr id="9" name="object 9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32848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716" y="1370218"/>
            <a:ext cx="141901" cy="1419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0716" y="3198247"/>
            <a:ext cx="141901" cy="14190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33033" y="3749159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117475" h="117475">
                <a:moveTo>
                  <a:pt x="116860" y="116860"/>
                </a:moveTo>
                <a:lnTo>
                  <a:pt x="0" y="116860"/>
                </a:lnTo>
                <a:lnTo>
                  <a:pt x="0" y="0"/>
                </a:lnTo>
                <a:lnTo>
                  <a:pt x="116860" y="0"/>
                </a:lnTo>
                <a:lnTo>
                  <a:pt x="116860" y="11686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33033" y="4283378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117475" h="117475">
                <a:moveTo>
                  <a:pt x="116860" y="116860"/>
                </a:moveTo>
                <a:lnTo>
                  <a:pt x="0" y="116860"/>
                </a:lnTo>
                <a:lnTo>
                  <a:pt x="0" y="0"/>
                </a:lnTo>
                <a:lnTo>
                  <a:pt x="116860" y="0"/>
                </a:lnTo>
                <a:lnTo>
                  <a:pt x="116860" y="11686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33033" y="4817596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117475" h="117475">
                <a:moveTo>
                  <a:pt x="116860" y="116860"/>
                </a:moveTo>
                <a:lnTo>
                  <a:pt x="0" y="116860"/>
                </a:lnTo>
                <a:lnTo>
                  <a:pt x="0" y="0"/>
                </a:lnTo>
                <a:lnTo>
                  <a:pt x="116860" y="0"/>
                </a:lnTo>
                <a:lnTo>
                  <a:pt x="116860" y="11686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0250" y="1080393"/>
            <a:ext cx="8740140" cy="398907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just">
              <a:lnSpc>
                <a:spcPct val="108800"/>
              </a:lnSpc>
              <a:spcBef>
                <a:spcPts val="65"/>
              </a:spcBef>
            </a:pPr>
            <a:r>
              <a:rPr sz="3550" spc="-22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3550" spc="5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8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3550" spc="5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24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3550" spc="5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b="1" spc="-204" dirty="0">
                <a:solidFill>
                  <a:srgbClr val="212121"/>
                </a:solidFill>
                <a:latin typeface="Trebuchet MS"/>
                <a:cs typeface="Trebuchet MS"/>
              </a:rPr>
              <a:t>reduce</a:t>
            </a:r>
            <a:r>
              <a:rPr sz="3550" b="1" spc="4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550" spc="-14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3550" spc="5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b="1" spc="-155" dirty="0">
                <a:solidFill>
                  <a:srgbClr val="212121"/>
                </a:solidFill>
                <a:latin typeface="Trebuchet MS"/>
                <a:cs typeface="Trebuchet MS"/>
              </a:rPr>
              <a:t>number</a:t>
            </a:r>
            <a:r>
              <a:rPr sz="3550" b="1" spc="4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550" b="1" spc="-150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3550" b="1" spc="4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550" b="1" spc="-105" dirty="0">
                <a:solidFill>
                  <a:srgbClr val="212121"/>
                </a:solidFill>
                <a:latin typeface="Trebuchet MS"/>
                <a:cs typeface="Trebuchet MS"/>
              </a:rPr>
              <a:t>steps</a:t>
            </a:r>
            <a:r>
              <a:rPr sz="3550" b="1" spc="4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550" spc="-9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35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5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3550" spc="-2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3550" spc="-2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58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3550" spc="-2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85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3550" spc="-2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4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3550" spc="-2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55" dirty="0">
                <a:solidFill>
                  <a:srgbClr val="212121"/>
                </a:solidFill>
                <a:latin typeface="Yu Gothic"/>
                <a:cs typeface="Yu Gothic"/>
              </a:rPr>
              <a:t>setting</a:t>
            </a:r>
            <a:r>
              <a:rPr sz="3550" spc="-2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2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3550" spc="-2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8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3550" spc="-2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335" dirty="0">
                <a:solidFill>
                  <a:srgbClr val="212121"/>
                </a:solidFill>
                <a:latin typeface="Yu Gothic"/>
                <a:cs typeface="Yu Gothic"/>
              </a:rPr>
              <a:t>HTTP</a:t>
            </a:r>
            <a:r>
              <a:rPr sz="35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95" dirty="0">
                <a:solidFill>
                  <a:srgbClr val="212121"/>
                </a:solidFill>
                <a:latin typeface="Yu Gothic"/>
                <a:cs typeface="Yu Gothic"/>
              </a:rPr>
              <a:t>Server?</a:t>
            </a:r>
            <a:endParaRPr sz="355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865"/>
              </a:spcBef>
            </a:pPr>
            <a:r>
              <a:rPr sz="3550" spc="-229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40" dirty="0">
                <a:solidFill>
                  <a:srgbClr val="212121"/>
                </a:solidFill>
                <a:latin typeface="Yu Gothic"/>
                <a:cs typeface="Yu Gothic"/>
              </a:rPr>
              <a:t>explore</a:t>
            </a:r>
            <a:r>
              <a:rPr sz="3550" spc="-2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8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3550" spc="-2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229" dirty="0">
                <a:solidFill>
                  <a:srgbClr val="212121"/>
                </a:solidFill>
                <a:latin typeface="Yu Gothic"/>
                <a:cs typeface="Yu Gothic"/>
              </a:rPr>
              <a:t>few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0" dirty="0">
                <a:solidFill>
                  <a:srgbClr val="212121"/>
                </a:solidFill>
                <a:latin typeface="Yu Gothic"/>
                <a:cs typeface="Yu Gothic"/>
              </a:rPr>
              <a:t>options:</a:t>
            </a:r>
            <a:endParaRPr sz="35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34"/>
              </a:spcBef>
            </a:pPr>
            <a:r>
              <a:rPr sz="2800" b="1" spc="-65" dirty="0">
                <a:solidFill>
                  <a:srgbClr val="212121"/>
                </a:solidFill>
                <a:latin typeface="Trebuchet MS"/>
                <a:cs typeface="Trebuchet MS"/>
              </a:rPr>
              <a:t>Startup</a:t>
            </a:r>
            <a:r>
              <a:rPr sz="2800" b="1" spc="-2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212121"/>
                </a:solidFill>
                <a:latin typeface="Trebuchet MS"/>
                <a:cs typeface="Trebuchet MS"/>
              </a:rPr>
              <a:t>script</a:t>
            </a:r>
            <a:endParaRPr sz="2800">
              <a:latin typeface="Trebuchet MS"/>
              <a:cs typeface="Trebuchet MS"/>
            </a:endParaRPr>
          </a:p>
          <a:p>
            <a:pPr marL="346075" marR="5540375">
              <a:lnSpc>
                <a:spcPct val="125200"/>
              </a:lnSpc>
            </a:pPr>
            <a:r>
              <a:rPr sz="2800" b="1" spc="-8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280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b="1" spc="-120" dirty="0">
                <a:solidFill>
                  <a:srgbClr val="212121"/>
                </a:solidFill>
                <a:latin typeface="Trebuchet MS"/>
                <a:cs typeface="Trebuchet MS"/>
              </a:rPr>
              <a:t>Template </a:t>
            </a:r>
            <a:r>
              <a:rPr sz="2800" b="1" spc="-70" dirty="0">
                <a:solidFill>
                  <a:srgbClr val="212121"/>
                </a:solidFill>
                <a:latin typeface="Trebuchet MS"/>
                <a:cs typeface="Trebuchet MS"/>
              </a:rPr>
              <a:t>Custom</a:t>
            </a:r>
            <a:r>
              <a:rPr sz="280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70250" y="220719"/>
            <a:ext cx="7695565" cy="728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600" spc="-120" dirty="0"/>
              <a:t>Simplify</a:t>
            </a:r>
            <a:r>
              <a:rPr sz="4600" spc="-409" dirty="0"/>
              <a:t> </a:t>
            </a:r>
            <a:r>
              <a:rPr sz="4600" spc="-210" dirty="0"/>
              <a:t>VM</a:t>
            </a:r>
            <a:r>
              <a:rPr sz="4600" spc="-405" dirty="0"/>
              <a:t> </a:t>
            </a:r>
            <a:r>
              <a:rPr sz="4600" spc="-180" dirty="0"/>
              <a:t>HTTP</a:t>
            </a:r>
            <a:r>
              <a:rPr sz="4600" spc="-405" dirty="0"/>
              <a:t> </a:t>
            </a:r>
            <a:r>
              <a:rPr sz="4600" spc="-220" dirty="0"/>
              <a:t>server</a:t>
            </a:r>
            <a:r>
              <a:rPr sz="4600" spc="-405" dirty="0"/>
              <a:t> </a:t>
            </a:r>
            <a:r>
              <a:rPr sz="4600" spc="-105" dirty="0"/>
              <a:t>setup</a:t>
            </a:r>
            <a:endParaRPr sz="4600"/>
          </a:p>
        </p:txBody>
      </p:sp>
      <p:sp>
        <p:nvSpPr>
          <p:cNvPr id="10" name="object 10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17964"/>
            <a:ext cx="7922895" cy="681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300" spc="-110" dirty="0"/>
              <a:t>Bootstrapping</a:t>
            </a:r>
            <a:r>
              <a:rPr sz="4300" spc="-350" dirty="0"/>
              <a:t> </a:t>
            </a:r>
            <a:r>
              <a:rPr sz="4300" spc="-170" dirty="0"/>
              <a:t>with</a:t>
            </a:r>
            <a:r>
              <a:rPr sz="4300" spc="-345" dirty="0"/>
              <a:t> </a:t>
            </a:r>
            <a:r>
              <a:rPr sz="4300" spc="-120" dirty="0"/>
              <a:t>Startup</a:t>
            </a:r>
            <a:r>
              <a:rPr sz="4300" spc="-350" dirty="0"/>
              <a:t> </a:t>
            </a:r>
            <a:r>
              <a:rPr sz="4300" spc="-95" dirty="0"/>
              <a:t>script</a:t>
            </a:r>
            <a:endParaRPr sz="4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4768" y="2680723"/>
            <a:ext cx="133554" cy="1335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4768" y="3849325"/>
            <a:ext cx="133554" cy="1335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4768" y="4467015"/>
            <a:ext cx="133554" cy="13355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90868" y="2401581"/>
            <a:ext cx="9621520" cy="236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3300" b="1" spc="-85" dirty="0">
                <a:solidFill>
                  <a:srgbClr val="212121"/>
                </a:solidFill>
                <a:latin typeface="Trebuchet MS"/>
                <a:cs typeface="Trebuchet MS"/>
              </a:rPr>
              <a:t>Bootstrapping</a:t>
            </a:r>
            <a:r>
              <a:rPr sz="330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3300" spc="-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20" dirty="0">
                <a:solidFill>
                  <a:srgbClr val="212121"/>
                </a:solidFill>
                <a:latin typeface="Yu Gothic"/>
                <a:cs typeface="Yu Gothic"/>
              </a:rPr>
              <a:t>Install</a:t>
            </a:r>
            <a:r>
              <a:rPr sz="3300" spc="-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265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r>
              <a:rPr sz="3300" spc="-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75" dirty="0">
                <a:solidFill>
                  <a:srgbClr val="212121"/>
                </a:solidFill>
                <a:latin typeface="Yu Gothic"/>
                <a:cs typeface="Yu Gothic"/>
              </a:rPr>
              <a:t>patches</a:t>
            </a:r>
            <a:r>
              <a:rPr sz="330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7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3300" spc="-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80" dirty="0">
                <a:solidFill>
                  <a:srgbClr val="212121"/>
                </a:solidFill>
                <a:latin typeface="Yu Gothic"/>
                <a:cs typeface="Yu Gothic"/>
              </a:rPr>
              <a:t>software</a:t>
            </a:r>
            <a:r>
              <a:rPr sz="3300" spc="-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6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330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25" dirty="0">
                <a:solidFill>
                  <a:srgbClr val="212121"/>
                </a:solidFill>
                <a:latin typeface="Yu Gothic"/>
                <a:cs typeface="Yu Gothic"/>
              </a:rPr>
              <a:t>an </a:t>
            </a:r>
            <a:r>
              <a:rPr sz="3300" spc="-54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3300" spc="-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7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3300" spc="-2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8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3300" spc="-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launched.</a:t>
            </a:r>
            <a:endParaRPr sz="33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3300" spc="-114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3300" spc="-2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375" dirty="0">
                <a:solidFill>
                  <a:srgbClr val="212121"/>
                </a:solidFill>
                <a:latin typeface="Yu Gothic"/>
                <a:cs typeface="Yu Gothic"/>
              </a:rPr>
              <a:t>VM,</a:t>
            </a:r>
            <a:r>
              <a:rPr sz="3300" spc="-2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3300" spc="-2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7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3300" spc="-2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4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3300" spc="-2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b="1" spc="-95" dirty="0">
                <a:solidFill>
                  <a:srgbClr val="212121"/>
                </a:solidFill>
                <a:latin typeface="Trebuchet MS"/>
                <a:cs typeface="Trebuchet MS"/>
              </a:rPr>
              <a:t>Startup</a:t>
            </a:r>
            <a:r>
              <a:rPr sz="3300" b="1" spc="-2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300" b="1" spc="-114" dirty="0">
                <a:solidFill>
                  <a:srgbClr val="212121"/>
                </a:solidFill>
                <a:latin typeface="Trebuchet MS"/>
                <a:cs typeface="Trebuchet MS"/>
              </a:rPr>
              <a:t>script</a:t>
            </a:r>
            <a:r>
              <a:rPr sz="3300" b="1" spc="-3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300" spc="-7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3300" spc="-2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bootstrap</a:t>
            </a:r>
            <a:endParaRPr sz="33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3300" b="1" spc="-70" dirty="0">
                <a:solidFill>
                  <a:srgbClr val="212121"/>
                </a:solidFill>
                <a:latin typeface="Trebuchet MS"/>
                <a:cs typeface="Trebuchet MS"/>
              </a:rPr>
              <a:t>DEMO</a:t>
            </a:r>
            <a:r>
              <a:rPr sz="3300" b="1" spc="-3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300" spc="-42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3300" spc="-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3300" spc="-2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35" dirty="0">
                <a:solidFill>
                  <a:srgbClr val="212121"/>
                </a:solidFill>
                <a:latin typeface="Yu Gothic"/>
                <a:cs typeface="Yu Gothic"/>
              </a:rPr>
              <a:t>Startup</a:t>
            </a:r>
            <a:r>
              <a:rPr sz="3300" spc="-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script</a:t>
            </a:r>
            <a:endParaRPr sz="3300">
              <a:latin typeface="Yu Gothic"/>
              <a:cs typeface="Yu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9609" y="1085850"/>
            <a:ext cx="9083040" cy="1261110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75565" marR="7466330">
              <a:lnSpc>
                <a:spcPct val="100000"/>
              </a:lnSpc>
              <a:spcBef>
                <a:spcPts val="505"/>
              </a:spcBef>
            </a:pPr>
            <a:r>
              <a:rPr sz="1800" spc="-10" dirty="0">
                <a:solidFill>
                  <a:srgbClr val="2A90AF"/>
                </a:solidFill>
                <a:latin typeface="Courier New"/>
                <a:cs typeface="Courier New"/>
              </a:rPr>
              <a:t>#!/bin/bash </a:t>
            </a:r>
            <a:r>
              <a:rPr sz="1800" dirty="0">
                <a:latin typeface="Courier New"/>
                <a:cs typeface="Courier New"/>
              </a:rPr>
              <a:t>apt</a:t>
            </a:r>
            <a:r>
              <a:rPr sz="1800" spc="7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update</a:t>
            </a:r>
            <a:endParaRPr sz="1800">
              <a:latin typeface="Courier New"/>
              <a:cs typeface="Courier New"/>
            </a:endParaRPr>
          </a:p>
          <a:p>
            <a:pPr marL="75565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Courier New"/>
                <a:cs typeface="Courier New"/>
              </a:rPr>
              <a:t>apt</a:t>
            </a:r>
            <a:r>
              <a:rPr sz="1800" spc="10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-y</a:t>
            </a:r>
            <a:r>
              <a:rPr sz="1800" spc="10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install</a:t>
            </a:r>
            <a:r>
              <a:rPr sz="1800" spc="10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apache2</a:t>
            </a:r>
            <a:endParaRPr sz="1800">
              <a:latin typeface="Courier New"/>
              <a:cs typeface="Courier New"/>
            </a:endParaRPr>
          </a:p>
          <a:p>
            <a:pPr marL="75565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solidFill>
                  <a:srgbClr val="0000FF"/>
                </a:solidFill>
                <a:latin typeface="Courier New"/>
                <a:cs typeface="Courier New"/>
              </a:rPr>
              <a:t>echo</a:t>
            </a:r>
            <a:r>
              <a:rPr sz="1800" spc="1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A21515"/>
                </a:solidFill>
                <a:latin typeface="Courier New"/>
                <a:cs typeface="Courier New"/>
              </a:rPr>
              <a:t>"Hello</a:t>
            </a:r>
            <a:r>
              <a:rPr sz="1800" spc="135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A21515"/>
                </a:solidFill>
                <a:latin typeface="Courier New"/>
                <a:cs typeface="Courier New"/>
              </a:rPr>
              <a:t>world</a:t>
            </a:r>
            <a:r>
              <a:rPr sz="1800" spc="135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A21515"/>
                </a:solidFill>
                <a:latin typeface="Courier New"/>
                <a:cs typeface="Courier New"/>
              </a:rPr>
              <a:t>from</a:t>
            </a:r>
            <a:r>
              <a:rPr sz="1800" spc="135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000"/>
                </a:solidFill>
                <a:latin typeface="Courier New"/>
                <a:cs typeface="Courier New"/>
              </a:rPr>
              <a:t>$(hostname)</a:t>
            </a:r>
            <a:r>
              <a:rPr sz="1800" spc="1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000"/>
                </a:solidFill>
                <a:latin typeface="Courier New"/>
                <a:cs typeface="Courier New"/>
              </a:rPr>
              <a:t>$(hostname</a:t>
            </a:r>
            <a:r>
              <a:rPr sz="1800" spc="14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000"/>
                </a:solidFill>
                <a:latin typeface="Courier New"/>
                <a:cs typeface="Courier New"/>
              </a:rPr>
              <a:t>-I)</a:t>
            </a:r>
            <a:r>
              <a:rPr sz="180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r>
              <a:rPr sz="1800" spc="135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&gt;</a:t>
            </a:r>
            <a:r>
              <a:rPr sz="1800" spc="1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/var/www/ht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1690" y="1094765"/>
            <a:ext cx="1602655" cy="6009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56332" y="1879396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96557" y="2496523"/>
            <a:ext cx="1802986" cy="5536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56332" y="3223277"/>
            <a:ext cx="83471" cy="4757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54987" y="3832643"/>
            <a:ext cx="1669433" cy="6677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2622293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3390231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37408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4158170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45087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926109"/>
            <a:ext cx="91818" cy="9181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70250" y="866705"/>
            <a:ext cx="7838440" cy="4265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Why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specify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details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(Image,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every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launch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template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Define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machine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type,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image,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labels,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startup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script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properties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convenient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way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similar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CANNOT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updated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make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change,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copy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existing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template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modify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(Optional)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family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specified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(example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debian-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9):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Latest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non-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deprecated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family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DEMO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Launch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templates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Instance</a:t>
            </a:r>
            <a:r>
              <a:rPr spc="-240" dirty="0"/>
              <a:t> </a:t>
            </a:r>
            <a:r>
              <a:rPr spc="-80" dirty="0"/>
              <a:t>templates</a:t>
            </a:r>
          </a:p>
        </p:txBody>
      </p:sp>
      <p:sp>
        <p:nvSpPr>
          <p:cNvPr id="19" name="object 19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1690" y="1094765"/>
            <a:ext cx="1602655" cy="6009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56332" y="1879396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88393" y="2488725"/>
            <a:ext cx="1602656" cy="6009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56332" y="3290059"/>
            <a:ext cx="83471" cy="4757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54987" y="3891073"/>
            <a:ext cx="1669433" cy="6677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35684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37408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11643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4850985"/>
            <a:ext cx="91818" cy="918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5310078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70250" y="866705"/>
            <a:ext cx="7838440" cy="50342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Installing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r>
              <a:rPr sz="235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patches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software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launch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increases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boot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up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720090" algn="l"/>
                <a:tab pos="1603375" algn="l"/>
                <a:tab pos="2765425" algn="l"/>
                <a:tab pos="3053715" algn="l"/>
                <a:tab pos="4124960" algn="l"/>
                <a:tab pos="5032375" algn="l"/>
                <a:tab pos="5721350" algn="l"/>
                <a:tab pos="6216015" algn="l"/>
                <a:tab pos="7340600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patches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software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pre-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installed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instance,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disk,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snapshot,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another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image,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555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Can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(Recommendation)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Deprecate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old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(&amp;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specify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replacement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image)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25"/>
              </a:spcBef>
              <a:tabLst>
                <a:tab pos="2419985" algn="l"/>
                <a:tab pos="3636645" algn="l"/>
                <a:tab pos="4027170" algn="l"/>
                <a:tab pos="4796155" algn="l"/>
                <a:tab pos="4999990" algn="l"/>
                <a:tab pos="6182360" algn="l"/>
                <a:tab pos="7030720" algn="l"/>
                <a:tab pos="7369809" algn="l"/>
              </a:tabLst>
            </a:pP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(Recommendation)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Hardening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an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Customize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your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corporate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security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standards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Prefer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Custom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Startup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script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7200"/>
              </a:lnSpc>
              <a:spcBef>
                <a:spcPts val="595"/>
              </a:spcBef>
            </a:pP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DEMO</a:t>
            </a:r>
            <a:r>
              <a:rPr sz="2350" b="1" spc="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235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235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235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Instance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Template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5" dirty="0"/>
              <a:t>Reducing</a:t>
            </a:r>
            <a:r>
              <a:rPr spc="-250" dirty="0"/>
              <a:t> </a:t>
            </a:r>
            <a:r>
              <a:rPr spc="-114" dirty="0"/>
              <a:t>Launch</a:t>
            </a:r>
            <a:r>
              <a:rPr spc="-245" dirty="0"/>
              <a:t> </a:t>
            </a:r>
            <a:r>
              <a:rPr spc="-145" dirty="0"/>
              <a:t>Time</a:t>
            </a:r>
            <a:r>
              <a:rPr spc="-245" dirty="0"/>
              <a:t> </a:t>
            </a:r>
            <a:r>
              <a:rPr spc="-114" dirty="0"/>
              <a:t>with</a:t>
            </a:r>
            <a:r>
              <a:rPr spc="-250" dirty="0"/>
              <a:t> </a:t>
            </a:r>
            <a:r>
              <a:rPr spc="-85" dirty="0"/>
              <a:t>Custom</a:t>
            </a:r>
            <a:r>
              <a:rPr spc="-245" dirty="0"/>
              <a:t> </a:t>
            </a:r>
            <a:r>
              <a:rPr spc="-10" dirty="0"/>
              <a:t>Image</a:t>
            </a:r>
          </a:p>
        </p:txBody>
      </p:sp>
      <p:sp>
        <p:nvSpPr>
          <p:cNvPr id="17" name="object 17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3228" y="1094780"/>
            <a:ext cx="3806311" cy="33054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28226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31982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623952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467015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5318426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866705"/>
            <a:ext cx="5835015" cy="5050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Automatic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discounts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instances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significant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portion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month</a:t>
            </a:r>
            <a:endParaRPr sz="2350">
              <a:latin typeface="Yu Gothic"/>
              <a:cs typeface="Yu Gothic"/>
            </a:endParaRPr>
          </a:p>
          <a:p>
            <a:pPr marL="346075" marR="5080" algn="just">
              <a:lnSpc>
                <a:spcPct val="108100"/>
              </a:lnSpc>
              <a:spcBef>
                <a:spcPts val="75"/>
              </a:spcBef>
            </a:pP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N1,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N2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types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more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than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25%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month,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20%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50%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discount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incremental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minute.</a:t>
            </a:r>
            <a:endParaRPr sz="1900">
              <a:latin typeface="Yu Gothic"/>
              <a:cs typeface="Yu Gothic"/>
            </a:endParaRPr>
          </a:p>
          <a:p>
            <a:pPr marL="346075" marR="1694180" algn="just">
              <a:lnSpc>
                <a:spcPct val="129700"/>
              </a:lnSpc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Discount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increases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usage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(graph)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action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required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part!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84"/>
              </a:spcBef>
              <a:tabLst>
                <a:tab pos="1524635" algn="l"/>
                <a:tab pos="2025650" algn="l"/>
                <a:tab pos="3358515" algn="l"/>
                <a:tab pos="4458335" algn="l"/>
                <a:tab pos="491363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Applicable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Google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464"/>
              </a:spcBef>
              <a:tabLst>
                <a:tab pos="2014855" algn="l"/>
                <a:tab pos="2820670" algn="l"/>
                <a:tab pos="3552190" algn="l"/>
                <a:tab pos="4439920" algn="l"/>
                <a:tab pos="495046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RESTRICTION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apply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certain machine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(example: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E2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A2)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RESTRICTION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9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apply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30" dirty="0">
                <a:solidFill>
                  <a:srgbClr val="212121"/>
                </a:solidFill>
                <a:latin typeface="Yu Gothic"/>
                <a:cs typeface="Yu Gothic"/>
              </a:rPr>
              <a:t>VMs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created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flexible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Dataflow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Sustained</a:t>
            </a:r>
            <a:r>
              <a:rPr spc="-235" dirty="0"/>
              <a:t> </a:t>
            </a:r>
            <a:r>
              <a:rPr spc="-110" dirty="0"/>
              <a:t>use</a:t>
            </a:r>
            <a:r>
              <a:rPr spc="-235" dirty="0"/>
              <a:t> </a:t>
            </a:r>
            <a:r>
              <a:rPr spc="-60" dirty="0"/>
              <a:t>discounts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831802" y="4479357"/>
            <a:ext cx="292925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Source: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400" b="1" i="1" spc="-75" dirty="0">
                <a:solidFill>
                  <a:srgbClr val="A52929"/>
                </a:solidFill>
                <a:latin typeface="Trebuchet MS"/>
                <a:cs typeface="Trebuchet MS"/>
                <a:hlinkClick r:id="rId5"/>
              </a:rPr>
              <a:t>https://cloud.google.com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236665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05" y="1245011"/>
            <a:ext cx="125207" cy="1252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05" y="1820965"/>
            <a:ext cx="125207" cy="1252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05" y="2396919"/>
            <a:ext cx="125207" cy="1252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05" y="3473703"/>
            <a:ext cx="125207" cy="12520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05" y="4558834"/>
            <a:ext cx="125207" cy="12520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70250" y="926471"/>
            <a:ext cx="8740140" cy="442468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3050" spc="-1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3050" spc="-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14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r>
              <a:rPr sz="305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0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3050" spc="-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b="1" spc="-120" dirty="0">
                <a:solidFill>
                  <a:srgbClr val="212121"/>
                </a:solidFill>
                <a:latin typeface="Trebuchet MS"/>
                <a:cs typeface="Trebuchet MS"/>
              </a:rPr>
              <a:t>predictable</a:t>
            </a:r>
            <a:r>
              <a:rPr sz="3050" b="1" spc="-2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spc="-150" dirty="0">
                <a:solidFill>
                  <a:srgbClr val="212121"/>
                </a:solidFill>
                <a:latin typeface="Trebuchet MS"/>
                <a:cs typeface="Trebuchet MS"/>
              </a:rPr>
              <a:t>resource</a:t>
            </a:r>
            <a:r>
              <a:rPr sz="3050" b="1" spc="-2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endParaRPr sz="30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050" b="1" spc="-85" dirty="0">
                <a:solidFill>
                  <a:srgbClr val="212121"/>
                </a:solidFill>
                <a:latin typeface="Trebuchet MS"/>
                <a:cs typeface="Trebuchet MS"/>
              </a:rPr>
              <a:t>Commit</a:t>
            </a:r>
            <a:r>
              <a:rPr sz="3050" b="1" spc="-2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spc="-11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3050" spc="-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95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3050" spc="-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35" dirty="0">
                <a:solidFill>
                  <a:srgbClr val="212121"/>
                </a:solidFill>
                <a:latin typeface="Yu Gothic"/>
                <a:cs typeface="Yu Gothic"/>
              </a:rPr>
              <a:t>year</a:t>
            </a:r>
            <a:r>
              <a:rPr sz="3050" spc="-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6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3050" spc="-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95" dirty="0">
                <a:solidFill>
                  <a:srgbClr val="212121"/>
                </a:solidFill>
                <a:latin typeface="Yu Gothic"/>
                <a:cs typeface="Yu Gothic"/>
              </a:rPr>
              <a:t>3</a:t>
            </a:r>
            <a:r>
              <a:rPr sz="3050" spc="-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years</a:t>
            </a:r>
            <a:endParaRPr sz="3050">
              <a:latin typeface="Yu Gothic"/>
              <a:cs typeface="Yu Gothic"/>
            </a:endParaRPr>
          </a:p>
          <a:p>
            <a:pPr marL="12700" marR="5080">
              <a:lnSpc>
                <a:spcPct val="107700"/>
              </a:lnSpc>
              <a:spcBef>
                <a:spcPts val="590"/>
              </a:spcBef>
              <a:tabLst>
                <a:tab pos="679450" algn="l"/>
                <a:tab pos="1221740" algn="l"/>
                <a:tab pos="2141855" algn="l"/>
                <a:tab pos="3784600" algn="l"/>
                <a:tab pos="4959350" algn="l"/>
                <a:tab pos="5574665" algn="l"/>
                <a:tab pos="7181850" algn="l"/>
                <a:tab pos="8096250" algn="l"/>
              </a:tabLst>
            </a:pPr>
            <a:r>
              <a:rPr sz="3050" b="1" spc="-25" dirty="0">
                <a:solidFill>
                  <a:srgbClr val="212121"/>
                </a:solidFill>
                <a:latin typeface="Trebuchet MS"/>
                <a:cs typeface="Trebuchet MS"/>
              </a:rPr>
              <a:t>Up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b="1" spc="-2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b="1" spc="-25" dirty="0">
                <a:solidFill>
                  <a:srgbClr val="212121"/>
                </a:solidFill>
                <a:latin typeface="Trebuchet MS"/>
                <a:cs typeface="Trebuchet MS"/>
              </a:rPr>
              <a:t>70%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b="1" spc="-10" dirty="0">
                <a:solidFill>
                  <a:srgbClr val="212121"/>
                </a:solidFill>
                <a:latin typeface="Trebuchet MS"/>
                <a:cs typeface="Trebuchet MS"/>
              </a:rPr>
              <a:t>discount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20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110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3050" spc="-310" dirty="0">
                <a:solidFill>
                  <a:srgbClr val="212121"/>
                </a:solidFill>
                <a:latin typeface="Yu Gothic"/>
                <a:cs typeface="Yu Gothic"/>
              </a:rPr>
              <a:t>GPUs</a:t>
            </a:r>
            <a:endParaRPr sz="3050">
              <a:latin typeface="Yu Gothic"/>
              <a:cs typeface="Yu Gothic"/>
            </a:endParaRPr>
          </a:p>
          <a:p>
            <a:pPr marL="12700" marR="5080">
              <a:lnSpc>
                <a:spcPct val="114300"/>
              </a:lnSpc>
              <a:spcBef>
                <a:spcPts val="355"/>
              </a:spcBef>
              <a:tabLst>
                <a:tab pos="2210435" algn="l"/>
                <a:tab pos="3094355" algn="l"/>
                <a:tab pos="5059680" algn="l"/>
                <a:tab pos="6722109" algn="l"/>
                <a:tab pos="7545705" algn="l"/>
              </a:tabLst>
            </a:pPr>
            <a:r>
              <a:rPr sz="3050" b="1" spc="-10" dirty="0">
                <a:solidFill>
                  <a:srgbClr val="212121"/>
                </a:solidFill>
                <a:latin typeface="Trebuchet MS"/>
                <a:cs typeface="Trebuchet MS"/>
              </a:rPr>
              <a:t>Applicable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b="1" spc="-75" dirty="0">
                <a:solidFill>
                  <a:srgbClr val="212121"/>
                </a:solidFill>
                <a:latin typeface="Trebuchet MS"/>
                <a:cs typeface="Trebuchet MS"/>
              </a:rPr>
              <a:t>Google </a:t>
            </a:r>
            <a:r>
              <a:rPr sz="3050" b="1" spc="-135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3050" b="1" spc="-2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spc="-9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3050" b="1" spc="-2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spc="-11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305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b="1" spc="-10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3050" b="1" spc="-2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spc="-10" dirty="0">
                <a:solidFill>
                  <a:srgbClr val="212121"/>
                </a:solidFill>
                <a:latin typeface="Trebuchet MS"/>
                <a:cs typeface="Trebuchet MS"/>
              </a:rPr>
              <a:t>Engine </a:t>
            </a:r>
            <a:r>
              <a:rPr sz="3050" b="1" spc="-80" dirty="0">
                <a:solidFill>
                  <a:srgbClr val="212121"/>
                </a:solidFill>
                <a:latin typeface="Trebuchet MS"/>
                <a:cs typeface="Trebuchet MS"/>
              </a:rPr>
              <a:t>RESTRICTION</a:t>
            </a:r>
            <a:r>
              <a:rPr sz="305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305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229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305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28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305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80" dirty="0">
                <a:solidFill>
                  <a:srgbClr val="212121"/>
                </a:solidFill>
                <a:latin typeface="Yu Gothic"/>
                <a:cs typeface="Yu Gothic"/>
              </a:rPr>
              <a:t>apply</a:t>
            </a:r>
            <a:r>
              <a:rPr sz="305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7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305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420" dirty="0">
                <a:solidFill>
                  <a:srgbClr val="212121"/>
                </a:solidFill>
                <a:latin typeface="Yu Gothic"/>
                <a:cs typeface="Yu Gothic"/>
              </a:rPr>
              <a:t>VMs</a:t>
            </a:r>
            <a:r>
              <a:rPr sz="305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45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305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9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305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75" dirty="0">
                <a:solidFill>
                  <a:srgbClr val="212121"/>
                </a:solidFill>
                <a:latin typeface="Yu Gothic"/>
                <a:cs typeface="Yu Gothic"/>
              </a:rPr>
              <a:t>App </a:t>
            </a:r>
            <a:r>
              <a:rPr sz="3050" spc="-15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10" dirty="0">
                <a:solidFill>
                  <a:srgbClr val="212121"/>
                </a:solidFill>
                <a:latin typeface="Yu Gothic"/>
                <a:cs typeface="Yu Gothic"/>
              </a:rPr>
              <a:t>flexible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1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3050" spc="-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Dataflow</a:t>
            </a:r>
            <a:endParaRPr sz="3050">
              <a:latin typeface="Yu Gothic"/>
              <a:cs typeface="Yu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70250" y="223640"/>
            <a:ext cx="55645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0" dirty="0"/>
              <a:t>Committed</a:t>
            </a:r>
            <a:r>
              <a:rPr sz="4000" spc="-360" dirty="0"/>
              <a:t> </a:t>
            </a:r>
            <a:r>
              <a:rPr sz="4000" spc="-145" dirty="0"/>
              <a:t>use</a:t>
            </a:r>
            <a:r>
              <a:rPr sz="4000" spc="-360" dirty="0"/>
              <a:t> </a:t>
            </a:r>
            <a:r>
              <a:rPr sz="4000" spc="-95" dirty="0"/>
              <a:t>discounts</a:t>
            </a:r>
            <a:endParaRPr sz="4000"/>
          </a:p>
        </p:txBody>
      </p:sp>
      <p:sp>
        <p:nvSpPr>
          <p:cNvPr id="10" name="object 10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3318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7157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133129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4837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48676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24330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6189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7249159" cy="49403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Short-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lived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cheaper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(upto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80%)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stopped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(preempted)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24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hours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30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second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warning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save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anything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save)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Preempt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VM's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if: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fault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tolerant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cost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sensitive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workload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immediate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Non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immediate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batch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processing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jobs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RESTRICTIONS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always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endParaRPr sz="1900">
              <a:latin typeface="Yu Gothic"/>
              <a:cs typeface="Yu Gothic"/>
            </a:endParaRPr>
          </a:p>
          <a:p>
            <a:pPr marL="346075" marR="2075814">
              <a:lnSpc>
                <a:spcPct val="129700"/>
              </a:lnSpc>
              <a:spcBef>
                <a:spcPts val="65"/>
              </a:spcBef>
            </a:pP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SLA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migrated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regular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5" dirty="0">
                <a:solidFill>
                  <a:srgbClr val="212121"/>
                </a:solidFill>
                <a:latin typeface="Yu Gothic"/>
                <a:cs typeface="Yu Gothic"/>
              </a:rPr>
              <a:t>VMs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Automatic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Restarts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Free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Tier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credits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applicable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69176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Preemptible</a:t>
            </a:r>
            <a:r>
              <a:rPr spc="-200" dirty="0"/>
              <a:t> </a:t>
            </a:r>
            <a:r>
              <a:rPr spc="-70" dirty="0"/>
              <a:t>VM</a:t>
            </a:r>
          </a:p>
        </p:txBody>
      </p:sp>
      <p:sp>
        <p:nvSpPr>
          <p:cNvPr id="18" name="object 1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22293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3484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1080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799928"/>
            <a:ext cx="8740140" cy="348615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30" dirty="0">
                <a:solidFill>
                  <a:srgbClr val="212121"/>
                </a:solidFill>
                <a:latin typeface="Trebuchet MS"/>
                <a:cs typeface="Trebuchet MS"/>
              </a:rPr>
              <a:t>Spot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VMs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Latest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preemptible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5" dirty="0">
                <a:solidFill>
                  <a:srgbClr val="212121"/>
                </a:solidFill>
                <a:latin typeface="Yu Gothic"/>
                <a:cs typeface="Yu Gothic"/>
              </a:rPr>
              <a:t>VMs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Difference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maximum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runtime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Compared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traditional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preemptible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80" dirty="0">
                <a:solidFill>
                  <a:srgbClr val="212121"/>
                </a:solidFill>
                <a:latin typeface="Yu Gothic"/>
                <a:cs typeface="Yu Gothic"/>
              </a:rPr>
              <a:t>VMs</a:t>
            </a:r>
            <a:r>
              <a:rPr sz="1900" spc="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maximum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runtime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24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hours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Other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features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similar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traditional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preemptible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VMs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May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reclaimed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30-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second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notice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always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endParaRPr sz="1900">
              <a:latin typeface="Yu Gothic"/>
              <a:cs typeface="Yu Gothic"/>
            </a:endParaRPr>
          </a:p>
          <a:p>
            <a:pPr marL="346075" marR="1878964">
              <a:lnSpc>
                <a:spcPts val="3020"/>
              </a:lnSpc>
              <a:spcBef>
                <a:spcPts val="40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Dynamic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Pricing: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60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91%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discount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compared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demand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5" dirty="0">
                <a:solidFill>
                  <a:srgbClr val="212121"/>
                </a:solidFill>
                <a:latin typeface="Yu Gothic"/>
                <a:cs typeface="Yu Gothic"/>
              </a:rPr>
              <a:t>VMs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Free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Tier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credits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applicable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56273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5" dirty="0"/>
              <a:t>Spot</a:t>
            </a:r>
            <a:r>
              <a:rPr spc="-254" dirty="0"/>
              <a:t> </a:t>
            </a:r>
            <a:r>
              <a:rPr spc="-55" dirty="0"/>
              <a:t>VMs</a:t>
            </a:r>
          </a:p>
        </p:txBody>
      </p:sp>
      <p:sp>
        <p:nvSpPr>
          <p:cNvPr id="13" name="object 1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144847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1128151"/>
            <a:ext cx="108513" cy="1085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1620633"/>
            <a:ext cx="108513" cy="10851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91463" y="2455349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5840" y="2889402"/>
            <a:ext cx="108513" cy="10851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3815937"/>
            <a:ext cx="108513" cy="108513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291463" y="4224947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91463" y="4633959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4564" y="4938630"/>
            <a:ext cx="75124" cy="751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4564" y="5280864"/>
            <a:ext cx="75124" cy="751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4564" y="5623097"/>
            <a:ext cx="75124" cy="751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70250" y="847657"/>
            <a:ext cx="8740140" cy="493522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600" spc="-2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4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b="1" spc="-90" dirty="0">
                <a:solidFill>
                  <a:srgbClr val="212121"/>
                </a:solidFill>
                <a:latin typeface="Trebuchet MS"/>
                <a:cs typeface="Trebuchet MS"/>
              </a:rPr>
              <a:t>billed</a:t>
            </a:r>
            <a:r>
              <a:rPr sz="2600" b="1" spc="-2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95" dirty="0">
                <a:solidFill>
                  <a:srgbClr val="212121"/>
                </a:solidFill>
                <a:latin typeface="Trebuchet MS"/>
                <a:cs typeface="Trebuchet MS"/>
              </a:rPr>
              <a:t>by</a:t>
            </a:r>
            <a:r>
              <a:rPr sz="2600" b="1" spc="-229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3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600" b="1" spc="-2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10" dirty="0">
                <a:solidFill>
                  <a:srgbClr val="212121"/>
                </a:solidFill>
                <a:latin typeface="Trebuchet MS"/>
                <a:cs typeface="Trebuchet MS"/>
              </a:rPr>
              <a:t>second</a:t>
            </a:r>
            <a:r>
              <a:rPr sz="2600" b="1" spc="-229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spc="-155" dirty="0">
                <a:solidFill>
                  <a:srgbClr val="212121"/>
                </a:solidFill>
                <a:latin typeface="Yu Gothic"/>
                <a:cs typeface="Yu Gothic"/>
              </a:rPr>
              <a:t>(after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4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0" dirty="0">
                <a:solidFill>
                  <a:srgbClr val="212121"/>
                </a:solidFill>
                <a:latin typeface="Yu Gothic"/>
                <a:cs typeface="Yu Gothic"/>
              </a:rPr>
              <a:t>minimum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65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minute)</a:t>
            </a:r>
            <a:endParaRPr sz="26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59"/>
              </a:spcBef>
            </a:pPr>
            <a:r>
              <a:rPr sz="2600" spc="-17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6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6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254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6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20" dirty="0">
                <a:solidFill>
                  <a:srgbClr val="212121"/>
                </a:solidFill>
                <a:latin typeface="Yu Gothic"/>
                <a:cs typeface="Yu Gothic"/>
              </a:rPr>
              <a:t>billed</a:t>
            </a:r>
            <a:r>
              <a:rPr sz="26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7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6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5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6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6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7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6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is 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stopped</a:t>
            </a:r>
            <a:endParaRPr sz="26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However,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5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4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9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50" dirty="0">
                <a:solidFill>
                  <a:srgbClr val="212121"/>
                </a:solidFill>
                <a:latin typeface="Yu Gothic"/>
                <a:cs typeface="Yu Gothic"/>
              </a:rPr>
              <a:t>billed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attached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25" dirty="0">
                <a:solidFill>
                  <a:srgbClr val="212121"/>
                </a:solidFill>
                <a:latin typeface="Yu Gothic"/>
                <a:cs typeface="Yu Gothic"/>
              </a:rPr>
              <a:t>it!</a:t>
            </a:r>
            <a:endParaRPr sz="20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375"/>
              </a:spcBef>
            </a:pPr>
            <a:r>
              <a:rPr sz="2600" spc="-290" dirty="0">
                <a:solidFill>
                  <a:srgbClr val="212121"/>
                </a:solidFill>
                <a:latin typeface="Yu Gothic"/>
                <a:cs typeface="Yu Gothic"/>
              </a:rPr>
              <a:t>(RECOMMENDATION)</a:t>
            </a:r>
            <a:r>
              <a:rPr sz="26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b="1" spc="-35" dirty="0">
                <a:solidFill>
                  <a:srgbClr val="212121"/>
                </a:solidFill>
                <a:latin typeface="Trebuchet MS"/>
                <a:cs typeface="Trebuchet MS"/>
              </a:rPr>
              <a:t>Always</a:t>
            </a:r>
            <a:r>
              <a:rPr sz="2600" b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9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2600" b="1" spc="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25" dirty="0">
                <a:solidFill>
                  <a:srgbClr val="212121"/>
                </a:solidFill>
                <a:latin typeface="Trebuchet MS"/>
                <a:cs typeface="Trebuchet MS"/>
              </a:rPr>
              <a:t>Budget</a:t>
            </a:r>
            <a:r>
              <a:rPr sz="2600" b="1" spc="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35" dirty="0">
                <a:solidFill>
                  <a:srgbClr val="212121"/>
                </a:solidFill>
                <a:latin typeface="Trebuchet MS"/>
                <a:cs typeface="Trebuchet MS"/>
              </a:rPr>
              <a:t>alerts</a:t>
            </a:r>
            <a:r>
              <a:rPr sz="2600" b="1" spc="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6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55" dirty="0">
                <a:solidFill>
                  <a:srgbClr val="212121"/>
                </a:solidFill>
                <a:latin typeface="Yu Gothic"/>
                <a:cs typeface="Yu Gothic"/>
              </a:rPr>
              <a:t>make </a:t>
            </a:r>
            <a:r>
              <a:rPr sz="2600" spc="-18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45" dirty="0">
                <a:solidFill>
                  <a:srgbClr val="212121"/>
                </a:solidFill>
                <a:latin typeface="Yu Gothic"/>
                <a:cs typeface="Yu Gothic"/>
              </a:rPr>
              <a:t>Budget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20" dirty="0">
                <a:solidFill>
                  <a:srgbClr val="212121"/>
                </a:solidFill>
                <a:latin typeface="Yu Gothic"/>
                <a:cs typeface="Yu Gothic"/>
              </a:rPr>
              <a:t>exports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7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35" dirty="0">
                <a:solidFill>
                  <a:srgbClr val="212121"/>
                </a:solidFill>
                <a:latin typeface="Yu Gothic"/>
                <a:cs typeface="Yu Gothic"/>
              </a:rPr>
              <a:t>stay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8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75" dirty="0">
                <a:solidFill>
                  <a:srgbClr val="212121"/>
                </a:solidFill>
                <a:latin typeface="Yu Gothic"/>
                <a:cs typeface="Yu Gothic"/>
              </a:rPr>
              <a:t>top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billing!</a:t>
            </a:r>
            <a:endParaRPr sz="26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600" spc="-17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4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4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65" dirty="0">
                <a:solidFill>
                  <a:srgbClr val="212121"/>
                </a:solidFill>
                <a:latin typeface="Yu Gothic"/>
                <a:cs typeface="Yu Gothic"/>
              </a:rPr>
              <a:t>ways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4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65" dirty="0">
                <a:solidFill>
                  <a:srgbClr val="212121"/>
                </a:solidFill>
                <a:latin typeface="Yu Gothic"/>
                <a:cs typeface="Yu Gothic"/>
              </a:rPr>
              <a:t>save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money?</a:t>
            </a:r>
            <a:endParaRPr sz="26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90"/>
              </a:spcBef>
            </a:pPr>
            <a:r>
              <a:rPr sz="2050" spc="-110" dirty="0">
                <a:solidFill>
                  <a:srgbClr val="212121"/>
                </a:solidFill>
                <a:latin typeface="Yu Gothic"/>
                <a:cs typeface="Yu Gothic"/>
              </a:rPr>
              <a:t>Choose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50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6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9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workload</a:t>
            </a:r>
            <a:endParaRPr sz="20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2050" spc="-16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0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5" dirty="0">
                <a:solidFill>
                  <a:srgbClr val="212121"/>
                </a:solidFill>
                <a:latin typeface="Yu Gothic"/>
                <a:cs typeface="Yu Gothic"/>
              </a:rPr>
              <a:t>aware</a:t>
            </a:r>
            <a:r>
              <a:rPr sz="20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0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0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0" dirty="0">
                <a:solidFill>
                  <a:srgbClr val="212121"/>
                </a:solidFill>
                <a:latin typeface="Yu Gothic"/>
                <a:cs typeface="Yu Gothic"/>
              </a:rPr>
              <a:t>discounts</a:t>
            </a:r>
            <a:r>
              <a:rPr sz="20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available:</a:t>
            </a:r>
            <a:endParaRPr sz="205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75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Sustained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discounts</a:t>
            </a:r>
            <a:endParaRPr sz="165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15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Committed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discounts</a:t>
            </a:r>
            <a:endParaRPr sz="165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15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Discounts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preemptible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6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50" spc="-90" dirty="0"/>
              <a:t>Google</a:t>
            </a:r>
            <a:r>
              <a:rPr sz="3350" spc="-290" dirty="0"/>
              <a:t> </a:t>
            </a:r>
            <a:r>
              <a:rPr sz="3350" spc="-105" dirty="0"/>
              <a:t>Compute</a:t>
            </a:r>
            <a:r>
              <a:rPr sz="3350" spc="-290" dirty="0"/>
              <a:t> </a:t>
            </a:r>
            <a:r>
              <a:rPr sz="3350" spc="-100" dirty="0"/>
              <a:t>Engine</a:t>
            </a:r>
            <a:r>
              <a:rPr sz="3350" spc="-290" dirty="0"/>
              <a:t> </a:t>
            </a:r>
            <a:r>
              <a:rPr sz="3350" spc="-155" dirty="0"/>
              <a:t>-</a:t>
            </a:r>
            <a:r>
              <a:rPr sz="3350" spc="-285" dirty="0"/>
              <a:t> </a:t>
            </a:r>
            <a:r>
              <a:rPr sz="3350" spc="-25" dirty="0"/>
              <a:t>Billing</a:t>
            </a:r>
            <a:endParaRPr sz="3350"/>
          </a:p>
        </p:txBody>
      </p:sp>
      <p:sp>
        <p:nvSpPr>
          <p:cNvPr id="15" name="object 15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883094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54" dirty="0"/>
              <a:t> </a:t>
            </a:r>
            <a:r>
              <a:rPr spc="-90" dirty="0"/>
              <a:t>Engine</a:t>
            </a:r>
            <a:r>
              <a:rPr spc="-254" dirty="0"/>
              <a:t> </a:t>
            </a:r>
            <a:r>
              <a:rPr spc="-285" dirty="0"/>
              <a:t>:</a:t>
            </a:r>
            <a:r>
              <a:rPr spc="-254" dirty="0"/>
              <a:t> </a:t>
            </a:r>
            <a:r>
              <a:rPr spc="-150" dirty="0"/>
              <a:t>Live</a:t>
            </a:r>
            <a:r>
              <a:rPr spc="-254" dirty="0"/>
              <a:t> </a:t>
            </a:r>
            <a:r>
              <a:rPr spc="-80" dirty="0"/>
              <a:t>Migration</a:t>
            </a:r>
            <a:r>
              <a:rPr spc="-250" dirty="0"/>
              <a:t> </a:t>
            </a:r>
            <a:r>
              <a:rPr spc="-200" dirty="0"/>
              <a:t>&amp;</a:t>
            </a:r>
            <a:r>
              <a:rPr spc="-254" dirty="0"/>
              <a:t> </a:t>
            </a:r>
            <a:r>
              <a:rPr spc="-110" dirty="0"/>
              <a:t>Availability</a:t>
            </a:r>
            <a:r>
              <a:rPr spc="-254" dirty="0"/>
              <a:t> </a:t>
            </a:r>
            <a:r>
              <a:rPr spc="-35" dirty="0"/>
              <a:t>Policy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8655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34152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832631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41832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471189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788381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08655" y="51264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70747" y="866705"/>
            <a:ext cx="9741535" cy="4754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keep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running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system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be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updated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(a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software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hardware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update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performed)?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Live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Migration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migrated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endParaRPr sz="1900">
              <a:latin typeface="Yu Gothic"/>
              <a:cs typeface="Yu Gothic"/>
            </a:endParaRPr>
          </a:p>
          <a:p>
            <a:pPr marL="346075" marR="3840479">
              <a:lnSpc>
                <a:spcPct val="129700"/>
              </a:lnSpc>
            </a:pP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attributes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properties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 SUPPORTED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local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SSDs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GPUs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preemptible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Important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host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maintenance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happen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during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periodic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maintenance?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Migrate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(default):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Migrate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4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instance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hardware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Terminate: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Stop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4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75"/>
              </a:spcBef>
            </a:pP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Automatic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restart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Restart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terminated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due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non-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user-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initiated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reasons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(maintenance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event,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hardware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failure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etc.)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144847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1128151"/>
            <a:ext cx="108513" cy="10851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91463" y="1962867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2396919"/>
            <a:ext cx="108513" cy="10851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291463" y="2797583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91463" y="3214941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91463" y="3966186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4564" y="4270857"/>
            <a:ext cx="75124" cy="751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914434"/>
            <a:ext cx="8740140" cy="3515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100"/>
              </a:spcBef>
              <a:tabLst>
                <a:tab pos="935990" algn="l"/>
                <a:tab pos="1502410" algn="l"/>
                <a:tab pos="2218055" algn="l"/>
                <a:tab pos="2784475" algn="l"/>
                <a:tab pos="3772535" algn="l"/>
                <a:tab pos="5534025" algn="l"/>
                <a:tab pos="6162040" algn="l"/>
                <a:tab pos="7448550" algn="l"/>
                <a:tab pos="8113395" algn="l"/>
              </a:tabLst>
            </a:pPr>
            <a:r>
              <a:rPr sz="2600" spc="-2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600" b="1" spc="-20" dirty="0">
                <a:solidFill>
                  <a:srgbClr val="212121"/>
                </a:solidFill>
                <a:latin typeface="Trebuchet MS"/>
                <a:cs typeface="Trebuchet MS"/>
              </a:rPr>
              <a:t>when</a:t>
            </a: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600" b="1" spc="-10" dirty="0">
                <a:solidFill>
                  <a:srgbClr val="212121"/>
                </a:solidFill>
                <a:latin typeface="Trebuchet MS"/>
                <a:cs typeface="Trebuchet MS"/>
              </a:rPr>
              <a:t>predefined</a:t>
            </a: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600" b="1" spc="-25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600" b="1" spc="-10" dirty="0">
                <a:solidFill>
                  <a:srgbClr val="212121"/>
                </a:solidFill>
                <a:latin typeface="Trebuchet MS"/>
                <a:cs typeface="Trebuchet MS"/>
              </a:rPr>
              <a:t>options</a:t>
            </a: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600" b="1" spc="-25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600" b="1" spc="-125" dirty="0">
                <a:solidFill>
                  <a:srgbClr val="212121"/>
                </a:solidFill>
                <a:latin typeface="Trebuchet MS"/>
                <a:cs typeface="Trebuchet MS"/>
              </a:rPr>
              <a:t>NOT </a:t>
            </a:r>
            <a:r>
              <a:rPr sz="26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appropriate</a:t>
            </a:r>
            <a:r>
              <a:rPr sz="2600" b="1" spc="-2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spc="-10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60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8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60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workload?</a:t>
            </a:r>
            <a:endParaRPr sz="26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85"/>
              </a:spcBef>
            </a:pP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6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0" dirty="0">
                <a:solidFill>
                  <a:srgbClr val="212121"/>
                </a:solidFill>
                <a:latin typeface="Yu Gothic"/>
                <a:cs typeface="Yu Gothic"/>
              </a:rPr>
              <a:t>customized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(a </a:t>
            </a:r>
            <a:r>
              <a:rPr sz="2050" b="1" spc="-55" dirty="0">
                <a:solidFill>
                  <a:srgbClr val="212121"/>
                </a:solidFill>
                <a:latin typeface="Trebuchet MS"/>
                <a:cs typeface="Trebuchet MS"/>
              </a:rPr>
              <a:t>Custom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65" dirty="0">
                <a:solidFill>
                  <a:srgbClr val="212121"/>
                </a:solidFill>
                <a:latin typeface="Trebuchet MS"/>
                <a:cs typeface="Trebuchet MS"/>
              </a:rPr>
              <a:t>Machine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0" dirty="0">
                <a:solidFill>
                  <a:srgbClr val="212121"/>
                </a:solidFill>
                <a:latin typeface="Trebuchet MS"/>
                <a:cs typeface="Trebuchet MS"/>
              </a:rPr>
              <a:t>Type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0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600" b="1" spc="-85" dirty="0">
                <a:solidFill>
                  <a:srgbClr val="212121"/>
                </a:solidFill>
                <a:latin typeface="Trebuchet MS"/>
                <a:cs typeface="Trebuchet MS"/>
              </a:rPr>
              <a:t>Custom</a:t>
            </a:r>
            <a:r>
              <a:rPr sz="260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00" dirty="0">
                <a:solidFill>
                  <a:srgbClr val="212121"/>
                </a:solidFill>
                <a:latin typeface="Trebuchet MS"/>
                <a:cs typeface="Trebuchet MS"/>
              </a:rPr>
              <a:t>Machine</a:t>
            </a:r>
            <a:r>
              <a:rPr sz="260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45" dirty="0">
                <a:solidFill>
                  <a:srgbClr val="212121"/>
                </a:solidFill>
                <a:latin typeface="Trebuchet MS"/>
                <a:cs typeface="Trebuchet MS"/>
              </a:rPr>
              <a:t>Type</a:t>
            </a:r>
            <a:r>
              <a:rPr sz="2600" spc="-14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60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b="1" spc="-130" dirty="0">
                <a:solidFill>
                  <a:srgbClr val="212121"/>
                </a:solidFill>
                <a:latin typeface="Trebuchet MS"/>
                <a:cs typeface="Trebuchet MS"/>
              </a:rPr>
              <a:t>Adjust</a:t>
            </a:r>
            <a:r>
              <a:rPr sz="260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spc="-200" dirty="0">
                <a:solidFill>
                  <a:srgbClr val="212121"/>
                </a:solidFill>
                <a:latin typeface="Yu Gothic"/>
                <a:cs typeface="Yu Gothic"/>
              </a:rPr>
              <a:t>vCPUs,</a:t>
            </a:r>
            <a:r>
              <a:rPr sz="260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0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260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60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280" dirty="0">
                <a:solidFill>
                  <a:srgbClr val="212121"/>
                </a:solidFill>
                <a:latin typeface="Yu Gothic"/>
                <a:cs typeface="Yu Gothic"/>
              </a:rPr>
              <a:t>GPUs</a:t>
            </a:r>
            <a:endParaRPr sz="26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0"/>
              </a:spcBef>
            </a:pPr>
            <a:r>
              <a:rPr sz="2050" spc="-110" dirty="0">
                <a:solidFill>
                  <a:srgbClr val="212121"/>
                </a:solidFill>
                <a:latin typeface="Yu Gothic"/>
                <a:cs typeface="Yu Gothic"/>
              </a:rPr>
              <a:t>Choose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between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E2,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N2,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55" dirty="0">
                <a:solidFill>
                  <a:srgbClr val="212121"/>
                </a:solidFill>
                <a:latin typeface="Yu Gothic"/>
                <a:cs typeface="Yu Gothic"/>
              </a:rPr>
              <a:t>N1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endParaRPr sz="20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590"/>
              </a:spcBef>
            </a:pP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a </a:t>
            </a:r>
            <a:r>
              <a:rPr sz="2050" spc="-80" dirty="0">
                <a:solidFill>
                  <a:srgbClr val="212121"/>
                </a:solidFill>
                <a:latin typeface="Yu Gothic"/>
                <a:cs typeface="Yu Gothic"/>
              </a:rPr>
              <a:t>wide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variety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0" dirty="0">
                <a:solidFill>
                  <a:srgbClr val="212121"/>
                </a:solidFill>
                <a:latin typeface="Yu Gothic"/>
                <a:cs typeface="Yu Gothic"/>
              </a:rPr>
              <a:t>Operating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Systems:</a:t>
            </a:r>
            <a:r>
              <a:rPr sz="20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CentOS,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CoreOS,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95" dirty="0">
                <a:solidFill>
                  <a:srgbClr val="212121"/>
                </a:solidFill>
                <a:latin typeface="Yu Gothic"/>
                <a:cs typeface="Yu Gothic"/>
              </a:rPr>
              <a:t>Debian,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40" dirty="0">
                <a:solidFill>
                  <a:srgbClr val="212121"/>
                </a:solidFill>
                <a:latin typeface="Yu Gothic"/>
                <a:cs typeface="Yu Gothic"/>
              </a:rPr>
              <a:t>Red 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Hat,</a:t>
            </a:r>
            <a:r>
              <a:rPr sz="20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Ubuntu,</a:t>
            </a: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0" dirty="0">
                <a:solidFill>
                  <a:srgbClr val="212121"/>
                </a:solidFill>
                <a:latin typeface="Yu Gothic"/>
                <a:cs typeface="Yu Gothic"/>
              </a:rPr>
              <a:t>Windows</a:t>
            </a: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20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5"/>
              </a:spcBef>
            </a:pPr>
            <a:r>
              <a:rPr sz="2050" b="1" spc="-55" dirty="0">
                <a:solidFill>
                  <a:srgbClr val="212121"/>
                </a:solidFill>
                <a:latin typeface="Trebuchet MS"/>
                <a:cs typeface="Trebuchet MS"/>
              </a:rPr>
              <a:t>Billed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00" dirty="0">
                <a:solidFill>
                  <a:srgbClr val="212121"/>
                </a:solidFill>
                <a:latin typeface="Trebuchet MS"/>
                <a:cs typeface="Trebuchet MS"/>
              </a:rPr>
              <a:t>per</a:t>
            </a:r>
            <a:r>
              <a:rPr sz="205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60" dirty="0">
                <a:solidFill>
                  <a:srgbClr val="212121"/>
                </a:solidFill>
                <a:latin typeface="Trebuchet MS"/>
                <a:cs typeface="Trebuchet MS"/>
              </a:rPr>
              <a:t>vCPUs,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65" dirty="0">
                <a:solidFill>
                  <a:srgbClr val="212121"/>
                </a:solidFill>
                <a:latin typeface="Trebuchet MS"/>
                <a:cs typeface="Trebuchet MS"/>
              </a:rPr>
              <a:t>memory</a:t>
            </a:r>
            <a:r>
              <a:rPr sz="205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65" dirty="0">
                <a:solidFill>
                  <a:srgbClr val="212121"/>
                </a:solidFill>
                <a:latin typeface="Trebuchet MS"/>
                <a:cs typeface="Trebuchet MS"/>
              </a:rPr>
              <a:t>provisioned</a:t>
            </a:r>
            <a:r>
              <a:rPr sz="20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0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0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205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70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Example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Hourly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Price: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$0.033174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29" dirty="0">
                <a:solidFill>
                  <a:srgbClr val="212121"/>
                </a:solidFill>
                <a:latin typeface="Yu Gothic"/>
                <a:cs typeface="Yu Gothic"/>
              </a:rPr>
              <a:t>/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30" dirty="0">
                <a:solidFill>
                  <a:srgbClr val="212121"/>
                </a:solidFill>
                <a:latin typeface="Yu Gothic"/>
                <a:cs typeface="Yu Gothic"/>
              </a:rPr>
              <a:t>vCPU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85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$0.004446 </a:t>
            </a:r>
            <a:r>
              <a:rPr sz="1650" spc="-229" dirty="0">
                <a:solidFill>
                  <a:srgbClr val="212121"/>
                </a:solidFill>
                <a:latin typeface="Yu Gothic"/>
                <a:cs typeface="Yu Gothic"/>
              </a:rPr>
              <a:t>/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GB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70250" y="234992"/>
            <a:ext cx="9194165" cy="5416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50" spc="-105" dirty="0"/>
              <a:t>Compute</a:t>
            </a:r>
            <a:r>
              <a:rPr sz="3350" spc="-275" dirty="0"/>
              <a:t> </a:t>
            </a:r>
            <a:r>
              <a:rPr sz="3350" spc="-100" dirty="0"/>
              <a:t>Engine</a:t>
            </a:r>
            <a:r>
              <a:rPr sz="3350" spc="-275" dirty="0"/>
              <a:t> </a:t>
            </a:r>
            <a:r>
              <a:rPr sz="3350" spc="-175" dirty="0"/>
              <a:t>Features:</a:t>
            </a:r>
            <a:r>
              <a:rPr sz="3350" spc="-275" dirty="0"/>
              <a:t> </a:t>
            </a:r>
            <a:r>
              <a:rPr sz="3350" spc="-80" dirty="0"/>
              <a:t>Custom</a:t>
            </a:r>
            <a:r>
              <a:rPr sz="3350" spc="-275" dirty="0"/>
              <a:t> </a:t>
            </a:r>
            <a:r>
              <a:rPr sz="3350" spc="-110" dirty="0"/>
              <a:t>Machine</a:t>
            </a:r>
            <a:r>
              <a:rPr sz="3350" spc="-275" dirty="0"/>
              <a:t> </a:t>
            </a:r>
            <a:r>
              <a:rPr sz="3350" spc="-75" dirty="0"/>
              <a:t>Types</a:t>
            </a:r>
            <a:endParaRPr sz="3350"/>
          </a:p>
        </p:txBody>
      </p:sp>
      <p:sp>
        <p:nvSpPr>
          <p:cNvPr id="12" name="object 12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560" y="1219969"/>
            <a:ext cx="684467" cy="8764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327628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6656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953665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4521272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901068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525164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0250" y="866705"/>
            <a:ext cx="7838440" cy="4563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accelerate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math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intensive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graphics-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intensive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AI/ML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etc?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GPU</a:t>
            </a:r>
            <a:r>
              <a:rPr sz="2350" b="1" spc="-2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machine: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math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intensive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graphics-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intensive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Higher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229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GPU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libraries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(Deep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Learning)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installed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OTHERWISE,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0" dirty="0">
                <a:solidFill>
                  <a:srgbClr val="212121"/>
                </a:solidFill>
                <a:latin typeface="Yu Gothic"/>
                <a:cs typeface="Yu Gothic"/>
              </a:rPr>
              <a:t>GPU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GPU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restriction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s:</a:t>
            </a:r>
            <a:endParaRPr sz="1900">
              <a:latin typeface="Yu Gothic"/>
              <a:cs typeface="Yu Gothic"/>
            </a:endParaRPr>
          </a:p>
          <a:p>
            <a:pPr marL="680085" marR="5080">
              <a:lnSpc>
                <a:spcPts val="1970"/>
              </a:lnSpc>
              <a:spcBef>
                <a:spcPts val="80"/>
              </a:spcBef>
            </a:pPr>
            <a:r>
              <a:rPr sz="1500" b="1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500" b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30" dirty="0">
                <a:solidFill>
                  <a:srgbClr val="212121"/>
                </a:solidFill>
                <a:latin typeface="Trebuchet MS"/>
                <a:cs typeface="Trebuchet MS"/>
              </a:rPr>
              <a:t>supported</a:t>
            </a:r>
            <a:r>
              <a:rPr sz="1500" b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500" b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1500" b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30" dirty="0">
                <a:solidFill>
                  <a:srgbClr val="212121"/>
                </a:solidFill>
                <a:latin typeface="Trebuchet MS"/>
                <a:cs typeface="Trebuchet MS"/>
              </a:rPr>
              <a:t>machine</a:t>
            </a:r>
            <a:r>
              <a:rPr sz="1500" b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types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(For</a:t>
            </a:r>
            <a:r>
              <a:rPr sz="15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example,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 not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15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on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shared-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core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memory-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optimized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types)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10"/>
              </a:spcBef>
            </a:pP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host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maintenance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value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"Terminate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4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instance"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GPUs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Automatic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restart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40" dirty="0"/>
              <a:t> </a:t>
            </a:r>
            <a:r>
              <a:rPr spc="-90" dirty="0"/>
              <a:t>Engine</a:t>
            </a:r>
            <a:r>
              <a:rPr spc="-235" dirty="0"/>
              <a:t> </a:t>
            </a:r>
            <a:r>
              <a:rPr spc="-165" dirty="0"/>
              <a:t>Features:</a:t>
            </a:r>
            <a:r>
              <a:rPr spc="-235" dirty="0"/>
              <a:t> </a:t>
            </a:r>
            <a:r>
              <a:rPr spc="-20" dirty="0"/>
              <a:t>GPUs</a:t>
            </a:r>
          </a:p>
        </p:txBody>
      </p:sp>
      <p:sp>
        <p:nvSpPr>
          <p:cNvPr id="16" name="object 16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156511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5070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924450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27503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65065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5076358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54185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80256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799928"/>
            <a:ext cx="8740140" cy="518033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Associated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Machine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vary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(adjust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vCPUs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memory)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stopped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VM's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filtered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various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properties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Name,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Zone,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Type,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Internal/External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IP,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Network,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Labels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Zonal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(Run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specific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zone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(in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region))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global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(You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needed)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templates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global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(Unless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zonal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templates)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Automatic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Basic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Monitoring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enabled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Default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Metrics: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CPU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utilization,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Network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Bytes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(in/out),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Throughput/IOPS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Utilization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Space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Utilization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agent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needed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0" dirty="0"/>
              <a:t>Virtual</a:t>
            </a:r>
            <a:r>
              <a:rPr spc="-265" dirty="0"/>
              <a:t> </a:t>
            </a:r>
            <a:r>
              <a:rPr spc="-105" dirty="0"/>
              <a:t>Machine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95" dirty="0"/>
              <a:t>Remember</a:t>
            </a:r>
          </a:p>
        </p:txBody>
      </p:sp>
      <p:sp>
        <p:nvSpPr>
          <p:cNvPr id="17" name="object 17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373537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832631"/>
            <a:ext cx="91818" cy="91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684041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856689"/>
            <a:ext cx="8740140" cy="403415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Choose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Zone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Region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on: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Cost,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Regulations,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Needs,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Hardware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Distribute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Choose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right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machine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type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needs: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Play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find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out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GPUs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Math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Graphic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intensive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Reserve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"committed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discounts"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constant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680085" algn="l"/>
                <a:tab pos="2428875" algn="l"/>
                <a:tab pos="3813175" algn="l"/>
                <a:tab pos="4364990" algn="l"/>
                <a:tab pos="6309995" algn="l"/>
                <a:tab pos="7098665" algn="l"/>
                <a:tab pos="7872095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preemptible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fault-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tolerant,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NON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critical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labels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indicate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environment,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team,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business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unit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0" dirty="0"/>
              <a:t>Virtual</a:t>
            </a:r>
            <a:r>
              <a:rPr spc="-260" dirty="0"/>
              <a:t> </a:t>
            </a:r>
            <a:r>
              <a:rPr spc="-105" dirty="0"/>
              <a:t>Machine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80" dirty="0"/>
              <a:t>Best</a:t>
            </a:r>
            <a:r>
              <a:rPr spc="-254" dirty="0"/>
              <a:t> </a:t>
            </a:r>
            <a:r>
              <a:rPr spc="-90" dirty="0"/>
              <a:t>Practices</a:t>
            </a:r>
          </a:p>
        </p:txBody>
      </p:sp>
      <p:sp>
        <p:nvSpPr>
          <p:cNvPr id="14" name="object 14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264316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336936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4362676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481342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553962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45" dirty="0"/>
              <a:t> </a:t>
            </a:r>
            <a:r>
              <a:rPr spc="-90" dirty="0"/>
              <a:t>Engine</a:t>
            </a:r>
            <a:r>
              <a:rPr spc="-240" dirty="0"/>
              <a:t> </a:t>
            </a:r>
            <a:r>
              <a:rPr spc="-70" dirty="0"/>
              <a:t>Scenarios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6370" y="980227"/>
            <a:ext cx="5619750" cy="728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What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pre-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requisites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able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instance?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1008" y="980227"/>
            <a:ext cx="3099435" cy="2724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  <a:p>
            <a:pPr marL="211454" indent="-198755">
              <a:lnSpc>
                <a:spcPct val="100000"/>
              </a:lnSpc>
              <a:spcBef>
                <a:spcPts val="1570"/>
              </a:spcBef>
              <a:buAutoNum type="arabicPeriod"/>
              <a:tabLst>
                <a:tab pos="211454" algn="l"/>
              </a:tabLst>
            </a:pP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1650">
              <a:latin typeface="Yu Gothic"/>
              <a:cs typeface="Yu Gothic"/>
            </a:endParaRPr>
          </a:p>
          <a:p>
            <a:pPr marL="211454" indent="-198755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211454" algn="l"/>
              </a:tabLst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650">
              <a:latin typeface="Yu Gothic"/>
              <a:cs typeface="Yu Gothic"/>
            </a:endParaRPr>
          </a:p>
          <a:p>
            <a:pPr marL="12700" marR="5080" indent="198755">
              <a:lnSpc>
                <a:spcPct val="106200"/>
              </a:lnSpc>
              <a:spcBef>
                <a:spcPts val="65"/>
              </a:spcBef>
              <a:buAutoNum type="arabicPeriod"/>
              <a:tabLst>
                <a:tab pos="211454" algn="l"/>
              </a:tabLst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Engines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APIs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be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enabled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Sole-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tenant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endParaRPr sz="1650">
              <a:latin typeface="Yu Gothic"/>
              <a:cs typeface="Yu Gothic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</a:pPr>
            <a:r>
              <a:rPr sz="1650" spc="-1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85" dirty="0">
                <a:solidFill>
                  <a:srgbClr val="212121"/>
                </a:solidFill>
                <a:latin typeface="Yu Gothic"/>
                <a:cs typeface="Yu Gothic"/>
              </a:rPr>
              <a:t>"VM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Manager"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6370" y="2676704"/>
            <a:ext cx="5983605" cy="319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72870">
              <a:lnSpc>
                <a:spcPct val="109500"/>
              </a:lnSpc>
              <a:spcBef>
                <a:spcPts val="10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dedicated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hardware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compliance,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licensing,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management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needs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07900"/>
              </a:lnSpc>
              <a:spcBef>
                <a:spcPts val="1410"/>
              </a:spcBef>
            </a:pP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have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1000s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automate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OS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patch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management,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OS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inventory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management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OS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configuration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management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(manage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software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installed)</a:t>
            </a:r>
            <a:endParaRPr sz="1650">
              <a:latin typeface="Trebuchet MS"/>
              <a:cs typeface="Trebuchet MS"/>
            </a:endParaRPr>
          </a:p>
          <a:p>
            <a:pPr marL="12700" marR="929640">
              <a:lnSpc>
                <a:spcPct val="179300"/>
              </a:lnSpc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login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install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software 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do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expose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internet</a:t>
            </a:r>
            <a:endParaRPr sz="16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20"/>
              </a:spcBef>
            </a:pP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allow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HTTP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traffic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1008" y="4419257"/>
            <a:ext cx="2540000" cy="1454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6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7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into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1380"/>
              </a:spcBef>
            </a:pP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7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IP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Firewall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28600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Quick</a:t>
            </a:r>
            <a:r>
              <a:rPr spc="-265" dirty="0"/>
              <a:t> </a:t>
            </a:r>
            <a:r>
              <a:rPr spc="-110" dirty="0"/>
              <a:t>Review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603939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063033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914443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4066352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909415"/>
            <a:ext cx="91818" cy="918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70250" y="699762"/>
            <a:ext cx="10042525" cy="480885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endParaRPr sz="2350">
              <a:latin typeface="Trebuchet MS"/>
              <a:cs typeface="Trebuchet MS"/>
            </a:endParaRPr>
          </a:p>
          <a:p>
            <a:pPr marL="313055" marR="5080">
              <a:lnSpc>
                <a:spcPct val="118900"/>
              </a:lnSpc>
              <a:spcBef>
                <a:spcPts val="919"/>
              </a:spcBef>
              <a:tabLst>
                <a:tab pos="1418590" algn="l"/>
                <a:tab pos="2188845" algn="l"/>
                <a:tab pos="2937510" algn="l"/>
                <a:tab pos="3598545" algn="l"/>
                <a:tab pos="4814570" algn="l"/>
                <a:tab pos="5985510" algn="l"/>
                <a:tab pos="6467475" algn="l"/>
                <a:tab pos="7670800" algn="l"/>
                <a:tab pos="8783320" algn="l"/>
              </a:tabLst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operating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system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software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instance? Reduce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boot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improve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security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hardened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.</a:t>
            </a:r>
            <a:endParaRPr sz="2350">
              <a:latin typeface="Yu Gothic"/>
              <a:cs typeface="Yu Gothic"/>
            </a:endParaRPr>
          </a:p>
          <a:p>
            <a:pPr marL="313055">
              <a:lnSpc>
                <a:spcPct val="100000"/>
              </a:lnSpc>
              <a:spcBef>
                <a:spcPts val="795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share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Machine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Types</a:t>
            </a:r>
            <a:endParaRPr sz="2350">
              <a:latin typeface="Trebuchet MS"/>
              <a:cs typeface="Trebuchet MS"/>
            </a:endParaRPr>
          </a:p>
          <a:p>
            <a:pPr marL="313055" marR="5080">
              <a:lnSpc>
                <a:spcPct val="109500"/>
              </a:lnSpc>
              <a:spcBef>
                <a:spcPts val="1185"/>
              </a:spcBef>
            </a:pP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Optimized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combination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compute(CPU,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GPU),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memory,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disk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(storage)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networking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workloads.</a:t>
            </a:r>
            <a:endParaRPr sz="2350">
              <a:latin typeface="Yu Gothic"/>
              <a:cs typeface="Yu Gothic"/>
            </a:endParaRPr>
          </a:p>
          <a:p>
            <a:pPr marL="313055" marR="5080">
              <a:lnSpc>
                <a:spcPct val="109500"/>
              </a:lnSpc>
              <a:spcBef>
                <a:spcPts val="459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own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Custom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Machine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Types</a:t>
            </a:r>
            <a:r>
              <a:rPr sz="235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existing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ones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don't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fit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28600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Quick</a:t>
            </a:r>
            <a:r>
              <a:rPr spc="-265" dirty="0"/>
              <a:t> </a:t>
            </a:r>
            <a:r>
              <a:rPr spc="-110" dirty="0"/>
              <a:t>Review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388572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231635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083046"/>
            <a:ext cx="91818" cy="918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70747" y="799928"/>
            <a:ext cx="9741535" cy="388239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Static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IP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Addresses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Get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constant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Templates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Pre-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configured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templates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simplifying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creation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15" dirty="0">
                <a:solidFill>
                  <a:srgbClr val="212121"/>
                </a:solidFill>
                <a:latin typeface="Yu Gothic"/>
                <a:cs typeface="Yu Gothic"/>
              </a:rPr>
              <a:t>VM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95"/>
              </a:spcBef>
            </a:pP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Sustained</a:t>
            </a:r>
            <a:r>
              <a:rPr sz="23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discounts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Automatic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discounts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for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significant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portion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month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Committed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discounts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year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3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year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reservations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predictable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resource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Preemptible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Short-lived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cheaper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(upto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80%)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non-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time-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critical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fault-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tolerant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0595" y="2417608"/>
            <a:ext cx="2301240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75" dirty="0">
                <a:solidFill>
                  <a:srgbClr val="1BA74A"/>
                </a:solidFill>
              </a:rPr>
              <a:t>Gcloud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633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64733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02295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440314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291725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6423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501792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540189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77752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799928"/>
            <a:ext cx="8740140" cy="5155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67055">
              <a:lnSpc>
                <a:spcPct val="128200"/>
              </a:lnSpc>
              <a:spcBef>
                <a:spcPts val="9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Command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line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interface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interact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Resources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CLI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Gcloud: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Compute Engine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Machines</a:t>
            </a:r>
            <a:endParaRPr sz="1900">
              <a:latin typeface="Yu Gothic"/>
              <a:cs typeface="Yu Gothic"/>
            </a:endParaRPr>
          </a:p>
          <a:p>
            <a:pPr marL="346075" marR="5791200">
              <a:lnSpc>
                <a:spcPts val="3020"/>
              </a:lnSpc>
              <a:spcBef>
                <a:spcPts val="160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Groups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9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...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many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  <a:tabLst>
                <a:tab pos="600075" algn="l"/>
                <a:tab pos="1183640" algn="l"/>
                <a:tab pos="4647565" algn="l"/>
                <a:tab pos="5749925" algn="l"/>
                <a:tab pos="7090409" algn="l"/>
                <a:tab pos="7706359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create/delete/update/read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existing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perform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like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deployments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well!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CLI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tools: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gsutil</a:t>
            </a:r>
            <a:endParaRPr sz="1900">
              <a:latin typeface="Yu Gothic"/>
              <a:cs typeface="Yu Gothic"/>
            </a:endParaRPr>
          </a:p>
          <a:p>
            <a:pPr marL="346075" marR="6375400">
              <a:lnSpc>
                <a:spcPts val="3020"/>
              </a:lnSpc>
              <a:spcBef>
                <a:spcPts val="165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bq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Bigtable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cbt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kubectl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addition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clusters)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20904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Gcloud</a:t>
            </a:r>
          </a:p>
        </p:txBody>
      </p:sp>
      <p:sp>
        <p:nvSpPr>
          <p:cNvPr id="17" name="object 17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407035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Gcloud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10" dirty="0"/>
              <a:t>Getting</a:t>
            </a:r>
            <a:r>
              <a:rPr spc="-250" dirty="0"/>
              <a:t> </a:t>
            </a:r>
            <a:r>
              <a:rPr spc="-70" dirty="0"/>
              <a:t>Started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603939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95452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233848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755847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916103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426668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46423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938630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5326773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699762"/>
            <a:ext cx="9378315" cy="483362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Installation</a:t>
            </a:r>
            <a:endParaRPr sz="2350">
              <a:latin typeface="Trebuchet MS"/>
              <a:cs typeface="Trebuchet MS"/>
            </a:endParaRPr>
          </a:p>
          <a:p>
            <a:pPr marL="313055">
              <a:lnSpc>
                <a:spcPct val="100000"/>
              </a:lnSpc>
              <a:spcBef>
                <a:spcPts val="145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part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5" dirty="0">
                <a:solidFill>
                  <a:srgbClr val="212121"/>
                </a:solidFill>
                <a:latin typeface="Yu Gothic"/>
                <a:cs typeface="Yu Gothic"/>
              </a:rPr>
              <a:t>SDK</a:t>
            </a:r>
            <a:endParaRPr sz="2350">
              <a:latin typeface="Yu Gothic"/>
              <a:cs typeface="Yu Gothic"/>
            </a:endParaRPr>
          </a:p>
          <a:p>
            <a:pPr marL="64706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SDK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requires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Python</a:t>
            </a:r>
            <a:endParaRPr sz="1900">
              <a:latin typeface="Yu Gothic"/>
              <a:cs typeface="Yu Gothic"/>
            </a:endParaRPr>
          </a:p>
          <a:p>
            <a:pPr marL="647065">
              <a:lnSpc>
                <a:spcPct val="100000"/>
              </a:lnSpc>
              <a:spcBef>
                <a:spcPts val="74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Instructions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install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SDK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Gcloud)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b="1" i="1" spc="-90" dirty="0">
                <a:latin typeface="Trebuchet MS"/>
                <a:cs typeface="Trebuchet MS"/>
                <a:hlinkClick r:id="rId5"/>
              </a:rPr>
              <a:t>https://cloud.google.com/sdk/docs/install</a:t>
            </a:r>
            <a:endParaRPr sz="1700">
              <a:latin typeface="Trebuchet MS"/>
              <a:cs typeface="Trebuchet MS"/>
            </a:endParaRPr>
          </a:p>
          <a:p>
            <a:pPr marL="313055">
              <a:lnSpc>
                <a:spcPct val="100000"/>
              </a:lnSpc>
              <a:spcBef>
                <a:spcPts val="690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Shell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Connecting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GCP</a:t>
            </a:r>
            <a:endParaRPr sz="2350">
              <a:latin typeface="Trebuchet MS"/>
              <a:cs typeface="Trebuchet MS"/>
            </a:endParaRPr>
          </a:p>
          <a:p>
            <a:pPr marL="313055">
              <a:lnSpc>
                <a:spcPct val="100000"/>
              </a:lnSpc>
              <a:spcBef>
                <a:spcPts val="1515"/>
              </a:spcBef>
            </a:pP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2350" b="1" spc="8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init</a:t>
            </a:r>
            <a:r>
              <a:rPr sz="2350" b="1" spc="-9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initialize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reinitialize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endParaRPr sz="2350">
              <a:latin typeface="Yu Gothic"/>
              <a:cs typeface="Yu Gothic"/>
            </a:endParaRPr>
          </a:p>
          <a:p>
            <a:pPr marL="64706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Authorize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credentials</a:t>
            </a:r>
            <a:endParaRPr sz="1900">
              <a:latin typeface="Yu Gothic"/>
              <a:cs typeface="Yu Gothic"/>
            </a:endParaRPr>
          </a:p>
          <a:p>
            <a:pPr marL="647065">
              <a:lnSpc>
                <a:spcPct val="100000"/>
              </a:lnSpc>
              <a:spcBef>
                <a:spcPts val="67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1900">
              <a:latin typeface="Yu Gothic"/>
              <a:cs typeface="Yu Gothic"/>
            </a:endParaRPr>
          </a:p>
          <a:p>
            <a:pPr marL="980440">
              <a:lnSpc>
                <a:spcPct val="100000"/>
              </a:lnSpc>
              <a:spcBef>
                <a:spcPts val="22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Includes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current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project,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500">
              <a:latin typeface="Yu Gothic"/>
              <a:cs typeface="Yu Gothic"/>
            </a:endParaRPr>
          </a:p>
          <a:p>
            <a:pPr marL="313055">
              <a:lnSpc>
                <a:spcPct val="100000"/>
              </a:lnSpc>
              <a:spcBef>
                <a:spcPts val="770"/>
              </a:spcBef>
            </a:pP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2350" b="1" spc="6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2350" b="1" spc="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list</a:t>
            </a:r>
            <a:r>
              <a:rPr sz="2350" b="1" spc="-919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lists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properties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0250" y="898425"/>
            <a:ext cx="686689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Sets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specified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property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08157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485086" y="1330713"/>
          <a:ext cx="6577326" cy="1438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2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19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marR="32384" algn="ctr">
                        <a:lnSpc>
                          <a:spcPts val="2135"/>
                        </a:lnSpc>
                      </a:pP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gcloud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config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900" b="1" spc="-2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set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2135"/>
                        </a:lnSpc>
                      </a:pPr>
                      <a:r>
                        <a:rPr sz="1900" b="1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core/project</a:t>
                      </a:r>
                      <a:r>
                        <a:rPr sz="1900" b="1" spc="-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VALUE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R="32384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gcloud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config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spc="-2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set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compute/region</a:t>
                      </a:r>
                      <a:r>
                        <a:rPr sz="1900" b="1" spc="-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VALUE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R="32384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gcloud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config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2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set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compute/zone</a:t>
                      </a:r>
                      <a:r>
                        <a:rPr sz="1900" b="1" spc="-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VALUE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R="32384" algn="ctr">
                        <a:lnSpc>
                          <a:spcPts val="2245"/>
                        </a:lnSpc>
                        <a:spcBef>
                          <a:spcPts val="265"/>
                        </a:spcBef>
                      </a:pP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gcloud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5"/>
                        </a:lnSpc>
                        <a:spcBef>
                          <a:spcPts val="265"/>
                        </a:spcBef>
                      </a:pP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config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5"/>
                        </a:lnSpc>
                        <a:spcBef>
                          <a:spcPts val="265"/>
                        </a:spcBef>
                      </a:pPr>
                      <a:r>
                        <a:rPr sz="1900" b="1" spc="-2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set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2245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core/verbosity</a:t>
                      </a:r>
                      <a:r>
                        <a:rPr sz="1900" b="1" spc="-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VALUE(debug)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2132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25972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031304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3818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377420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415817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462842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788381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308157" y="51347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431113"/>
            <a:ext cx="66777" cy="6677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5819255"/>
            <a:ext cx="91818" cy="76703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70250" y="2809924"/>
            <a:ext cx="8325484" cy="321627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Syntax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2350" b="1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2350" b="1" spc="2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set</a:t>
            </a:r>
            <a:r>
              <a:rPr sz="2350" b="1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SECTION/PROPERTY</a:t>
            </a:r>
            <a:r>
              <a:rPr sz="2350" b="1" spc="2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Courier New"/>
                <a:cs typeface="Courier New"/>
              </a:rPr>
              <a:t>VALUE</a:t>
            </a:r>
            <a:endParaRPr sz="235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10" dirty="0">
                <a:solidFill>
                  <a:srgbClr val="212121"/>
                </a:solidFill>
                <a:latin typeface="Courier New"/>
                <a:cs typeface="Courier New"/>
              </a:rPr>
              <a:t>core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,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compute</a:t>
            </a:r>
            <a:r>
              <a:rPr sz="1900" b="1" spc="-75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SECTIONS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810"/>
              </a:spcBef>
            </a:pPr>
            <a:r>
              <a:rPr sz="1900" b="1" spc="-10" dirty="0">
                <a:solidFill>
                  <a:srgbClr val="212121"/>
                </a:solidFill>
                <a:latin typeface="Courier New"/>
                <a:cs typeface="Courier New"/>
              </a:rPr>
              <a:t>project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Courier New"/>
                <a:cs typeface="Courier New"/>
              </a:rPr>
              <a:t>region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zone</a:t>
            </a:r>
            <a:r>
              <a:rPr sz="1900" b="1" spc="-73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PROPERTIES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Specifying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core</a:t>
            </a:r>
            <a:r>
              <a:rPr sz="1900" b="1" spc="-73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optional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SECTION!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500" b="1" spc="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1500" b="1" spc="6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set</a:t>
            </a:r>
            <a:r>
              <a:rPr sz="1500" b="1" spc="6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project</a:t>
            </a:r>
            <a:r>
              <a:rPr sz="1500" b="1" spc="6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Courier New"/>
                <a:cs typeface="Courier New"/>
              </a:rPr>
              <a:t>VALUE</a:t>
            </a:r>
            <a:endParaRPr sz="1500">
              <a:latin typeface="Courier New"/>
              <a:cs typeface="Courier New"/>
            </a:endParaRPr>
          </a:p>
          <a:p>
            <a:pPr marL="680085">
              <a:lnSpc>
                <a:spcPct val="100000"/>
              </a:lnSpc>
              <a:spcBef>
                <a:spcPts val="760"/>
              </a:spcBef>
            </a:pP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500" b="1" spc="6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1500" b="1" spc="6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set</a:t>
            </a:r>
            <a:r>
              <a:rPr sz="1500" b="1" spc="6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verbosity</a:t>
            </a:r>
            <a:r>
              <a:rPr sz="1500" b="1" spc="6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Courier New"/>
                <a:cs typeface="Courier New"/>
              </a:rPr>
              <a:t>VALUE(debug)</a:t>
            </a:r>
            <a:endParaRPr sz="150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details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900" b="1" spc="2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1900" b="1" spc="2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set</a:t>
            </a:r>
            <a:r>
              <a:rPr sz="1900" b="1" spc="2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--</a:t>
            </a:r>
            <a:r>
              <a:rPr sz="1900" b="1" spc="-20" dirty="0">
                <a:solidFill>
                  <a:srgbClr val="212121"/>
                </a:solidFill>
                <a:latin typeface="Courier New"/>
                <a:cs typeface="Courier New"/>
              </a:rPr>
              <a:t>help</a:t>
            </a:r>
            <a:endParaRPr sz="1900">
              <a:latin typeface="Courier New"/>
              <a:cs typeface="Courier New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Look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AVAILABLE</a:t>
            </a:r>
            <a:r>
              <a:rPr sz="1500" spc="1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PROPERTIES</a:t>
            </a:r>
            <a:r>
              <a:rPr sz="1500" spc="-56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content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Opposite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2350" b="1" spc="3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2350" b="1" spc="2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Courier New"/>
                <a:cs typeface="Courier New"/>
              </a:rPr>
              <a:t>unset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85432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gcloud</a:t>
            </a:r>
            <a:r>
              <a:rPr spc="-250" dirty="0"/>
              <a:t> </a:t>
            </a:r>
            <a:r>
              <a:rPr spc="-105" dirty="0"/>
              <a:t>config</a:t>
            </a:r>
            <a:r>
              <a:rPr spc="-245" dirty="0"/>
              <a:t> </a:t>
            </a:r>
            <a:r>
              <a:rPr spc="-65" dirty="0"/>
              <a:t>set</a:t>
            </a:r>
          </a:p>
        </p:txBody>
      </p:sp>
      <p:sp>
        <p:nvSpPr>
          <p:cNvPr id="21" name="object 21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02539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50" dirty="0"/>
              <a:t> </a:t>
            </a:r>
            <a:r>
              <a:rPr spc="-114" dirty="0"/>
              <a:t>with</a:t>
            </a:r>
            <a:r>
              <a:rPr spc="-245" dirty="0"/>
              <a:t> </a:t>
            </a:r>
            <a:r>
              <a:rPr spc="-75" dirty="0"/>
              <a:t>gcloud</a:t>
            </a:r>
            <a:r>
              <a:rPr spc="-245" dirty="0"/>
              <a:t> </a:t>
            </a:r>
            <a:r>
              <a:rPr spc="-105" dirty="0"/>
              <a:t>config</a:t>
            </a:r>
            <a:r>
              <a:rPr spc="-245" dirty="0"/>
              <a:t> </a:t>
            </a:r>
            <a:r>
              <a:rPr spc="-35" dirty="0"/>
              <a:t>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86415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553856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021297"/>
            <a:ext cx="91818" cy="918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70747" y="799928"/>
            <a:ext cx="7443470" cy="1428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0500"/>
              </a:lnSpc>
              <a:spcBef>
                <a:spcPts val="95"/>
              </a:spcBef>
            </a:pP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set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compute/region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us-</a:t>
            </a:r>
            <a:r>
              <a:rPr sz="2350" spc="-10" dirty="0">
                <a:solidFill>
                  <a:srgbClr val="212121"/>
                </a:solidFill>
                <a:latin typeface="Courier New"/>
                <a:cs typeface="Courier New"/>
              </a:rPr>
              <a:t>east2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set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compute/zone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us-east1-</a:t>
            </a:r>
            <a:r>
              <a:rPr sz="2350" spc="-50" dirty="0">
                <a:solidFill>
                  <a:srgbClr val="212121"/>
                </a:solidFill>
                <a:latin typeface="Courier New"/>
                <a:cs typeface="Courier New"/>
              </a:rPr>
              <a:t>b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Courier New"/>
                <a:cs typeface="Courier New"/>
              </a:rPr>
              <a:t>list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9609" y="2463164"/>
            <a:ext cx="9083040" cy="2922270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 marL="75565" marR="2733040">
              <a:lnSpc>
                <a:spcPts val="1510"/>
              </a:lnSpc>
              <a:spcBef>
                <a:spcPts val="570"/>
              </a:spcBef>
            </a:pPr>
            <a:r>
              <a:rPr sz="1300" dirty="0">
                <a:latin typeface="Courier New"/>
                <a:cs typeface="Courier New"/>
              </a:rPr>
              <a:t>testing@cloudshell:~ (useful-device-303710)$ gcloud config </a:t>
            </a:r>
            <a:r>
              <a:rPr sz="1300" spc="-20" dirty="0">
                <a:latin typeface="Courier New"/>
                <a:cs typeface="Courier New"/>
              </a:rPr>
              <a:t>list </a:t>
            </a:r>
            <a:r>
              <a:rPr sz="1300" spc="-10" dirty="0">
                <a:latin typeface="Courier New"/>
                <a:cs typeface="Courier New"/>
              </a:rPr>
              <a:t>[component_manager]</a:t>
            </a:r>
            <a:endParaRPr sz="1300">
              <a:latin typeface="Courier New"/>
              <a:cs typeface="Courier New"/>
            </a:endParaRPr>
          </a:p>
          <a:p>
            <a:pPr marL="75565" marR="5617210">
              <a:lnSpc>
                <a:spcPts val="1580"/>
              </a:lnSpc>
              <a:spcBef>
                <a:spcPts val="10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disable_update_check </a:t>
            </a:r>
            <a:r>
              <a:rPr sz="1300" dirty="0">
                <a:latin typeface="Courier New"/>
                <a:cs typeface="Courier New"/>
              </a:rPr>
              <a:t>= </a:t>
            </a:r>
            <a:r>
              <a:rPr sz="1300" spc="-20" dirty="0">
                <a:latin typeface="Courier New"/>
                <a:cs typeface="Courier New"/>
              </a:rPr>
              <a:t>True </a:t>
            </a:r>
            <a:r>
              <a:rPr sz="1300" spc="-10" dirty="0">
                <a:latin typeface="Courier New"/>
                <a:cs typeface="Courier New"/>
              </a:rPr>
              <a:t>[compute]</a:t>
            </a:r>
            <a:endParaRPr sz="1300">
              <a:latin typeface="Courier New"/>
              <a:cs typeface="Courier New"/>
            </a:endParaRPr>
          </a:p>
          <a:p>
            <a:pPr marL="75565" marR="5617210">
              <a:lnSpc>
                <a:spcPts val="1510"/>
              </a:lnSpc>
              <a:spcBef>
                <a:spcPts val="55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gce_metadata_read_timeout_sec </a:t>
            </a:r>
            <a:r>
              <a:rPr sz="1300" dirty="0">
                <a:latin typeface="Courier New"/>
                <a:cs typeface="Courier New"/>
              </a:rPr>
              <a:t>= </a:t>
            </a:r>
            <a:r>
              <a:rPr sz="1300" spc="-25" dirty="0">
                <a:latin typeface="Courier New"/>
                <a:cs typeface="Courier New"/>
              </a:rPr>
              <a:t>30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region </a:t>
            </a:r>
            <a:r>
              <a:rPr sz="1300" dirty="0">
                <a:latin typeface="Courier New"/>
                <a:cs typeface="Courier New"/>
              </a:rPr>
              <a:t>= us-</a:t>
            </a:r>
            <a:r>
              <a:rPr sz="1300" spc="-10" dirty="0">
                <a:latin typeface="Courier New"/>
                <a:cs typeface="Courier New"/>
              </a:rPr>
              <a:t>east1</a:t>
            </a:r>
            <a:endParaRPr sz="1300">
              <a:latin typeface="Courier New"/>
              <a:cs typeface="Courier New"/>
            </a:endParaRPr>
          </a:p>
          <a:p>
            <a:pPr marL="75565" marR="7307580">
              <a:lnSpc>
                <a:spcPts val="1580"/>
              </a:lnSpc>
              <a:spcBef>
                <a:spcPts val="10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zone </a:t>
            </a:r>
            <a:r>
              <a:rPr sz="1300" dirty="0">
                <a:latin typeface="Courier New"/>
                <a:cs typeface="Courier New"/>
              </a:rPr>
              <a:t>= us-east1-</a:t>
            </a:r>
            <a:r>
              <a:rPr sz="1300" spc="-50" dirty="0">
                <a:latin typeface="Courier New"/>
                <a:cs typeface="Courier New"/>
              </a:rPr>
              <a:t>b </a:t>
            </a:r>
            <a:r>
              <a:rPr sz="1300" spc="-10" dirty="0">
                <a:latin typeface="Courier New"/>
                <a:cs typeface="Courier New"/>
              </a:rPr>
              <a:t>[core]</a:t>
            </a:r>
            <a:endParaRPr sz="1300">
              <a:latin typeface="Courier New"/>
              <a:cs typeface="Courier New"/>
            </a:endParaRPr>
          </a:p>
          <a:p>
            <a:pPr marL="75565" marR="6014720">
              <a:lnSpc>
                <a:spcPts val="1510"/>
              </a:lnSpc>
              <a:spcBef>
                <a:spcPts val="50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account </a:t>
            </a:r>
            <a:r>
              <a:rPr sz="1300" dirty="0">
                <a:latin typeface="Courier New"/>
                <a:cs typeface="Courier New"/>
              </a:rPr>
              <a:t>= </a:t>
            </a:r>
            <a:r>
              <a:rPr sz="1300" spc="-10" dirty="0">
                <a:latin typeface="Courier New"/>
                <a:cs typeface="Courier New"/>
                <a:hlinkClick r:id="rId4"/>
              </a:rPr>
              <a:t>testing@gmail.com</a:t>
            </a:r>
            <a:r>
              <a:rPr sz="1300" spc="-10" dirty="0"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disable_usage_reporting </a:t>
            </a:r>
            <a:r>
              <a:rPr sz="1300" dirty="0">
                <a:latin typeface="Courier New"/>
                <a:cs typeface="Courier New"/>
              </a:rPr>
              <a:t>= </a:t>
            </a:r>
            <a:r>
              <a:rPr sz="1300" spc="-20" dirty="0">
                <a:latin typeface="Courier New"/>
                <a:cs typeface="Courier New"/>
              </a:rPr>
              <a:t>True</a:t>
            </a:r>
            <a:endParaRPr sz="1300">
              <a:latin typeface="Courier New"/>
              <a:cs typeface="Courier New"/>
            </a:endParaRPr>
          </a:p>
          <a:p>
            <a:pPr marL="75565" marR="6014720">
              <a:lnSpc>
                <a:spcPts val="1580"/>
              </a:lnSpc>
              <a:spcBef>
                <a:spcPts val="15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project </a:t>
            </a:r>
            <a:r>
              <a:rPr sz="1300" dirty="0">
                <a:latin typeface="Courier New"/>
                <a:cs typeface="Courier New"/>
              </a:rPr>
              <a:t>= useful-device-</a:t>
            </a:r>
            <a:r>
              <a:rPr sz="1300" spc="-10" dirty="0">
                <a:latin typeface="Courier New"/>
                <a:cs typeface="Courier New"/>
              </a:rPr>
              <a:t>303710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verbosity </a:t>
            </a:r>
            <a:r>
              <a:rPr sz="1300" dirty="0">
                <a:latin typeface="Courier New"/>
                <a:cs typeface="Courier New"/>
              </a:rPr>
              <a:t>= </a:t>
            </a:r>
            <a:r>
              <a:rPr sz="1300" spc="-20" dirty="0">
                <a:latin typeface="Courier New"/>
                <a:cs typeface="Courier New"/>
              </a:rPr>
              <a:t>info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495"/>
              </a:lnSpc>
            </a:pPr>
            <a:r>
              <a:rPr sz="1300" spc="-10" dirty="0">
                <a:latin typeface="Courier New"/>
                <a:cs typeface="Courier New"/>
              </a:rPr>
              <a:t>[metrics]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35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environment </a:t>
            </a:r>
            <a:r>
              <a:rPr sz="1300" dirty="0">
                <a:latin typeface="Courier New"/>
                <a:cs typeface="Courier New"/>
              </a:rPr>
              <a:t>= </a:t>
            </a:r>
            <a:r>
              <a:rPr sz="1300" spc="-10" dirty="0">
                <a:latin typeface="Courier New"/>
                <a:cs typeface="Courier New"/>
              </a:rPr>
              <a:t>devshell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22132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50960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026013" y="274750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6013" y="3022956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26013" y="329841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70250" y="866705"/>
            <a:ext cx="8740140" cy="2550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9500"/>
              </a:lnSpc>
              <a:spcBef>
                <a:spcPts val="95"/>
              </a:spcBef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Scenario:</a:t>
            </a:r>
            <a:r>
              <a:rPr sz="235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2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working</a:t>
            </a:r>
            <a:r>
              <a:rPr sz="2350" spc="2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2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2350" spc="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2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2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same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machine.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able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execute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using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configurations.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simplify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this?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500" b="1" spc="8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1500" b="1" spc="9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configurations</a:t>
            </a:r>
            <a:r>
              <a:rPr sz="1500" b="1" spc="8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Courier New"/>
                <a:cs typeface="Courier New"/>
              </a:rPr>
              <a:t>create/delete/describe/activate/list</a:t>
            </a:r>
            <a:endParaRPr sz="1500">
              <a:latin typeface="Courier New"/>
              <a:cs typeface="Courier New"/>
            </a:endParaRPr>
          </a:p>
          <a:p>
            <a:pPr marL="1014094">
              <a:lnSpc>
                <a:spcPct val="100000"/>
              </a:lnSpc>
              <a:spcBef>
                <a:spcPts val="275"/>
              </a:spcBef>
            </a:pP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configuration: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200" b="1" spc="4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1200" b="1" spc="4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configurations</a:t>
            </a:r>
            <a:r>
              <a:rPr sz="1200" b="1" spc="4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create</a:t>
            </a:r>
            <a:r>
              <a:rPr sz="1200" b="1" spc="4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spc="-10" dirty="0">
                <a:solidFill>
                  <a:srgbClr val="212121"/>
                </a:solidFill>
                <a:latin typeface="Courier New"/>
                <a:cs typeface="Courier New"/>
              </a:rPr>
              <a:t>NAME(dev)</a:t>
            </a:r>
            <a:endParaRPr sz="1200">
              <a:latin typeface="Courier New"/>
              <a:cs typeface="Courier New"/>
            </a:endParaRPr>
          </a:p>
          <a:p>
            <a:pPr marL="1014094">
              <a:lnSpc>
                <a:spcPct val="100000"/>
              </a:lnSpc>
              <a:spcBef>
                <a:spcPts val="725"/>
              </a:spcBef>
            </a:pP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Activate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configuration: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200" b="1" spc="5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1200" b="1" spc="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configurations</a:t>
            </a:r>
            <a:r>
              <a:rPr sz="1200" b="1" spc="5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activate</a:t>
            </a:r>
            <a:r>
              <a:rPr sz="1200" b="1" spc="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spc="-10" dirty="0">
                <a:solidFill>
                  <a:srgbClr val="212121"/>
                </a:solidFill>
                <a:latin typeface="Courier New"/>
                <a:cs typeface="Courier New"/>
              </a:rPr>
              <a:t>NAME(dev)</a:t>
            </a:r>
            <a:endParaRPr sz="1200">
              <a:latin typeface="Courier New"/>
              <a:cs typeface="Courier New"/>
            </a:endParaRPr>
          </a:p>
          <a:p>
            <a:pPr marL="1014094">
              <a:lnSpc>
                <a:spcPct val="100000"/>
              </a:lnSpc>
              <a:spcBef>
                <a:spcPts val="730"/>
              </a:spcBef>
            </a:pP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Configurations: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200" b="1" spc="4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1200" b="1" spc="4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configurations</a:t>
            </a:r>
            <a:r>
              <a:rPr sz="1200" b="1" spc="4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spc="-20" dirty="0">
                <a:solidFill>
                  <a:srgbClr val="212121"/>
                </a:solidFill>
                <a:latin typeface="Courier New"/>
                <a:cs typeface="Courier New"/>
              </a:rPr>
              <a:t>list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Gcloud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35" dirty="0"/>
              <a:t>Managing</a:t>
            </a:r>
            <a:r>
              <a:rPr spc="-250" dirty="0"/>
              <a:t> </a:t>
            </a:r>
            <a:r>
              <a:rPr spc="-90" dirty="0"/>
              <a:t>Multiple</a:t>
            </a:r>
            <a:r>
              <a:rPr spc="-254" dirty="0"/>
              <a:t> </a:t>
            </a:r>
            <a:r>
              <a:rPr spc="-65" dirty="0"/>
              <a:t>Configurations</a:t>
            </a:r>
          </a:p>
        </p:txBody>
      </p:sp>
      <p:sp>
        <p:nvSpPr>
          <p:cNvPr id="11" name="object 11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gcloud</a:t>
            </a:r>
            <a:r>
              <a:rPr spc="-245" dirty="0"/>
              <a:t> </a:t>
            </a:r>
            <a:r>
              <a:rPr spc="-90" dirty="0"/>
              <a:t>command</a:t>
            </a:r>
            <a:r>
              <a:rPr spc="-245" dirty="0"/>
              <a:t> </a:t>
            </a:r>
            <a:r>
              <a:rPr spc="-135" dirty="0"/>
              <a:t>structure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55" dirty="0"/>
              <a:t>Playing</a:t>
            </a:r>
            <a:r>
              <a:rPr spc="-245" dirty="0"/>
              <a:t> </a:t>
            </a:r>
            <a:r>
              <a:rPr spc="-114" dirty="0"/>
              <a:t>with</a:t>
            </a:r>
            <a:r>
              <a:rPr spc="-240" dirty="0"/>
              <a:t> </a:t>
            </a:r>
            <a:r>
              <a:rPr spc="-60" dirty="0"/>
              <a:t>Services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86415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1724973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0630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359357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269741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985394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3365190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37157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409139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8655" y="447536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08655" y="485098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8655" y="523495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08655" y="56105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70747" y="865036"/>
            <a:ext cx="9667875" cy="492379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2350" b="1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GROUP</a:t>
            </a:r>
            <a:r>
              <a:rPr sz="2350" b="1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SUBGROUP</a:t>
            </a:r>
            <a:r>
              <a:rPr sz="2350" b="1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ACTION</a:t>
            </a:r>
            <a:r>
              <a:rPr sz="2350" b="1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Courier New"/>
                <a:cs typeface="Courier New"/>
              </a:rPr>
              <a:t>...</a:t>
            </a:r>
            <a:endParaRPr sz="235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config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container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dataflow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functions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..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playing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with?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SUBGROUP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instance-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templates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machine-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sub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play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with?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ACTION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stop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describe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...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do?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Examples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instances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endParaRPr sz="1900">
              <a:latin typeface="Yu Gothic"/>
              <a:cs typeface="Yu Gothic"/>
            </a:endParaRPr>
          </a:p>
          <a:p>
            <a:pPr marL="346075" marR="6545580">
              <a:lnSpc>
                <a:spcPts val="3020"/>
              </a:lnSpc>
              <a:spcBef>
                <a:spcPts val="16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list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9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machine-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types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machine-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filter="zone:us-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central1-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b"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machine-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filter="zone:(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us-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central1-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b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europe-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west1-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)"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gcloud</a:t>
            </a:r>
            <a:r>
              <a:rPr spc="-229" dirty="0"/>
              <a:t> </a:t>
            </a:r>
            <a:r>
              <a:rPr spc="-125" dirty="0"/>
              <a:t>compute</a:t>
            </a:r>
            <a:r>
              <a:rPr spc="-225" dirty="0"/>
              <a:t> </a:t>
            </a:r>
            <a:r>
              <a:rPr spc="-110" dirty="0"/>
              <a:t>instances</a:t>
            </a:r>
            <a:r>
              <a:rPr spc="-229" dirty="0"/>
              <a:t> </a:t>
            </a:r>
            <a:r>
              <a:rPr spc="-114" dirty="0"/>
              <a:t>create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1724973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326511" y="195452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26511" y="2221629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85439" y="2413614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41735" y="20867"/>
                </a:moveTo>
                <a:lnTo>
                  <a:pt x="41735" y="23639"/>
                </a:lnTo>
                <a:lnTo>
                  <a:pt x="41209" y="26293"/>
                </a:lnTo>
                <a:lnTo>
                  <a:pt x="23639" y="41735"/>
                </a:lnTo>
                <a:lnTo>
                  <a:pt x="20867" y="41735"/>
                </a:lnTo>
                <a:lnTo>
                  <a:pt x="18096" y="41735"/>
                </a:lnTo>
                <a:lnTo>
                  <a:pt x="0" y="23639"/>
                </a:lnTo>
                <a:lnTo>
                  <a:pt x="0" y="20867"/>
                </a:lnTo>
                <a:lnTo>
                  <a:pt x="0" y="18096"/>
                </a:lnTo>
                <a:lnTo>
                  <a:pt x="18096" y="0"/>
                </a:lnTo>
                <a:lnTo>
                  <a:pt x="20867" y="0"/>
                </a:lnTo>
                <a:lnTo>
                  <a:pt x="23639" y="0"/>
                </a:lnTo>
                <a:lnTo>
                  <a:pt x="41735" y="18096"/>
                </a:lnTo>
                <a:lnTo>
                  <a:pt x="41735" y="20867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26511" y="2647334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26511" y="291444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26511" y="318155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26511" y="3448661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26511" y="3715771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26511" y="398288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26511" y="4249989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26511" y="4517098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26511" y="4784207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71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685439" y="4976192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41735" y="20867"/>
                </a:moveTo>
                <a:lnTo>
                  <a:pt x="41735" y="23630"/>
                </a:lnTo>
                <a:lnTo>
                  <a:pt x="41209" y="26293"/>
                </a:lnTo>
                <a:lnTo>
                  <a:pt x="23639" y="41735"/>
                </a:lnTo>
                <a:lnTo>
                  <a:pt x="20867" y="41735"/>
                </a:lnTo>
                <a:lnTo>
                  <a:pt x="18096" y="41735"/>
                </a:lnTo>
                <a:lnTo>
                  <a:pt x="0" y="23630"/>
                </a:lnTo>
                <a:lnTo>
                  <a:pt x="0" y="20867"/>
                </a:lnTo>
                <a:lnTo>
                  <a:pt x="0" y="18096"/>
                </a:lnTo>
                <a:lnTo>
                  <a:pt x="525" y="15433"/>
                </a:lnTo>
                <a:lnTo>
                  <a:pt x="1585" y="12879"/>
                </a:lnTo>
                <a:lnTo>
                  <a:pt x="2646" y="10325"/>
                </a:lnTo>
                <a:lnTo>
                  <a:pt x="18096" y="0"/>
                </a:lnTo>
                <a:lnTo>
                  <a:pt x="20867" y="0"/>
                </a:lnTo>
                <a:lnTo>
                  <a:pt x="23639" y="0"/>
                </a:lnTo>
                <a:lnTo>
                  <a:pt x="40149" y="12879"/>
                </a:lnTo>
                <a:lnTo>
                  <a:pt x="41209" y="15433"/>
                </a:lnTo>
                <a:lnTo>
                  <a:pt x="41735" y="18096"/>
                </a:lnTo>
                <a:lnTo>
                  <a:pt x="41735" y="20867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685439" y="5201565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41735" y="20867"/>
                </a:moveTo>
                <a:lnTo>
                  <a:pt x="41735" y="23630"/>
                </a:lnTo>
                <a:lnTo>
                  <a:pt x="41209" y="26293"/>
                </a:lnTo>
                <a:lnTo>
                  <a:pt x="23639" y="41735"/>
                </a:lnTo>
                <a:lnTo>
                  <a:pt x="20867" y="41735"/>
                </a:lnTo>
                <a:lnTo>
                  <a:pt x="18096" y="41735"/>
                </a:lnTo>
                <a:lnTo>
                  <a:pt x="0" y="23630"/>
                </a:lnTo>
                <a:lnTo>
                  <a:pt x="0" y="20867"/>
                </a:lnTo>
                <a:lnTo>
                  <a:pt x="0" y="18096"/>
                </a:lnTo>
                <a:lnTo>
                  <a:pt x="525" y="15433"/>
                </a:lnTo>
                <a:lnTo>
                  <a:pt x="1585" y="12879"/>
                </a:lnTo>
                <a:lnTo>
                  <a:pt x="2646" y="10325"/>
                </a:lnTo>
                <a:lnTo>
                  <a:pt x="18096" y="0"/>
                </a:lnTo>
                <a:lnTo>
                  <a:pt x="20867" y="0"/>
                </a:lnTo>
                <a:lnTo>
                  <a:pt x="23639" y="0"/>
                </a:lnTo>
                <a:lnTo>
                  <a:pt x="40149" y="12879"/>
                </a:lnTo>
                <a:lnTo>
                  <a:pt x="41209" y="15433"/>
                </a:lnTo>
                <a:lnTo>
                  <a:pt x="41735" y="18096"/>
                </a:lnTo>
                <a:lnTo>
                  <a:pt x="41735" y="20867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26511" y="544363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26511" y="5702395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470747" y="846255"/>
            <a:ext cx="8146415" cy="49752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900" b="1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compute</a:t>
            </a:r>
            <a:r>
              <a:rPr sz="1900" b="1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instances</a:t>
            </a:r>
            <a:r>
              <a:rPr sz="1900" b="1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create</a:t>
            </a:r>
            <a:r>
              <a:rPr sz="1900" b="1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Courier New"/>
                <a:cs typeface="Courier New"/>
              </a:rPr>
              <a:t>[NAME]</a:t>
            </a:r>
            <a:endParaRPr sz="1900">
              <a:latin typeface="Courier New"/>
              <a:cs typeface="Courier New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Options: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04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machine-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(default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type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95" dirty="0">
                <a:solidFill>
                  <a:srgbClr val="212121"/>
                </a:solidFill>
                <a:latin typeface="Yu Gothic"/>
                <a:cs typeface="Yu Gothic"/>
              </a:rPr>
              <a:t>n1-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standard-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gcloud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machine-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list)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custom-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cpu</a:t>
            </a:r>
            <a:r>
              <a:rPr sz="12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custom-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12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custom-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vm-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type(n1/n2)</a:t>
            </a:r>
            <a:r>
              <a:rPr sz="12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(Custom</a:t>
            </a:r>
            <a:r>
              <a:rPr sz="12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Machine)</a:t>
            </a:r>
            <a:endParaRPr sz="1200">
              <a:latin typeface="Yu Gothic"/>
              <a:cs typeface="Yu Gothic"/>
            </a:endParaRPr>
          </a:p>
          <a:p>
            <a:pPr marL="1348105">
              <a:lnSpc>
                <a:spcPct val="100000"/>
              </a:lnSpc>
              <a:spcBef>
                <a:spcPts val="190"/>
              </a:spcBef>
            </a:pPr>
            <a:r>
              <a:rPr sz="950" spc="-12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950" spc="-55" dirty="0">
                <a:solidFill>
                  <a:srgbClr val="212121"/>
                </a:solidFill>
                <a:latin typeface="Yu Gothic"/>
                <a:cs typeface="Yu Gothic"/>
              </a:rPr>
              <a:t>custom-</a:t>
            </a:r>
            <a:r>
              <a:rPr sz="950" spc="-40" dirty="0">
                <a:solidFill>
                  <a:srgbClr val="212121"/>
                </a:solidFill>
                <a:latin typeface="Yu Gothic"/>
                <a:cs typeface="Yu Gothic"/>
              </a:rPr>
              <a:t>cpu</a:t>
            </a:r>
            <a:r>
              <a:rPr sz="95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55" dirty="0">
                <a:solidFill>
                  <a:srgbClr val="212121"/>
                </a:solidFill>
                <a:latin typeface="Yu Gothic"/>
                <a:cs typeface="Yu Gothic"/>
              </a:rPr>
              <a:t>6</a:t>
            </a:r>
            <a:r>
              <a:rPr sz="9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12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950" spc="-55" dirty="0">
                <a:solidFill>
                  <a:srgbClr val="212121"/>
                </a:solidFill>
                <a:latin typeface="Yu Gothic"/>
                <a:cs typeface="Yu Gothic"/>
              </a:rPr>
              <a:t>custom-</a:t>
            </a:r>
            <a:r>
              <a:rPr sz="950" spc="-25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9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80" dirty="0">
                <a:solidFill>
                  <a:srgbClr val="212121"/>
                </a:solidFill>
                <a:latin typeface="Yu Gothic"/>
                <a:cs typeface="Yu Gothic"/>
              </a:rPr>
              <a:t>3072MB</a:t>
            </a:r>
            <a:r>
              <a:rPr sz="95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12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950" spc="-55" dirty="0">
                <a:solidFill>
                  <a:srgbClr val="212121"/>
                </a:solidFill>
                <a:latin typeface="Yu Gothic"/>
                <a:cs typeface="Yu Gothic"/>
              </a:rPr>
              <a:t>custom-vm-</a:t>
            </a:r>
            <a:r>
              <a:rPr sz="950" spc="-30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9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25" dirty="0">
                <a:solidFill>
                  <a:srgbClr val="212121"/>
                </a:solidFill>
                <a:latin typeface="Yu Gothic"/>
                <a:cs typeface="Yu Gothic"/>
              </a:rPr>
              <a:t>n2</a:t>
            </a:r>
            <a:endParaRPr sz="95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58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or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image-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family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source-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snapshot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source-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template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source-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machine-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(beta)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service-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2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no-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service-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105" dirty="0">
                <a:solidFill>
                  <a:srgbClr val="212121"/>
                </a:solidFill>
                <a:latin typeface="Yu Gothic"/>
                <a:cs typeface="Yu Gothic"/>
              </a:rPr>
              <a:t>zone=us-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central1-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b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tags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(List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tags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firewall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routes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be 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applied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9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instances)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preemptible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restart-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failure(default)</a:t>
            </a:r>
            <a:r>
              <a:rPr sz="12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no-restart-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failure</a:t>
            </a:r>
            <a:r>
              <a:rPr sz="12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maintenance-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policy(MIGRATE(default)/TERMINATE)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boot-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size,</a:t>
            </a:r>
            <a:r>
              <a:rPr sz="12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boot-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2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boot-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auto-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delete(default)</a:t>
            </a:r>
            <a:r>
              <a:rPr sz="12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no-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boot-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auto-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deletion-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protection</a:t>
            </a:r>
            <a:r>
              <a:rPr sz="12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no-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deletion-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protection(default)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metadata/metadata-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from-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1200" spc="4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startup-script/startup-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script-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url</a:t>
            </a:r>
            <a:endParaRPr sz="1200">
              <a:latin typeface="Yu Gothic"/>
              <a:cs typeface="Yu Gothic"/>
            </a:endParaRPr>
          </a:p>
          <a:p>
            <a:pPr marL="1348105">
              <a:lnSpc>
                <a:spcPct val="100000"/>
              </a:lnSpc>
              <a:spcBef>
                <a:spcPts val="190"/>
              </a:spcBef>
            </a:pPr>
            <a:r>
              <a:rPr sz="950" spc="-12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950" spc="-50" dirty="0">
                <a:solidFill>
                  <a:srgbClr val="212121"/>
                </a:solidFill>
                <a:latin typeface="Yu Gothic"/>
                <a:cs typeface="Yu Gothic"/>
              </a:rPr>
              <a:t>metadata-from-</a:t>
            </a:r>
            <a:r>
              <a:rPr sz="950" spc="-35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950" spc="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50" dirty="0">
                <a:solidFill>
                  <a:srgbClr val="212121"/>
                </a:solidFill>
                <a:latin typeface="Yu Gothic"/>
                <a:cs typeface="Yu Gothic"/>
              </a:rPr>
              <a:t>startup-</a:t>
            </a:r>
            <a:r>
              <a:rPr sz="950" spc="-55" dirty="0">
                <a:solidFill>
                  <a:srgbClr val="212121"/>
                </a:solidFill>
                <a:latin typeface="Yu Gothic"/>
                <a:cs typeface="Yu Gothic"/>
              </a:rPr>
              <a:t>script=/local/path/to/script/startup</a:t>
            </a:r>
            <a:r>
              <a:rPr sz="9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7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9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12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950" spc="-40" dirty="0">
                <a:solidFill>
                  <a:srgbClr val="212121"/>
                </a:solidFill>
                <a:latin typeface="Yu Gothic"/>
                <a:cs typeface="Yu Gothic"/>
              </a:rPr>
              <a:t>metadata</a:t>
            </a:r>
            <a:r>
              <a:rPr sz="9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50" dirty="0">
                <a:solidFill>
                  <a:srgbClr val="212121"/>
                </a:solidFill>
                <a:latin typeface="Yu Gothic"/>
                <a:cs typeface="Yu Gothic"/>
              </a:rPr>
              <a:t>startup-script="echo</a:t>
            </a:r>
            <a:r>
              <a:rPr sz="9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20" dirty="0">
                <a:solidFill>
                  <a:srgbClr val="212121"/>
                </a:solidFill>
                <a:latin typeface="Yu Gothic"/>
                <a:cs typeface="Yu Gothic"/>
              </a:rPr>
              <a:t>'hello</a:t>
            </a:r>
            <a:r>
              <a:rPr sz="9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10" dirty="0">
                <a:solidFill>
                  <a:srgbClr val="212121"/>
                </a:solidFill>
                <a:latin typeface="Yu Gothic"/>
                <a:cs typeface="Yu Gothic"/>
              </a:rPr>
              <a:t>world'"</a:t>
            </a:r>
            <a:endParaRPr sz="950">
              <a:latin typeface="Yu Gothic"/>
              <a:cs typeface="Yu Gothic"/>
            </a:endParaRPr>
          </a:p>
          <a:p>
            <a:pPr marL="1348105">
              <a:lnSpc>
                <a:spcPct val="100000"/>
              </a:lnSpc>
              <a:spcBef>
                <a:spcPts val="630"/>
              </a:spcBef>
            </a:pPr>
            <a:r>
              <a:rPr sz="950" spc="-50" dirty="0">
                <a:solidFill>
                  <a:srgbClr val="212121"/>
                </a:solidFill>
                <a:latin typeface="Yu Gothic"/>
                <a:cs typeface="Yu Gothic"/>
              </a:rPr>
              <a:t>shutdown-</a:t>
            </a:r>
            <a:r>
              <a:rPr sz="950" spc="-10" dirty="0">
                <a:solidFill>
                  <a:srgbClr val="212121"/>
                </a:solidFill>
                <a:latin typeface="Yu Gothic"/>
                <a:cs typeface="Yu Gothic"/>
              </a:rPr>
              <a:t>script</a:t>
            </a:r>
            <a:endParaRPr sz="95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5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subnet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network-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tier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30" dirty="0">
                <a:solidFill>
                  <a:srgbClr val="212121"/>
                </a:solidFill>
                <a:latin typeface="Yu Gothic"/>
                <a:cs typeface="Yu Gothic"/>
              </a:rPr>
              <a:t>(PREMIUM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(default),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STANDARD)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59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accelerator="type=nvidia-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tesla-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v100,count=8"</a:t>
            </a:r>
            <a:r>
              <a:rPr sz="1200" spc="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metadata="install-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nvidia-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driver=True"</a:t>
            </a:r>
            <a:r>
              <a:rPr sz="1200" spc="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(GPU)</a:t>
            </a:r>
            <a:endParaRPr sz="1200">
              <a:latin typeface="Yu Gothic"/>
              <a:cs typeface="Yu Gothic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0546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43865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856013"/>
            <a:ext cx="91818" cy="918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70250" y="856689"/>
            <a:ext cx="8740140" cy="25984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Three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Options: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(Centralized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Configuration):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project-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info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add-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metadata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metadata=[google-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compute-default-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region=REGION</a:t>
            </a:r>
            <a:r>
              <a:rPr sz="15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20" dirty="0">
                <a:solidFill>
                  <a:srgbClr val="212121"/>
                </a:solidFill>
                <a:latin typeface="Yu Gothic"/>
                <a:cs typeface="Yu Gothic"/>
              </a:rPr>
              <a:t>|</a:t>
            </a:r>
            <a:r>
              <a:rPr sz="1500" spc="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google-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compute-default-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zone=ZONE]</a:t>
            </a:r>
            <a:endParaRPr sz="1500">
              <a:latin typeface="Yu Gothic"/>
              <a:cs typeface="Yu Gothic"/>
            </a:endParaRPr>
          </a:p>
          <a:p>
            <a:pPr marL="346075" marR="351155">
              <a:lnSpc>
                <a:spcPts val="3020"/>
              </a:lnSpc>
              <a:spcBef>
                <a:spcPts val="175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(Local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configuration):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config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compute/region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REGION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3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(Command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Specific):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command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200"/>
              </a:spcBef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Priority: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3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(if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exists)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overrides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(if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exists)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overrides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62952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54" dirty="0"/>
              <a:t> </a:t>
            </a:r>
            <a:r>
              <a:rPr spc="-95" dirty="0"/>
              <a:t>Instances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25" dirty="0"/>
              <a:t>Default</a:t>
            </a:r>
            <a:r>
              <a:rPr spc="-250" dirty="0"/>
              <a:t> </a:t>
            </a:r>
            <a:r>
              <a:rPr spc="-80" dirty="0"/>
              <a:t>Region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20" dirty="0"/>
              <a:t>Zone</a:t>
            </a:r>
          </a:p>
        </p:txBody>
      </p:sp>
      <p:sp>
        <p:nvSpPr>
          <p:cNvPr id="11" name="object 11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33818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37187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668202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985394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302586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870193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241642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59222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28503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List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125" dirty="0"/>
              <a:t>Describe</a:t>
            </a:r>
            <a:r>
              <a:rPr spc="-250" dirty="0"/>
              <a:t> </a:t>
            </a:r>
            <a:r>
              <a:rPr spc="-40" dirty="0"/>
              <a:t>commands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8740140" cy="460629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Typically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endParaRPr sz="235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254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images/regions/zones/disk-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5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instances/disks/snapshots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endParaRPr sz="150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695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support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few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common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options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filter="zone:VALUE"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sort-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(NAME,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~NAME)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525"/>
              </a:spcBef>
              <a:tabLst>
                <a:tab pos="1415415" algn="l"/>
              </a:tabLst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uri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350" b="1" i="1" spc="-90" dirty="0">
                <a:latin typeface="Trebuchet MS"/>
                <a:cs typeface="Trebuchet MS"/>
                <a:hlinkClick r:id="rId6"/>
              </a:rPr>
              <a:t>https://www.googleapis.com/compute/v1/projects/windows-</a:t>
            </a:r>
            <a:r>
              <a:rPr sz="1350" b="1" i="1" spc="-85" dirty="0">
                <a:latin typeface="Trebuchet MS"/>
                <a:cs typeface="Trebuchet MS"/>
                <a:hlinkClick r:id="rId6"/>
              </a:rPr>
              <a:t>sql-</a:t>
            </a:r>
            <a:r>
              <a:rPr sz="1350" b="1" i="1" spc="-75" dirty="0">
                <a:latin typeface="Trebuchet MS"/>
                <a:cs typeface="Trebuchet MS"/>
                <a:hlinkClick r:id="rId6"/>
              </a:rPr>
              <a:t>cloud/global/images/sql-</a:t>
            </a:r>
            <a:r>
              <a:rPr sz="1350" b="1" i="1" spc="-120" dirty="0">
                <a:latin typeface="Trebuchet MS"/>
                <a:cs typeface="Trebuchet MS"/>
                <a:hlinkClick r:id="rId6"/>
              </a:rPr>
              <a:t>2019-</a:t>
            </a:r>
            <a:r>
              <a:rPr sz="1350" b="1" i="1" spc="-20" dirty="0">
                <a:latin typeface="Trebuchet MS"/>
                <a:cs typeface="Trebuchet MS"/>
                <a:hlinkClick r:id="rId6"/>
              </a:rPr>
              <a:t>web-</a:t>
            </a:r>
            <a:r>
              <a:rPr sz="1350" b="1" i="1" spc="-20" dirty="0">
                <a:latin typeface="Trebuchet MS"/>
                <a:cs typeface="Trebuchet MS"/>
              </a:rPr>
              <a:t> </a:t>
            </a:r>
            <a:r>
              <a:rPr sz="1350" b="1" i="1" spc="-75" dirty="0">
                <a:latin typeface="Trebuchet MS"/>
                <a:cs typeface="Trebuchet MS"/>
                <a:hlinkClick r:id="rId6"/>
              </a:rPr>
              <a:t>windows-</a:t>
            </a:r>
            <a:r>
              <a:rPr sz="1350" b="1" i="1" spc="-120" dirty="0">
                <a:latin typeface="Trebuchet MS"/>
                <a:cs typeface="Trebuchet MS"/>
                <a:hlinkClick r:id="rId6"/>
              </a:rPr>
              <a:t>2019-</a:t>
            </a:r>
            <a:r>
              <a:rPr sz="1350" b="1" i="1" spc="-90" dirty="0">
                <a:latin typeface="Trebuchet MS"/>
                <a:cs typeface="Trebuchet MS"/>
                <a:hlinkClick r:id="rId6"/>
              </a:rPr>
              <a:t>dc-</a:t>
            </a:r>
            <a:r>
              <a:rPr sz="1350" b="1" i="1" spc="-20" dirty="0">
                <a:latin typeface="Trebuchet MS"/>
                <a:cs typeface="Trebuchet MS"/>
                <a:hlinkClick r:id="rId6"/>
              </a:rPr>
              <a:t>v20210112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sort-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85" dirty="0">
                <a:solidFill>
                  <a:srgbClr val="212121"/>
                </a:solidFill>
                <a:latin typeface="Yu Gothic"/>
                <a:cs typeface="Yu Gothic"/>
              </a:rPr>
              <a:t>NAME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filter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"PROJECT:(windows-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cloud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ubuntu-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os-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cloud)"</a:t>
            </a:r>
            <a:endParaRPr sz="1500">
              <a:latin typeface="Yu Gothic"/>
              <a:cs typeface="Yu Gothic"/>
            </a:endParaRPr>
          </a:p>
          <a:p>
            <a:pPr marL="346075" marR="5080" indent="-334010" algn="just">
              <a:lnSpc>
                <a:spcPct val="109400"/>
              </a:lnSpc>
              <a:spcBef>
                <a:spcPts val="370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Typically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describe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describe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resource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describe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ubuntu-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1604-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xenial-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v20210203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ubuntu-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os-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endParaRPr sz="190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68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describe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us-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central1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33818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351010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026013" y="2580557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26013" y="2847666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135643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026013" y="3615605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856689"/>
            <a:ext cx="8740140" cy="28778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Playing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instances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list/start/stop/delete/reset/describe/move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example-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500">
              <a:latin typeface="Yu Gothic"/>
              <a:cs typeface="Yu Gothic"/>
            </a:endParaRPr>
          </a:p>
          <a:p>
            <a:pPr marL="680085" marR="2320290">
              <a:lnSpc>
                <a:spcPct val="138800"/>
              </a:lnSpc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stop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example-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example-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2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example-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09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delete-</a:t>
            </a:r>
            <a:r>
              <a:rPr sz="1200" spc="-125" dirty="0">
                <a:solidFill>
                  <a:srgbClr val="212121"/>
                </a:solidFill>
                <a:latin typeface="Yu Gothic"/>
                <a:cs typeface="Yu Gothic"/>
              </a:rPr>
              <a:t>disks=VALUE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(all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0" dirty="0">
                <a:solidFill>
                  <a:srgbClr val="212121"/>
                </a:solidFill>
                <a:latin typeface="Yu Gothic"/>
                <a:cs typeface="Yu Gothic"/>
              </a:rPr>
              <a:t>boot)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keep-</a:t>
            </a:r>
            <a:r>
              <a:rPr sz="1200" spc="-125" dirty="0">
                <a:solidFill>
                  <a:srgbClr val="212121"/>
                </a:solidFill>
                <a:latin typeface="Yu Gothic"/>
                <a:cs typeface="Yu Gothic"/>
              </a:rPr>
              <a:t>disks=VALUE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(all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0" dirty="0">
                <a:solidFill>
                  <a:srgbClr val="212121"/>
                </a:solidFill>
                <a:latin typeface="Yu Gothic"/>
                <a:cs typeface="Yu Gothic"/>
              </a:rPr>
              <a:t>boot)</a:t>
            </a:r>
            <a:endParaRPr sz="12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455"/>
              </a:spcBef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move</a:t>
            </a:r>
            <a:r>
              <a:rPr sz="15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example-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15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5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us-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central1-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b</a:t>
            </a:r>
            <a:r>
              <a:rPr sz="15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destination-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5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us-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central1-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spc="-95" dirty="0">
                <a:solidFill>
                  <a:srgbClr val="212121"/>
                </a:solidFill>
                <a:latin typeface="Yu Gothic"/>
                <a:cs typeface="Yu Gothic"/>
              </a:rPr>
              <a:t>Move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9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endParaRPr sz="12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45" dirty="0"/>
              <a:t> </a:t>
            </a:r>
            <a:r>
              <a:rPr spc="-114" dirty="0"/>
              <a:t>with</a:t>
            </a:r>
            <a:r>
              <a:rPr spc="-245" dirty="0"/>
              <a:t> </a:t>
            </a:r>
            <a:r>
              <a:rPr spc="-105" dirty="0"/>
              <a:t>Compute</a:t>
            </a:r>
            <a:r>
              <a:rPr spc="-245" dirty="0"/>
              <a:t> </a:t>
            </a:r>
            <a:r>
              <a:rPr spc="-95" dirty="0"/>
              <a:t>Instances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20" dirty="0"/>
              <a:t>gcloud</a:t>
            </a:r>
          </a:p>
        </p:txBody>
      </p:sp>
      <p:sp>
        <p:nvSpPr>
          <p:cNvPr id="14" name="object 14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292580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026013" y="2522127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26013" y="2789236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26013" y="3056345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26013" y="3323454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26013" y="359056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26013" y="385767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26013" y="412478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26013" y="4391891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26013" y="465900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26013" y="4926109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08157" y="523495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522931"/>
            <a:ext cx="66777" cy="6677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70250" y="856689"/>
            <a:ext cx="8740140" cy="505587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compute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templates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create/delete/describe/list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templates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5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TEMPLATE</a:t>
            </a:r>
            <a:endParaRPr sz="1900">
              <a:latin typeface="Yu Gothic"/>
              <a:cs typeface="Yu Gothic"/>
            </a:endParaRPr>
          </a:p>
          <a:p>
            <a:pPr marL="680085" marR="5080">
              <a:lnSpc>
                <a:spcPts val="1970"/>
              </a:lnSpc>
              <a:spcBef>
                <a:spcPts val="85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source-</a:t>
            </a:r>
            <a:r>
              <a:rPr sz="1500" spc="-120" dirty="0">
                <a:solidFill>
                  <a:srgbClr val="212121"/>
                </a:solidFill>
                <a:latin typeface="Yu Gothic"/>
                <a:cs typeface="Yu Gothic"/>
              </a:rPr>
              <a:t>instance=SOURCE_INSTANCE</a:t>
            </a:r>
            <a:r>
              <a:rPr sz="15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source-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5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(Which</a:t>
            </a:r>
            <a:r>
              <a:rPr sz="15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5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template from?)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7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almost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options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500" b="1" spc="1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compute</a:t>
            </a:r>
            <a:r>
              <a:rPr sz="1500" b="1" spc="1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instances</a:t>
            </a:r>
            <a:r>
              <a:rPr sz="1500" b="1" spc="1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create</a:t>
            </a:r>
            <a:r>
              <a:rPr sz="1500" b="1" spc="1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Courier New"/>
                <a:cs typeface="Courier New"/>
              </a:rPr>
              <a:t>[NAME]</a:t>
            </a:r>
            <a:endParaRPr sz="1500">
              <a:latin typeface="Courier New"/>
              <a:cs typeface="Courier New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or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image-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family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source-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snapshot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or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source-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template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service-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2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no-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service-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20" dirty="0">
                <a:solidFill>
                  <a:srgbClr val="212121"/>
                </a:solidFill>
                <a:latin typeface="Yu Gothic"/>
                <a:cs typeface="Yu Gothic"/>
              </a:rPr>
              <a:t>tags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preemptible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restart-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failure(default)</a:t>
            </a:r>
            <a:r>
              <a:rPr sz="12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no-restart-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failure</a:t>
            </a:r>
            <a:r>
              <a:rPr sz="12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maintenance-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policy(MIGRATE(default)/TERMINATE)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boot-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size,</a:t>
            </a:r>
            <a:r>
              <a:rPr sz="12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boot-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2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boot-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auto-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delete(default)</a:t>
            </a:r>
            <a:r>
              <a:rPr sz="12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no-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boot-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auto-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deletion-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protection</a:t>
            </a:r>
            <a:r>
              <a:rPr sz="12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no-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deletion-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protection(default)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metadata/metadata-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from-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1200" spc="4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startup-script/startup-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script-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url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subnet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network-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tier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30" dirty="0">
                <a:solidFill>
                  <a:srgbClr val="212121"/>
                </a:solidFill>
                <a:latin typeface="Yu Gothic"/>
                <a:cs typeface="Yu Gothic"/>
              </a:rPr>
              <a:t>(PREMIUM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(default),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STANDARD)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accelerator="type=nvidia-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tesla-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v100,count=8"</a:t>
            </a:r>
            <a:r>
              <a:rPr sz="1200" spc="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metadata="install-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nvidia-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driver=True"</a:t>
            </a:r>
            <a:r>
              <a:rPr sz="1200" spc="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(GPU)</a:t>
            </a:r>
            <a:endParaRPr sz="12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2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Tempate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900">
              <a:latin typeface="Yu Gothic"/>
              <a:cs typeface="Yu Gothic"/>
            </a:endParaRPr>
          </a:p>
          <a:p>
            <a:pPr marL="680085" marR="5080">
              <a:lnSpc>
                <a:spcPts val="1970"/>
              </a:lnSpc>
              <a:spcBef>
                <a:spcPts val="80"/>
              </a:spcBef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my-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test-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5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sourc</a:t>
            </a:r>
            <a:r>
              <a:rPr sz="15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e-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instance-template=my-instance-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template-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with-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custom-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45" dirty="0"/>
              <a:t> </a:t>
            </a:r>
            <a:r>
              <a:rPr spc="-114" dirty="0"/>
              <a:t>with</a:t>
            </a:r>
            <a:r>
              <a:rPr spc="-245" dirty="0"/>
              <a:t> </a:t>
            </a:r>
            <a:r>
              <a:rPr spc="-105" dirty="0"/>
              <a:t>Instance</a:t>
            </a:r>
            <a:r>
              <a:rPr spc="-245" dirty="0"/>
              <a:t> </a:t>
            </a:r>
            <a:r>
              <a:rPr spc="-100" dirty="0"/>
              <a:t>Templates</a:t>
            </a:r>
          </a:p>
        </p:txBody>
      </p:sp>
      <p:sp>
        <p:nvSpPr>
          <p:cNvPr id="21" name="object 21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3322" y="2417608"/>
            <a:ext cx="5236210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210" dirty="0">
                <a:solidFill>
                  <a:srgbClr val="1BA74A"/>
                </a:solidFill>
              </a:rPr>
              <a:t>Instance</a:t>
            </a:r>
            <a:r>
              <a:rPr sz="5900" spc="-500" dirty="0">
                <a:solidFill>
                  <a:srgbClr val="1BA74A"/>
                </a:solidFill>
              </a:rPr>
              <a:t> </a:t>
            </a:r>
            <a:r>
              <a:rPr sz="5900" spc="-150" dirty="0">
                <a:solidFill>
                  <a:srgbClr val="1BA74A"/>
                </a:solidFill>
              </a:rPr>
              <a:t>Groups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3669" y="1283890"/>
            <a:ext cx="2682706" cy="20620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33818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413614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76419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052172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39023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678209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995401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375196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72577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0250" y="856689"/>
            <a:ext cx="6837045" cy="404685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instances?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35" dirty="0">
                <a:solidFill>
                  <a:srgbClr val="212121"/>
                </a:solidFill>
                <a:latin typeface="Trebuchet MS"/>
                <a:cs typeface="Trebuchet MS"/>
              </a:rPr>
              <a:t>Group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single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entity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b="1" spc="-35" dirty="0">
                <a:solidFill>
                  <a:srgbClr val="212121"/>
                </a:solidFill>
                <a:latin typeface="Trebuchet MS"/>
                <a:cs typeface="Trebuchet MS"/>
              </a:rPr>
              <a:t>Manage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group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similar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10" dirty="0">
                <a:solidFill>
                  <a:srgbClr val="212121"/>
                </a:solidFill>
                <a:latin typeface="Yu Gothic"/>
                <a:cs typeface="Yu Gothic"/>
              </a:rPr>
              <a:t>VMs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having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similar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lifecycle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35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20" dirty="0">
                <a:solidFill>
                  <a:srgbClr val="212121"/>
                </a:solidFill>
                <a:latin typeface="Trebuchet MS"/>
                <a:cs typeface="Trebuchet MS"/>
              </a:rPr>
              <a:t>UNIT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Two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Types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Identical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80" dirty="0">
                <a:solidFill>
                  <a:srgbClr val="212121"/>
                </a:solidFill>
                <a:latin typeface="Yu Gothic"/>
                <a:cs typeface="Yu Gothic"/>
              </a:rPr>
              <a:t>VMs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template: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Features: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scaling,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healing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releases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Unmanaged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80" dirty="0">
                <a:solidFill>
                  <a:srgbClr val="212121"/>
                </a:solidFill>
                <a:latin typeface="Yu Gothic"/>
                <a:cs typeface="Yu Gothic"/>
              </a:rPr>
              <a:t>VMs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group: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offer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scaling,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healing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unless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kinds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VMs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Location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Zonal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gives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higher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Instance</a:t>
            </a:r>
            <a:r>
              <a:rPr spc="-240" dirty="0"/>
              <a:t> </a:t>
            </a:r>
            <a:r>
              <a:rPr spc="-65" dirty="0"/>
              <a:t>Groups</a:t>
            </a:r>
          </a:p>
        </p:txBody>
      </p:sp>
      <p:sp>
        <p:nvSpPr>
          <p:cNvPr id="16" name="object 16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3669" y="1283890"/>
            <a:ext cx="2682706" cy="20620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568036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9060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28171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6656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0413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337634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67569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963671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5531278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70250" y="866705"/>
            <a:ext cx="6837045" cy="5053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374775" algn="l"/>
                <a:tab pos="2653665" algn="l"/>
                <a:tab pos="3634740" algn="l"/>
                <a:tab pos="3910329" algn="l"/>
                <a:tab pos="5191760" algn="l"/>
                <a:tab pos="587248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Group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3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Identical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355" dirty="0">
                <a:solidFill>
                  <a:srgbClr val="212121"/>
                </a:solidFill>
                <a:latin typeface="Yu Gothic"/>
                <a:cs typeface="Yu Gothic"/>
              </a:rPr>
              <a:t>VMs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created using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template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Important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Features: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Maintain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certain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crashes,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MIG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launches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500">
              <a:latin typeface="Yu Gothic"/>
              <a:cs typeface="Yu Gothic"/>
            </a:endParaRPr>
          </a:p>
          <a:p>
            <a:pPr marL="346075" marR="307340">
              <a:lnSpc>
                <a:spcPct val="129700"/>
              </a:lnSpc>
              <a:spcBef>
                <a:spcPts val="15"/>
              </a:spcBef>
            </a:pP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Detect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failures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health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checks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(Self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Healing)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Increase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decrease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(Auto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Scaling)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Load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Balancer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distribute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(regional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MIGs)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0" dirty="0">
                <a:solidFill>
                  <a:srgbClr val="212121"/>
                </a:solidFill>
                <a:latin typeface="Yu Gothic"/>
                <a:cs typeface="Yu Gothic"/>
              </a:rPr>
              <a:t>MIGs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higher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compared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zonal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MIGs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Release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new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versions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without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downtime</a:t>
            </a:r>
            <a:endParaRPr sz="1900">
              <a:latin typeface="Yu Gothic"/>
              <a:cs typeface="Yu Gothic"/>
            </a:endParaRPr>
          </a:p>
          <a:p>
            <a:pPr marL="680085" marR="5080">
              <a:lnSpc>
                <a:spcPts val="1970"/>
              </a:lnSpc>
              <a:spcBef>
                <a:spcPts val="80"/>
              </a:spcBef>
            </a:pPr>
            <a:r>
              <a:rPr sz="1500" b="1" dirty="0">
                <a:solidFill>
                  <a:srgbClr val="212121"/>
                </a:solidFill>
                <a:latin typeface="Trebuchet MS"/>
                <a:cs typeface="Trebuchet MS"/>
              </a:rPr>
              <a:t>Rolling</a:t>
            </a:r>
            <a:r>
              <a:rPr sz="1500" b="1" spc="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updates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Release</a:t>
            </a:r>
            <a:r>
              <a:rPr sz="1500" spc="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500" spc="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step</a:t>
            </a:r>
            <a:r>
              <a:rPr sz="15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step</a:t>
            </a:r>
            <a:r>
              <a:rPr sz="15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(gradually).</a:t>
            </a:r>
            <a:r>
              <a:rPr sz="15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Update</a:t>
            </a:r>
            <a:r>
              <a:rPr sz="1500" spc="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percentage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time.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434"/>
              </a:spcBef>
            </a:pP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Canary</a:t>
            </a:r>
            <a:r>
              <a:rPr sz="1500" b="1" spc="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Test</a:t>
            </a:r>
            <a:r>
              <a:rPr sz="1500" spc="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5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5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before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releasing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across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instances.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32701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5" dirty="0"/>
              <a:t>Managed</a:t>
            </a:r>
            <a:r>
              <a:rPr spc="-245" dirty="0"/>
              <a:t> </a:t>
            </a:r>
            <a:r>
              <a:rPr spc="-105" dirty="0"/>
              <a:t>Instance</a:t>
            </a:r>
            <a:r>
              <a:rPr spc="-240" dirty="0"/>
              <a:t> </a:t>
            </a:r>
            <a:r>
              <a:rPr spc="-95" dirty="0"/>
              <a:t>Groups</a:t>
            </a:r>
            <a:r>
              <a:rPr spc="-245" dirty="0"/>
              <a:t> </a:t>
            </a:r>
            <a:r>
              <a:rPr spc="-20" dirty="0"/>
              <a:t>(MIG)</a:t>
            </a:r>
          </a:p>
        </p:txBody>
      </p:sp>
      <p:sp>
        <p:nvSpPr>
          <p:cNvPr id="17" name="object 17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6635" y="1094762"/>
            <a:ext cx="1669434" cy="66777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56332" y="1987911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54987" y="2597258"/>
            <a:ext cx="1669433" cy="6677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3636473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3953665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2026013" y="418321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44920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0882" y="5226607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70250" y="799928"/>
            <a:ext cx="7838440" cy="463359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template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mandatory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1397000" algn="l"/>
                <a:tab pos="3155950" algn="l"/>
                <a:tab pos="3576320" algn="l"/>
                <a:tab pos="5473700" algn="l"/>
                <a:tab pos="6418580" algn="l"/>
                <a:tab pos="757428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auto-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scaling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adjust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of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load: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Minimum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Maximum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9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Autoscaling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metrics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CPU</a:t>
            </a:r>
            <a:r>
              <a:rPr sz="19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Utilization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target</a:t>
            </a:r>
            <a:r>
              <a:rPr sz="19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9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Balancer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Utilization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target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metric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Stack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Driver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Cool-down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period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How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long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wait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before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looking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metrics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again?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Scale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0" dirty="0">
                <a:solidFill>
                  <a:srgbClr val="212121"/>
                </a:solidFill>
                <a:latin typeface="Trebuchet MS"/>
                <a:cs typeface="Trebuchet MS"/>
              </a:rPr>
              <a:t>Controls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Prevent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sudden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drop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4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b="1" spc="-50" dirty="0">
                <a:solidFill>
                  <a:srgbClr val="212121"/>
                </a:solidFill>
                <a:latin typeface="Trebuchet MS"/>
                <a:cs typeface="Trebuchet MS"/>
              </a:rPr>
              <a:t>Example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Don't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scale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than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10%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3 instances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5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minutes</a:t>
            </a:r>
            <a:endParaRPr sz="12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05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Autohealing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Health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check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Initial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delay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(How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long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should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wait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initialize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before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health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check?)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Demo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66940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Creating</a:t>
            </a:r>
            <a:r>
              <a:rPr spc="-245" dirty="0"/>
              <a:t> </a:t>
            </a:r>
            <a:r>
              <a:rPr spc="-65" dirty="0"/>
              <a:t>Managed</a:t>
            </a:r>
            <a:r>
              <a:rPr spc="-245" dirty="0"/>
              <a:t> </a:t>
            </a:r>
            <a:r>
              <a:rPr spc="-105" dirty="0"/>
              <a:t>Instance</a:t>
            </a:r>
            <a:r>
              <a:rPr spc="-240" dirty="0"/>
              <a:t> </a:t>
            </a:r>
            <a:r>
              <a:rPr spc="-110" dirty="0"/>
              <a:t>Group</a:t>
            </a:r>
            <a:r>
              <a:rPr spc="-245" dirty="0"/>
              <a:t> </a:t>
            </a:r>
            <a:r>
              <a:rPr spc="-10" dirty="0"/>
              <a:t>(MIG)</a:t>
            </a:r>
          </a:p>
        </p:txBody>
      </p:sp>
      <p:sp>
        <p:nvSpPr>
          <p:cNvPr id="17" name="object 17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3669" y="1283890"/>
            <a:ext cx="2682706" cy="20620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08942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4470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743326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026013" y="297287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452835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026013" y="368238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26013" y="3949491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300072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504297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4185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866705"/>
            <a:ext cx="6837045" cy="5046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Rolling</a:t>
            </a:r>
            <a:r>
              <a:rPr sz="2350" b="1" spc="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update</a:t>
            </a:r>
            <a:r>
              <a:rPr sz="2350" b="1" spc="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Gradual</a:t>
            </a:r>
            <a:r>
              <a:rPr sz="235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update</a:t>
            </a:r>
            <a:r>
              <a:rPr sz="235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template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template: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30" dirty="0">
                <a:solidFill>
                  <a:srgbClr val="212121"/>
                </a:solidFill>
                <a:latin typeface="Yu Gothic"/>
                <a:cs typeface="Yu Gothic"/>
              </a:rPr>
              <a:t>(OPTIONAL)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Specify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template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canary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testing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update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done: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update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happen?</a:t>
            </a:r>
            <a:endParaRPr sz="1500">
              <a:latin typeface="Yu Gothic"/>
              <a:cs typeface="Yu Gothic"/>
            </a:endParaRPr>
          </a:p>
          <a:p>
            <a:pPr marL="1014094" marR="5080">
              <a:lnSpc>
                <a:spcPct val="105000"/>
              </a:lnSpc>
              <a:spcBef>
                <a:spcPts val="135"/>
              </a:spcBef>
              <a:tabLst>
                <a:tab pos="1463675" algn="l"/>
                <a:tab pos="1809114" algn="l"/>
                <a:tab pos="2403475" algn="l"/>
                <a:tab pos="3345815" algn="l"/>
                <a:tab pos="4180840" algn="l"/>
                <a:tab pos="4451350" algn="l"/>
                <a:tab pos="4940300" algn="l"/>
                <a:tab pos="5615940" algn="l"/>
                <a:tab pos="6131560" algn="l"/>
                <a:tab pos="6367780" algn="l"/>
              </a:tabLst>
            </a:pP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update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immediately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(Proactive)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200" spc="-2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resized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later(Opportunistic)</a:t>
            </a:r>
            <a:endParaRPr sz="12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25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How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update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happen?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b="1" spc="-40" dirty="0">
                <a:solidFill>
                  <a:srgbClr val="212121"/>
                </a:solidFill>
                <a:latin typeface="Trebuchet MS"/>
                <a:cs typeface="Trebuchet MS"/>
              </a:rPr>
              <a:t>Maximum</a:t>
            </a:r>
            <a:r>
              <a:rPr sz="12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212121"/>
                </a:solidFill>
                <a:latin typeface="Trebuchet MS"/>
                <a:cs typeface="Trebuchet MS"/>
              </a:rPr>
              <a:t>surge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many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are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added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point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time?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b="1" spc="-40" dirty="0">
                <a:solidFill>
                  <a:srgbClr val="212121"/>
                </a:solidFill>
                <a:latin typeface="Trebuchet MS"/>
                <a:cs typeface="Trebuchet MS"/>
              </a:rPr>
              <a:t>Maximum</a:t>
            </a:r>
            <a:r>
              <a:rPr sz="12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212121"/>
                </a:solidFill>
                <a:latin typeface="Trebuchet MS"/>
                <a:cs typeface="Trebuchet MS"/>
              </a:rPr>
              <a:t>unavailable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many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offline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during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the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update?</a:t>
            </a:r>
            <a:endParaRPr sz="12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360"/>
              </a:spcBef>
            </a:pP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Rolling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Restart/replace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Gradual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restart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replace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of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template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replace/restart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existing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5" dirty="0">
                <a:solidFill>
                  <a:srgbClr val="212121"/>
                </a:solidFill>
                <a:latin typeface="Yu Gothic"/>
                <a:cs typeface="Yu Gothic"/>
              </a:rPr>
              <a:t>VMs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9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Maximum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surge,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Maximum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unavailable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you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do?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(Restart/Replace)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08977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Updating</a:t>
            </a:r>
            <a:r>
              <a:rPr spc="-250" dirty="0"/>
              <a:t> </a:t>
            </a:r>
            <a:r>
              <a:rPr spc="-40" dirty="0"/>
              <a:t>a</a:t>
            </a:r>
            <a:r>
              <a:rPr spc="-245" dirty="0"/>
              <a:t> </a:t>
            </a:r>
            <a:r>
              <a:rPr spc="-65" dirty="0"/>
              <a:t>Managed</a:t>
            </a:r>
            <a:r>
              <a:rPr spc="-245" dirty="0"/>
              <a:t> </a:t>
            </a:r>
            <a:r>
              <a:rPr spc="-105" dirty="0"/>
              <a:t>Instance</a:t>
            </a:r>
            <a:r>
              <a:rPr spc="-245" dirty="0"/>
              <a:t> </a:t>
            </a:r>
            <a:r>
              <a:rPr spc="-110" dirty="0"/>
              <a:t>Group</a:t>
            </a:r>
            <a:r>
              <a:rPr spc="-245" dirty="0"/>
              <a:t> </a:t>
            </a:r>
            <a:r>
              <a:rPr spc="-10" dirty="0"/>
              <a:t>(MIG)</a:t>
            </a:r>
          </a:p>
        </p:txBody>
      </p:sp>
      <p:sp>
        <p:nvSpPr>
          <p:cNvPr id="17" name="object 17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24973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026013" y="221328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6013" y="2480391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776715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11477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419447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026013" y="364899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26013" y="391610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26013" y="4174865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471189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48092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113920"/>
            <a:ext cx="66777" cy="66777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2026013" y="5343467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026013" y="5610576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71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70250" y="856689"/>
            <a:ext cx="8740140" cy="487299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instance-groups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group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endParaRPr sz="1900">
              <a:latin typeface="Yu Gothic"/>
              <a:cs typeface="Yu Gothic"/>
            </a:endParaRPr>
          </a:p>
          <a:p>
            <a:pPr marL="680085" marR="5080">
              <a:lnSpc>
                <a:spcPts val="2039"/>
              </a:lnSpc>
              <a:spcBef>
                <a:spcPts val="95"/>
              </a:spcBef>
            </a:pPr>
            <a:r>
              <a:rPr sz="1500" i="1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2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2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2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500" i="1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1500" i="1" spc="2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500" i="1" spc="2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6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500" b="1" i="1" spc="2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500" i="1" dirty="0">
                <a:solidFill>
                  <a:srgbClr val="212121"/>
                </a:solidFill>
                <a:latin typeface="Trebuchet MS"/>
                <a:cs typeface="Trebuchet MS"/>
              </a:rPr>
              <a:t>mig</a:t>
            </a:r>
            <a:r>
              <a:rPr sz="1500" i="1" spc="2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dirty="0">
                <a:solidFill>
                  <a:srgbClr val="212121"/>
                </a:solidFill>
                <a:latin typeface="Trebuchet MS"/>
                <a:cs typeface="Trebuchet MS"/>
              </a:rPr>
              <a:t>zone</a:t>
            </a:r>
            <a:r>
              <a:rPr sz="1500" i="1" spc="2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us-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central1-</a:t>
            </a:r>
            <a:r>
              <a:rPr sz="1500" i="1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500" i="1" spc="2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45" dirty="0">
                <a:solidFill>
                  <a:srgbClr val="212121"/>
                </a:solidFill>
                <a:latin typeface="Trebuchet MS"/>
                <a:cs typeface="Trebuchet MS"/>
              </a:rPr>
              <a:t>template</a:t>
            </a:r>
            <a:r>
              <a:rPr sz="1500" i="1" spc="2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25" dirty="0">
                <a:solidFill>
                  <a:srgbClr val="212121"/>
                </a:solidFill>
                <a:latin typeface="Trebuchet MS"/>
                <a:cs typeface="Trebuchet MS"/>
              </a:rPr>
              <a:t>my- 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template</a:t>
            </a:r>
            <a:r>
              <a:rPr sz="1500" i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size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endParaRPr sz="1500">
              <a:latin typeface="Trebuchet MS"/>
              <a:cs typeface="Trebuchet MS"/>
            </a:endParaRPr>
          </a:p>
          <a:p>
            <a:pPr marL="1014094">
              <a:lnSpc>
                <a:spcPct val="100000"/>
              </a:lnSpc>
              <a:spcBef>
                <a:spcPts val="95"/>
              </a:spcBef>
            </a:pPr>
            <a:r>
              <a:rPr sz="1200" b="1" spc="-5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b="1" spc="-50" dirty="0">
                <a:solidFill>
                  <a:srgbClr val="212121"/>
                </a:solidFill>
                <a:latin typeface="Trebuchet MS"/>
                <a:cs typeface="Trebuchet MS"/>
              </a:rPr>
              <a:t>health-</a:t>
            </a:r>
            <a:r>
              <a:rPr sz="1200" b="1" spc="-114" dirty="0">
                <a:solidFill>
                  <a:srgbClr val="212121"/>
                </a:solidFill>
                <a:latin typeface="Trebuchet MS"/>
                <a:cs typeface="Trebuchet MS"/>
              </a:rPr>
              <a:t>check</a:t>
            </a:r>
            <a:r>
              <a:rPr sz="1200" spc="-114" dirty="0">
                <a:solidFill>
                  <a:srgbClr val="212121"/>
                </a:solidFill>
                <a:latin typeface="Yu Gothic"/>
                <a:cs typeface="Yu Gothic"/>
              </a:rPr>
              <a:t>=HEALTH_CHECK: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decide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healthy?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b="1" spc="-5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b="1" spc="-45" dirty="0">
                <a:solidFill>
                  <a:srgbClr val="212121"/>
                </a:solidFill>
                <a:latin typeface="Trebuchet MS"/>
                <a:cs typeface="Trebuchet MS"/>
              </a:rPr>
              <a:t>initial-</a:t>
            </a:r>
            <a:r>
              <a:rPr sz="1200" b="1" spc="-40" dirty="0">
                <a:solidFill>
                  <a:srgbClr val="212121"/>
                </a:solidFill>
                <a:latin typeface="Trebuchet MS"/>
                <a:cs typeface="Trebuchet MS"/>
              </a:rPr>
              <a:t>delay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much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give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an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start?</a:t>
            </a:r>
            <a:endParaRPr sz="12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0"/>
              </a:spcBef>
            </a:pP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Other</a:t>
            </a:r>
            <a:r>
              <a:rPr sz="15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212121"/>
                </a:solidFill>
                <a:latin typeface="Trebuchet MS"/>
                <a:cs typeface="Trebuchet MS"/>
              </a:rPr>
              <a:t>similar</a:t>
            </a:r>
            <a:r>
              <a:rPr sz="15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commands</a:t>
            </a:r>
            <a:r>
              <a:rPr sz="15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2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45" dirty="0">
                <a:solidFill>
                  <a:srgbClr val="212121"/>
                </a:solidFill>
                <a:latin typeface="Trebuchet MS"/>
                <a:cs typeface="Trebuchet MS"/>
              </a:rPr>
              <a:t>delete/describe/list</a:t>
            </a:r>
            <a:endParaRPr sz="15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Setup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Autoscaling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set-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autoscaling/stop-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autoscaling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2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set-</a:t>
            </a:r>
            <a:r>
              <a:rPr sz="15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autoscaling</a:t>
            </a:r>
            <a:r>
              <a:rPr sz="15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mig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max-</a:t>
            </a:r>
            <a:r>
              <a:rPr sz="1500" b="1" i="1" spc="-45" dirty="0">
                <a:solidFill>
                  <a:srgbClr val="212121"/>
                </a:solidFill>
                <a:latin typeface="Trebuchet MS"/>
                <a:cs typeface="Trebuchet MS"/>
              </a:rPr>
              <a:t>num-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replicas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=10</a:t>
            </a:r>
            <a:endParaRPr sz="1500">
              <a:latin typeface="Trebuchet MS"/>
              <a:cs typeface="Trebuchet MS"/>
            </a:endParaRPr>
          </a:p>
          <a:p>
            <a:pPr marL="1014094">
              <a:lnSpc>
                <a:spcPct val="100000"/>
              </a:lnSpc>
              <a:spcBef>
                <a:spcPts val="204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cool-down-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period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(default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60s):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much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Scaler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wait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after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initiating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autoscaling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action?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scale-based-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cpu</a:t>
            </a:r>
            <a:r>
              <a:rPr sz="1200" spc="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target-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cpu-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utilization</a:t>
            </a:r>
            <a:r>
              <a:rPr sz="1200" spc="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scale-based-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load-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balancing</a:t>
            </a:r>
            <a:r>
              <a:rPr sz="1200" spc="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target-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load-balancing-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utilization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595"/>
              </a:spcBef>
            </a:pPr>
            <a:r>
              <a:rPr sz="1200" b="1" spc="-5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b="1" spc="-40" dirty="0">
                <a:solidFill>
                  <a:srgbClr val="212121"/>
                </a:solidFill>
                <a:latin typeface="Trebuchet MS"/>
                <a:cs typeface="Trebuchet MS"/>
              </a:rPr>
              <a:t>min-</a:t>
            </a:r>
            <a:r>
              <a:rPr sz="1200" b="1" spc="-45" dirty="0">
                <a:solidFill>
                  <a:srgbClr val="212121"/>
                </a:solidFill>
                <a:latin typeface="Trebuchet MS"/>
                <a:cs typeface="Trebuchet MS"/>
              </a:rPr>
              <a:t>num-replicas</a:t>
            </a:r>
            <a:r>
              <a:rPr sz="1200" b="1" spc="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mode</a:t>
            </a:r>
            <a:r>
              <a:rPr sz="12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(off/on(default)/only-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scale-</a:t>
            </a:r>
            <a:r>
              <a:rPr sz="1200" spc="-20" dirty="0">
                <a:solidFill>
                  <a:srgbClr val="212121"/>
                </a:solidFill>
                <a:latin typeface="Yu Gothic"/>
                <a:cs typeface="Yu Gothic"/>
              </a:rPr>
              <a:t>out)</a:t>
            </a:r>
            <a:endParaRPr sz="12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2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stop-</a:t>
            </a:r>
            <a:r>
              <a:rPr sz="15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autoscaling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500" i="1" spc="-25" dirty="0">
                <a:solidFill>
                  <a:srgbClr val="212121"/>
                </a:solidFill>
                <a:latin typeface="Trebuchet MS"/>
                <a:cs typeface="Trebuchet MS"/>
              </a:rPr>
              <a:t>mig</a:t>
            </a:r>
            <a:endParaRPr sz="15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Update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existing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35" dirty="0">
                <a:solidFill>
                  <a:srgbClr val="212121"/>
                </a:solidFill>
                <a:latin typeface="Trebuchet MS"/>
                <a:cs typeface="Trebuchet MS"/>
              </a:rPr>
              <a:t>MIG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policies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(ex: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healing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policies):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2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update</a:t>
            </a:r>
            <a:r>
              <a:rPr sz="1500" b="1" i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500" i="1" spc="-25" dirty="0">
                <a:solidFill>
                  <a:srgbClr val="212121"/>
                </a:solidFill>
                <a:latin typeface="Trebuchet MS"/>
                <a:cs typeface="Trebuchet MS"/>
              </a:rPr>
              <a:t>mig</a:t>
            </a:r>
            <a:endParaRPr sz="1500">
              <a:latin typeface="Trebuchet MS"/>
              <a:cs typeface="Trebuchet MS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initial-delay: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much 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give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start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before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marking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95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unhealthy?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health-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check: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decide 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healthy?</a:t>
            </a:r>
            <a:endParaRPr sz="1200">
              <a:latin typeface="Yu Gothic"/>
              <a:cs typeface="Yu Gothic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934085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50" dirty="0"/>
              <a:t> </a:t>
            </a:r>
            <a:r>
              <a:rPr spc="-114" dirty="0"/>
              <a:t>with</a:t>
            </a:r>
            <a:r>
              <a:rPr spc="-245" dirty="0"/>
              <a:t> </a:t>
            </a:r>
            <a:r>
              <a:rPr spc="-65" dirty="0"/>
              <a:t>Managed</a:t>
            </a:r>
            <a:r>
              <a:rPr spc="-245" dirty="0"/>
              <a:t> </a:t>
            </a:r>
            <a:r>
              <a:rPr spc="-105" dirty="0"/>
              <a:t>Instance</a:t>
            </a:r>
            <a:r>
              <a:rPr spc="-250" dirty="0"/>
              <a:t> </a:t>
            </a:r>
            <a:r>
              <a:rPr spc="-95" dirty="0"/>
              <a:t>Groups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70" dirty="0"/>
              <a:t>Command</a:t>
            </a:r>
            <a:r>
              <a:rPr spc="-250" dirty="0"/>
              <a:t> </a:t>
            </a:r>
            <a:r>
              <a:rPr spc="-20" dirty="0"/>
              <a:t>Line</a:t>
            </a:r>
          </a:p>
        </p:txBody>
      </p:sp>
      <p:sp>
        <p:nvSpPr>
          <p:cNvPr id="21" name="object 21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999490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5" dirty="0"/>
              <a:t>Managed</a:t>
            </a:r>
            <a:r>
              <a:rPr spc="-254" dirty="0"/>
              <a:t> </a:t>
            </a:r>
            <a:r>
              <a:rPr spc="-105" dirty="0"/>
              <a:t>Instance</a:t>
            </a:r>
            <a:r>
              <a:rPr spc="-254" dirty="0"/>
              <a:t> </a:t>
            </a:r>
            <a:r>
              <a:rPr spc="-110" dirty="0"/>
              <a:t>Group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0" dirty="0"/>
              <a:t>Command</a:t>
            </a:r>
            <a:r>
              <a:rPr spc="-250" dirty="0"/>
              <a:t> </a:t>
            </a:r>
            <a:r>
              <a:rPr spc="-145" dirty="0"/>
              <a:t>Line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50" dirty="0"/>
              <a:t>Making</a:t>
            </a:r>
            <a:r>
              <a:rPr spc="-250" dirty="0"/>
              <a:t> </a:t>
            </a:r>
            <a:r>
              <a:rPr spc="-10" dirty="0"/>
              <a:t>Updates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854354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2132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956179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331510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3920276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1756" y="4237468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4617264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608655" y="496784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5581361"/>
            <a:ext cx="66777" cy="6677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470747" y="846255"/>
            <a:ext cx="9741535" cy="51244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Resize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group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i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resize</a:t>
            </a:r>
            <a:r>
              <a:rPr sz="190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mig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size=5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Recreate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or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more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(delete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recreate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instances):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12400"/>
              </a:lnSpc>
              <a:spcBef>
                <a:spcPts val="40"/>
              </a:spcBef>
              <a:tabLst>
                <a:tab pos="1201420" algn="l"/>
                <a:tab pos="2248535" algn="l"/>
                <a:tab pos="4017645" algn="l"/>
                <a:tab pos="5150485" algn="l"/>
                <a:tab pos="7197090" algn="l"/>
                <a:tab pos="8129270" algn="l"/>
              </a:tabLst>
            </a:pP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recreate-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25" dirty="0">
                <a:solidFill>
                  <a:srgbClr val="212121"/>
                </a:solidFill>
                <a:latin typeface="Trebuchet MS"/>
                <a:cs typeface="Trebuchet MS"/>
              </a:rPr>
              <a:t>mig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--instances=my- instance-</a:t>
            </a:r>
            <a:r>
              <a:rPr sz="190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1,my-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900" b="1" i="1" spc="-50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Update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specific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70"/>
              </a:spcBef>
            </a:pPr>
            <a:r>
              <a:rPr sz="1900" i="1" spc="-5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900" i="1" spc="-50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3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update-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900" b="1" i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mig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instances=my-</a:t>
            </a:r>
            <a:r>
              <a:rPr sz="1900" i="1" spc="-50" dirty="0">
                <a:solidFill>
                  <a:srgbClr val="212121"/>
                </a:solidFill>
                <a:latin typeface="Trebuchet MS"/>
                <a:cs typeface="Trebuchet MS"/>
              </a:rPr>
              <a:t>instance-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3,my-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4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(Update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specific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85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group)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minimal-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action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=none(default)/refresh/replace/restart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most-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disruptive-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allowed-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action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=none(default)/refresh/replace/restart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Update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template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60"/>
              </a:lnSpc>
              <a:spcBef>
                <a:spcPts val="115"/>
              </a:spcBef>
              <a:tabLst>
                <a:tab pos="1163320" algn="l"/>
                <a:tab pos="2172335" algn="l"/>
                <a:tab pos="3903345" algn="l"/>
                <a:tab pos="4997450" algn="l"/>
                <a:tab pos="7345045" algn="l"/>
                <a:tab pos="8239125" algn="l"/>
              </a:tabLst>
            </a:pP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set-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template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25" dirty="0">
                <a:solidFill>
                  <a:srgbClr val="212121"/>
                </a:solidFill>
                <a:latin typeface="Trebuchet MS"/>
                <a:cs typeface="Trebuchet MS"/>
              </a:rPr>
              <a:t>mig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template=v2- 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template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5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After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updating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template,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you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trigger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roll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out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template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update-instances,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recreate-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75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rolling-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action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start-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update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995743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5" dirty="0"/>
              <a:t>Managed</a:t>
            </a:r>
            <a:r>
              <a:rPr spc="-250" dirty="0"/>
              <a:t> </a:t>
            </a:r>
            <a:r>
              <a:rPr spc="-105" dirty="0"/>
              <a:t>Instance</a:t>
            </a:r>
            <a:r>
              <a:rPr spc="-250" dirty="0"/>
              <a:t> </a:t>
            </a:r>
            <a:r>
              <a:rPr spc="-95" dirty="0"/>
              <a:t>Groups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70" dirty="0"/>
              <a:t>Command</a:t>
            </a:r>
            <a:r>
              <a:rPr spc="-250" dirty="0"/>
              <a:t> </a:t>
            </a:r>
            <a:r>
              <a:rPr spc="-145" dirty="0"/>
              <a:t>Line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65" dirty="0"/>
              <a:t>Rolling</a:t>
            </a:r>
            <a:r>
              <a:rPr spc="-250" dirty="0"/>
              <a:t> </a:t>
            </a:r>
            <a:r>
              <a:rPr spc="-40" dirty="0"/>
              <a:t>Actions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18960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2501259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84766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3444488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3761680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078872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6673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972018"/>
            <a:ext cx="66777" cy="66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5556320"/>
            <a:ext cx="66777" cy="6677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470747" y="799928"/>
            <a:ext cx="9741535" cy="514604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release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v1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v2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without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downtime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i="1" spc="-6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i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11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2350" i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90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2350" i="1" spc="-75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2350" i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35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2350" i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rolling-</a:t>
            </a:r>
            <a:r>
              <a:rPr sz="235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action</a:t>
            </a:r>
            <a:endParaRPr sz="2350">
              <a:latin typeface="Trebuchet MS"/>
              <a:cs typeface="Trebuchet MS"/>
            </a:endParaRPr>
          </a:p>
          <a:p>
            <a:pPr marL="346075" marR="5080">
              <a:lnSpc>
                <a:spcPct val="106700"/>
              </a:lnSpc>
              <a:spcBef>
                <a:spcPts val="170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Restart(stop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&amp;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start)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i="1" spc="-2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7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19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5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b="1" i="1" spc="-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rolling-</a:t>
            </a:r>
            <a:r>
              <a:rPr sz="1900" b="1" i="1" spc="-95" dirty="0">
                <a:solidFill>
                  <a:srgbClr val="212121"/>
                </a:solidFill>
                <a:latin typeface="Trebuchet MS"/>
                <a:cs typeface="Trebuchet MS"/>
              </a:rPr>
              <a:t>action</a:t>
            </a:r>
            <a:r>
              <a:rPr sz="1900" b="1" i="1" spc="-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restart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25" dirty="0">
                <a:solidFill>
                  <a:srgbClr val="212121"/>
                </a:solidFill>
                <a:latin typeface="Trebuchet MS"/>
                <a:cs typeface="Trebuchet MS"/>
              </a:rPr>
              <a:t>my- mig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max-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surge=5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10%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(Max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updated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time)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Replace(delete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&amp;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recreate)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i="1" spc="-5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i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1900" i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8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b="1" i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rolling-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action</a:t>
            </a:r>
            <a:r>
              <a:rPr sz="1900" b="1" i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70" dirty="0">
                <a:solidFill>
                  <a:srgbClr val="212121"/>
                </a:solidFill>
                <a:latin typeface="Trebuchet MS"/>
                <a:cs typeface="Trebuchet MS"/>
              </a:rPr>
              <a:t>replace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150"/>
              </a:spcBef>
            </a:pP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25" dirty="0">
                <a:solidFill>
                  <a:srgbClr val="212121"/>
                </a:solidFill>
                <a:latin typeface="Trebuchet MS"/>
                <a:cs typeface="Trebuchet MS"/>
              </a:rPr>
              <a:t>mig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max-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surge=5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10%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(Max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updated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time)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max-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unavailable=5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10%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(Max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update)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525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replacement-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method=recreate/substitute</a:t>
            </a:r>
            <a:r>
              <a:rPr sz="15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(substitute</a:t>
            </a:r>
            <a:r>
              <a:rPr sz="15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(default)</a:t>
            </a:r>
            <a:r>
              <a:rPr sz="1500" spc="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creates</a:t>
            </a:r>
            <a:r>
              <a:rPr sz="15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names.</a:t>
            </a:r>
            <a:r>
              <a:rPr sz="1500" spc="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recreate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reuses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names)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Updates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template:</a:t>
            </a:r>
            <a:endParaRPr sz="1900">
              <a:latin typeface="Yu Gothic"/>
              <a:cs typeface="Yu Gothic"/>
            </a:endParaRPr>
          </a:p>
          <a:p>
            <a:pPr marL="680085" marR="5080">
              <a:lnSpc>
                <a:spcPct val="113199"/>
              </a:lnSpc>
              <a:spcBef>
                <a:spcPts val="50"/>
              </a:spcBef>
            </a:pPr>
            <a:r>
              <a:rPr sz="1500" b="1" dirty="0">
                <a:solidFill>
                  <a:srgbClr val="212121"/>
                </a:solidFill>
                <a:latin typeface="Trebuchet MS"/>
                <a:cs typeface="Trebuchet MS"/>
              </a:rPr>
              <a:t>Basic</a:t>
            </a:r>
            <a:r>
              <a:rPr sz="1500" b="1" spc="-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Version</a:t>
            </a:r>
            <a:r>
              <a:rPr sz="1500" b="1" spc="-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(Update</a:t>
            </a:r>
            <a:r>
              <a:rPr sz="15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slowly</a:t>
            </a:r>
            <a:r>
              <a:rPr sz="15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step</a:t>
            </a:r>
            <a:r>
              <a:rPr sz="15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step)</a:t>
            </a:r>
            <a:r>
              <a:rPr sz="15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i="1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-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500" i="1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1500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500" i="1" spc="-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30" dirty="0">
                <a:solidFill>
                  <a:srgbClr val="212121"/>
                </a:solidFill>
                <a:latin typeface="Trebuchet MS"/>
                <a:cs typeface="Trebuchet MS"/>
              </a:rPr>
              <a:t>rolling- 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action</a:t>
            </a:r>
            <a:r>
              <a:rPr sz="1500" b="1" i="1" spc="-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start-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update</a:t>
            </a:r>
            <a:r>
              <a:rPr sz="1500" b="1" i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mig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version=template=v1-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template</a:t>
            </a:r>
            <a:endParaRPr sz="1500">
              <a:latin typeface="Trebuchet MS"/>
              <a:cs typeface="Trebuchet MS"/>
            </a:endParaRPr>
          </a:p>
          <a:p>
            <a:pPr marL="680085" marR="5080">
              <a:lnSpc>
                <a:spcPct val="109500"/>
              </a:lnSpc>
              <a:spcBef>
                <a:spcPts val="590"/>
              </a:spcBef>
            </a:pP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Canary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Version</a:t>
            </a:r>
            <a:r>
              <a:rPr sz="1500" b="1" spc="-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(Update</a:t>
            </a:r>
            <a:r>
              <a:rPr sz="15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subset</a:t>
            </a:r>
            <a:r>
              <a:rPr sz="15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 to</a:t>
            </a:r>
            <a:r>
              <a:rPr sz="15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v2)</a:t>
            </a:r>
            <a:r>
              <a:rPr sz="15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8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i="1" spc="-2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500" i="1" spc="-20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1500" i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80" dirty="0">
                <a:solidFill>
                  <a:srgbClr val="212121"/>
                </a:solidFill>
                <a:latin typeface="Trebuchet MS"/>
                <a:cs typeface="Trebuchet MS"/>
              </a:rPr>
              <a:t>rolling-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action </a:t>
            </a:r>
            <a:r>
              <a:rPr sz="15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start-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update</a:t>
            </a:r>
            <a:r>
              <a:rPr sz="1500" b="1" i="1" spc="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mig</a:t>
            </a:r>
            <a:r>
              <a:rPr sz="1500" i="1" spc="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version=template=v1-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template</a:t>
            </a:r>
            <a:r>
              <a:rPr sz="1500" i="1" spc="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canary-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version=template=v2-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template,target-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size=10%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171546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91444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0250" y="846255"/>
            <a:ext cx="8740140" cy="256349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346075" marR="5080" indent="-334010" algn="just">
              <a:lnSpc>
                <a:spcPct val="109100"/>
              </a:lnSpc>
              <a:spcBef>
                <a:spcPts val="270"/>
              </a:spcBef>
            </a:pP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ensure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healthy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time: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i="1" spc="-5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2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i="1" spc="2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900" i="1" spc="-55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1900" i="1" spc="2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35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i="1" spc="3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set-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autoscaling</a:t>
            </a:r>
            <a:r>
              <a:rPr sz="1900" b="1" i="1" spc="3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group</a:t>
            </a:r>
            <a:r>
              <a:rPr sz="1900" i="1" spc="2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max-</a:t>
            </a:r>
            <a:r>
              <a:rPr sz="1900" i="1" spc="-85" dirty="0">
                <a:solidFill>
                  <a:srgbClr val="212121"/>
                </a:solidFill>
                <a:latin typeface="Trebuchet MS"/>
                <a:cs typeface="Trebuchet MS"/>
              </a:rPr>
              <a:t>num-</a:t>
            </a:r>
            <a:r>
              <a:rPr sz="19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replicas=1</a:t>
            </a:r>
            <a:r>
              <a:rPr sz="1900" i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min-</a:t>
            </a:r>
            <a:r>
              <a:rPr sz="1900" i="1" spc="-85" dirty="0">
                <a:solidFill>
                  <a:srgbClr val="212121"/>
                </a:solidFill>
                <a:latin typeface="Trebuchet MS"/>
                <a:cs typeface="Trebuchet MS"/>
              </a:rPr>
              <a:t>num-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replicas=1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484"/>
              </a:spcBef>
            </a:pP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make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release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with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reduction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number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instances.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update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time: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0"/>
              </a:spcBef>
            </a:pPr>
            <a:r>
              <a:rPr sz="1900" i="1" spc="-2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8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i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instance-</a:t>
            </a:r>
            <a:r>
              <a:rPr sz="1900" i="1" spc="-20" dirty="0">
                <a:solidFill>
                  <a:srgbClr val="212121"/>
                </a:solidFill>
                <a:latin typeface="Trebuchet MS"/>
                <a:cs typeface="Trebuchet MS"/>
              </a:rPr>
              <a:t>groups</a:t>
            </a:r>
            <a:r>
              <a:rPr sz="1900" i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i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rolling-</a:t>
            </a:r>
            <a:r>
              <a:rPr sz="1900" b="1" i="1" spc="-100" dirty="0">
                <a:solidFill>
                  <a:srgbClr val="212121"/>
                </a:solidFill>
                <a:latin typeface="Trebuchet MS"/>
                <a:cs typeface="Trebuchet MS"/>
              </a:rPr>
              <a:t>action</a:t>
            </a:r>
            <a:r>
              <a:rPr sz="1900" b="1" i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start-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update</a:t>
            </a:r>
            <a:r>
              <a:rPr sz="1900" b="1" i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20" dirty="0">
                <a:solidFill>
                  <a:srgbClr val="212121"/>
                </a:solidFill>
                <a:latin typeface="Trebuchet MS"/>
                <a:cs typeface="Trebuchet MS"/>
              </a:rPr>
              <a:t>group</a:t>
            </a:r>
            <a:r>
              <a:rPr sz="1900" i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900" i="1" spc="-50" dirty="0">
                <a:solidFill>
                  <a:srgbClr val="212121"/>
                </a:solidFill>
                <a:latin typeface="Trebuchet MS"/>
                <a:cs typeface="Trebuchet MS"/>
              </a:rPr>
              <a:t>- 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version=template=my-</a:t>
            </a:r>
            <a:r>
              <a:rPr sz="1900" i="1" spc="-114" dirty="0">
                <a:solidFill>
                  <a:srgbClr val="212121"/>
                </a:solidFill>
                <a:latin typeface="Trebuchet MS"/>
                <a:cs typeface="Trebuchet MS"/>
              </a:rPr>
              <a:t>v1-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template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max-</a:t>
            </a:r>
            <a:r>
              <a:rPr sz="1900" i="1" spc="-70" dirty="0">
                <a:solidFill>
                  <a:srgbClr val="212121"/>
                </a:solidFill>
                <a:latin typeface="Trebuchet MS"/>
                <a:cs typeface="Trebuchet MS"/>
              </a:rPr>
              <a:t>surge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max-</a:t>
            </a:r>
            <a:r>
              <a:rPr sz="1900" i="1" spc="-80" dirty="0">
                <a:solidFill>
                  <a:srgbClr val="212121"/>
                </a:solidFill>
                <a:latin typeface="Trebuchet MS"/>
                <a:cs typeface="Trebuchet MS"/>
              </a:rPr>
              <a:t>unavailable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50" dirty="0">
                <a:solidFill>
                  <a:srgbClr val="212121"/>
                </a:solidFill>
                <a:latin typeface="Trebuchet MS"/>
                <a:cs typeface="Trebuchet MS"/>
              </a:rPr>
              <a:t>0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50" dirty="0"/>
              <a:t> </a:t>
            </a:r>
            <a:r>
              <a:rPr spc="-114" dirty="0"/>
              <a:t>with</a:t>
            </a:r>
            <a:r>
              <a:rPr spc="-250" dirty="0"/>
              <a:t> </a:t>
            </a:r>
            <a:r>
              <a:rPr spc="-65" dirty="0"/>
              <a:t>Managed</a:t>
            </a:r>
            <a:r>
              <a:rPr spc="-250" dirty="0"/>
              <a:t> </a:t>
            </a:r>
            <a:r>
              <a:rPr spc="-105" dirty="0"/>
              <a:t>Instance</a:t>
            </a:r>
            <a:r>
              <a:rPr spc="-250" dirty="0"/>
              <a:t> </a:t>
            </a:r>
            <a:r>
              <a:rPr spc="-95" dirty="0"/>
              <a:t>Groups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45" dirty="0"/>
              <a:t>Scenarios</a:t>
            </a:r>
          </a:p>
        </p:txBody>
      </p:sp>
      <p:sp>
        <p:nvSpPr>
          <p:cNvPr id="9" name="object 9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10059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281845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3820110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481342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82950" y="553962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Instance</a:t>
            </a:r>
            <a:r>
              <a:rPr spc="-250" dirty="0"/>
              <a:t> </a:t>
            </a:r>
            <a:r>
              <a:rPr spc="-110" dirty="0"/>
              <a:t>Group</a:t>
            </a:r>
            <a:r>
              <a:rPr spc="-250" dirty="0"/>
              <a:t> </a:t>
            </a:r>
            <a:r>
              <a:rPr spc="-65" dirty="0"/>
              <a:t>Scenarios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96370" y="980227"/>
            <a:ext cx="7742555" cy="1730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30345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  <a:tabLst>
                <a:tab pos="4030345" algn="l"/>
              </a:tabLst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MIG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90" dirty="0">
                <a:solidFill>
                  <a:srgbClr val="212121"/>
                </a:solidFill>
                <a:latin typeface="Yu Gothic"/>
                <a:cs typeface="Yu Gothic"/>
              </a:rPr>
              <a:t>MIG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(or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30" dirty="0">
                <a:solidFill>
                  <a:srgbClr val="212121"/>
                </a:solidFill>
                <a:latin typeface="Yu Gothic"/>
                <a:cs typeface="Yu Gothic"/>
              </a:rPr>
              <a:t>MIG)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survive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Zonal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Failures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  <a:tabLst>
                <a:tab pos="4030345" algn="l"/>
              </a:tabLst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VMs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different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Un-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configurations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same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group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6370" y="2875033"/>
            <a:ext cx="360616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preserve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state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MIG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14357" y="2851994"/>
            <a:ext cx="5135245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9500"/>
              </a:lnSpc>
              <a:spcBef>
                <a:spcPts val="100"/>
              </a:spcBef>
            </a:pP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Stateful</a:t>
            </a:r>
            <a:r>
              <a:rPr sz="16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MIG</a:t>
            </a:r>
            <a:r>
              <a:rPr sz="16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2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Preserve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7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state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(Instance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name,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attached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Metadata).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stateful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(database,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processing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apps)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6370" y="3853654"/>
            <a:ext cx="3702050" cy="843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13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high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MIG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even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when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there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hardware/software updates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14357" y="3853654"/>
            <a:ext cx="5239385" cy="843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650" spc="-1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template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06200"/>
              </a:lnSpc>
              <a:spcBef>
                <a:spcPts val="65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automatic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restart: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enabled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90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maintenance: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migrate 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Ensures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live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migration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automatic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restarts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6370" y="4846966"/>
            <a:ext cx="321500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unhealthy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be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automatically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replaced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14357" y="4870004"/>
            <a:ext cx="42011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health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check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90" dirty="0">
                <a:solidFill>
                  <a:srgbClr val="212121"/>
                </a:solidFill>
                <a:latin typeface="Yu Gothic"/>
                <a:cs typeface="Yu Gothic"/>
              </a:rPr>
              <a:t>MIG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(self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healing)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6370" y="5596207"/>
            <a:ext cx="29591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Avoid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frequent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scale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up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&amp;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downs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14357" y="5596207"/>
            <a:ext cx="270954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Cool-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period/Initial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0" dirty="0">
                <a:solidFill>
                  <a:srgbClr val="212121"/>
                </a:solidFill>
                <a:latin typeface="Yu Gothic"/>
                <a:cs typeface="Yu Gothic"/>
              </a:rPr>
              <a:t>delay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560" y="2417608"/>
            <a:ext cx="7021830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65" dirty="0">
                <a:solidFill>
                  <a:srgbClr val="1BA74A"/>
                </a:solidFill>
              </a:rPr>
              <a:t>Cloud</a:t>
            </a:r>
            <a:r>
              <a:rPr sz="5900" spc="-535" dirty="0">
                <a:solidFill>
                  <a:srgbClr val="1BA74A"/>
                </a:solidFill>
              </a:rPr>
              <a:t> </a:t>
            </a:r>
            <a:r>
              <a:rPr sz="5900" spc="-195" dirty="0">
                <a:solidFill>
                  <a:srgbClr val="1BA74A"/>
                </a:solidFill>
              </a:rPr>
              <a:t>Load</a:t>
            </a:r>
            <a:r>
              <a:rPr sz="5900" spc="-530" dirty="0">
                <a:solidFill>
                  <a:srgbClr val="1BA74A"/>
                </a:solidFill>
              </a:rPr>
              <a:t> </a:t>
            </a:r>
            <a:r>
              <a:rPr sz="5900" spc="-90" dirty="0">
                <a:solidFill>
                  <a:srgbClr val="1BA74A"/>
                </a:solidFill>
              </a:rPr>
              <a:t>Balancing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68</a:t>
            </a:fld>
            <a:endParaRPr spc="-2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3669" y="1283890"/>
            <a:ext cx="2682706" cy="20620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44835" y="898425"/>
            <a:ext cx="86233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30860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492912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026013" y="2722459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010436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319281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026013" y="3548827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899408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24998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46339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0095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66705"/>
            <a:ext cx="5845175" cy="4320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647825" algn="l"/>
                <a:tab pos="2458085" algn="l"/>
                <a:tab pos="3460750" algn="l"/>
                <a:tab pos="453517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Distributes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instances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Fully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distributed,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software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defined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Important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Features: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Health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check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Route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healthy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Recover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from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failures</a:t>
            </a:r>
            <a:endParaRPr sz="12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25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3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Global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balancing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anycast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04"/>
              </a:spcBef>
            </a:pP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supports 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internal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balancing</a:t>
            </a:r>
            <a:endParaRPr sz="12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Enables: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endParaRPr sz="1900">
              <a:latin typeface="Yu Gothic"/>
              <a:cs typeface="Yu Gothic"/>
            </a:endParaRPr>
          </a:p>
          <a:p>
            <a:pPr marL="346075" marR="4241165">
              <a:lnSpc>
                <a:spcPct val="129700"/>
              </a:lnSpc>
              <a:spcBef>
                <a:spcPts val="70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Scaling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Resiliency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100" dirty="0"/>
              <a:t>Load</a:t>
            </a:r>
            <a:r>
              <a:rPr spc="-254" dirty="0"/>
              <a:t> </a:t>
            </a:r>
            <a:r>
              <a:rPr spc="-40" dirty="0"/>
              <a:t>Balancing</a:t>
            </a:r>
          </a:p>
        </p:txBody>
      </p:sp>
      <p:sp>
        <p:nvSpPr>
          <p:cNvPr id="18" name="object 1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748" y="1265420"/>
            <a:ext cx="3536461" cy="27307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455349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298413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149823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992887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799928"/>
            <a:ext cx="5835650" cy="5184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67690" algn="just">
              <a:lnSpc>
                <a:spcPct val="128200"/>
              </a:lnSpc>
              <a:spcBef>
                <a:spcPts val="95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Computers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protocols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communicate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layers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protocols</a:t>
            </a:r>
            <a:endParaRPr sz="235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795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Network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Layer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Transfer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bits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bytes</a:t>
            </a:r>
            <a:endParaRPr sz="2350">
              <a:latin typeface="Yu Gothic"/>
              <a:cs typeface="Yu Gothic"/>
            </a:endParaRPr>
          </a:p>
          <a:p>
            <a:pPr marL="12700" marR="5080" algn="just">
              <a:lnSpc>
                <a:spcPct val="107200"/>
              </a:lnSpc>
              <a:spcBef>
                <a:spcPts val="590"/>
              </a:spcBef>
            </a:pP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Transport</a:t>
            </a:r>
            <a:r>
              <a:rPr sz="2350" b="1" spc="3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Layer</a:t>
            </a:r>
            <a:r>
              <a:rPr sz="2350" b="1" spc="3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3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3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3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bits</a:t>
            </a:r>
            <a:r>
              <a:rPr sz="2350" spc="3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3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bytes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transferred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properly?</a:t>
            </a:r>
            <a:endParaRPr sz="235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530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Layer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Make</a:t>
            </a:r>
            <a:r>
              <a:rPr sz="235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REST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calls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Send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Emails</a:t>
            </a:r>
            <a:endParaRPr sz="235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525"/>
              </a:spcBef>
            </a:pP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spc="2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layer</a:t>
            </a:r>
            <a:r>
              <a:rPr sz="2350" spc="2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makes</a:t>
            </a:r>
            <a:r>
              <a:rPr sz="2350" spc="2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2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2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layers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beneath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endParaRPr sz="235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459"/>
              </a:spcBef>
            </a:pP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24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spc="254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talk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at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layer.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9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235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talk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transport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layer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directly(high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performance).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HTTP</a:t>
            </a:r>
            <a:r>
              <a:rPr spc="-275" dirty="0"/>
              <a:t> </a:t>
            </a:r>
            <a:r>
              <a:rPr spc="-55" dirty="0"/>
              <a:t>vs</a:t>
            </a:r>
            <a:r>
              <a:rPr spc="-270" dirty="0"/>
              <a:t> </a:t>
            </a:r>
            <a:r>
              <a:rPr spc="-75" dirty="0"/>
              <a:t>HTTPS</a:t>
            </a:r>
            <a:r>
              <a:rPr spc="-270" dirty="0"/>
              <a:t> </a:t>
            </a:r>
            <a:r>
              <a:rPr spc="-55" dirty="0"/>
              <a:t>vs</a:t>
            </a:r>
            <a:r>
              <a:rPr spc="-270" dirty="0"/>
              <a:t> </a:t>
            </a:r>
            <a:r>
              <a:rPr spc="-120" dirty="0"/>
              <a:t>TCP</a:t>
            </a:r>
            <a:r>
              <a:rPr spc="-270" dirty="0"/>
              <a:t> </a:t>
            </a:r>
            <a:r>
              <a:rPr spc="-55" dirty="0"/>
              <a:t>vs</a:t>
            </a:r>
            <a:r>
              <a:rPr spc="-275" dirty="0"/>
              <a:t> </a:t>
            </a:r>
            <a:r>
              <a:rPr spc="-110" dirty="0"/>
              <a:t>TLS</a:t>
            </a:r>
            <a:r>
              <a:rPr spc="-270" dirty="0"/>
              <a:t> </a:t>
            </a:r>
            <a:r>
              <a:rPr spc="-55" dirty="0"/>
              <a:t>vs</a:t>
            </a:r>
            <a:r>
              <a:rPr spc="-270" dirty="0"/>
              <a:t> </a:t>
            </a:r>
            <a:r>
              <a:rPr spc="-25" dirty="0"/>
              <a:t>UDP</a:t>
            </a:r>
          </a:p>
        </p:txBody>
      </p:sp>
      <p:sp>
        <p:nvSpPr>
          <p:cNvPr id="12" name="object 12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748" y="1223237"/>
            <a:ext cx="3536461" cy="27234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576" y="1019638"/>
            <a:ext cx="83471" cy="8347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24851" y="1336830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09" h="67309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7576" y="1712452"/>
            <a:ext cx="83471" cy="8347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24851" y="2029644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09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24851" y="2380225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09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24851" y="2730806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09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576" y="3114775"/>
            <a:ext cx="83471" cy="8347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834569"/>
            <a:ext cx="5453380" cy="24726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100" spc="-9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1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" dirty="0">
                <a:solidFill>
                  <a:srgbClr val="212121"/>
                </a:solidFill>
                <a:latin typeface="Yu Gothic"/>
                <a:cs typeface="Yu Gothic"/>
              </a:rPr>
              <a:t>Layer:</a:t>
            </a:r>
            <a:endParaRPr sz="21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80"/>
              </a:spcBef>
            </a:pP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5" dirty="0">
                <a:solidFill>
                  <a:srgbClr val="212121"/>
                </a:solidFill>
                <a:latin typeface="Yu Gothic"/>
                <a:cs typeface="Yu Gothic"/>
              </a:rPr>
              <a:t>(Internet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Protocol):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Transfer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bytes.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Unreliable.</a:t>
            </a:r>
            <a:endParaRPr sz="17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100" spc="-95" dirty="0">
                <a:solidFill>
                  <a:srgbClr val="212121"/>
                </a:solidFill>
                <a:latin typeface="Yu Gothic"/>
                <a:cs typeface="Yu Gothic"/>
              </a:rPr>
              <a:t>Transport</a:t>
            </a:r>
            <a:r>
              <a:rPr sz="21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" dirty="0">
                <a:solidFill>
                  <a:srgbClr val="212121"/>
                </a:solidFill>
                <a:latin typeface="Yu Gothic"/>
                <a:cs typeface="Yu Gothic"/>
              </a:rPr>
              <a:t>Layer:</a:t>
            </a:r>
            <a:endParaRPr sz="21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80"/>
              </a:spcBef>
            </a:pPr>
            <a:r>
              <a:rPr sz="1700" spc="-195" dirty="0">
                <a:solidFill>
                  <a:srgbClr val="212121"/>
                </a:solidFill>
                <a:latin typeface="Yu Gothic"/>
                <a:cs typeface="Yu Gothic"/>
              </a:rPr>
              <a:t>TCP</a:t>
            </a: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(Transmission</a:t>
            </a: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Control):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Reliability</a:t>
            </a: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38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endParaRPr sz="17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25"/>
              </a:spcBef>
            </a:pPr>
            <a:r>
              <a:rPr sz="1700" spc="-195" dirty="0">
                <a:solidFill>
                  <a:srgbClr val="212121"/>
                </a:solidFill>
                <a:latin typeface="Yu Gothic"/>
                <a:cs typeface="Yu Gothic"/>
              </a:rPr>
              <a:t>TLS</a:t>
            </a:r>
            <a:r>
              <a:rPr sz="17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0" dirty="0">
                <a:solidFill>
                  <a:srgbClr val="212121"/>
                </a:solidFill>
                <a:latin typeface="Yu Gothic"/>
                <a:cs typeface="Yu Gothic"/>
              </a:rPr>
              <a:t>(Transport</a:t>
            </a:r>
            <a:r>
              <a:rPr sz="17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5" dirty="0">
                <a:solidFill>
                  <a:srgbClr val="212121"/>
                </a:solidFill>
                <a:latin typeface="Yu Gothic"/>
                <a:cs typeface="Yu Gothic"/>
              </a:rPr>
              <a:t>Layer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Security):</a:t>
            </a:r>
            <a:r>
              <a:rPr sz="17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Secure</a:t>
            </a:r>
            <a:r>
              <a:rPr sz="17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25" dirty="0">
                <a:solidFill>
                  <a:srgbClr val="212121"/>
                </a:solidFill>
                <a:latin typeface="Yu Gothic"/>
                <a:cs typeface="Yu Gothic"/>
              </a:rPr>
              <a:t>TCP</a:t>
            </a:r>
            <a:endParaRPr sz="17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20"/>
              </a:spcBef>
            </a:pPr>
            <a:r>
              <a:rPr sz="1700" spc="-185" dirty="0">
                <a:solidFill>
                  <a:srgbClr val="212121"/>
                </a:solidFill>
                <a:latin typeface="Yu Gothic"/>
                <a:cs typeface="Yu Gothic"/>
              </a:rPr>
              <a:t>UDP</a:t>
            </a: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30" dirty="0">
                <a:solidFill>
                  <a:srgbClr val="212121"/>
                </a:solidFill>
                <a:latin typeface="Yu Gothic"/>
                <a:cs typeface="Yu Gothic"/>
              </a:rPr>
              <a:t>(User</a:t>
            </a: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5" dirty="0">
                <a:solidFill>
                  <a:srgbClr val="212121"/>
                </a:solidFill>
                <a:latin typeface="Yu Gothic"/>
                <a:cs typeface="Yu Gothic"/>
              </a:rPr>
              <a:t>Datagram</a:t>
            </a: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Protocol):</a:t>
            </a: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 Performance </a:t>
            </a:r>
            <a:r>
              <a:rPr sz="1700" spc="-38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35" dirty="0">
                <a:solidFill>
                  <a:srgbClr val="212121"/>
                </a:solidFill>
                <a:latin typeface="Yu Gothic"/>
                <a:cs typeface="Yu Gothic"/>
              </a:rPr>
              <a:t>Reliability</a:t>
            </a:r>
            <a:endParaRPr sz="17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1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1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" dirty="0">
                <a:solidFill>
                  <a:srgbClr val="212121"/>
                </a:solidFill>
                <a:latin typeface="Yu Gothic"/>
                <a:cs typeface="Yu Gothic"/>
              </a:rPr>
              <a:t>Layer:</a:t>
            </a:r>
            <a:endParaRPr sz="2100">
              <a:latin typeface="Yu Gothic"/>
              <a:cs typeface="Yu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24851" y="3431967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09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15851" y="3303075"/>
            <a:ext cx="28898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0615" algn="l"/>
                <a:tab pos="2138045" algn="l"/>
              </a:tabLst>
            </a:pP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Protocol):</a:t>
            </a:r>
            <a:r>
              <a:rPr sz="17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Stateless</a:t>
            </a:r>
            <a:r>
              <a:rPr sz="17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Request</a:t>
            </a:r>
            <a:endParaRPr sz="170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24851" y="4058005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09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4136" y="3287249"/>
            <a:ext cx="2427605" cy="927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100"/>
              </a:spcBef>
              <a:tabLst>
                <a:tab pos="1675764" algn="l"/>
              </a:tabLst>
            </a:pP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HTTP(Hypertext</a:t>
            </a:r>
            <a:r>
              <a:rPr sz="17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Transfer Response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20" dirty="0">
                <a:solidFill>
                  <a:srgbClr val="212121"/>
                </a:solidFill>
                <a:latin typeface="Yu Gothic"/>
                <a:cs typeface="Yu Gothic"/>
              </a:rPr>
              <a:t>Cycle</a:t>
            </a:r>
            <a:endParaRPr sz="17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700" spc="-160" dirty="0">
                <a:solidFill>
                  <a:srgbClr val="212121"/>
                </a:solidFill>
                <a:latin typeface="Yu Gothic"/>
                <a:cs typeface="Yu Gothic"/>
              </a:rPr>
              <a:t>HTTPS: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Secure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20" dirty="0">
                <a:solidFill>
                  <a:srgbClr val="212121"/>
                </a:solidFill>
                <a:latin typeface="Yu Gothic"/>
                <a:cs typeface="Yu Gothic"/>
              </a:rPr>
              <a:t>HTTP</a:t>
            </a:r>
            <a:endParaRPr sz="170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24851" y="4408585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09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24851" y="4750819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09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504136" y="4197089"/>
            <a:ext cx="2743835" cy="709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</a:pPr>
            <a:r>
              <a:rPr sz="1700" spc="-180" dirty="0">
                <a:solidFill>
                  <a:srgbClr val="212121"/>
                </a:solidFill>
                <a:latin typeface="Yu Gothic"/>
                <a:cs typeface="Yu Gothic"/>
              </a:rPr>
              <a:t>SMTP: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Email</a:t>
            </a:r>
            <a:r>
              <a:rPr sz="17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Transfer</a:t>
            </a:r>
            <a:r>
              <a:rPr sz="17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55" dirty="0">
                <a:solidFill>
                  <a:srgbClr val="212121"/>
                </a:solidFill>
                <a:latin typeface="Yu Gothic"/>
                <a:cs typeface="Yu Gothic"/>
              </a:rPr>
              <a:t>Protocol </a:t>
            </a:r>
            <a:r>
              <a:rPr sz="1700" spc="-7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7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7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35" dirty="0">
                <a:solidFill>
                  <a:srgbClr val="212121"/>
                </a:solidFill>
                <a:latin typeface="Yu Gothic"/>
                <a:cs typeface="Yu Gothic"/>
              </a:rPr>
              <a:t>lot</a:t>
            </a:r>
            <a:r>
              <a:rPr sz="17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7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others...</a:t>
            </a:r>
            <a:endParaRPr sz="170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750" spc="-110" dirty="0"/>
              <a:t>HTTP</a:t>
            </a:r>
            <a:r>
              <a:rPr sz="2750" spc="-245" dirty="0"/>
              <a:t> </a:t>
            </a:r>
            <a:r>
              <a:rPr sz="2750" spc="-50" dirty="0"/>
              <a:t>vs</a:t>
            </a:r>
            <a:r>
              <a:rPr sz="2750" spc="-245" dirty="0"/>
              <a:t> </a:t>
            </a:r>
            <a:r>
              <a:rPr sz="2750" spc="-75" dirty="0"/>
              <a:t>HTTPS</a:t>
            </a:r>
            <a:r>
              <a:rPr sz="2750" spc="-245" dirty="0"/>
              <a:t> </a:t>
            </a:r>
            <a:r>
              <a:rPr sz="2750" spc="-50" dirty="0"/>
              <a:t>vs</a:t>
            </a:r>
            <a:r>
              <a:rPr sz="2750" spc="-245" dirty="0"/>
              <a:t> </a:t>
            </a:r>
            <a:r>
              <a:rPr sz="2750" spc="-125" dirty="0"/>
              <a:t>TCP</a:t>
            </a:r>
            <a:r>
              <a:rPr sz="2750" spc="-245" dirty="0"/>
              <a:t> </a:t>
            </a:r>
            <a:r>
              <a:rPr sz="2750" spc="-50" dirty="0"/>
              <a:t>vs</a:t>
            </a:r>
            <a:r>
              <a:rPr sz="2750" spc="-245" dirty="0"/>
              <a:t> </a:t>
            </a:r>
            <a:r>
              <a:rPr sz="2750" spc="-105" dirty="0"/>
              <a:t>TLS</a:t>
            </a:r>
            <a:r>
              <a:rPr sz="2750" spc="-245" dirty="0"/>
              <a:t> </a:t>
            </a:r>
            <a:r>
              <a:rPr sz="2750" spc="-50" dirty="0"/>
              <a:t>vs</a:t>
            </a:r>
            <a:r>
              <a:rPr sz="2750" spc="-245" dirty="0"/>
              <a:t> </a:t>
            </a:r>
            <a:r>
              <a:rPr sz="2750" spc="-25" dirty="0"/>
              <a:t>UDP</a:t>
            </a:r>
            <a:endParaRPr sz="2750"/>
          </a:p>
        </p:txBody>
      </p:sp>
      <p:sp>
        <p:nvSpPr>
          <p:cNvPr id="19" name="object 19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71</a:t>
            </a:fld>
            <a:endParaRPr spc="-25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748" y="1223237"/>
            <a:ext cx="3536461" cy="27234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576" y="1019638"/>
            <a:ext cx="83471" cy="8347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24851" y="1695758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09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24851" y="2321795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09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7576" y="2989568"/>
            <a:ext cx="83471" cy="8347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24851" y="3674035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09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7576" y="4333461"/>
            <a:ext cx="83471" cy="8347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70250" y="827307"/>
            <a:ext cx="5835015" cy="4057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2200"/>
              </a:lnSpc>
              <a:spcBef>
                <a:spcPts val="90"/>
              </a:spcBef>
              <a:tabLst>
                <a:tab pos="842010" algn="l"/>
                <a:tab pos="2546985" algn="l"/>
                <a:tab pos="3770629" algn="l"/>
                <a:tab pos="5591810" algn="l"/>
              </a:tabLst>
            </a:pPr>
            <a:r>
              <a:rPr sz="2100" b="1" spc="-20" dirty="0">
                <a:solidFill>
                  <a:srgbClr val="212121"/>
                </a:solidFill>
                <a:latin typeface="Trebuchet MS"/>
                <a:cs typeface="Trebuchet MS"/>
              </a:rPr>
              <a:t>Most</a:t>
            </a:r>
            <a:r>
              <a:rPr sz="21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100" b="1" spc="-10" dirty="0">
                <a:solidFill>
                  <a:srgbClr val="212121"/>
                </a:solidFill>
                <a:latin typeface="Trebuchet MS"/>
                <a:cs typeface="Trebuchet MS"/>
              </a:rPr>
              <a:t>applications</a:t>
            </a:r>
            <a:r>
              <a:rPr sz="21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100" spc="-10" dirty="0">
                <a:solidFill>
                  <a:srgbClr val="212121"/>
                </a:solidFill>
                <a:latin typeface="Yu Gothic"/>
                <a:cs typeface="Yu Gothic"/>
              </a:rPr>
              <a:t>typically</a:t>
            </a:r>
            <a:r>
              <a:rPr sz="21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100" spc="-10" dirty="0">
                <a:solidFill>
                  <a:srgbClr val="212121"/>
                </a:solidFill>
                <a:latin typeface="Yu Gothic"/>
                <a:cs typeface="Yu Gothic"/>
              </a:rPr>
              <a:t>communicate</a:t>
            </a:r>
            <a:r>
              <a:rPr sz="21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100" spc="-75" dirty="0">
                <a:solidFill>
                  <a:srgbClr val="212121"/>
                </a:solidFill>
                <a:latin typeface="Yu Gothic"/>
                <a:cs typeface="Yu Gothic"/>
              </a:rPr>
              <a:t>at </a:t>
            </a:r>
            <a:r>
              <a:rPr sz="2100" spc="-6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1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" dirty="0">
                <a:solidFill>
                  <a:srgbClr val="212121"/>
                </a:solidFill>
                <a:latin typeface="Yu Gothic"/>
                <a:cs typeface="Yu Gothic"/>
              </a:rPr>
              <a:t>layer</a:t>
            </a:r>
            <a:endParaRPr sz="2100">
              <a:latin typeface="Yu Gothic"/>
              <a:cs typeface="Yu Gothic"/>
            </a:endParaRPr>
          </a:p>
          <a:p>
            <a:pPr marL="346075" marR="5080">
              <a:lnSpc>
                <a:spcPct val="106300"/>
              </a:lnSpc>
              <a:spcBef>
                <a:spcPts val="55"/>
              </a:spcBef>
            </a:pPr>
            <a:r>
              <a:rPr sz="1700" spc="-140" dirty="0">
                <a:solidFill>
                  <a:srgbClr val="212121"/>
                </a:solidFill>
                <a:latin typeface="Yu Gothic"/>
                <a:cs typeface="Yu Gothic"/>
              </a:rPr>
              <a:t>Web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45" dirty="0">
                <a:solidFill>
                  <a:srgbClr val="212121"/>
                </a:solidFill>
                <a:latin typeface="Yu Gothic"/>
                <a:cs typeface="Yu Gothic"/>
              </a:rPr>
              <a:t>apps/REST</a:t>
            </a:r>
            <a:r>
              <a:rPr sz="17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65" dirty="0">
                <a:solidFill>
                  <a:srgbClr val="212121"/>
                </a:solidFill>
                <a:latin typeface="Yu Gothic"/>
                <a:cs typeface="Yu Gothic"/>
              </a:rPr>
              <a:t>API(HTTP/HTTPS),</a:t>
            </a:r>
            <a:r>
              <a:rPr sz="17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Email</a:t>
            </a:r>
            <a:r>
              <a:rPr sz="17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30" dirty="0">
                <a:solidFill>
                  <a:srgbClr val="212121"/>
                </a:solidFill>
                <a:latin typeface="Yu Gothic"/>
                <a:cs typeface="Yu Gothic"/>
              </a:rPr>
              <a:t>Servers(SMTP),</a:t>
            </a:r>
            <a:r>
              <a:rPr sz="17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35" dirty="0">
                <a:solidFill>
                  <a:srgbClr val="212121"/>
                </a:solidFill>
                <a:latin typeface="Yu Gothic"/>
                <a:cs typeface="Yu Gothic"/>
              </a:rPr>
              <a:t>File </a:t>
            </a:r>
            <a:r>
              <a:rPr sz="1700" spc="-70" dirty="0">
                <a:solidFill>
                  <a:srgbClr val="212121"/>
                </a:solidFill>
                <a:latin typeface="Yu Gothic"/>
                <a:cs typeface="Yu Gothic"/>
              </a:rPr>
              <a:t>Transfers(FTP)</a:t>
            </a:r>
            <a:endParaRPr sz="17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525"/>
              </a:spcBef>
            </a:pPr>
            <a:r>
              <a:rPr sz="170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70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35" dirty="0">
                <a:solidFill>
                  <a:srgbClr val="212121"/>
                </a:solidFill>
                <a:latin typeface="Yu Gothic"/>
                <a:cs typeface="Yu Gothic"/>
              </a:rPr>
              <a:t>these</a:t>
            </a:r>
            <a:r>
              <a:rPr sz="1700" spc="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4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70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700" spc="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70" dirty="0">
                <a:solidFill>
                  <a:srgbClr val="212121"/>
                </a:solidFill>
                <a:latin typeface="Yu Gothic"/>
                <a:cs typeface="Yu Gothic"/>
              </a:rPr>
              <a:t>TCP/TLS</a:t>
            </a:r>
            <a:r>
              <a:rPr sz="1700" spc="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70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2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700" spc="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50" dirty="0">
                <a:solidFill>
                  <a:srgbClr val="212121"/>
                </a:solidFill>
                <a:latin typeface="Yu Gothic"/>
                <a:cs typeface="Yu Gothic"/>
              </a:rPr>
              <a:t>layer(for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reliability)</a:t>
            </a:r>
            <a:endParaRPr sz="17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100" b="1" spc="-50" dirty="0">
                <a:solidFill>
                  <a:srgbClr val="212121"/>
                </a:solidFill>
                <a:latin typeface="Trebuchet MS"/>
                <a:cs typeface="Trebuchet MS"/>
              </a:rPr>
              <a:t>HOWEVER</a:t>
            </a:r>
            <a:r>
              <a:rPr sz="21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100" spc="-5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1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45" dirty="0">
                <a:solidFill>
                  <a:srgbClr val="212121"/>
                </a:solidFill>
                <a:latin typeface="Yu Gothic"/>
                <a:cs typeface="Yu Gothic"/>
              </a:rPr>
              <a:t>needing</a:t>
            </a:r>
            <a:r>
              <a:rPr sz="21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100" spc="-65" dirty="0">
                <a:solidFill>
                  <a:srgbClr val="212121"/>
                </a:solidFill>
                <a:latin typeface="Yu Gothic"/>
                <a:cs typeface="Yu Gothic"/>
              </a:rPr>
              <a:t> performance</a:t>
            </a:r>
            <a:endParaRPr sz="21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100" b="1" spc="-90" dirty="0">
                <a:solidFill>
                  <a:srgbClr val="212121"/>
                </a:solidFill>
                <a:latin typeface="Trebuchet MS"/>
                <a:cs typeface="Trebuchet MS"/>
              </a:rPr>
              <a:t>directly</a:t>
            </a:r>
            <a:r>
              <a:rPr sz="21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100" spc="-90" dirty="0">
                <a:solidFill>
                  <a:srgbClr val="212121"/>
                </a:solidFill>
                <a:latin typeface="Yu Gothic"/>
                <a:cs typeface="Yu Gothic"/>
              </a:rPr>
              <a:t>communicate</a:t>
            </a:r>
            <a:r>
              <a:rPr sz="21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6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1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70" dirty="0">
                <a:solidFill>
                  <a:srgbClr val="212121"/>
                </a:solidFill>
                <a:latin typeface="Yu Gothic"/>
                <a:cs typeface="Yu Gothic"/>
              </a:rPr>
              <a:t>transport</a:t>
            </a:r>
            <a:r>
              <a:rPr sz="21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" dirty="0">
                <a:solidFill>
                  <a:srgbClr val="212121"/>
                </a:solidFill>
                <a:latin typeface="Yu Gothic"/>
                <a:cs typeface="Yu Gothic"/>
              </a:rPr>
              <a:t>layer:</a:t>
            </a:r>
            <a:endParaRPr sz="2100">
              <a:latin typeface="Yu Gothic"/>
              <a:cs typeface="Yu Gothic"/>
            </a:endParaRPr>
          </a:p>
          <a:p>
            <a:pPr marL="346075" marR="5080">
              <a:lnSpc>
                <a:spcPct val="106300"/>
              </a:lnSpc>
              <a:spcBef>
                <a:spcPts val="120"/>
              </a:spcBef>
            </a:pPr>
            <a:r>
              <a:rPr sz="1700" spc="-40" dirty="0">
                <a:solidFill>
                  <a:srgbClr val="212121"/>
                </a:solidFill>
                <a:latin typeface="Yu Gothic"/>
                <a:cs typeface="Yu Gothic"/>
              </a:rPr>
              <a:t>Gaming</a:t>
            </a:r>
            <a:r>
              <a:rPr sz="1700" spc="2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4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70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700" spc="2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dirty="0">
                <a:solidFill>
                  <a:srgbClr val="212121"/>
                </a:solidFill>
                <a:latin typeface="Yu Gothic"/>
                <a:cs typeface="Yu Gothic"/>
              </a:rPr>
              <a:t>live</a:t>
            </a:r>
            <a:r>
              <a:rPr sz="170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dirty="0">
                <a:solidFill>
                  <a:srgbClr val="212121"/>
                </a:solidFill>
                <a:latin typeface="Yu Gothic"/>
                <a:cs typeface="Yu Gothic"/>
              </a:rPr>
              <a:t>video</a:t>
            </a:r>
            <a:r>
              <a:rPr sz="170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45" dirty="0">
                <a:solidFill>
                  <a:srgbClr val="212121"/>
                </a:solidFill>
                <a:latin typeface="Yu Gothic"/>
                <a:cs typeface="Yu Gothic"/>
              </a:rPr>
              <a:t>streaming</a:t>
            </a:r>
            <a:r>
              <a:rPr sz="1700" spc="2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70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UDP </a:t>
            </a:r>
            <a:r>
              <a:rPr sz="1700" spc="-100" dirty="0">
                <a:solidFill>
                  <a:srgbClr val="212121"/>
                </a:solidFill>
                <a:latin typeface="Yu Gothic"/>
                <a:cs typeface="Yu Gothic"/>
              </a:rPr>
              <a:t>(sacrifice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55" dirty="0">
                <a:solidFill>
                  <a:srgbClr val="212121"/>
                </a:solidFill>
                <a:latin typeface="Yu Gothic"/>
                <a:cs typeface="Yu Gothic"/>
              </a:rPr>
              <a:t>reliability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performance)</a:t>
            </a:r>
            <a:endParaRPr sz="1700">
              <a:latin typeface="Yu Gothic"/>
              <a:cs typeface="Yu Gothic"/>
            </a:endParaRPr>
          </a:p>
          <a:p>
            <a:pPr marL="12700" marR="5080">
              <a:lnSpc>
                <a:spcPct val="112200"/>
              </a:lnSpc>
              <a:spcBef>
                <a:spcPts val="470"/>
              </a:spcBef>
            </a:pPr>
            <a:r>
              <a:rPr sz="2100" b="1" spc="-100" dirty="0">
                <a:solidFill>
                  <a:srgbClr val="212121"/>
                </a:solidFill>
                <a:latin typeface="Trebuchet MS"/>
                <a:cs typeface="Trebuchet MS"/>
              </a:rPr>
              <a:t>Objective</a:t>
            </a:r>
            <a:r>
              <a:rPr sz="2100" spc="-1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1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85" dirty="0">
                <a:solidFill>
                  <a:srgbClr val="212121"/>
                </a:solidFill>
                <a:latin typeface="Yu Gothic"/>
                <a:cs typeface="Yu Gothic"/>
              </a:rPr>
              <a:t>Understand</a:t>
            </a:r>
            <a:r>
              <a:rPr sz="21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85" dirty="0">
                <a:solidFill>
                  <a:srgbClr val="212121"/>
                </a:solidFill>
                <a:latin typeface="Yu Gothic"/>
                <a:cs typeface="Yu Gothic"/>
              </a:rPr>
              <a:t>Big</a:t>
            </a:r>
            <a:r>
              <a:rPr sz="21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70" dirty="0">
                <a:solidFill>
                  <a:srgbClr val="212121"/>
                </a:solidFill>
                <a:latin typeface="Yu Gothic"/>
                <a:cs typeface="Yu Gothic"/>
              </a:rPr>
              <a:t>Picture.</a:t>
            </a:r>
            <a:r>
              <a:rPr sz="21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70" dirty="0">
                <a:solidFill>
                  <a:srgbClr val="212121"/>
                </a:solidFill>
                <a:latin typeface="Yu Gothic"/>
                <a:cs typeface="Yu Gothic"/>
              </a:rPr>
              <a:t>Its</a:t>
            </a:r>
            <a:r>
              <a:rPr sz="21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95" dirty="0">
                <a:solidFill>
                  <a:srgbClr val="212121"/>
                </a:solidFill>
                <a:latin typeface="Yu Gothic"/>
                <a:cs typeface="Yu Gothic"/>
              </a:rPr>
              <a:t>OK</a:t>
            </a:r>
            <a:r>
              <a:rPr sz="21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21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2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1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25" dirty="0">
                <a:solidFill>
                  <a:srgbClr val="212121"/>
                </a:solidFill>
                <a:latin typeface="Yu Gothic"/>
                <a:cs typeface="Yu Gothic"/>
              </a:rPr>
              <a:t>do </a:t>
            </a:r>
            <a:r>
              <a:rPr sz="2100" spc="-4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1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85" dirty="0">
                <a:solidFill>
                  <a:srgbClr val="212121"/>
                </a:solidFill>
                <a:latin typeface="Yu Gothic"/>
                <a:cs typeface="Yu Gothic"/>
              </a:rPr>
              <a:t>understand</a:t>
            </a:r>
            <a:r>
              <a:rPr sz="21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4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1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" dirty="0">
                <a:solidFill>
                  <a:srgbClr val="212121"/>
                </a:solidFill>
                <a:latin typeface="Yu Gothic"/>
                <a:cs typeface="Yu Gothic"/>
              </a:rPr>
              <a:t>details.</a:t>
            </a:r>
            <a:endParaRPr sz="210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750" spc="-110" dirty="0"/>
              <a:t>HTTP</a:t>
            </a:r>
            <a:r>
              <a:rPr sz="2750" spc="-245" dirty="0"/>
              <a:t> </a:t>
            </a:r>
            <a:r>
              <a:rPr sz="2750" spc="-50" dirty="0"/>
              <a:t>vs</a:t>
            </a:r>
            <a:r>
              <a:rPr sz="2750" spc="-245" dirty="0"/>
              <a:t> </a:t>
            </a:r>
            <a:r>
              <a:rPr sz="2750" spc="-75" dirty="0"/>
              <a:t>HTTPS</a:t>
            </a:r>
            <a:r>
              <a:rPr sz="2750" spc="-245" dirty="0"/>
              <a:t> </a:t>
            </a:r>
            <a:r>
              <a:rPr sz="2750" spc="-50" dirty="0"/>
              <a:t>vs</a:t>
            </a:r>
            <a:r>
              <a:rPr sz="2750" spc="-245" dirty="0"/>
              <a:t> </a:t>
            </a:r>
            <a:r>
              <a:rPr sz="2750" spc="-125" dirty="0"/>
              <a:t>TCP</a:t>
            </a:r>
            <a:r>
              <a:rPr sz="2750" spc="-245" dirty="0"/>
              <a:t> </a:t>
            </a:r>
            <a:r>
              <a:rPr sz="2750" spc="-50" dirty="0"/>
              <a:t>vs</a:t>
            </a:r>
            <a:r>
              <a:rPr sz="2750" spc="-245" dirty="0"/>
              <a:t> </a:t>
            </a:r>
            <a:r>
              <a:rPr sz="2750" spc="-105" dirty="0"/>
              <a:t>TLS</a:t>
            </a:r>
            <a:r>
              <a:rPr sz="2750" spc="-245" dirty="0"/>
              <a:t> </a:t>
            </a:r>
            <a:r>
              <a:rPr sz="2750" spc="-50" dirty="0"/>
              <a:t>vs</a:t>
            </a:r>
            <a:r>
              <a:rPr sz="2750" spc="-245" dirty="0"/>
              <a:t> </a:t>
            </a:r>
            <a:r>
              <a:rPr sz="2750" spc="-25" dirty="0"/>
              <a:t>UDP</a:t>
            </a:r>
            <a:endParaRPr sz="2750"/>
          </a:p>
        </p:txBody>
      </p:sp>
      <p:sp>
        <p:nvSpPr>
          <p:cNvPr id="11" name="object 11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72</a:t>
            </a:fld>
            <a:endParaRPr spc="-25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00" dirty="0"/>
              <a:t>Load</a:t>
            </a:r>
            <a:r>
              <a:rPr spc="-254" dirty="0"/>
              <a:t> </a:t>
            </a:r>
            <a:r>
              <a:rPr spc="-65" dirty="0"/>
              <a:t>Balancing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90" dirty="0"/>
              <a:t>Terminology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8586" y="969556"/>
            <a:ext cx="709509" cy="7178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4956" y="1353524"/>
            <a:ext cx="567608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56022" y="1086414"/>
            <a:ext cx="1335546" cy="58430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83387" y="1353524"/>
            <a:ext cx="567608" cy="834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26132" y="1027986"/>
            <a:ext cx="1669433" cy="66777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2146505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41380" y="2997915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37324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4158170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608655" y="489272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8655" y="52766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08655" y="56523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b="1" spc="-60" dirty="0">
                <a:latin typeface="Trebuchet MS"/>
                <a:cs typeface="Trebuchet MS"/>
              </a:rPr>
              <a:t>Backend</a:t>
            </a:r>
            <a:r>
              <a:rPr b="1" spc="-120" dirty="0">
                <a:latin typeface="Trebuchet MS"/>
                <a:cs typeface="Trebuchet MS"/>
              </a:rPr>
              <a:t> </a:t>
            </a:r>
            <a:r>
              <a:rPr spc="-300" dirty="0"/>
              <a:t>-</a:t>
            </a:r>
            <a:r>
              <a:rPr spc="60" dirty="0"/>
              <a:t> </a:t>
            </a:r>
            <a:r>
              <a:rPr spc="-70" dirty="0"/>
              <a:t>Group</a:t>
            </a:r>
            <a:r>
              <a:rPr spc="-10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75" dirty="0"/>
              <a:t>endpoints</a:t>
            </a:r>
            <a:r>
              <a:rPr spc="-60" dirty="0"/>
              <a:t> </a:t>
            </a:r>
            <a:r>
              <a:rPr spc="-20" dirty="0"/>
              <a:t>that</a:t>
            </a:r>
            <a:r>
              <a:rPr spc="-55" dirty="0"/>
              <a:t> </a:t>
            </a:r>
            <a:r>
              <a:rPr spc="-100" dirty="0"/>
              <a:t>receive</a:t>
            </a:r>
            <a:r>
              <a:rPr spc="-50" dirty="0"/>
              <a:t> </a:t>
            </a:r>
            <a:r>
              <a:rPr spc="-85" dirty="0"/>
              <a:t>traffic</a:t>
            </a:r>
            <a:r>
              <a:rPr spc="-60" dirty="0"/>
              <a:t> </a:t>
            </a:r>
            <a:r>
              <a:rPr spc="-25" dirty="0"/>
              <a:t>from</a:t>
            </a:r>
            <a:r>
              <a:rPr spc="-5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80" dirty="0"/>
              <a:t>Google</a:t>
            </a:r>
            <a:r>
              <a:rPr spc="-50" dirty="0"/>
              <a:t> </a:t>
            </a:r>
            <a:r>
              <a:rPr spc="-60" dirty="0"/>
              <a:t>Cloud </a:t>
            </a:r>
            <a:r>
              <a:rPr spc="-20" dirty="0"/>
              <a:t>load </a:t>
            </a:r>
            <a:r>
              <a:rPr spc="-105" dirty="0"/>
              <a:t>balancer</a:t>
            </a:r>
            <a:r>
              <a:rPr spc="-140" dirty="0"/>
              <a:t> </a:t>
            </a:r>
            <a:r>
              <a:rPr spc="-120" dirty="0"/>
              <a:t>(example:</a:t>
            </a:r>
            <a:r>
              <a:rPr spc="-135" dirty="0"/>
              <a:t> </a:t>
            </a:r>
            <a:r>
              <a:rPr spc="-120" dirty="0"/>
              <a:t>instance</a:t>
            </a:r>
            <a:r>
              <a:rPr spc="-135" dirty="0"/>
              <a:t> </a:t>
            </a:r>
            <a:r>
              <a:rPr spc="-10" dirty="0"/>
              <a:t>groups)</a:t>
            </a:r>
          </a:p>
          <a:p>
            <a:pPr marL="12700" marR="5080">
              <a:lnSpc>
                <a:spcPct val="107200"/>
              </a:lnSpc>
              <a:spcBef>
                <a:spcPts val="595"/>
              </a:spcBef>
            </a:pPr>
            <a:r>
              <a:rPr b="1" spc="-85" dirty="0">
                <a:latin typeface="Trebuchet MS"/>
                <a:cs typeface="Trebuchet MS"/>
              </a:rPr>
              <a:t>Frontend</a:t>
            </a:r>
            <a:r>
              <a:rPr b="1" spc="-95" dirty="0">
                <a:latin typeface="Trebuchet MS"/>
                <a:cs typeface="Trebuchet MS"/>
              </a:rPr>
              <a:t> </a:t>
            </a:r>
            <a:r>
              <a:rPr spc="-300" dirty="0"/>
              <a:t>-</a:t>
            </a:r>
            <a:r>
              <a:rPr spc="135" dirty="0"/>
              <a:t> </a:t>
            </a:r>
            <a:r>
              <a:rPr spc="-90" dirty="0"/>
              <a:t>Specify</a:t>
            </a:r>
            <a:r>
              <a:rPr spc="-85" dirty="0"/>
              <a:t> </a:t>
            </a:r>
            <a:r>
              <a:rPr dirty="0"/>
              <a:t>an</a:t>
            </a:r>
            <a:r>
              <a:rPr spc="-140" dirty="0"/>
              <a:t> </a:t>
            </a:r>
            <a:r>
              <a:rPr dirty="0"/>
              <a:t>IP</a:t>
            </a:r>
            <a:r>
              <a:rPr spc="-114" dirty="0"/>
              <a:t> </a:t>
            </a:r>
            <a:r>
              <a:rPr spc="-80" dirty="0"/>
              <a:t>address,</a:t>
            </a:r>
            <a:r>
              <a:rPr spc="-50" dirty="0"/>
              <a:t> </a:t>
            </a:r>
            <a:r>
              <a:rPr dirty="0"/>
              <a:t>port</a:t>
            </a:r>
            <a:r>
              <a:rPr spc="-5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30" dirty="0"/>
              <a:t>protocol.</a:t>
            </a:r>
            <a:r>
              <a:rPr spc="-50" dirty="0"/>
              <a:t> </a:t>
            </a:r>
            <a:r>
              <a:rPr spc="-85" dirty="0"/>
              <a:t>This</a:t>
            </a:r>
            <a:r>
              <a:rPr spc="-55" dirty="0"/>
              <a:t> </a:t>
            </a:r>
            <a:r>
              <a:rPr dirty="0"/>
              <a:t>IP</a:t>
            </a:r>
            <a:r>
              <a:rPr spc="-50" dirty="0"/>
              <a:t> </a:t>
            </a:r>
            <a:r>
              <a:rPr spc="-100" dirty="0"/>
              <a:t>address</a:t>
            </a:r>
            <a:r>
              <a:rPr spc="-55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spc="-25" dirty="0"/>
              <a:t>the </a:t>
            </a:r>
            <a:r>
              <a:rPr spc="-85" dirty="0"/>
              <a:t>frontend</a:t>
            </a:r>
            <a:r>
              <a:rPr spc="-165" dirty="0"/>
              <a:t> </a:t>
            </a:r>
            <a:r>
              <a:rPr spc="-140" dirty="0"/>
              <a:t>IP</a:t>
            </a:r>
            <a:r>
              <a:rPr spc="-160" dirty="0"/>
              <a:t> </a:t>
            </a:r>
            <a:r>
              <a:rPr spc="-80" dirty="0"/>
              <a:t>for</a:t>
            </a:r>
            <a:r>
              <a:rPr spc="-160" dirty="0"/>
              <a:t> </a:t>
            </a:r>
            <a:r>
              <a:rPr spc="-60" dirty="0"/>
              <a:t>your</a:t>
            </a:r>
            <a:r>
              <a:rPr spc="-160" dirty="0"/>
              <a:t> </a:t>
            </a:r>
            <a:r>
              <a:rPr spc="-100" dirty="0"/>
              <a:t>clients</a:t>
            </a:r>
            <a:r>
              <a:rPr spc="-165" dirty="0"/>
              <a:t> </a:t>
            </a:r>
            <a:r>
              <a:rPr spc="-10" dirty="0"/>
              <a:t>requests.</a:t>
            </a: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4" dirty="0"/>
              <a:t>For</a:t>
            </a:r>
            <a:r>
              <a:rPr sz="1900" spc="-135" dirty="0"/>
              <a:t> </a:t>
            </a:r>
            <a:r>
              <a:rPr sz="1900" spc="-165" dirty="0"/>
              <a:t>SSL,</a:t>
            </a:r>
            <a:r>
              <a:rPr sz="1900" spc="-130" dirty="0"/>
              <a:t> </a:t>
            </a:r>
            <a:r>
              <a:rPr sz="1900" spc="-105" dirty="0"/>
              <a:t>a</a:t>
            </a:r>
            <a:r>
              <a:rPr sz="1900" spc="-130" dirty="0"/>
              <a:t> </a:t>
            </a:r>
            <a:r>
              <a:rPr sz="1900" spc="-95" dirty="0"/>
              <a:t>certificate</a:t>
            </a:r>
            <a:r>
              <a:rPr sz="1900" spc="-135" dirty="0"/>
              <a:t> </a:t>
            </a:r>
            <a:r>
              <a:rPr sz="1900" spc="-100" dirty="0"/>
              <a:t>must</a:t>
            </a:r>
            <a:r>
              <a:rPr sz="1900" spc="-130" dirty="0"/>
              <a:t> </a:t>
            </a:r>
            <a:r>
              <a:rPr sz="1900" spc="-90" dirty="0"/>
              <a:t>also</a:t>
            </a:r>
            <a:r>
              <a:rPr sz="1900" spc="-130" dirty="0"/>
              <a:t> </a:t>
            </a:r>
            <a:r>
              <a:rPr sz="1900" spc="-100" dirty="0"/>
              <a:t>be</a:t>
            </a:r>
            <a:r>
              <a:rPr sz="1900" spc="-130" dirty="0"/>
              <a:t> </a:t>
            </a:r>
            <a:r>
              <a:rPr sz="1900" spc="-10" dirty="0"/>
              <a:t>assigned.</a:t>
            </a:r>
            <a:endParaRPr sz="1900"/>
          </a:p>
          <a:p>
            <a:pPr marL="12700" marR="5080">
              <a:lnSpc>
                <a:spcPct val="107200"/>
              </a:lnSpc>
              <a:spcBef>
                <a:spcPts val="555"/>
              </a:spcBef>
            </a:pPr>
            <a:r>
              <a:rPr b="1" dirty="0">
                <a:latin typeface="Trebuchet MS"/>
                <a:cs typeface="Trebuchet MS"/>
              </a:rPr>
              <a:t>Host</a:t>
            </a:r>
            <a:r>
              <a:rPr b="1" spc="-19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and</a:t>
            </a:r>
            <a:r>
              <a:rPr b="1" spc="-110" dirty="0">
                <a:latin typeface="Trebuchet MS"/>
                <a:cs typeface="Trebuchet MS"/>
              </a:rPr>
              <a:t> </a:t>
            </a:r>
            <a:r>
              <a:rPr b="1" spc="-25" dirty="0">
                <a:latin typeface="Trebuchet MS"/>
                <a:cs typeface="Trebuchet MS"/>
              </a:rPr>
              <a:t>path</a:t>
            </a:r>
            <a:r>
              <a:rPr b="1" spc="-70" dirty="0">
                <a:latin typeface="Trebuchet MS"/>
                <a:cs typeface="Trebuchet MS"/>
              </a:rPr>
              <a:t> rules</a:t>
            </a:r>
            <a:r>
              <a:rPr b="1" spc="-75" dirty="0">
                <a:latin typeface="Trebuchet MS"/>
                <a:cs typeface="Trebuchet MS"/>
              </a:rPr>
              <a:t> </a:t>
            </a:r>
            <a:r>
              <a:rPr spc="-130" dirty="0"/>
              <a:t>(For</a:t>
            </a:r>
            <a:r>
              <a:rPr spc="-35" dirty="0"/>
              <a:t> </a:t>
            </a:r>
            <a:r>
              <a:rPr spc="-210" dirty="0"/>
              <a:t>HTTP(S)</a:t>
            </a:r>
            <a:r>
              <a:rPr spc="30" dirty="0"/>
              <a:t> </a:t>
            </a:r>
            <a:r>
              <a:rPr spc="-114" dirty="0"/>
              <a:t>Load</a:t>
            </a:r>
            <a:r>
              <a:rPr spc="-40" dirty="0"/>
              <a:t> </a:t>
            </a:r>
            <a:r>
              <a:rPr spc="-100" dirty="0"/>
              <a:t>Balancing)</a:t>
            </a:r>
            <a:r>
              <a:rPr spc="-40" dirty="0"/>
              <a:t> </a:t>
            </a:r>
            <a:r>
              <a:rPr spc="-300" dirty="0"/>
              <a:t>-</a:t>
            </a:r>
            <a:r>
              <a:rPr spc="30" dirty="0"/>
              <a:t> </a:t>
            </a:r>
            <a:r>
              <a:rPr spc="-130" dirty="0"/>
              <a:t>Define</a:t>
            </a:r>
            <a:r>
              <a:rPr spc="-40" dirty="0"/>
              <a:t> </a:t>
            </a:r>
            <a:r>
              <a:rPr spc="-75" dirty="0"/>
              <a:t>rules</a:t>
            </a:r>
            <a:r>
              <a:rPr spc="-40" dirty="0"/>
              <a:t> </a:t>
            </a:r>
            <a:r>
              <a:rPr spc="-65" dirty="0"/>
              <a:t>redirecting </a:t>
            </a:r>
            <a:r>
              <a:rPr spc="-90" dirty="0"/>
              <a:t>the</a:t>
            </a:r>
            <a:r>
              <a:rPr spc="-165" dirty="0"/>
              <a:t> </a:t>
            </a:r>
            <a:r>
              <a:rPr spc="-105" dirty="0"/>
              <a:t>traffic</a:t>
            </a:r>
            <a:r>
              <a:rPr spc="-160" dirty="0"/>
              <a:t> </a:t>
            </a:r>
            <a:r>
              <a:rPr spc="-55" dirty="0"/>
              <a:t>to</a:t>
            </a:r>
            <a:r>
              <a:rPr spc="-160" dirty="0"/>
              <a:t> </a:t>
            </a:r>
            <a:r>
              <a:rPr spc="-100" dirty="0"/>
              <a:t>different</a:t>
            </a:r>
            <a:r>
              <a:rPr spc="-160" dirty="0"/>
              <a:t> </a:t>
            </a:r>
            <a:r>
              <a:rPr spc="-10" dirty="0"/>
              <a:t>backends:</a:t>
            </a: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35" dirty="0"/>
              <a:t>Based</a:t>
            </a:r>
            <a:r>
              <a:rPr sz="1900" spc="-130" dirty="0"/>
              <a:t> </a:t>
            </a:r>
            <a:r>
              <a:rPr sz="1900" spc="-60" dirty="0"/>
              <a:t>on</a:t>
            </a:r>
            <a:r>
              <a:rPr sz="1900" spc="-125" dirty="0"/>
              <a:t> </a:t>
            </a:r>
            <a:r>
              <a:rPr sz="1900" b="1" spc="-70" dirty="0">
                <a:latin typeface="Trebuchet MS"/>
                <a:cs typeface="Trebuchet MS"/>
              </a:rPr>
              <a:t>path</a:t>
            </a:r>
            <a:r>
              <a:rPr sz="1900" b="1" spc="-160" dirty="0">
                <a:latin typeface="Trebuchet MS"/>
                <a:cs typeface="Trebuchet MS"/>
              </a:rPr>
              <a:t> </a:t>
            </a:r>
            <a:r>
              <a:rPr sz="1900" spc="-245" dirty="0"/>
              <a:t>-</a:t>
            </a:r>
            <a:r>
              <a:rPr sz="1900" spc="-130" dirty="0"/>
              <a:t> </a:t>
            </a:r>
            <a:r>
              <a:rPr sz="1900" spc="-110" dirty="0"/>
              <a:t>in28minutes.com/a</a:t>
            </a:r>
            <a:r>
              <a:rPr sz="1900" spc="-130" dirty="0"/>
              <a:t> </a:t>
            </a:r>
            <a:r>
              <a:rPr sz="1900" spc="-114" dirty="0"/>
              <a:t>vs</a:t>
            </a:r>
            <a:r>
              <a:rPr sz="1900" spc="-130" dirty="0"/>
              <a:t> </a:t>
            </a:r>
            <a:r>
              <a:rPr sz="1900" spc="-30" dirty="0"/>
              <a:t>in28minutes.com/b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35" dirty="0"/>
              <a:t>Based </a:t>
            </a:r>
            <a:r>
              <a:rPr sz="1900" spc="-60" dirty="0"/>
              <a:t>on</a:t>
            </a:r>
            <a:r>
              <a:rPr sz="1900" spc="-125" dirty="0"/>
              <a:t> </a:t>
            </a:r>
            <a:r>
              <a:rPr sz="1900" b="1" spc="-50" dirty="0">
                <a:latin typeface="Trebuchet MS"/>
                <a:cs typeface="Trebuchet MS"/>
              </a:rPr>
              <a:t>Host</a:t>
            </a:r>
            <a:r>
              <a:rPr sz="1900" b="1" spc="-160" dirty="0">
                <a:latin typeface="Trebuchet MS"/>
                <a:cs typeface="Trebuchet MS"/>
              </a:rPr>
              <a:t> </a:t>
            </a:r>
            <a:r>
              <a:rPr sz="1900" spc="-245" dirty="0"/>
              <a:t>-</a:t>
            </a:r>
            <a:r>
              <a:rPr sz="1900" spc="-135" dirty="0"/>
              <a:t> </a:t>
            </a:r>
            <a:r>
              <a:rPr sz="1900" spc="-90" dirty="0"/>
              <a:t>a.in28minutes.com</a:t>
            </a:r>
            <a:r>
              <a:rPr sz="1900" spc="-130" dirty="0"/>
              <a:t> </a:t>
            </a:r>
            <a:r>
              <a:rPr sz="1900" spc="-114" dirty="0"/>
              <a:t>vs</a:t>
            </a:r>
            <a:r>
              <a:rPr sz="1900" spc="-130" dirty="0"/>
              <a:t> </a:t>
            </a:r>
            <a:r>
              <a:rPr sz="1900" spc="-20" dirty="0"/>
              <a:t>b.in28minutes.com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35" dirty="0"/>
              <a:t>Based</a:t>
            </a:r>
            <a:r>
              <a:rPr sz="1900" spc="-120" dirty="0"/>
              <a:t> </a:t>
            </a:r>
            <a:r>
              <a:rPr sz="1900" spc="-60" dirty="0"/>
              <a:t>on</a:t>
            </a:r>
            <a:r>
              <a:rPr sz="1900" spc="-114" dirty="0"/>
              <a:t> </a:t>
            </a:r>
            <a:r>
              <a:rPr sz="1900" b="1" spc="-90" dirty="0">
                <a:latin typeface="Trebuchet MS"/>
                <a:cs typeface="Trebuchet MS"/>
              </a:rPr>
              <a:t>HTTP</a:t>
            </a:r>
            <a:r>
              <a:rPr sz="1900" b="1" spc="-145" dirty="0">
                <a:latin typeface="Trebuchet MS"/>
                <a:cs typeface="Trebuchet MS"/>
              </a:rPr>
              <a:t> </a:t>
            </a:r>
            <a:r>
              <a:rPr sz="1900" b="1" spc="-90" dirty="0">
                <a:latin typeface="Trebuchet MS"/>
                <a:cs typeface="Trebuchet MS"/>
              </a:rPr>
              <a:t>headers</a:t>
            </a:r>
            <a:r>
              <a:rPr sz="1900" b="1" spc="-145" dirty="0">
                <a:latin typeface="Trebuchet MS"/>
                <a:cs typeface="Trebuchet MS"/>
              </a:rPr>
              <a:t> </a:t>
            </a:r>
            <a:r>
              <a:rPr sz="1900" spc="-85" dirty="0"/>
              <a:t>(Authorization</a:t>
            </a:r>
            <a:r>
              <a:rPr sz="1900" spc="-120" dirty="0"/>
              <a:t> </a:t>
            </a:r>
            <a:r>
              <a:rPr sz="1900" spc="-110" dirty="0"/>
              <a:t>header)</a:t>
            </a:r>
            <a:r>
              <a:rPr sz="1900" spc="-120" dirty="0"/>
              <a:t> </a:t>
            </a:r>
            <a:r>
              <a:rPr sz="1900" spc="-85" dirty="0"/>
              <a:t>and</a:t>
            </a:r>
            <a:r>
              <a:rPr sz="1900" spc="-120" dirty="0"/>
              <a:t> </a:t>
            </a:r>
            <a:r>
              <a:rPr sz="1900" spc="-100" dirty="0"/>
              <a:t>methods</a:t>
            </a:r>
            <a:r>
              <a:rPr sz="1900" spc="-120" dirty="0"/>
              <a:t> </a:t>
            </a:r>
            <a:r>
              <a:rPr sz="1900" spc="-195" dirty="0"/>
              <a:t>(POST,</a:t>
            </a:r>
            <a:r>
              <a:rPr sz="1900" spc="-120" dirty="0"/>
              <a:t> </a:t>
            </a:r>
            <a:r>
              <a:rPr sz="1900" spc="-215" dirty="0"/>
              <a:t>GET,</a:t>
            </a:r>
            <a:r>
              <a:rPr sz="1900" spc="-120" dirty="0"/>
              <a:t> </a:t>
            </a:r>
            <a:r>
              <a:rPr sz="1900" spc="-20" dirty="0"/>
              <a:t>etc)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73</a:t>
            </a:fld>
            <a:endParaRPr spc="-25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Load</a:t>
            </a:r>
            <a:r>
              <a:rPr spc="-245" dirty="0"/>
              <a:t> </a:t>
            </a:r>
            <a:r>
              <a:rPr spc="-65" dirty="0"/>
              <a:t>Balancing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70" dirty="0"/>
              <a:t>SSL/TLS</a:t>
            </a:r>
            <a:r>
              <a:rPr spc="-245" dirty="0"/>
              <a:t> </a:t>
            </a:r>
            <a:r>
              <a:rPr spc="-95" dirty="0"/>
              <a:t>Termination/Offloading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8586" y="969556"/>
            <a:ext cx="709509" cy="7178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4956" y="1353524"/>
            <a:ext cx="567608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56022" y="1086414"/>
            <a:ext cx="1335546" cy="58430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83387" y="1353524"/>
            <a:ext cx="567608" cy="834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26132" y="1027986"/>
            <a:ext cx="1669433" cy="66777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2146505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249708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2914443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32650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41380" y="3682382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08655" y="40329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08655" y="441693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470747" y="1925125"/>
            <a:ext cx="7987665" cy="266954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Client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Balancer: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Over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HTTPS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Balancer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instance: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Through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internal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HTTP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ok.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HTTPS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preferred.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SSL/TLS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Termination/Offloading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Client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Balancer: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HTTPS/TLS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Balancer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instance: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HTTP/TCP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00" dirty="0"/>
              <a:t>Load</a:t>
            </a:r>
            <a:r>
              <a:rPr spc="-250" dirty="0"/>
              <a:t> </a:t>
            </a:r>
            <a:r>
              <a:rPr spc="-65" dirty="0"/>
              <a:t>Balancing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65" dirty="0"/>
              <a:t>Choosing</a:t>
            </a:r>
            <a:r>
              <a:rPr spc="-245" dirty="0"/>
              <a:t> </a:t>
            </a:r>
            <a:r>
              <a:rPr spc="-100" dirty="0"/>
              <a:t>Load</a:t>
            </a:r>
            <a:r>
              <a:rPr spc="-250" dirty="0"/>
              <a:t> </a:t>
            </a:r>
            <a:r>
              <a:rPr spc="-55" dirty="0"/>
              <a:t>Balancer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6262" y="1320119"/>
            <a:ext cx="8080068" cy="42153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4956" y="1018624"/>
            <a:ext cx="4832985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b="1" i="1" spc="-80" dirty="0">
                <a:solidFill>
                  <a:srgbClr val="A52929"/>
                </a:solidFill>
                <a:latin typeface="Trebuchet MS"/>
                <a:cs typeface="Trebuchet MS"/>
                <a:hlinkClick r:id="rId3"/>
              </a:rPr>
              <a:t>https://cloud.google.com/load-</a:t>
            </a:r>
            <a:r>
              <a:rPr sz="1400" b="1" i="1" spc="-65" dirty="0">
                <a:solidFill>
                  <a:srgbClr val="A52929"/>
                </a:solidFill>
                <a:latin typeface="Trebuchet MS"/>
                <a:cs typeface="Trebuchet MS"/>
                <a:hlinkClick r:id="rId3"/>
              </a:rPr>
              <a:t>balancing/images/choose-</a:t>
            </a:r>
            <a:r>
              <a:rPr sz="1400" b="1" i="1" spc="-35" dirty="0">
                <a:solidFill>
                  <a:srgbClr val="A52929"/>
                </a:solidFill>
                <a:latin typeface="Trebuchet MS"/>
                <a:cs typeface="Trebuchet MS"/>
                <a:hlinkClick r:id="rId3"/>
              </a:rPr>
              <a:t>lb.svg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00" dirty="0"/>
              <a:t>Load</a:t>
            </a:r>
            <a:r>
              <a:rPr spc="-254" dirty="0"/>
              <a:t> </a:t>
            </a:r>
            <a:r>
              <a:rPr spc="-65" dirty="0"/>
              <a:t>Balancing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14" dirty="0"/>
              <a:t>Features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82950" y="1000733"/>
          <a:ext cx="10015218" cy="48126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4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9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8970"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Load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Balancer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87325" algn="ctr">
                        <a:lnSpc>
                          <a:spcPts val="1925"/>
                        </a:lnSpc>
                      </a:pPr>
                      <a:r>
                        <a:rPr sz="1650" b="1" spc="-10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Type</a:t>
                      </a:r>
                      <a:r>
                        <a:rPr sz="1650" b="1" spc="-1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7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Traffic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1925"/>
                        </a:lnSpc>
                      </a:pPr>
                      <a:r>
                        <a:rPr sz="1650" b="1" spc="-8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Proxy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7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pass-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  <a:p>
                      <a:pPr marL="58419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through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3350" algn="ctr">
                        <a:lnSpc>
                          <a:spcPts val="1925"/>
                        </a:lnSpc>
                      </a:pPr>
                      <a:r>
                        <a:rPr sz="1650" b="1" spc="-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Destination</a:t>
                      </a:r>
                      <a:r>
                        <a:rPr sz="1650" b="1" spc="-8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Ports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3140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7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External</a:t>
                      </a:r>
                      <a:r>
                        <a:rPr sz="1650" b="1" spc="-114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HTTP(S)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8732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Global,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External,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HTTP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HTTPS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Proxy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53390" marR="311785" algn="ctr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1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HTTP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</a:t>
                      </a: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80</a:t>
                      </a: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8080</a:t>
                      </a:r>
                      <a:endParaRPr sz="1650">
                        <a:latin typeface="Yu Gothic"/>
                        <a:cs typeface="Yu Gothic"/>
                      </a:endParaRPr>
                    </a:p>
                    <a:p>
                      <a:pPr marL="13398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650" spc="-1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HTTPS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443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1394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Internal</a:t>
                      </a:r>
                      <a:r>
                        <a:rPr sz="1650" b="1" spc="-114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HTTP(S)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8732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Regional,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Internal,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HTTP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HTTPS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Proxy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53390" marR="311785" algn="ctr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1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HTTP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</a:t>
                      </a: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80</a:t>
                      </a: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8080</a:t>
                      </a:r>
                      <a:endParaRPr sz="1650">
                        <a:latin typeface="Yu Gothic"/>
                        <a:cs typeface="Yu Gothic"/>
                      </a:endParaRPr>
                    </a:p>
                    <a:p>
                      <a:pPr marL="13398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650" spc="-1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HTTPS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443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SSL</a:t>
                      </a:r>
                      <a:r>
                        <a:rPr sz="1650" b="1" spc="-1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Proxy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718945" marR="518795" indent="-1005840">
                        <a:lnSpc>
                          <a:spcPct val="106200"/>
                        </a:lnSpc>
                        <a:spcBef>
                          <a:spcPts val="430"/>
                        </a:spcBef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Global,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External,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TCP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with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SSL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offload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5461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Proxy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335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big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list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7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TCP</a:t>
                      </a:r>
                      <a:r>
                        <a:rPr sz="1650" b="1" spc="-1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Proxy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718945" marR="368935" indent="-115506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Global,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External,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TCP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without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SSL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offload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Proxy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335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big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list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 marR="52260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b="1" spc="-7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External</a:t>
                      </a:r>
                      <a:r>
                        <a:rPr sz="1650" b="1" spc="-114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Network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TCP/UDP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8732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Regional,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External,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TCP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3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UDP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Pass-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through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335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any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10059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281845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4095567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5088879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82950" y="581508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Load</a:t>
            </a:r>
            <a:r>
              <a:rPr spc="-250" dirty="0"/>
              <a:t> </a:t>
            </a:r>
            <a:r>
              <a:rPr spc="-105" dirty="0"/>
              <a:t>Balancer</a:t>
            </a:r>
            <a:r>
              <a:rPr spc="-250" dirty="0"/>
              <a:t> </a:t>
            </a:r>
            <a:r>
              <a:rPr spc="-65" dirty="0"/>
              <a:t>Scenarios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96370" y="980227"/>
            <a:ext cx="6009640" cy="10045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76370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  <a:tabLst>
                <a:tab pos="3976370" algn="l"/>
              </a:tabLst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only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healthy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health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check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receive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traffic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6370" y="2134139"/>
            <a:ext cx="3418204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high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VM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60618" y="2134139"/>
            <a:ext cx="546608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85" dirty="0">
                <a:solidFill>
                  <a:srgbClr val="212121"/>
                </a:solidFill>
                <a:latin typeface="Yu Gothic"/>
                <a:cs typeface="Yu Gothic"/>
              </a:rPr>
              <a:t>MIGs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7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regions.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Load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balance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Load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Balancer.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6370" y="2851994"/>
            <a:ext cx="3483610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route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requests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multiple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microservices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using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same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load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balancer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60618" y="2851994"/>
            <a:ext cx="5777230" cy="112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individual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85" dirty="0">
                <a:solidFill>
                  <a:srgbClr val="212121"/>
                </a:solidFill>
                <a:latin typeface="Yu Gothic"/>
                <a:cs typeface="Yu Gothic"/>
              </a:rPr>
              <a:t>MIGs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backends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each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microservice.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path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redirect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microservice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backend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path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(/microservice-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a,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/microservice-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b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etc). </a:t>
            </a:r>
            <a:r>
              <a:rPr sz="1650" spc="-16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route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backend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well.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6370" y="4137457"/>
            <a:ext cx="3703954" cy="8356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6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load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balance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Global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external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HTTPS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traffic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across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backend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instances,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across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multiple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regions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60618" y="4152148"/>
            <a:ext cx="351155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Choose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External </a:t>
            </a:r>
            <a:r>
              <a:rPr sz="1650" spc="-160" dirty="0">
                <a:solidFill>
                  <a:srgbClr val="212121"/>
                </a:solidFill>
                <a:latin typeface="Yu Gothic"/>
                <a:cs typeface="Yu Gothic"/>
              </a:rPr>
              <a:t>HTTP(S)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Balancer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6370" y="5122422"/>
            <a:ext cx="345694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SSL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termination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Global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non-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HTTPS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traffic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load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balancing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60618" y="5145460"/>
            <a:ext cx="287655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Choose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80" dirty="0">
                <a:solidFill>
                  <a:srgbClr val="212121"/>
                </a:solidFill>
                <a:latin typeface="Yu Gothic"/>
                <a:cs typeface="Yu Gothic"/>
              </a:rPr>
              <a:t>SSL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Proxy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Load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Balancer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7165" y="2417608"/>
            <a:ext cx="580834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25" dirty="0">
                <a:solidFill>
                  <a:srgbClr val="1BA74A"/>
                </a:solidFill>
              </a:rPr>
              <a:t>Managed</a:t>
            </a:r>
            <a:r>
              <a:rPr sz="5900" spc="-515" dirty="0">
                <a:solidFill>
                  <a:srgbClr val="1BA74A"/>
                </a:solidFill>
              </a:rPr>
              <a:t> </a:t>
            </a:r>
            <a:r>
              <a:rPr sz="5900" spc="-195" dirty="0">
                <a:solidFill>
                  <a:srgbClr val="1BA74A"/>
                </a:solidFill>
              </a:rPr>
              <a:t>Services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78</a:t>
            </a:fld>
            <a:endParaRPr spc="-25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9258" y="1225812"/>
            <a:ext cx="1686664" cy="10848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88572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312312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5070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8827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42583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6423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5059664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866705"/>
            <a:ext cx="7838440" cy="4399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continue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30" dirty="0">
                <a:solidFill>
                  <a:srgbClr val="212121"/>
                </a:solidFill>
                <a:latin typeface="Trebuchet MS"/>
                <a:cs typeface="Trebuchet MS"/>
              </a:rPr>
              <a:t>running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applications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,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same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way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run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them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center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40" dirty="0">
                <a:solidFill>
                  <a:srgbClr val="212121"/>
                </a:solidFill>
                <a:latin typeface="Trebuchet MS"/>
                <a:cs typeface="Trebuchet MS"/>
              </a:rPr>
              <a:t>there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OTHER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approaches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9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understand</a:t>
            </a:r>
            <a:r>
              <a:rPr sz="2350" b="1" spc="-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some</a:t>
            </a:r>
            <a:r>
              <a:rPr sz="2350" b="1" spc="-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terminology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cloud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IaaS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(Infrastructure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Service)</a:t>
            </a:r>
            <a:endParaRPr sz="1900">
              <a:latin typeface="Yu Gothic"/>
              <a:cs typeface="Yu Gothic"/>
            </a:endParaRPr>
          </a:p>
          <a:p>
            <a:pPr marL="346075" marR="4555490">
              <a:lnSpc>
                <a:spcPct val="130700"/>
              </a:lnSpc>
              <a:spcBef>
                <a:spcPts val="45"/>
              </a:spcBef>
            </a:pPr>
            <a:r>
              <a:rPr sz="1900" b="1" spc="-30" dirty="0">
                <a:solidFill>
                  <a:srgbClr val="212121"/>
                </a:solidFill>
                <a:latin typeface="Trebuchet MS"/>
                <a:cs typeface="Trebuchet MS"/>
              </a:rPr>
              <a:t>PaaS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(Platform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Service)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FaaS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(Function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as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Service) </a:t>
            </a:r>
            <a:r>
              <a:rPr sz="1900" b="1" spc="-30" dirty="0">
                <a:solidFill>
                  <a:srgbClr val="212121"/>
                </a:solidFill>
                <a:latin typeface="Trebuchet MS"/>
                <a:cs typeface="Trebuchet MS"/>
              </a:rPr>
              <a:t>CaaS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(Container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Service)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Serverless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quick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journey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understand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these!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5" dirty="0"/>
              <a:t>Managed</a:t>
            </a:r>
            <a:r>
              <a:rPr spc="-235" dirty="0"/>
              <a:t> </a:t>
            </a:r>
            <a:r>
              <a:rPr spc="-90" dirty="0"/>
              <a:t>Services</a:t>
            </a:r>
          </a:p>
        </p:txBody>
      </p:sp>
      <p:sp>
        <p:nvSpPr>
          <p:cNvPr id="14" name="object 14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4893" y="1094780"/>
            <a:ext cx="2789528" cy="32759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88572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11477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49039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87436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24998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62561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799928"/>
            <a:ext cx="6837045" cy="400367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only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infrastructure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provider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1350645" algn="l"/>
                <a:tab pos="2204720" algn="l"/>
                <a:tab pos="2724785" algn="l"/>
                <a:tab pos="3132455" algn="l"/>
                <a:tab pos="4140200" algn="l"/>
                <a:tab pos="4856480" algn="l"/>
                <a:tab pos="655637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Example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41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responsible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for: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Code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Runtime</a:t>
            </a:r>
            <a:endParaRPr sz="1900">
              <a:latin typeface="Yu Gothic"/>
              <a:cs typeface="Yu Gothic"/>
            </a:endParaRPr>
          </a:p>
          <a:p>
            <a:pPr marL="346075" marR="3775710">
              <a:lnSpc>
                <a:spcPct val="129700"/>
              </a:lnSpc>
              <a:spcBef>
                <a:spcPts val="65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Configuring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balancing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endParaRPr sz="1900">
              <a:latin typeface="Yu Gothic"/>
              <a:cs typeface="Yu Gothic"/>
            </a:endParaRPr>
          </a:p>
          <a:p>
            <a:pPr marL="346075" marR="3930015">
              <a:lnSpc>
                <a:spcPct val="129700"/>
              </a:lnSpc>
              <a:spcBef>
                <a:spcPts val="70"/>
              </a:spcBef>
            </a:pP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upgrades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patches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etc..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lot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things!)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5" dirty="0"/>
              <a:t>IAAS</a:t>
            </a:r>
            <a:r>
              <a:rPr spc="-254" dirty="0"/>
              <a:t> </a:t>
            </a:r>
            <a:r>
              <a:rPr spc="-125" dirty="0"/>
              <a:t>(Infrastructure</a:t>
            </a:r>
            <a:r>
              <a:rPr spc="-254" dirty="0"/>
              <a:t> </a:t>
            </a:r>
            <a:r>
              <a:rPr spc="-25" dirty="0"/>
              <a:t>as</a:t>
            </a:r>
            <a:r>
              <a:rPr spc="-254" dirty="0"/>
              <a:t> </a:t>
            </a:r>
            <a:r>
              <a:rPr spc="-40" dirty="0"/>
              <a:t>a</a:t>
            </a:r>
            <a:r>
              <a:rPr spc="-250" dirty="0"/>
              <a:t> </a:t>
            </a:r>
            <a:r>
              <a:rPr spc="-95" dirty="0"/>
              <a:t>Service)</a:t>
            </a:r>
          </a:p>
        </p:txBody>
      </p:sp>
      <p:sp>
        <p:nvSpPr>
          <p:cNvPr id="14" name="object 14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4893" y="1094750"/>
            <a:ext cx="2804647" cy="334722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633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64733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064692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4152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79089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216600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55883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49428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3184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799928"/>
            <a:ext cx="6837045" cy="501332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platform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provided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provider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responsible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for: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(incl.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upgrades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patches)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Runtime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scaling,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Load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balancing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etc..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responsible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for: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(of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code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(if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needed)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Varieties: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CAAS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(Container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as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Service)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Containers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instead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Apps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FAAS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(Function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as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Service)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Functions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instead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Apps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9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Relational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NoSQL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(Amazon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RDS,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Cloud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SQL,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Azure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etc),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Queues,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AI,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5" dirty="0">
                <a:solidFill>
                  <a:srgbClr val="212121"/>
                </a:solidFill>
                <a:latin typeface="Yu Gothic"/>
                <a:cs typeface="Yu Gothic"/>
              </a:rPr>
              <a:t>ML,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etc!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0" dirty="0"/>
              <a:t>PAAS</a:t>
            </a:r>
            <a:r>
              <a:rPr spc="-260" dirty="0"/>
              <a:t> </a:t>
            </a:r>
            <a:r>
              <a:rPr spc="-95" dirty="0"/>
              <a:t>(Platform</a:t>
            </a:r>
            <a:r>
              <a:rPr spc="-254" dirty="0"/>
              <a:t> </a:t>
            </a:r>
            <a:r>
              <a:rPr spc="-25" dirty="0"/>
              <a:t>as</a:t>
            </a:r>
            <a:r>
              <a:rPr spc="-260" dirty="0"/>
              <a:t> </a:t>
            </a:r>
            <a:r>
              <a:rPr spc="-40" dirty="0"/>
              <a:t>a</a:t>
            </a:r>
            <a:r>
              <a:rPr spc="-254" dirty="0"/>
              <a:t> </a:t>
            </a:r>
            <a:r>
              <a:rPr spc="-100" dirty="0"/>
              <a:t>Service)</a:t>
            </a:r>
          </a:p>
        </p:txBody>
      </p:sp>
      <p:sp>
        <p:nvSpPr>
          <p:cNvPr id="17" name="object 17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Microservices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7010" y="927820"/>
            <a:ext cx="7128479" cy="12687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638987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298956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33651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099740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558834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52933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60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pc="-120" dirty="0"/>
              <a:t>Enterprises</a:t>
            </a:r>
            <a:r>
              <a:rPr spc="-130" dirty="0"/>
              <a:t> </a:t>
            </a:r>
            <a:r>
              <a:rPr spc="-114" dirty="0"/>
              <a:t>are</a:t>
            </a:r>
            <a:r>
              <a:rPr spc="-125" dirty="0"/>
              <a:t> </a:t>
            </a:r>
            <a:r>
              <a:rPr spc="-100" dirty="0"/>
              <a:t>heading</a:t>
            </a:r>
            <a:r>
              <a:rPr spc="-125" dirty="0"/>
              <a:t> </a:t>
            </a:r>
            <a:r>
              <a:rPr spc="-110" dirty="0"/>
              <a:t>towards</a:t>
            </a:r>
            <a:r>
              <a:rPr spc="-125" dirty="0"/>
              <a:t> </a:t>
            </a:r>
            <a:r>
              <a:rPr spc="-110" dirty="0"/>
              <a:t>microservices</a:t>
            </a:r>
            <a:r>
              <a:rPr spc="-125" dirty="0"/>
              <a:t> </a:t>
            </a:r>
            <a:r>
              <a:rPr spc="-10" dirty="0"/>
              <a:t>architectures</a:t>
            </a: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0" dirty="0"/>
              <a:t>Build</a:t>
            </a:r>
            <a:r>
              <a:rPr sz="1900" spc="-130" dirty="0"/>
              <a:t> </a:t>
            </a:r>
            <a:r>
              <a:rPr sz="1900" spc="-85" dirty="0"/>
              <a:t>small</a:t>
            </a:r>
            <a:r>
              <a:rPr sz="1900" spc="-130" dirty="0"/>
              <a:t> </a:t>
            </a:r>
            <a:r>
              <a:rPr sz="1900" spc="-110" dirty="0"/>
              <a:t>focused</a:t>
            </a:r>
            <a:r>
              <a:rPr sz="1900" spc="-130" dirty="0"/>
              <a:t> </a:t>
            </a:r>
            <a:r>
              <a:rPr sz="1900" spc="-10" dirty="0"/>
              <a:t>microservices</a:t>
            </a:r>
            <a:endParaRPr sz="1900"/>
          </a:p>
          <a:p>
            <a:pPr marL="346075" marR="5080">
              <a:lnSpc>
                <a:spcPct val="109500"/>
              </a:lnSpc>
              <a:spcBef>
                <a:spcPts val="464"/>
              </a:spcBef>
            </a:pPr>
            <a:r>
              <a:rPr sz="1900" b="1" spc="-95" dirty="0">
                <a:latin typeface="Trebuchet MS"/>
                <a:cs typeface="Trebuchet MS"/>
              </a:rPr>
              <a:t>Flexibility</a:t>
            </a:r>
            <a:r>
              <a:rPr sz="1900" b="1" spc="-45" dirty="0">
                <a:latin typeface="Trebuchet MS"/>
                <a:cs typeface="Trebuchet MS"/>
              </a:rPr>
              <a:t> </a:t>
            </a:r>
            <a:r>
              <a:rPr sz="1900" b="1" spc="-60" dirty="0">
                <a:latin typeface="Trebuchet MS"/>
                <a:cs typeface="Trebuchet MS"/>
              </a:rPr>
              <a:t>to</a:t>
            </a:r>
            <a:r>
              <a:rPr sz="1900" b="1" spc="-40" dirty="0">
                <a:latin typeface="Trebuchet MS"/>
                <a:cs typeface="Trebuchet MS"/>
              </a:rPr>
              <a:t> </a:t>
            </a:r>
            <a:r>
              <a:rPr sz="1900" b="1" spc="-85" dirty="0">
                <a:latin typeface="Trebuchet MS"/>
                <a:cs typeface="Trebuchet MS"/>
              </a:rPr>
              <a:t>innovate</a:t>
            </a:r>
            <a:r>
              <a:rPr sz="1900" b="1" spc="-45" dirty="0">
                <a:latin typeface="Trebuchet MS"/>
                <a:cs typeface="Trebuchet MS"/>
              </a:rPr>
              <a:t> </a:t>
            </a:r>
            <a:r>
              <a:rPr sz="1900" spc="-70" dirty="0"/>
              <a:t>and</a:t>
            </a:r>
            <a:r>
              <a:rPr sz="1900" spc="-20" dirty="0"/>
              <a:t> </a:t>
            </a:r>
            <a:r>
              <a:rPr sz="1900" spc="-40" dirty="0"/>
              <a:t>build</a:t>
            </a:r>
            <a:r>
              <a:rPr sz="1900" spc="-15" dirty="0"/>
              <a:t> </a:t>
            </a:r>
            <a:r>
              <a:rPr sz="1900" spc="-80" dirty="0"/>
              <a:t>applications</a:t>
            </a:r>
            <a:r>
              <a:rPr sz="1900" spc="-20" dirty="0"/>
              <a:t> in</a:t>
            </a:r>
            <a:r>
              <a:rPr sz="1900" spc="-15" dirty="0"/>
              <a:t> </a:t>
            </a:r>
            <a:r>
              <a:rPr sz="1900" spc="-90" dirty="0"/>
              <a:t>different</a:t>
            </a:r>
            <a:r>
              <a:rPr sz="1900" spc="-15" dirty="0"/>
              <a:t> </a:t>
            </a:r>
            <a:r>
              <a:rPr sz="1900" spc="-70" dirty="0"/>
              <a:t>programming</a:t>
            </a:r>
            <a:r>
              <a:rPr sz="1900" spc="-20" dirty="0"/>
              <a:t> </a:t>
            </a:r>
            <a:r>
              <a:rPr sz="1900" spc="-105" dirty="0"/>
              <a:t>languages</a:t>
            </a:r>
            <a:r>
              <a:rPr sz="1900" spc="-15" dirty="0"/>
              <a:t> </a:t>
            </a:r>
            <a:r>
              <a:rPr sz="1900" spc="-125" dirty="0"/>
              <a:t>(Go,</a:t>
            </a:r>
            <a:r>
              <a:rPr sz="1900" spc="-20" dirty="0"/>
              <a:t> </a:t>
            </a:r>
            <a:r>
              <a:rPr sz="1900" spc="-10" dirty="0"/>
              <a:t>Java, </a:t>
            </a:r>
            <a:r>
              <a:rPr sz="1900" spc="-75" dirty="0"/>
              <a:t>Python,</a:t>
            </a:r>
            <a:r>
              <a:rPr sz="1900" spc="-105" dirty="0"/>
              <a:t> </a:t>
            </a:r>
            <a:r>
              <a:rPr sz="1900" spc="-60" dirty="0"/>
              <a:t>JavaScript,</a:t>
            </a:r>
            <a:r>
              <a:rPr sz="1900" spc="-100" dirty="0"/>
              <a:t> </a:t>
            </a:r>
            <a:r>
              <a:rPr sz="1900" spc="-20" dirty="0"/>
              <a:t>etc)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pc="-229" dirty="0"/>
              <a:t>BUT</a:t>
            </a:r>
            <a:r>
              <a:rPr spc="-150" dirty="0"/>
              <a:t> </a:t>
            </a:r>
            <a:r>
              <a:rPr b="1" spc="-80" dirty="0">
                <a:latin typeface="Trebuchet MS"/>
                <a:cs typeface="Trebuchet MS"/>
              </a:rPr>
              <a:t>deployments</a:t>
            </a:r>
            <a:r>
              <a:rPr b="1" spc="-170" dirty="0">
                <a:latin typeface="Trebuchet MS"/>
                <a:cs typeface="Trebuchet MS"/>
              </a:rPr>
              <a:t> </a:t>
            </a:r>
            <a:r>
              <a:rPr b="1" spc="-110" dirty="0">
                <a:latin typeface="Trebuchet MS"/>
                <a:cs typeface="Trebuchet MS"/>
              </a:rPr>
              <a:t>become</a:t>
            </a:r>
            <a:r>
              <a:rPr b="1" spc="-17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complex</a:t>
            </a:r>
            <a:r>
              <a:rPr spc="-10" dirty="0"/>
              <a:t>!</a:t>
            </a:r>
          </a:p>
          <a:p>
            <a:pPr marL="12700" marR="5080">
              <a:lnSpc>
                <a:spcPct val="109500"/>
              </a:lnSpc>
              <a:spcBef>
                <a:spcPts val="530"/>
              </a:spcBef>
            </a:pPr>
            <a:r>
              <a:rPr spc="-35" dirty="0"/>
              <a:t>How </a:t>
            </a:r>
            <a:r>
              <a:rPr spc="-25" dirty="0"/>
              <a:t>can</a:t>
            </a:r>
            <a:r>
              <a:rPr spc="-30" dirty="0"/>
              <a:t> </a:t>
            </a:r>
            <a:r>
              <a:rPr dirty="0"/>
              <a:t>we</a:t>
            </a:r>
            <a:r>
              <a:rPr spc="-35" dirty="0"/>
              <a:t> </a:t>
            </a:r>
            <a:r>
              <a:rPr spc="-25" dirty="0"/>
              <a:t>have</a:t>
            </a:r>
            <a:r>
              <a:rPr spc="-30" dirty="0"/>
              <a:t> </a:t>
            </a:r>
            <a:r>
              <a:rPr b="1" dirty="0">
                <a:latin typeface="Trebuchet MS"/>
                <a:cs typeface="Trebuchet MS"/>
              </a:rPr>
              <a:t>one</a:t>
            </a:r>
            <a:r>
              <a:rPr b="1" spc="-6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way</a:t>
            </a:r>
            <a:r>
              <a:rPr b="1" spc="-6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of</a:t>
            </a:r>
            <a:r>
              <a:rPr b="1" spc="-65" dirty="0">
                <a:latin typeface="Trebuchet MS"/>
                <a:cs typeface="Trebuchet MS"/>
              </a:rPr>
              <a:t> </a:t>
            </a:r>
            <a:r>
              <a:rPr b="1" spc="-30" dirty="0">
                <a:latin typeface="Trebuchet MS"/>
                <a:cs typeface="Trebuchet MS"/>
              </a:rPr>
              <a:t>deploying</a:t>
            </a:r>
            <a:r>
              <a:rPr b="1" spc="-70" dirty="0">
                <a:latin typeface="Trebuchet MS"/>
                <a:cs typeface="Trebuchet MS"/>
              </a:rPr>
              <a:t> </a:t>
            </a:r>
            <a:r>
              <a:rPr spc="-20" dirty="0"/>
              <a:t>Go,</a:t>
            </a:r>
            <a:r>
              <a:rPr spc="-30" dirty="0"/>
              <a:t> </a:t>
            </a:r>
            <a:r>
              <a:rPr dirty="0"/>
              <a:t>Java,</a:t>
            </a:r>
            <a:r>
              <a:rPr spc="-35" dirty="0"/>
              <a:t> Python</a:t>
            </a:r>
            <a:r>
              <a:rPr spc="-30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spc="-40" dirty="0"/>
              <a:t>JavaScript</a:t>
            </a:r>
            <a:r>
              <a:rPr spc="-30" dirty="0"/>
              <a:t> </a:t>
            </a:r>
            <a:r>
              <a:rPr spc="-25" dirty="0"/>
              <a:t>.. </a:t>
            </a:r>
            <a:r>
              <a:rPr spc="-45" dirty="0"/>
              <a:t>microservices?</a:t>
            </a: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00" dirty="0"/>
              <a:t>Enter</a:t>
            </a:r>
            <a:r>
              <a:rPr sz="1900" spc="-135" dirty="0"/>
              <a:t> </a:t>
            </a:r>
            <a:r>
              <a:rPr sz="1900" b="1" spc="-10" dirty="0">
                <a:latin typeface="Trebuchet MS"/>
                <a:cs typeface="Trebuchet MS"/>
              </a:rPr>
              <a:t>containers</a:t>
            </a:r>
            <a:r>
              <a:rPr sz="1900" spc="-10" dirty="0"/>
              <a:t>!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82</a:t>
            </a:fld>
            <a:endParaRPr spc="-25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4726" y="1186138"/>
            <a:ext cx="3623316" cy="21566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633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89070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4152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79089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216600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55883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855158"/>
            <a:ext cx="66777" cy="6677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1932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5688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799928"/>
            <a:ext cx="5796280" cy="494665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Docker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Docker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has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needs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microservice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Runtime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(JDK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Python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NodeJS)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code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Dependencies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Runs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same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way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infrastructure: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local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endParaRPr sz="1900">
              <a:latin typeface="Yu Gothic"/>
              <a:cs typeface="Yu Gothic"/>
            </a:endParaRPr>
          </a:p>
          <a:p>
            <a:pPr marL="346075" marR="3239135">
              <a:lnSpc>
                <a:spcPct val="129700"/>
              </a:lnSpc>
              <a:spcBef>
                <a:spcPts val="65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Corporate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center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Advantages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Docker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containers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light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weight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Compared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Machines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Guest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endParaRPr sz="1500">
              <a:latin typeface="Yu Gothic"/>
              <a:cs typeface="Yu Gothic"/>
            </a:endParaRPr>
          </a:p>
          <a:p>
            <a:pPr marL="346075" marR="1430655">
              <a:lnSpc>
                <a:spcPct val="129700"/>
              </a:lnSpc>
              <a:spcBef>
                <a:spcPts val="1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Docker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isolation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containers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Docker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neutral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331470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Containers</a:t>
            </a:r>
            <a:r>
              <a:rPr spc="-240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100" dirty="0"/>
              <a:t>Docker</a:t>
            </a:r>
          </a:p>
        </p:txBody>
      </p:sp>
      <p:sp>
        <p:nvSpPr>
          <p:cNvPr id="18" name="object 1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83</a:t>
            </a:fld>
            <a:endParaRPr spc="-25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3001" y="1283662"/>
            <a:ext cx="4497194" cy="24497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21795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335684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40496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474247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54352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866705"/>
            <a:ext cx="4833620" cy="505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9500"/>
              </a:lnSpc>
              <a:spcBef>
                <a:spcPts val="95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Requirement</a:t>
            </a:r>
            <a:r>
              <a:rPr sz="2350" b="1" spc="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10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4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container,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15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5" dirty="0">
                <a:solidFill>
                  <a:srgbClr val="212121"/>
                </a:solidFill>
                <a:latin typeface="Yu Gothic"/>
                <a:cs typeface="Yu Gothic"/>
              </a:rPr>
              <a:t>B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container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....</a:t>
            </a:r>
            <a:endParaRPr sz="235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795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Typical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Features: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Auto</a:t>
            </a:r>
            <a:r>
              <a:rPr sz="1900" b="1" spc="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Scaling</a:t>
            </a:r>
            <a:r>
              <a:rPr sz="1900" b="1" spc="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9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containers</a:t>
            </a:r>
            <a:r>
              <a:rPr sz="19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19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on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demand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34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 Discovery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Help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microservices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find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25"/>
              </a:spcBef>
              <a:tabLst>
                <a:tab pos="1021715" algn="l"/>
                <a:tab pos="2100580" algn="l"/>
                <a:tab pos="2342515" algn="l"/>
                <a:tab pos="3503295" algn="l"/>
                <a:tab pos="4114800" algn="l"/>
              </a:tabLst>
            </a:pP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Load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Balancer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Distribute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among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Self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Healing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health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checks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replace failing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</a:pP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Zero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Downtime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Deployments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Release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new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versions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without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downtime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Container</a:t>
            </a:r>
            <a:r>
              <a:rPr spc="-229" dirty="0"/>
              <a:t> </a:t>
            </a:r>
            <a:r>
              <a:rPr spc="-105" dirty="0"/>
              <a:t>Orchestration</a:t>
            </a:r>
          </a:p>
        </p:txBody>
      </p:sp>
      <p:sp>
        <p:nvSpPr>
          <p:cNvPr id="12" name="object 12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Serverless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868534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3248330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35989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3886887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608655" y="42249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1756" y="4521272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901068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608655" y="56356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70747" y="856689"/>
            <a:ext cx="9741535" cy="495681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think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develop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application?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Where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deploy?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What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kind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server?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What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OS?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we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care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application?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What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if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0" dirty="0">
                <a:solidFill>
                  <a:srgbClr val="212121"/>
                </a:solidFill>
                <a:latin typeface="Trebuchet MS"/>
                <a:cs typeface="Trebuchet MS"/>
              </a:rPr>
              <a:t>don't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need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worry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about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servers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focus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code?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Enter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Serverless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Remember: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Serverless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does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5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mean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212121"/>
                </a:solidFill>
                <a:latin typeface="Trebuchet MS"/>
                <a:cs typeface="Trebuchet MS"/>
              </a:rPr>
              <a:t>"No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Servers"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Serverless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me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35" dirty="0">
                <a:solidFill>
                  <a:srgbClr val="212121"/>
                </a:solidFill>
                <a:latin typeface="Trebuchet MS"/>
                <a:cs typeface="Trebuchet MS"/>
              </a:rPr>
              <a:t>don't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worry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(ZERO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visibility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into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infrastructure)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Flexible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automated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Important: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Pay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Ideally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ZERO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0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ZERO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endParaRPr sz="150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00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0" dirty="0">
                <a:solidFill>
                  <a:srgbClr val="212121"/>
                </a:solidFill>
                <a:latin typeface="Trebuchet MS"/>
                <a:cs typeface="Trebuchet MS"/>
              </a:rPr>
              <a:t>focus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code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managed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takes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care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is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needed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code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millions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requests!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pay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servers!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85</a:t>
            </a:fld>
            <a:endParaRPr spc="-25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Serverless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65" dirty="0"/>
              <a:t>My</a:t>
            </a:r>
            <a:r>
              <a:rPr spc="-260" dirty="0"/>
              <a:t> </a:t>
            </a:r>
            <a:r>
              <a:rPr spc="-114" dirty="0"/>
              <a:t>Perspective!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8655" y="25638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294783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365190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824284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1748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780034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08655" y="51097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5406071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470747" y="856689"/>
            <a:ext cx="9742170" cy="468820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Serverless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Important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Features: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1: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Zero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worry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infrastructure,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endParaRPr sz="1900">
              <a:latin typeface="Yu Gothic"/>
              <a:cs typeface="Yu Gothic"/>
            </a:endParaRPr>
          </a:p>
          <a:p>
            <a:pPr marL="346075" marR="2065020">
              <a:lnSpc>
                <a:spcPts val="3020"/>
              </a:lnSpc>
              <a:spcBef>
                <a:spcPts val="16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2: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Zero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invocations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Zero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(Can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ZERO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instances?)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3: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Pay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invocations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servers)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Serverless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Level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Features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(1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2)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Serverless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Level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Features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(1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2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3)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When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refer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Serverless,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I'm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referring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endParaRPr sz="2350">
              <a:latin typeface="Yu Gothic"/>
              <a:cs typeface="Yu Gothic"/>
            </a:endParaRPr>
          </a:p>
          <a:p>
            <a:pPr marL="346075" marR="5080" indent="-334010">
              <a:lnSpc>
                <a:spcPct val="107900"/>
              </a:lnSpc>
              <a:spcBef>
                <a:spcPts val="575"/>
              </a:spcBef>
            </a:pP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HOWEVER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providers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include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1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2: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Level</a:t>
            </a:r>
            <a:r>
              <a:rPr sz="1900" b="1" spc="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1900" b="1" spc="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b="1" spc="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(Google</a:t>
            </a:r>
            <a:r>
              <a:rPr sz="1900" spc="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Calls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"App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900" spc="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fully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managed,</a:t>
            </a:r>
            <a:r>
              <a:rPr sz="1900" spc="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serverless platform"),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AWS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Fargate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(AWS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calls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"serverless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containers")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ZERO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there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load,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BUT</a:t>
            </a:r>
            <a:r>
              <a:rPr sz="15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pay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(and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type)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running!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30"/>
              </a:spcBef>
            </a:pP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Level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: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Functions,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AWS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Lambda,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Azure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Functions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pay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invocations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86</a:t>
            </a:fld>
            <a:endParaRPr spc="-25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05385" y="2096423"/>
            <a:ext cx="701162" cy="8574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06243" y="3098090"/>
            <a:ext cx="706771" cy="8654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06243" y="4108075"/>
            <a:ext cx="706771" cy="86543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GCP</a:t>
            </a:r>
            <a:r>
              <a:rPr spc="-254" dirty="0"/>
              <a:t> </a:t>
            </a:r>
            <a:r>
              <a:rPr spc="-65" dirty="0"/>
              <a:t>Managed</a:t>
            </a:r>
            <a:r>
              <a:rPr spc="-250" dirty="0"/>
              <a:t> </a:t>
            </a:r>
            <a:r>
              <a:rPr spc="-110" dirty="0"/>
              <a:t>Services</a:t>
            </a:r>
            <a:r>
              <a:rPr spc="-250" dirty="0"/>
              <a:t> </a:t>
            </a:r>
            <a:r>
              <a:rPr spc="-140" dirty="0"/>
              <a:t>for</a:t>
            </a:r>
            <a:r>
              <a:rPr spc="-250" dirty="0"/>
              <a:t> </a:t>
            </a:r>
            <a:r>
              <a:rPr spc="-65" dirty="0"/>
              <a:t>Compute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82950" y="1000733"/>
          <a:ext cx="9114790" cy="45370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8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Service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Details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765" algn="ctr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Category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Compute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Engine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20979" marR="373380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High-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performance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general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purpose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VMs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that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scale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globally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76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IaaS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3140">
                <a:tc>
                  <a:txBody>
                    <a:bodyPr/>
                    <a:lstStyle/>
                    <a:p>
                      <a:pPr marL="125730" marR="669925">
                        <a:lnSpc>
                          <a:spcPct val="107900"/>
                        </a:lnSpc>
                        <a:spcBef>
                          <a:spcPts val="395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Google </a:t>
                      </a: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Kubernetes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Engine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5016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20979" marR="27241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Orchestrate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containerized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microservices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Kubernetes 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Needs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advanced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cluster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configuration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monitoring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76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CaaS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7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App</a:t>
                      </a:r>
                      <a:r>
                        <a:rPr sz="1650" b="1" spc="-1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Engine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20979" marR="431800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Build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highly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scalable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applications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fully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managed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platform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using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open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familiar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languages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3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tools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57530" marR="357505" indent="-4000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1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PaaS</a:t>
                      </a: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(CaaS,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Serverless)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Cloud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Functions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20979" marR="56324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Build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event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driven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applications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using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simple,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single- 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purpose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functions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76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FaaS,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Serverless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1394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Cloud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Run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20979" marR="780415">
                        <a:lnSpc>
                          <a:spcPct val="106200"/>
                        </a:lnSpc>
                        <a:spcBef>
                          <a:spcPts val="495"/>
                        </a:spcBef>
                      </a:pP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Develop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deploy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highly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scalable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containerized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applications.</a:t>
                      </a:r>
                      <a:endParaRPr sz="1650">
                        <a:latin typeface="Yu Gothic"/>
                        <a:cs typeface="Yu Gothic"/>
                      </a:endParaRPr>
                    </a:p>
                    <a:p>
                      <a:pPr marL="220979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spc="-13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Does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NOT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need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cluster!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286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76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spc="-13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CaaS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(Serverless)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87</a:t>
            </a:fld>
            <a:endParaRPr spc="-25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2388" y="2417608"/>
            <a:ext cx="365823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254" dirty="0">
                <a:solidFill>
                  <a:srgbClr val="1BA74A"/>
                </a:solidFill>
              </a:rPr>
              <a:t>App</a:t>
            </a:r>
            <a:r>
              <a:rPr sz="5900" spc="-550" dirty="0">
                <a:solidFill>
                  <a:srgbClr val="1BA74A"/>
                </a:solidFill>
              </a:rPr>
              <a:t> </a:t>
            </a:r>
            <a:r>
              <a:rPr sz="5900" spc="-150" dirty="0">
                <a:solidFill>
                  <a:srgbClr val="1BA74A"/>
                </a:solidFill>
              </a:rPr>
              <a:t>Engine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88</a:t>
            </a:fld>
            <a:endParaRPr spc="-25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373537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832631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1832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55883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49428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3184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856689"/>
            <a:ext cx="7693025" cy="463994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Simplest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way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Provides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end-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to-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end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management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Supports: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Go,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Java,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.NET,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Node.js,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PHP,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Python,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Ruby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pre-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configured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runtimes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run-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write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code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language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variety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products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No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usage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charges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Pay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provisioned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Features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Automatic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balancing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endParaRPr sz="1900">
              <a:latin typeface="Yu Gothic"/>
              <a:cs typeface="Yu Gothic"/>
            </a:endParaRPr>
          </a:p>
          <a:p>
            <a:pPr marL="346075" marR="1363345">
              <a:lnSpc>
                <a:spcPts val="3020"/>
              </a:lnSpc>
              <a:spcBef>
                <a:spcPts val="165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platform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updates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health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monitoring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versioning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splitting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91452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App</a:t>
            </a:r>
            <a:r>
              <a:rPr spc="-270" dirty="0"/>
              <a:t> </a:t>
            </a:r>
            <a:r>
              <a:rPr spc="-70" dirty="0"/>
              <a:t>Engine</a:t>
            </a:r>
          </a:p>
        </p:txBody>
      </p:sp>
      <p:sp>
        <p:nvSpPr>
          <p:cNvPr id="17" name="object 17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89</a:t>
            </a:fld>
            <a:endParaRPr spc="-25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5751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5751" y="2246671"/>
            <a:ext cx="818021" cy="10016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476217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793409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110602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3427794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744986"/>
            <a:ext cx="66777" cy="66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4124782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447536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485098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08157" y="523495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08157" y="56105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70250" y="856689"/>
            <a:ext cx="5143500" cy="493204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IAAS</a:t>
            </a:r>
            <a:endParaRPr sz="1900">
              <a:latin typeface="Yu Gothic"/>
              <a:cs typeface="Yu Gothic"/>
            </a:endParaRPr>
          </a:p>
          <a:p>
            <a:pPr marL="346075" marR="2721610">
              <a:lnSpc>
                <a:spcPts val="3020"/>
              </a:lnSpc>
              <a:spcBef>
                <a:spcPts val="165"/>
              </a:spcBef>
            </a:pPr>
            <a:r>
              <a:rPr sz="1900" spc="-229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Flexibility </a:t>
            </a:r>
            <a:r>
              <a:rPr sz="1900" spc="-229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Responsibility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ts val="1735"/>
              </a:lnSpc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Choosing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endParaRPr sz="1500">
              <a:latin typeface="Yu Gothic"/>
              <a:cs typeface="Yu Gothic"/>
            </a:endParaRPr>
          </a:p>
          <a:p>
            <a:pPr marL="680085" marR="2872740">
              <a:lnSpc>
                <a:spcPct val="138800"/>
              </a:lnSpc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Installing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Software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Choosing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Hardware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38800"/>
              </a:lnSpc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Fine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grained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Access/Permissions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(Certificates/Firewalls)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5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PaaS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Serverless</a:t>
            </a:r>
            <a:endParaRPr sz="1900">
              <a:latin typeface="Yu Gothic"/>
              <a:cs typeface="Yu Gothic"/>
            </a:endParaRPr>
          </a:p>
          <a:p>
            <a:pPr marL="346075" marR="2559050">
              <a:lnSpc>
                <a:spcPct val="129700"/>
              </a:lnSpc>
              <a:spcBef>
                <a:spcPts val="65"/>
              </a:spcBef>
            </a:pP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LESSER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Responsibility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LOWER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Flexibility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20700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60" dirty="0"/>
              <a:t> </a:t>
            </a:r>
            <a:r>
              <a:rPr spc="-90" dirty="0"/>
              <a:t>Engine</a:t>
            </a:r>
            <a:r>
              <a:rPr spc="-260" dirty="0"/>
              <a:t> </a:t>
            </a:r>
            <a:r>
              <a:rPr spc="-55" dirty="0"/>
              <a:t>vs</a:t>
            </a:r>
            <a:r>
              <a:rPr spc="-254" dirty="0"/>
              <a:t> </a:t>
            </a:r>
            <a:r>
              <a:rPr spc="-120" dirty="0"/>
              <a:t>App</a:t>
            </a:r>
            <a:r>
              <a:rPr spc="-260" dirty="0"/>
              <a:t> </a:t>
            </a:r>
            <a:r>
              <a:rPr spc="-55" dirty="0"/>
              <a:t>Engine</a:t>
            </a:r>
          </a:p>
        </p:txBody>
      </p:sp>
      <p:sp>
        <p:nvSpPr>
          <p:cNvPr id="20" name="object 20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90</a:t>
            </a:fld>
            <a:endParaRPr spc="-25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00595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026013" y="233014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26013" y="2597251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885228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2232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511265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891061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2416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461726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31007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7838440" cy="463105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Standard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language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sandboxes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Complete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isolation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OS/Disk/Other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Apps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V1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Java,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Python,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PHP,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(OLD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Versions)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204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Python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0" dirty="0">
                <a:solidFill>
                  <a:srgbClr val="212121"/>
                </a:solidFill>
                <a:latin typeface="Yu Gothic"/>
                <a:cs typeface="Yu Gothic"/>
              </a:rPr>
              <a:t>PHP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runtimes: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04"/>
              </a:spcBef>
            </a:pP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Restricted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white-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listed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extensions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libraries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allowed</a:t>
            </a:r>
            <a:endParaRPr sz="12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25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Restrictions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Java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Go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runtimes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V2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Java,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Python,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PHP,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Node.js,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Ruby,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(NEWER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Versions)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Full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No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restrictions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Language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Extensions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Flexible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Docker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containers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Makes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machines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64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Support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6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runtime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(with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built-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support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Python,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Java,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Node.js,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Go,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Ruby,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PHP,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.NET)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background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processes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local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App</a:t>
            </a:r>
            <a:r>
              <a:rPr spc="-265" dirty="0"/>
              <a:t> </a:t>
            </a:r>
            <a:r>
              <a:rPr spc="-90" dirty="0"/>
              <a:t>Engine</a:t>
            </a:r>
            <a:r>
              <a:rPr spc="-265" dirty="0"/>
              <a:t> </a:t>
            </a:r>
            <a:r>
              <a:rPr spc="-95" dirty="0"/>
              <a:t>environments</a:t>
            </a:r>
          </a:p>
        </p:txBody>
      </p:sp>
      <p:sp>
        <p:nvSpPr>
          <p:cNvPr id="18" name="object 1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91</a:t>
            </a:fld>
            <a:endParaRPr spc="-25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1595" y="1186172"/>
            <a:ext cx="4783601" cy="224847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3484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765854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45087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52015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55771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799928"/>
            <a:ext cx="4833620" cy="495490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per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1512570" algn="l"/>
                <a:tab pos="2697480" algn="l"/>
                <a:tab pos="455295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Service(s)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Microservices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components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190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single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endParaRPr sz="1900">
              <a:latin typeface="Yu Gothic"/>
              <a:cs typeface="Yu Gothic"/>
            </a:endParaRPr>
          </a:p>
          <a:p>
            <a:pPr marL="346075" marR="494665">
              <a:lnSpc>
                <a:spcPts val="3020"/>
              </a:lnSpc>
              <a:spcBef>
                <a:spcPts val="1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Each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settings Earlier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called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Modules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200"/>
              </a:spcBef>
              <a:tabLst>
                <a:tab pos="1560830" algn="l"/>
                <a:tab pos="2365375" algn="l"/>
                <a:tab pos="347281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Version(s)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associated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code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  <a:tabLst>
                <a:tab pos="1007110" algn="l"/>
                <a:tab pos="1944370" algn="l"/>
                <a:tab pos="2477135" algn="l"/>
                <a:tab pos="2993390" algn="l"/>
                <a:tab pos="3354704" algn="l"/>
                <a:tab pos="3906520" algn="l"/>
                <a:tab pos="4290695" algn="l"/>
              </a:tabLst>
            </a:pP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Version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more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900">
              <a:latin typeface="Yu Gothic"/>
              <a:cs typeface="Yu Gothic"/>
            </a:endParaRPr>
          </a:p>
          <a:p>
            <a:pPr marL="346075" marR="1005205">
              <a:lnSpc>
                <a:spcPct val="129700"/>
              </a:lnSpc>
              <a:spcBef>
                <a:spcPts val="6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Multiple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versions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can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co-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exist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Options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rollback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split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App</a:t>
            </a:r>
            <a:r>
              <a:rPr spc="-250" dirty="0"/>
              <a:t> </a:t>
            </a:r>
            <a:r>
              <a:rPr spc="-90" dirty="0"/>
              <a:t>Engine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05" dirty="0"/>
              <a:t>Application</a:t>
            </a:r>
            <a:r>
              <a:rPr spc="-245" dirty="0"/>
              <a:t> </a:t>
            </a:r>
            <a:r>
              <a:rPr spc="-95" dirty="0"/>
              <a:t>Component</a:t>
            </a:r>
            <a:r>
              <a:rPr spc="-250" dirty="0"/>
              <a:t> </a:t>
            </a:r>
            <a:r>
              <a:rPr spc="-100" dirty="0"/>
              <a:t>Hierarchy</a:t>
            </a:r>
          </a:p>
        </p:txBody>
      </p:sp>
      <p:sp>
        <p:nvSpPr>
          <p:cNvPr id="14" name="object 14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92</a:t>
            </a:fld>
            <a:endParaRPr spc="-25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App</a:t>
            </a:r>
            <a:r>
              <a:rPr spc="-270" dirty="0"/>
              <a:t> </a:t>
            </a:r>
            <a:r>
              <a:rPr spc="-90" dirty="0"/>
              <a:t>Engine</a:t>
            </a:r>
            <a:r>
              <a:rPr spc="-270" dirty="0"/>
              <a:t> </a:t>
            </a:r>
            <a:r>
              <a:rPr spc="-155" dirty="0"/>
              <a:t>-</a:t>
            </a:r>
            <a:r>
              <a:rPr spc="-270" dirty="0"/>
              <a:t> </a:t>
            </a:r>
            <a:r>
              <a:rPr spc="-55" dirty="0"/>
              <a:t>Comparison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82950" y="1000733"/>
          <a:ext cx="10016490" cy="4793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9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0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Feature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Standard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3055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Flexible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Pricing</a:t>
                      </a:r>
                      <a:r>
                        <a:rPr sz="1650" b="1" spc="-10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Factors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Instance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hours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vCPU,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Memory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&amp;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Persistent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Disks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Scaling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Manual,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Basic,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Automatic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Manual,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Automatic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Scaling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zero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Yes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No.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Minimum 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one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instance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125730" marR="422909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Instance</a:t>
                      </a:r>
                      <a:r>
                        <a:rPr sz="1650" b="1" spc="-8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startup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time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Seconds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Minutes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b="1" spc="-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Rapid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Scaling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Yes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No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 marR="736600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Max.</a:t>
                      </a:r>
                      <a:r>
                        <a:rPr sz="1650" b="1" spc="-1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7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request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timeout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1</a:t>
                      </a:r>
                      <a:r>
                        <a:rPr sz="1650" spc="-13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to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10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minutes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60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minutes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7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Local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disk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Mostly(except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for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Python,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3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PHP).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Can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write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to</a:t>
                      </a:r>
                      <a:endParaRPr sz="1650">
                        <a:latin typeface="Yu Gothic"/>
                        <a:cs typeface="Yu Gothic"/>
                      </a:endParaRPr>
                    </a:p>
                    <a:p>
                      <a:pPr marL="2317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/tmp.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3055" marR="739140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1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Yes.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Ephemeral.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3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New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Disk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startup.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SSH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8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debugging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No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Yes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93</a:t>
            </a:fld>
            <a:endParaRPr spc="-25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026013" y="194617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6013" y="221328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26013" y="2480391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768368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148164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49874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786721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026013" y="4016269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26013" y="4283378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571355"/>
            <a:ext cx="66777" cy="6677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888547"/>
            <a:ext cx="66777" cy="6677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5268343"/>
            <a:ext cx="91818" cy="91818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308157" y="56189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70250" y="856689"/>
            <a:ext cx="8027034" cy="49403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Automatic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load: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Recommended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Continuously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on: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b="1" spc="-70" dirty="0">
                <a:solidFill>
                  <a:srgbClr val="212121"/>
                </a:solidFill>
                <a:latin typeface="Trebuchet MS"/>
                <a:cs typeface="Trebuchet MS"/>
              </a:rPr>
              <a:t>Target</a:t>
            </a:r>
            <a:r>
              <a:rPr sz="120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212121"/>
                </a:solidFill>
                <a:latin typeface="Trebuchet MS"/>
                <a:cs typeface="Trebuchet MS"/>
              </a:rPr>
              <a:t>CPU</a:t>
            </a:r>
            <a:r>
              <a:rPr sz="12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212121"/>
                </a:solidFill>
                <a:latin typeface="Trebuchet MS"/>
                <a:cs typeface="Trebuchet MS"/>
              </a:rPr>
              <a:t>Utilization</a:t>
            </a:r>
            <a:r>
              <a:rPr sz="120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Configure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20" dirty="0">
                <a:solidFill>
                  <a:srgbClr val="212121"/>
                </a:solidFill>
                <a:latin typeface="Yu Gothic"/>
                <a:cs typeface="Yu Gothic"/>
              </a:rPr>
              <a:t>CPU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usage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threshold.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b="1" spc="-70" dirty="0">
                <a:solidFill>
                  <a:srgbClr val="212121"/>
                </a:solidFill>
                <a:latin typeface="Trebuchet MS"/>
                <a:cs typeface="Trebuchet MS"/>
              </a:rPr>
              <a:t>Target</a:t>
            </a:r>
            <a:r>
              <a:rPr sz="12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212121"/>
                </a:solidFill>
                <a:latin typeface="Trebuchet MS"/>
                <a:cs typeface="Trebuchet MS"/>
              </a:rPr>
              <a:t>Throughput</a:t>
            </a:r>
            <a:r>
              <a:rPr sz="12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212121"/>
                </a:solidFill>
                <a:latin typeface="Trebuchet MS"/>
                <a:cs typeface="Trebuchet MS"/>
              </a:rPr>
              <a:t>Utilization</a:t>
            </a:r>
            <a:r>
              <a:rPr sz="1200" b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throughput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threshold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b="1" spc="-35" dirty="0">
                <a:solidFill>
                  <a:srgbClr val="212121"/>
                </a:solidFill>
                <a:latin typeface="Trebuchet MS"/>
                <a:cs typeface="Trebuchet MS"/>
              </a:rPr>
              <a:t>Max</a:t>
            </a:r>
            <a:r>
              <a:rPr sz="12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212121"/>
                </a:solidFill>
                <a:latin typeface="Trebuchet MS"/>
                <a:cs typeface="Trebuchet MS"/>
              </a:rPr>
              <a:t>Concurrent</a:t>
            </a:r>
            <a:r>
              <a:rPr sz="12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212121"/>
                </a:solidFill>
                <a:latin typeface="Trebuchet MS"/>
                <a:cs typeface="Trebuchet MS"/>
              </a:rPr>
              <a:t>Requests</a:t>
            </a:r>
            <a:r>
              <a:rPr sz="120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Configure max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concurrent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an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receive</a:t>
            </a:r>
            <a:endParaRPr sz="12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2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Max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0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Min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Basic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received: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Adhoc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shutdown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ZERO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Tries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keep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costs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low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High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possible</a:t>
            </a:r>
            <a:endParaRPr sz="1200">
              <a:latin typeface="Yu Gothic"/>
              <a:cs typeface="Yu Gothic"/>
            </a:endParaRPr>
          </a:p>
          <a:p>
            <a:pPr marL="680085" marR="3190240">
              <a:lnSpc>
                <a:spcPts val="2500"/>
              </a:lnSpc>
              <a:spcBef>
                <a:spcPts val="130"/>
              </a:spcBef>
            </a:pP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Flexible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Environment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Max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0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Idle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Timeout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Manual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run: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Adjust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manually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over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App</a:t>
            </a:r>
            <a:r>
              <a:rPr spc="-260" dirty="0"/>
              <a:t> </a:t>
            </a:r>
            <a:r>
              <a:rPr spc="-90" dirty="0"/>
              <a:t>Engine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55" dirty="0"/>
              <a:t>Scaling</a:t>
            </a:r>
            <a:r>
              <a:rPr spc="-260" dirty="0"/>
              <a:t> </a:t>
            </a:r>
            <a:r>
              <a:rPr spc="-65" dirty="0"/>
              <a:t>Instances</a:t>
            </a:r>
          </a:p>
        </p:txBody>
      </p:sp>
      <p:sp>
        <p:nvSpPr>
          <p:cNvPr id="21" name="object 21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94</a:t>
            </a:fld>
            <a:endParaRPr spc="-25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0250" y="240668"/>
            <a:ext cx="290004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b="1" spc="-105" dirty="0">
                <a:solidFill>
                  <a:srgbClr val="A52929"/>
                </a:solidFill>
                <a:latin typeface="Trebuchet MS"/>
                <a:cs typeface="Trebuchet MS"/>
              </a:rPr>
              <a:t>AppEngine</a:t>
            </a:r>
            <a:r>
              <a:rPr sz="3050" b="1" spc="-220" dirty="0">
                <a:solidFill>
                  <a:srgbClr val="A52929"/>
                </a:solidFill>
                <a:latin typeface="Trebuchet MS"/>
                <a:cs typeface="Trebuchet MS"/>
              </a:rPr>
              <a:t> </a:t>
            </a:r>
            <a:r>
              <a:rPr sz="3050" b="1" spc="-40" dirty="0">
                <a:solidFill>
                  <a:srgbClr val="A52929"/>
                </a:solidFill>
                <a:latin typeface="Trebuchet MS"/>
                <a:cs typeface="Trebuchet MS"/>
              </a:rPr>
              <a:t>Demo</a:t>
            </a:r>
            <a:endParaRPr sz="30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70747" y="898425"/>
            <a:ext cx="607949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95</a:t>
            </a:fld>
            <a:endParaRPr spc="-25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750" spc="-105" dirty="0"/>
              <a:t>app.yaml</a:t>
            </a:r>
            <a:r>
              <a:rPr sz="2750" spc="-200" dirty="0"/>
              <a:t> </a:t>
            </a:r>
            <a:r>
              <a:rPr sz="2750" spc="-140" dirty="0"/>
              <a:t>Reference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1649609" y="853439"/>
            <a:ext cx="9083040" cy="4782185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75565" marR="1475740">
              <a:lnSpc>
                <a:spcPct val="100000"/>
              </a:lnSpc>
              <a:spcBef>
                <a:spcPts val="550"/>
              </a:spcBef>
              <a:tabLst>
                <a:tab pos="1508760" algn="l"/>
              </a:tabLst>
            </a:pPr>
            <a:r>
              <a:rPr sz="1150" dirty="0">
                <a:solidFill>
                  <a:srgbClr val="FF0000"/>
                </a:solidFill>
                <a:latin typeface="Courier New"/>
                <a:cs typeface="Courier New"/>
              </a:rPr>
              <a:t>runtime:</a:t>
            </a:r>
            <a:r>
              <a:rPr sz="1150" spc="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latin typeface="Courier New"/>
                <a:cs typeface="Courier New"/>
              </a:rPr>
              <a:t>python28</a:t>
            </a:r>
            <a:r>
              <a:rPr sz="1150" spc="80" dirty="0"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#The</a:t>
            </a:r>
            <a:r>
              <a:rPr sz="1150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name</a:t>
            </a:r>
            <a:r>
              <a:rPr sz="1150" spc="8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of</a:t>
            </a:r>
            <a:r>
              <a:rPr sz="1150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the</a:t>
            </a:r>
            <a:r>
              <a:rPr sz="1150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runtime</a:t>
            </a:r>
            <a:r>
              <a:rPr sz="1150" spc="8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environment</a:t>
            </a:r>
            <a:r>
              <a:rPr sz="1150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that</a:t>
            </a:r>
            <a:r>
              <a:rPr sz="1150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is</a:t>
            </a:r>
            <a:r>
              <a:rPr sz="1150" spc="8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used</a:t>
            </a:r>
            <a:r>
              <a:rPr sz="1150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by</a:t>
            </a:r>
            <a:r>
              <a:rPr sz="1150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your</a:t>
            </a:r>
            <a:r>
              <a:rPr sz="1150" spc="8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spc="-25" dirty="0">
                <a:solidFill>
                  <a:srgbClr val="008000"/>
                </a:solidFill>
                <a:latin typeface="Courier New"/>
                <a:cs typeface="Courier New"/>
              </a:rPr>
              <a:t>app </a:t>
            </a:r>
            <a:r>
              <a:rPr sz="1150" dirty="0">
                <a:solidFill>
                  <a:srgbClr val="FF0000"/>
                </a:solidFill>
                <a:latin typeface="Courier New"/>
                <a:cs typeface="Courier New"/>
              </a:rPr>
              <a:t>api_version:</a:t>
            </a:r>
            <a:r>
              <a:rPr sz="1150" spc="1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150" spc="-50" dirty="0">
                <a:latin typeface="Courier New"/>
                <a:cs typeface="Courier New"/>
              </a:rPr>
              <a:t>1</a:t>
            </a:r>
            <a:r>
              <a:rPr sz="1150" dirty="0">
                <a:latin typeface="Courier New"/>
                <a:cs typeface="Courier New"/>
              </a:rPr>
              <a:t>	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#RECOMMENDED</a:t>
            </a:r>
            <a:r>
              <a:rPr sz="1150" spc="7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-</a:t>
            </a:r>
            <a:r>
              <a:rPr sz="1150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Specify</a:t>
            </a:r>
            <a:r>
              <a:rPr sz="1150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here</a:t>
            </a:r>
            <a:r>
              <a:rPr sz="1150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-</a:t>
            </a:r>
            <a:r>
              <a:rPr sz="1150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gcloud</a:t>
            </a:r>
            <a:r>
              <a:rPr sz="1150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app</a:t>
            </a:r>
            <a:r>
              <a:rPr sz="1150" spc="7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deploy</a:t>
            </a:r>
            <a:r>
              <a:rPr sz="1150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-v</a:t>
            </a:r>
            <a:r>
              <a:rPr sz="1150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008000"/>
                </a:solidFill>
                <a:latin typeface="Courier New"/>
                <a:cs typeface="Courier New"/>
              </a:rPr>
              <a:t>[YOUR_VERSION_ID] </a:t>
            </a:r>
            <a:r>
              <a:rPr sz="1150" dirty="0">
                <a:solidFill>
                  <a:srgbClr val="FF0000"/>
                </a:solidFill>
                <a:latin typeface="Courier New"/>
                <a:cs typeface="Courier New"/>
              </a:rPr>
              <a:t>instance_class:</a:t>
            </a:r>
            <a:r>
              <a:rPr sz="1150" spc="2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150" spc="-25" dirty="0">
                <a:latin typeface="Courier New"/>
                <a:cs typeface="Courier New"/>
              </a:rPr>
              <a:t>F1</a:t>
            </a:r>
            <a:endParaRPr sz="1150">
              <a:latin typeface="Courier New"/>
              <a:cs typeface="Courier New"/>
            </a:endParaRPr>
          </a:p>
          <a:p>
            <a:pPr marL="75565" marR="7117715">
              <a:lnSpc>
                <a:spcPct val="100000"/>
              </a:lnSpc>
              <a:spcBef>
                <a:spcPts val="70"/>
              </a:spcBef>
            </a:pPr>
            <a:r>
              <a:rPr sz="1150" dirty="0">
                <a:solidFill>
                  <a:srgbClr val="FF0000"/>
                </a:solidFill>
                <a:latin typeface="Courier New"/>
                <a:cs typeface="Courier New"/>
              </a:rPr>
              <a:t>service:</a:t>
            </a:r>
            <a:r>
              <a:rPr sz="1150" spc="2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latin typeface="Courier New"/>
                <a:cs typeface="Courier New"/>
              </a:rPr>
              <a:t>service-</a:t>
            </a:r>
            <a:r>
              <a:rPr sz="1150" spc="-20" dirty="0">
                <a:latin typeface="Courier New"/>
                <a:cs typeface="Courier New"/>
              </a:rPr>
              <a:t>name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#env:</a:t>
            </a:r>
            <a:r>
              <a:rPr sz="1150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spc="-20" dirty="0">
                <a:solidFill>
                  <a:srgbClr val="008000"/>
                </a:solidFill>
                <a:latin typeface="Courier New"/>
                <a:cs typeface="Courier New"/>
              </a:rPr>
              <a:t>flex</a:t>
            </a:r>
            <a:endParaRPr sz="11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50">
              <a:latin typeface="Courier New"/>
              <a:cs typeface="Courier New"/>
            </a:endParaRPr>
          </a:p>
          <a:p>
            <a:pPr marL="75565">
              <a:lnSpc>
                <a:spcPct val="100000"/>
              </a:lnSpc>
            </a:pPr>
            <a:r>
              <a:rPr sz="1150" spc="-10" dirty="0">
                <a:solidFill>
                  <a:srgbClr val="FF0000"/>
                </a:solidFill>
                <a:latin typeface="Courier New"/>
                <a:cs typeface="Courier New"/>
              </a:rPr>
              <a:t>inbound_services:</a:t>
            </a:r>
            <a:endParaRPr sz="1150">
              <a:latin typeface="Courier New"/>
              <a:cs typeface="Courier New"/>
            </a:endParaRPr>
          </a:p>
          <a:p>
            <a:pPr marL="254000" indent="-178435">
              <a:lnSpc>
                <a:spcPct val="100000"/>
              </a:lnSpc>
              <a:buClr>
                <a:srgbClr val="00B0E7"/>
              </a:buClr>
              <a:buChar char="-"/>
              <a:tabLst>
                <a:tab pos="254000" algn="l"/>
              </a:tabLst>
            </a:pPr>
            <a:r>
              <a:rPr sz="1150" spc="-10" dirty="0">
                <a:latin typeface="Courier New"/>
                <a:cs typeface="Courier New"/>
              </a:rPr>
              <a:t>warmup</a:t>
            </a:r>
            <a:endParaRPr sz="11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Font typeface="Courier New"/>
              <a:buChar char="-"/>
            </a:pPr>
            <a:endParaRPr sz="1150">
              <a:latin typeface="Courier New"/>
              <a:cs typeface="Courier New"/>
            </a:endParaRPr>
          </a:p>
          <a:p>
            <a:pPr marL="254635" marR="6938645" indent="-179705">
              <a:lnSpc>
                <a:spcPct val="100000"/>
              </a:lnSpc>
            </a:pPr>
            <a:r>
              <a:rPr sz="1150" spc="-10" dirty="0">
                <a:solidFill>
                  <a:srgbClr val="FF0000"/>
                </a:solidFill>
                <a:latin typeface="Courier New"/>
                <a:cs typeface="Courier New"/>
              </a:rPr>
              <a:t>env_variables: </a:t>
            </a:r>
            <a:r>
              <a:rPr sz="1150" dirty="0">
                <a:solidFill>
                  <a:srgbClr val="FF0000"/>
                </a:solidFill>
                <a:latin typeface="Courier New"/>
                <a:cs typeface="Courier New"/>
              </a:rPr>
              <a:t>ENV_VARIABLE:</a:t>
            </a:r>
            <a:r>
              <a:rPr sz="1150" spc="1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A21515"/>
                </a:solidFill>
                <a:latin typeface="Courier New"/>
                <a:cs typeface="Courier New"/>
              </a:rPr>
              <a:t>"value"</a:t>
            </a:r>
            <a:endParaRPr sz="11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150">
              <a:latin typeface="Courier New"/>
              <a:cs typeface="Courier New"/>
            </a:endParaRPr>
          </a:p>
          <a:p>
            <a:pPr marL="75565">
              <a:lnSpc>
                <a:spcPct val="100000"/>
              </a:lnSpc>
            </a:pPr>
            <a:r>
              <a:rPr sz="1150" spc="-10" dirty="0">
                <a:solidFill>
                  <a:srgbClr val="FF0000"/>
                </a:solidFill>
                <a:latin typeface="Courier New"/>
                <a:cs typeface="Courier New"/>
              </a:rPr>
              <a:t>handlers:</a:t>
            </a:r>
            <a:endParaRPr sz="1150">
              <a:latin typeface="Courier New"/>
              <a:cs typeface="Courier New"/>
            </a:endParaRPr>
          </a:p>
          <a:p>
            <a:pPr marL="254000" indent="-178435">
              <a:lnSpc>
                <a:spcPct val="100000"/>
              </a:lnSpc>
              <a:buChar char="-"/>
              <a:tabLst>
                <a:tab pos="254000" algn="l"/>
              </a:tabLst>
            </a:pPr>
            <a:r>
              <a:rPr sz="1150" dirty="0">
                <a:solidFill>
                  <a:srgbClr val="FF0000"/>
                </a:solidFill>
                <a:latin typeface="Courier New"/>
                <a:cs typeface="Courier New"/>
              </a:rPr>
              <a:t>url:</a:t>
            </a:r>
            <a:r>
              <a:rPr sz="1150" spc="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150" spc="-50" dirty="0">
                <a:latin typeface="Courier New"/>
                <a:cs typeface="Courier New"/>
              </a:rPr>
              <a:t>/</a:t>
            </a:r>
            <a:endParaRPr sz="1150">
              <a:latin typeface="Courier New"/>
              <a:cs typeface="Courier New"/>
            </a:endParaRPr>
          </a:p>
          <a:p>
            <a:pPr marL="254635">
              <a:lnSpc>
                <a:spcPct val="100000"/>
              </a:lnSpc>
              <a:spcBef>
                <a:spcPts val="65"/>
              </a:spcBef>
            </a:pPr>
            <a:r>
              <a:rPr sz="1150" dirty="0">
                <a:solidFill>
                  <a:srgbClr val="FF0000"/>
                </a:solidFill>
                <a:latin typeface="Courier New"/>
                <a:cs typeface="Courier New"/>
              </a:rPr>
              <a:t>script:</a:t>
            </a:r>
            <a:r>
              <a:rPr sz="1150" spc="1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latin typeface="Courier New"/>
                <a:cs typeface="Courier New"/>
              </a:rPr>
              <a:t>home.app</a:t>
            </a:r>
            <a:endParaRPr sz="11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150">
              <a:latin typeface="Courier New"/>
              <a:cs typeface="Courier New"/>
            </a:endParaRPr>
          </a:p>
          <a:p>
            <a:pPr marL="254635" marR="6311900" indent="-179705">
              <a:lnSpc>
                <a:spcPct val="100000"/>
              </a:lnSpc>
            </a:pPr>
            <a:r>
              <a:rPr sz="1150" spc="-10" dirty="0">
                <a:solidFill>
                  <a:srgbClr val="FF0000"/>
                </a:solidFill>
                <a:latin typeface="Courier New"/>
                <a:cs typeface="Courier New"/>
              </a:rPr>
              <a:t>automatic_scaling: </a:t>
            </a:r>
            <a:r>
              <a:rPr sz="1150" dirty="0">
                <a:solidFill>
                  <a:srgbClr val="FF0000"/>
                </a:solidFill>
                <a:latin typeface="Courier New"/>
                <a:cs typeface="Courier New"/>
              </a:rPr>
              <a:t>target_cpu_utilization:</a:t>
            </a:r>
            <a:r>
              <a:rPr sz="1150" spc="3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150" spc="-20" dirty="0">
                <a:latin typeface="Courier New"/>
                <a:cs typeface="Courier New"/>
              </a:rPr>
              <a:t>0.65</a:t>
            </a:r>
            <a:endParaRPr sz="1150">
              <a:latin typeface="Courier New"/>
              <a:cs typeface="Courier New"/>
            </a:endParaRPr>
          </a:p>
          <a:p>
            <a:pPr marL="254635">
              <a:lnSpc>
                <a:spcPct val="100000"/>
              </a:lnSpc>
            </a:pPr>
            <a:r>
              <a:rPr sz="1150" dirty="0">
                <a:solidFill>
                  <a:srgbClr val="FF0000"/>
                </a:solidFill>
                <a:latin typeface="Courier New"/>
                <a:cs typeface="Courier New"/>
              </a:rPr>
              <a:t>min_instances:</a:t>
            </a:r>
            <a:r>
              <a:rPr sz="1150" spc="20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150" spc="-50" dirty="0">
                <a:latin typeface="Courier New"/>
                <a:cs typeface="Courier New"/>
              </a:rPr>
              <a:t>5</a:t>
            </a:r>
            <a:endParaRPr sz="1150">
              <a:latin typeface="Courier New"/>
              <a:cs typeface="Courier New"/>
            </a:endParaRPr>
          </a:p>
          <a:p>
            <a:pPr marL="254635">
              <a:lnSpc>
                <a:spcPct val="100000"/>
              </a:lnSpc>
              <a:spcBef>
                <a:spcPts val="65"/>
              </a:spcBef>
            </a:pPr>
            <a:r>
              <a:rPr sz="1150" dirty="0">
                <a:solidFill>
                  <a:srgbClr val="FF0000"/>
                </a:solidFill>
                <a:latin typeface="Courier New"/>
                <a:cs typeface="Courier New"/>
              </a:rPr>
              <a:t>max_instances:</a:t>
            </a:r>
            <a:r>
              <a:rPr sz="1150" spc="20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150" spc="-25" dirty="0">
                <a:latin typeface="Courier New"/>
                <a:cs typeface="Courier New"/>
              </a:rPr>
              <a:t>100</a:t>
            </a:r>
            <a:endParaRPr sz="1150">
              <a:latin typeface="Courier New"/>
              <a:cs typeface="Courier New"/>
            </a:endParaRPr>
          </a:p>
          <a:p>
            <a:pPr marL="75565" marR="6401435" indent="179070">
              <a:lnSpc>
                <a:spcPct val="100000"/>
              </a:lnSpc>
            </a:pPr>
            <a:r>
              <a:rPr sz="1150" dirty="0">
                <a:solidFill>
                  <a:srgbClr val="FF0000"/>
                </a:solidFill>
                <a:latin typeface="Courier New"/>
                <a:cs typeface="Courier New"/>
              </a:rPr>
              <a:t>max_concurrent_requests:</a:t>
            </a:r>
            <a:r>
              <a:rPr sz="1150" spc="3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150" spc="-25" dirty="0">
                <a:latin typeface="Courier New"/>
                <a:cs typeface="Courier New"/>
              </a:rPr>
              <a:t>50 </a:t>
            </a:r>
            <a:r>
              <a:rPr sz="1150" spc="-10" dirty="0">
                <a:solidFill>
                  <a:srgbClr val="008000"/>
                </a:solidFill>
                <a:latin typeface="Courier New"/>
                <a:cs typeface="Courier New"/>
              </a:rPr>
              <a:t>#basic_scaling:</a:t>
            </a:r>
            <a:endParaRPr sz="1150">
              <a:latin typeface="Courier New"/>
              <a:cs typeface="Courier New"/>
            </a:endParaRPr>
          </a:p>
          <a:p>
            <a:pPr marL="254635" marR="7207250">
              <a:lnSpc>
                <a:spcPct val="100000"/>
              </a:lnSpc>
              <a:spcBef>
                <a:spcPts val="65"/>
              </a:spcBef>
            </a:pP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#max_instances:</a:t>
            </a:r>
            <a:r>
              <a:rPr sz="1150" spc="2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spc="-25" dirty="0">
                <a:solidFill>
                  <a:srgbClr val="008000"/>
                </a:solidFill>
                <a:latin typeface="Courier New"/>
                <a:cs typeface="Courier New"/>
              </a:rPr>
              <a:t>11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#idle_timeout:</a:t>
            </a:r>
            <a:r>
              <a:rPr sz="1150" spc="204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spc="-25" dirty="0">
                <a:solidFill>
                  <a:srgbClr val="008000"/>
                </a:solidFill>
                <a:latin typeface="Courier New"/>
                <a:cs typeface="Courier New"/>
              </a:rPr>
              <a:t>10m</a:t>
            </a:r>
            <a:endParaRPr sz="1150">
              <a:latin typeface="Courier New"/>
              <a:cs typeface="Courier New"/>
            </a:endParaRPr>
          </a:p>
          <a:p>
            <a:pPr marL="254635" marR="7566025" indent="-179705">
              <a:lnSpc>
                <a:spcPct val="100000"/>
              </a:lnSpc>
              <a:spcBef>
                <a:spcPts val="70"/>
              </a:spcBef>
            </a:pPr>
            <a:r>
              <a:rPr sz="1150" spc="-10" dirty="0">
                <a:solidFill>
                  <a:srgbClr val="008000"/>
                </a:solidFill>
                <a:latin typeface="Courier New"/>
                <a:cs typeface="Courier New"/>
              </a:rPr>
              <a:t>#manual_scaling: </a:t>
            </a:r>
            <a:r>
              <a:rPr sz="1150" dirty="0">
                <a:solidFill>
                  <a:srgbClr val="008000"/>
                </a:solidFill>
                <a:latin typeface="Courier New"/>
                <a:cs typeface="Courier New"/>
              </a:rPr>
              <a:t>#instances:</a:t>
            </a:r>
            <a:r>
              <a:rPr sz="1150" spc="16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50" spc="-50" dirty="0">
                <a:solidFill>
                  <a:srgbClr val="008000"/>
                </a:solidFill>
                <a:latin typeface="Courier New"/>
                <a:cs typeface="Courier New"/>
              </a:rPr>
              <a:t>5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96</a:t>
            </a:fld>
            <a:endParaRPr spc="-25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33818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351010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668202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00626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310933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636473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39745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262510"/>
            <a:ext cx="66777" cy="66777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AppEngine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110" dirty="0"/>
              <a:t>Request</a:t>
            </a:r>
            <a:r>
              <a:rPr spc="-245" dirty="0"/>
              <a:t> </a:t>
            </a:r>
            <a:r>
              <a:rPr spc="-35" dirty="0"/>
              <a:t>Routing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70250" y="856689"/>
            <a:ext cx="8177530" cy="354520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combination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three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approaches: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Routing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URLs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350" b="1" i="1" spc="-90" dirty="0">
                <a:latin typeface="Trebuchet MS"/>
                <a:cs typeface="Trebuchet MS"/>
              </a:rPr>
              <a:t>https://PROJECT_ID.REGION_ID.r.appspot.com</a:t>
            </a:r>
            <a:r>
              <a:rPr sz="1350" b="1" i="1" spc="15" dirty="0">
                <a:latin typeface="Trebuchet MS"/>
                <a:cs typeface="Trebuchet MS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(default</a:t>
            </a:r>
            <a:r>
              <a:rPr sz="15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called)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350" b="1" i="1" spc="-90" dirty="0">
                <a:latin typeface="Trebuchet MS"/>
                <a:cs typeface="Trebuchet MS"/>
              </a:rPr>
              <a:t>https://SERVICE-</a:t>
            </a:r>
            <a:r>
              <a:rPr sz="1350" b="1" i="1" spc="-100" dirty="0">
                <a:latin typeface="Trebuchet MS"/>
                <a:cs typeface="Trebuchet MS"/>
              </a:rPr>
              <a:t>dot-</a:t>
            </a:r>
            <a:r>
              <a:rPr sz="1350" b="1" i="1" spc="-90" dirty="0">
                <a:latin typeface="Trebuchet MS"/>
                <a:cs typeface="Trebuchet MS"/>
              </a:rPr>
              <a:t>PROJECT_ID.REGION_ID.r.appspot.com</a:t>
            </a:r>
            <a:r>
              <a:rPr sz="1350" b="1" i="1" spc="95" dirty="0"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(specific</a:t>
            </a:r>
            <a:r>
              <a:rPr sz="15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service)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38800"/>
              </a:lnSpc>
            </a:pPr>
            <a:r>
              <a:rPr sz="1350" b="1" i="1" spc="-90" dirty="0">
                <a:latin typeface="Trebuchet MS"/>
                <a:cs typeface="Trebuchet MS"/>
              </a:rPr>
              <a:t>https://VERSION-</a:t>
            </a:r>
            <a:r>
              <a:rPr sz="1350" b="1" i="1" spc="-100" dirty="0">
                <a:latin typeface="Trebuchet MS"/>
                <a:cs typeface="Trebuchet MS"/>
              </a:rPr>
              <a:t>dot-</a:t>
            </a:r>
            <a:r>
              <a:rPr sz="1350" b="1" i="1" spc="-85" dirty="0">
                <a:latin typeface="Trebuchet MS"/>
                <a:cs typeface="Trebuchet MS"/>
              </a:rPr>
              <a:t>SERVICE-</a:t>
            </a:r>
            <a:r>
              <a:rPr sz="1350" b="1" i="1" spc="-100" dirty="0">
                <a:latin typeface="Trebuchet MS"/>
                <a:cs typeface="Trebuchet MS"/>
              </a:rPr>
              <a:t>dot-</a:t>
            </a:r>
            <a:r>
              <a:rPr sz="1350" b="1" i="1" spc="-90" dirty="0">
                <a:latin typeface="Trebuchet MS"/>
                <a:cs typeface="Trebuchet MS"/>
              </a:rPr>
              <a:t>PROJECT_ID.REGION_ID.r.appspot.com</a:t>
            </a:r>
            <a:r>
              <a:rPr sz="1350" b="1" i="1" spc="45" dirty="0"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(specific</a:t>
            </a:r>
            <a:r>
              <a:rPr sz="15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5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service)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Replace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dot-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.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domain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Routing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dispatch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file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8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dispatch.yaml</a:t>
            </a:r>
            <a:r>
              <a:rPr sz="1500" spc="-53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routes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65"/>
              </a:spcBef>
            </a:pP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500" spc="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app</a:t>
            </a:r>
            <a:r>
              <a:rPr sz="1500" spc="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deploy</a:t>
            </a:r>
            <a:r>
              <a:rPr sz="1500" spc="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dispatch.yaml</a:t>
            </a:r>
            <a:endParaRPr sz="150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Routing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Load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Balancing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routes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Balancing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97</a:t>
            </a:fld>
            <a:endParaRPr spc="-25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960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13448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6723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968700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30676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3603084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026013" y="3832631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4128955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026013" y="435850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646479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026013" y="4876026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26013" y="5143135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431113"/>
            <a:ext cx="66777" cy="6677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170250" y="799928"/>
            <a:ext cx="8740140" cy="502094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V1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V2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without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downtime?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I'm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confident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shift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once: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shift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once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v1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v2: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b="1" i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b="1" i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deploy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migration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v1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v2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0"/>
              </a:spcBef>
            </a:pP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STEP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v2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without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shifting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900" spc="-90" dirty="0">
                <a:solidFill>
                  <a:srgbClr val="212121"/>
                </a:solidFill>
                <a:latin typeface="Courier New"/>
                <a:cs typeface="Courier New"/>
              </a:rPr>
              <a:t>-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-no-</a:t>
            </a:r>
            <a:r>
              <a:rPr sz="1900" spc="-10" dirty="0">
                <a:solidFill>
                  <a:srgbClr val="212121"/>
                </a:solidFill>
                <a:latin typeface="Courier New"/>
                <a:cs typeface="Courier New"/>
              </a:rPr>
              <a:t>promote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b="1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500" b="1" i="1" spc="-100" dirty="0">
                <a:solidFill>
                  <a:srgbClr val="212121"/>
                </a:solidFill>
                <a:latin typeface="Trebuchet MS"/>
                <a:cs typeface="Trebuchet MS"/>
              </a:rPr>
              <a:t> deploy</a:t>
            </a:r>
            <a:r>
              <a:rPr sz="15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i="1" spc="-55" dirty="0">
                <a:solidFill>
                  <a:srgbClr val="212121"/>
                </a:solidFill>
                <a:latin typeface="Trebuchet MS"/>
                <a:cs typeface="Trebuchet MS"/>
              </a:rPr>
              <a:t>no-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promote</a:t>
            </a:r>
            <a:endParaRPr sz="15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STEP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Shift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V2: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(All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once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Migration):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Migrate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once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v2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b="1" i="1" spc="-5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2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i="1" spc="-6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2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 services </a:t>
            </a:r>
            <a:r>
              <a:rPr sz="1200" b="1" i="1" spc="-100" dirty="0">
                <a:solidFill>
                  <a:srgbClr val="212121"/>
                </a:solidFill>
                <a:latin typeface="Trebuchet MS"/>
                <a:cs typeface="Trebuchet MS"/>
              </a:rPr>
              <a:t>set-</a:t>
            </a:r>
            <a:r>
              <a:rPr sz="12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traffic</a:t>
            </a:r>
            <a:r>
              <a:rPr sz="12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i="1" spc="-80" dirty="0">
                <a:solidFill>
                  <a:srgbClr val="212121"/>
                </a:solidFill>
                <a:latin typeface="Trebuchet MS"/>
                <a:cs typeface="Trebuchet MS"/>
              </a:rPr>
              <a:t>s1</a:t>
            </a:r>
            <a:r>
              <a:rPr sz="12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b="1" i="1" spc="-80" dirty="0">
                <a:solidFill>
                  <a:srgbClr val="212121"/>
                </a:solidFill>
                <a:latin typeface="Trebuchet MS"/>
                <a:cs typeface="Trebuchet MS"/>
              </a:rPr>
              <a:t>splits</a:t>
            </a:r>
            <a:r>
              <a:rPr sz="12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V2=1</a:t>
            </a:r>
            <a:endParaRPr sz="12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690"/>
              </a:spcBef>
            </a:pP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2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(Gradual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0" dirty="0">
                <a:solidFill>
                  <a:srgbClr val="212121"/>
                </a:solidFill>
                <a:latin typeface="Trebuchet MS"/>
                <a:cs typeface="Trebuchet MS"/>
              </a:rPr>
              <a:t>Migration)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Gradually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shift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v2.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--migrate</a:t>
            </a:r>
            <a:r>
              <a:rPr sz="1500" spc="-5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option.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Gradual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migration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supported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Flexible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Environment</a:t>
            </a:r>
            <a:endParaRPr sz="12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25"/>
              </a:spcBef>
            </a:pP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3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(Splitting)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pace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migration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b="1" i="1" spc="-5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2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i="1" spc="-6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2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 services </a:t>
            </a:r>
            <a:r>
              <a:rPr sz="1200" b="1" i="1" spc="-100" dirty="0">
                <a:solidFill>
                  <a:srgbClr val="212121"/>
                </a:solidFill>
                <a:latin typeface="Trebuchet MS"/>
                <a:cs typeface="Trebuchet MS"/>
              </a:rPr>
              <a:t>set-</a:t>
            </a:r>
            <a:r>
              <a:rPr sz="12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traffic</a:t>
            </a:r>
            <a:r>
              <a:rPr sz="12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i="1" spc="-80" dirty="0">
                <a:solidFill>
                  <a:srgbClr val="212121"/>
                </a:solidFill>
                <a:latin typeface="Trebuchet MS"/>
                <a:cs typeface="Trebuchet MS"/>
              </a:rPr>
              <a:t>s1 </a:t>
            </a:r>
            <a:r>
              <a:rPr sz="12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b="1" i="1" spc="-45" dirty="0">
                <a:solidFill>
                  <a:srgbClr val="212121"/>
                </a:solidFill>
                <a:latin typeface="Trebuchet MS"/>
                <a:cs typeface="Trebuchet MS"/>
              </a:rPr>
              <a:t>splits=v2=.5,v1=.5</a:t>
            </a:r>
            <a:endParaRPr sz="1200">
              <a:latin typeface="Trebuchet MS"/>
              <a:cs typeface="Trebuchet MS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Useful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perform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35" dirty="0">
                <a:solidFill>
                  <a:srgbClr val="212121"/>
                </a:solidFill>
                <a:latin typeface="Yu Gothic"/>
                <a:cs typeface="Yu Gothic"/>
              </a:rPr>
              <a:t>A/B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testing</a:t>
            </a:r>
            <a:endParaRPr sz="12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25"/>
              </a:spcBef>
              <a:tabLst>
                <a:tab pos="1410970" algn="l"/>
                <a:tab pos="1923414" algn="l"/>
                <a:tab pos="2442210" algn="l"/>
                <a:tab pos="3378835" algn="l"/>
                <a:tab pos="3816350" algn="l"/>
                <a:tab pos="4658360" algn="l"/>
                <a:tab pos="5048885" algn="l"/>
                <a:tab pos="5748655" algn="l"/>
                <a:tab pos="6283325" algn="l"/>
                <a:tab pos="7033259" algn="l"/>
                <a:tab pos="7682865" algn="l"/>
                <a:tab pos="8667115" algn="l"/>
              </a:tabLst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Ensure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warmed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before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receive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(app.yaml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70"/>
              </a:spcBef>
            </a:pP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inbound_services</a:t>
            </a:r>
            <a:r>
              <a:rPr sz="1500" spc="8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&gt;</a:t>
            </a:r>
            <a:r>
              <a:rPr sz="1500" spc="8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warmup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AppEngine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85" dirty="0"/>
              <a:t>Deploying</a:t>
            </a:r>
            <a:r>
              <a:rPr spc="-245" dirty="0"/>
              <a:t> </a:t>
            </a:r>
            <a:r>
              <a:rPr spc="-135" dirty="0"/>
              <a:t>new</a:t>
            </a:r>
            <a:r>
              <a:rPr spc="-240" dirty="0"/>
              <a:t> </a:t>
            </a:r>
            <a:r>
              <a:rPr spc="-100" dirty="0"/>
              <a:t>versions</a:t>
            </a:r>
            <a:r>
              <a:rPr spc="-245" dirty="0"/>
              <a:t> </a:t>
            </a:r>
            <a:r>
              <a:rPr spc="-105" dirty="0"/>
              <a:t>without</a:t>
            </a:r>
            <a:r>
              <a:rPr spc="-245" dirty="0"/>
              <a:t> </a:t>
            </a:r>
            <a:r>
              <a:rPr spc="-50" dirty="0"/>
              <a:t>downtime</a:t>
            </a:r>
          </a:p>
        </p:txBody>
      </p:sp>
      <p:sp>
        <p:nvSpPr>
          <p:cNvPr id="20" name="object 2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98</a:t>
            </a:fld>
            <a:endParaRPr spc="-25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33818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62229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918617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235809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57386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991227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856689"/>
            <a:ext cx="8740140" cy="334137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decide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receives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traffic?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IP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Splitting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Based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request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causing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accuracy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issues!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(I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my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house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coffee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shop)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525"/>
              </a:spcBef>
            </a:pP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originate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corporate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vpn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0" dirty="0">
                <a:solidFill>
                  <a:srgbClr val="212121"/>
                </a:solidFill>
                <a:latin typeface="Yu Gothic"/>
                <a:cs typeface="Yu Gothic"/>
              </a:rPr>
              <a:t>IP,</a:t>
            </a:r>
            <a:r>
              <a:rPr sz="15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cause</a:t>
            </a:r>
            <a:r>
              <a:rPr sz="15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Cookie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Splitting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Based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cookie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GOOGAPPUID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Cookies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controlled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Cookie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splitting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accurately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versions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Random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randomly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it?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08157" y="435015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226061" y="4213917"/>
            <a:ext cx="368427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3895" algn="l"/>
                <a:tab pos="2078989" algn="l"/>
              </a:tabLst>
            </a:pPr>
            <a:r>
              <a:rPr sz="1900" spc="-25" dirty="0">
                <a:solidFill>
                  <a:srgbClr val="212121"/>
                </a:solidFill>
                <a:latin typeface="Courier New"/>
                <a:cs typeface="Courier New"/>
              </a:rPr>
              <a:t>app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Courier New"/>
                <a:cs typeface="Courier New"/>
              </a:rPr>
              <a:t>services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	set-</a:t>
            </a:r>
            <a:r>
              <a:rPr sz="1900" spc="-10" dirty="0">
                <a:solidFill>
                  <a:srgbClr val="212121"/>
                </a:solidFill>
                <a:latin typeface="Courier New"/>
                <a:cs typeface="Courier New"/>
              </a:rPr>
              <a:t>traffic</a:t>
            </a:r>
            <a:endParaRPr sz="1900">
              <a:latin typeface="Courier New"/>
              <a:cs typeface="Courier New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4955324"/>
            <a:ext cx="66777" cy="6677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280864"/>
            <a:ext cx="66777" cy="6677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420790" y="5163490"/>
            <a:ext cx="2341245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--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splits=v2=.5,v1=.5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58336" y="5163490"/>
            <a:ext cx="951865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--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split-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4136" y="4193550"/>
            <a:ext cx="4720590" cy="148526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  <a:tabLst>
                <a:tab pos="902335" algn="l"/>
                <a:tab pos="3296920" algn="l"/>
                <a:tab pos="3628390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Include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--split-by</a:t>
            </a:r>
            <a:r>
              <a:rPr sz="1900" spc="-3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command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20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Value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must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of: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cookie,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ip,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random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13199"/>
              </a:lnSpc>
              <a:spcBef>
                <a:spcPts val="530"/>
              </a:spcBef>
              <a:tabLst>
                <a:tab pos="1263015" algn="l"/>
                <a:tab pos="1831975" algn="l"/>
                <a:tab pos="2980055" algn="l"/>
                <a:tab pos="4475480" algn="l"/>
              </a:tabLst>
            </a:pP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	</a:t>
            </a:r>
            <a:r>
              <a:rPr sz="1500" spc="-25" dirty="0">
                <a:solidFill>
                  <a:srgbClr val="212121"/>
                </a:solidFill>
                <a:latin typeface="Courier New"/>
                <a:cs typeface="Courier New"/>
              </a:rPr>
              <a:t>app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services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	set-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traffic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	</a:t>
            </a:r>
            <a:r>
              <a:rPr sz="1500" spc="-25" dirty="0">
                <a:solidFill>
                  <a:srgbClr val="212121"/>
                </a:solidFill>
                <a:latin typeface="Courier New"/>
                <a:cs typeface="Courier New"/>
              </a:rPr>
              <a:t>s1 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by=cookie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How</a:t>
            </a:r>
            <a:r>
              <a:rPr spc="-260" dirty="0"/>
              <a:t> </a:t>
            </a:r>
            <a:r>
              <a:rPr spc="-60" dirty="0"/>
              <a:t>do</a:t>
            </a:r>
            <a:r>
              <a:rPr spc="-254" dirty="0"/>
              <a:t> </a:t>
            </a:r>
            <a:r>
              <a:rPr spc="-105" dirty="0"/>
              <a:t>you</a:t>
            </a:r>
            <a:r>
              <a:rPr spc="-254" dirty="0"/>
              <a:t> </a:t>
            </a:r>
            <a:r>
              <a:rPr spc="-70" dirty="0"/>
              <a:t>split</a:t>
            </a:r>
            <a:r>
              <a:rPr spc="-260" dirty="0"/>
              <a:t> </a:t>
            </a:r>
            <a:r>
              <a:rPr spc="-150" dirty="0"/>
              <a:t>traffic</a:t>
            </a:r>
            <a:r>
              <a:rPr spc="-254" dirty="0"/>
              <a:t> </a:t>
            </a:r>
            <a:r>
              <a:rPr spc="-150" dirty="0"/>
              <a:t>between</a:t>
            </a:r>
            <a:r>
              <a:rPr spc="-254" dirty="0"/>
              <a:t> </a:t>
            </a:r>
            <a:r>
              <a:rPr spc="-100" dirty="0"/>
              <a:t>multiple</a:t>
            </a:r>
            <a:r>
              <a:rPr spc="-260" dirty="0"/>
              <a:t> </a:t>
            </a:r>
            <a:r>
              <a:rPr spc="-55" dirty="0"/>
              <a:t>versions?</a:t>
            </a:r>
          </a:p>
        </p:txBody>
      </p:sp>
      <p:sp>
        <p:nvSpPr>
          <p:cNvPr id="21" name="object 2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99</a:t>
            </a:fld>
            <a:endParaRPr spc="-25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17289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026013" y="2346836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634813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952006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519613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86602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24998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46339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5059664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54185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08157" y="580256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70250" y="846255"/>
            <a:ext cx="8740140" cy="51339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b="1" i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2350" b="1" i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browse/create/deploy/describe/open-</a:t>
            </a:r>
            <a:r>
              <a:rPr sz="235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console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85" dirty="0">
                <a:solidFill>
                  <a:srgbClr val="212121"/>
                </a:solidFill>
                <a:latin typeface="Trebuchet MS"/>
                <a:cs typeface="Trebuchet MS"/>
              </a:rPr>
              <a:t>region=us-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central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deploy</a:t>
            </a:r>
            <a:r>
              <a:rPr sz="1900" b="1" i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app.yaml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image-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url: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flexible environments.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docker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image.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i="1" spc="-3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200" i="1" spc="-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1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200" i="1" spc="-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55" dirty="0">
                <a:solidFill>
                  <a:srgbClr val="212121"/>
                </a:solidFill>
                <a:latin typeface="Trebuchet MS"/>
                <a:cs typeface="Trebuchet MS"/>
              </a:rPr>
              <a:t>deploy</a:t>
            </a:r>
            <a:r>
              <a:rPr sz="1200" i="1" spc="-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image-</a:t>
            </a:r>
            <a:r>
              <a:rPr sz="1200" i="1" spc="-75" dirty="0">
                <a:solidFill>
                  <a:srgbClr val="212121"/>
                </a:solidFill>
                <a:latin typeface="Trebuchet MS"/>
                <a:cs typeface="Trebuchet MS"/>
              </a:rPr>
              <a:t>url</a:t>
            </a:r>
            <a:r>
              <a:rPr sz="1200" i="1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gcr.io/PROJECT-ID/hello-</a:t>
            </a:r>
            <a:r>
              <a:rPr sz="1200" i="1" spc="-65" dirty="0">
                <a:solidFill>
                  <a:srgbClr val="212121"/>
                </a:solidFill>
                <a:latin typeface="Trebuchet MS"/>
                <a:cs typeface="Trebuchet MS"/>
              </a:rPr>
              <a:t>world-</a:t>
            </a:r>
            <a:r>
              <a:rPr sz="1200" i="1" spc="-90" dirty="0">
                <a:solidFill>
                  <a:srgbClr val="212121"/>
                </a:solidFill>
                <a:latin typeface="Trebuchet MS"/>
                <a:cs typeface="Trebuchet MS"/>
              </a:rPr>
              <a:t>rest-</a:t>
            </a:r>
            <a:r>
              <a:rPr sz="1200" i="1" spc="-10" dirty="0">
                <a:solidFill>
                  <a:srgbClr val="212121"/>
                </a:solidFill>
                <a:latin typeface="Trebuchet MS"/>
                <a:cs typeface="Trebuchet MS"/>
              </a:rPr>
              <a:t>api:0.0.1.RELEASE</a:t>
            </a:r>
            <a:endParaRPr sz="12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625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promote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no-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promote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(Should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version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receive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traffic?)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530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stop-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previous-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no-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stop-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previous-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(Should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old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stopped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after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version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receives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traffic?)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2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(Assign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a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version.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Otherwise,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a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is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generated.)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browse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80" dirty="0">
                <a:solidFill>
                  <a:srgbClr val="212121"/>
                </a:solidFill>
                <a:latin typeface="Trebuchet MS"/>
                <a:cs typeface="Trebuchet MS"/>
              </a:rPr>
              <a:t>service="myService"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55" dirty="0">
                <a:solidFill>
                  <a:srgbClr val="212121"/>
                </a:solidFill>
                <a:latin typeface="Trebuchet MS"/>
                <a:cs typeface="Trebuchet MS"/>
              </a:rPr>
              <a:t>version="v1"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(open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web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browser)</a:t>
            </a:r>
            <a:endParaRPr sz="1900">
              <a:latin typeface="Yu Gothic"/>
              <a:cs typeface="Yu Gothic"/>
            </a:endParaRPr>
          </a:p>
          <a:p>
            <a:pPr marL="346075" marR="2285365">
              <a:lnSpc>
                <a:spcPct val="132600"/>
              </a:lnSpc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open-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console</a:t>
            </a:r>
            <a:r>
              <a:rPr sz="1900" b="1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80" dirty="0">
                <a:solidFill>
                  <a:srgbClr val="212121"/>
                </a:solidFill>
                <a:latin typeface="Trebuchet MS"/>
                <a:cs typeface="Trebuchet MS"/>
              </a:rPr>
              <a:t>service="myService"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35" dirty="0">
                <a:solidFill>
                  <a:srgbClr val="212121"/>
                </a:solidFill>
                <a:latin typeface="Trebuchet MS"/>
                <a:cs typeface="Trebuchet MS"/>
              </a:rPr>
              <a:t>version="v1" 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open-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console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r>
              <a:rPr sz="1900" b="1" i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tail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regions</a:t>
            </a:r>
            <a:r>
              <a:rPr sz="1900" b="1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list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54" dirty="0"/>
              <a:t> </a:t>
            </a:r>
            <a:r>
              <a:rPr spc="-114" dirty="0"/>
              <a:t>with</a:t>
            </a:r>
            <a:r>
              <a:rPr spc="-254" dirty="0"/>
              <a:t> </a:t>
            </a:r>
            <a:r>
              <a:rPr spc="-120" dirty="0"/>
              <a:t>App</a:t>
            </a:r>
            <a:r>
              <a:rPr spc="-254" dirty="0"/>
              <a:t> </a:t>
            </a:r>
            <a:r>
              <a:rPr spc="-60" dirty="0"/>
              <a:t>Engine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100</a:t>
            </a:fld>
            <a:endParaRPr spc="-25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460379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132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5972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29841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70250" y="846255"/>
            <a:ext cx="8740140" cy="293878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b="1" i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2350" b="1" i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2350" b="1" i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delete/describe/list/scp/ssh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85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1900" b="1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i1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service=s1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version=v1</a:t>
            </a:r>
            <a:endParaRPr sz="1900">
              <a:latin typeface="Trebuchet MS"/>
              <a:cs typeface="Trebuchet MS"/>
            </a:endParaRPr>
          </a:p>
          <a:p>
            <a:pPr marL="346075" marR="2771775">
              <a:lnSpc>
                <a:spcPts val="3090"/>
              </a:lnSpc>
              <a:spcBef>
                <a:spcPts val="170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85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describe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service=s1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version=v1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25" dirty="0">
                <a:solidFill>
                  <a:srgbClr val="212121"/>
                </a:solidFill>
                <a:latin typeface="Trebuchet MS"/>
                <a:cs typeface="Trebuchet MS"/>
              </a:rPr>
              <a:t>i1 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85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900" i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list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505"/>
              </a:spcBef>
            </a:pPr>
            <a:r>
              <a:rPr sz="1900" i="1" spc="-2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9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50" dirty="0">
                <a:solidFill>
                  <a:srgbClr val="212121"/>
                </a:solidFill>
                <a:latin typeface="Trebuchet MS"/>
                <a:cs typeface="Trebuchet MS"/>
              </a:rPr>
              <a:t>scp</a:t>
            </a:r>
            <a:r>
              <a:rPr sz="1900" b="1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85" dirty="0">
                <a:solidFill>
                  <a:srgbClr val="212121"/>
                </a:solidFill>
                <a:latin typeface="Trebuchet MS"/>
                <a:cs typeface="Trebuchet MS"/>
              </a:rPr>
              <a:t>service=s1</a:t>
            </a:r>
            <a:r>
              <a:rPr sz="19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85" dirty="0">
                <a:solidFill>
                  <a:srgbClr val="212121"/>
                </a:solidFill>
                <a:latin typeface="Trebuchet MS"/>
                <a:cs typeface="Trebuchet MS"/>
              </a:rPr>
              <a:t>version=v1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75" dirty="0">
                <a:solidFill>
                  <a:srgbClr val="212121"/>
                </a:solidFill>
                <a:latin typeface="Trebuchet MS"/>
                <a:cs typeface="Trebuchet MS"/>
              </a:rPr>
              <a:t>recurse</a:t>
            </a:r>
            <a:r>
              <a:rPr sz="19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75" dirty="0">
                <a:solidFill>
                  <a:srgbClr val="212121"/>
                </a:solidFill>
                <a:latin typeface="Trebuchet MS"/>
                <a:cs typeface="Trebuchet MS"/>
              </a:rPr>
              <a:t>local_dir</a:t>
            </a:r>
            <a:r>
              <a:rPr sz="19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i1:remote_dir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2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(Copy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to/from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Flexible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instances)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</a:pPr>
            <a:r>
              <a:rPr sz="1900" i="1" spc="-2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9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ssh</a:t>
            </a:r>
            <a:r>
              <a:rPr sz="1900" b="1" i="1" spc="-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75" dirty="0">
                <a:solidFill>
                  <a:srgbClr val="212121"/>
                </a:solidFill>
                <a:latin typeface="Trebuchet MS"/>
                <a:cs typeface="Trebuchet MS"/>
              </a:rPr>
              <a:t>service=s1</a:t>
            </a:r>
            <a:r>
              <a:rPr sz="1900" i="1" spc="-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75" dirty="0">
                <a:solidFill>
                  <a:srgbClr val="212121"/>
                </a:solidFill>
                <a:latin typeface="Trebuchet MS"/>
                <a:cs typeface="Trebuchet MS"/>
              </a:rPr>
              <a:t>version=v1</a:t>
            </a:r>
            <a:r>
              <a:rPr sz="1900" i="1" spc="-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i1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(SSH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into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App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Flexible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54" dirty="0"/>
              <a:t> </a:t>
            </a:r>
            <a:r>
              <a:rPr spc="-114" dirty="0"/>
              <a:t>with</a:t>
            </a:r>
            <a:r>
              <a:rPr spc="-260" dirty="0"/>
              <a:t> </a:t>
            </a:r>
            <a:r>
              <a:rPr spc="-120" dirty="0"/>
              <a:t>App</a:t>
            </a:r>
            <a:r>
              <a:rPr spc="-254" dirty="0"/>
              <a:t> </a:t>
            </a:r>
            <a:r>
              <a:rPr spc="-90" dirty="0"/>
              <a:t>Engine</a:t>
            </a:r>
            <a:r>
              <a:rPr spc="-254" dirty="0"/>
              <a:t> </a:t>
            </a:r>
            <a:r>
              <a:rPr spc="-60" dirty="0"/>
              <a:t>Instances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101</a:t>
            </a:fld>
            <a:endParaRPr spc="-25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77684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60" dirty="0"/>
              <a:t> </a:t>
            </a:r>
            <a:r>
              <a:rPr spc="-114" dirty="0"/>
              <a:t>with</a:t>
            </a:r>
            <a:r>
              <a:rPr spc="-254" dirty="0"/>
              <a:t> </a:t>
            </a:r>
            <a:r>
              <a:rPr spc="-120" dirty="0"/>
              <a:t>App</a:t>
            </a:r>
            <a:r>
              <a:rPr spc="-254" dirty="0"/>
              <a:t> </a:t>
            </a:r>
            <a:r>
              <a:rPr spc="-90" dirty="0"/>
              <a:t>Engine</a:t>
            </a:r>
            <a:r>
              <a:rPr spc="-254" dirty="0"/>
              <a:t> </a:t>
            </a:r>
            <a:r>
              <a:rPr spc="-110" dirty="0"/>
              <a:t>Services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4" dirty="0"/>
              <a:t> </a:t>
            </a:r>
            <a:r>
              <a:rPr spc="-80" dirty="0"/>
              <a:t>Versions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22132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8655" y="25972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298956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3277545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3657341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01626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1756" y="4304246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08655" y="465065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08655" y="504297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8655" y="542693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5714916"/>
            <a:ext cx="66777" cy="6677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470747" y="846255"/>
            <a:ext cx="9018905" cy="500761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services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browse/delete/describe/list/set-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traffic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services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list</a:t>
            </a:r>
            <a:endParaRPr sz="1900">
              <a:latin typeface="Trebuchet MS"/>
              <a:cs typeface="Trebuchet MS"/>
            </a:endParaRPr>
          </a:p>
          <a:p>
            <a:pPr marL="346075" marR="3486785">
              <a:lnSpc>
                <a:spcPts val="3090"/>
              </a:lnSpc>
              <a:spcBef>
                <a:spcPts val="170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services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browse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myService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version="v1" 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services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service1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service2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50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services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describe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service1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810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services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set-</a:t>
            </a:r>
            <a:r>
              <a:rPr sz="1900" b="1" i="1" spc="-175" dirty="0">
                <a:solidFill>
                  <a:srgbClr val="212121"/>
                </a:solidFill>
                <a:latin typeface="Trebuchet MS"/>
                <a:cs typeface="Trebuchet MS"/>
              </a:rPr>
              <a:t>traffic</a:t>
            </a:r>
            <a:r>
              <a:rPr sz="1900" b="1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80" dirty="0">
                <a:solidFill>
                  <a:srgbClr val="212121"/>
                </a:solidFill>
                <a:latin typeface="Trebuchet MS"/>
                <a:cs typeface="Trebuchet MS"/>
              </a:rPr>
              <a:t>APP1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splits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50" dirty="0">
                <a:solidFill>
                  <a:srgbClr val="212121"/>
                </a:solidFill>
                <a:latin typeface="Trebuchet MS"/>
                <a:cs typeface="Trebuchet MS"/>
              </a:rPr>
              <a:t>v1=0.9,v2=0.1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split_by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(ip,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cookie,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random)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versions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browse/delete/describe/list/migrate/start/stop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versions</a:t>
            </a:r>
            <a:r>
              <a:rPr sz="1900" i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list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hide-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no-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(Only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show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versions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receiving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traffic)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versions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browse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/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/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describe</a:t>
            </a:r>
            <a:r>
              <a:rPr sz="190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v1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service="myService"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810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versions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migrate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v2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80" dirty="0">
                <a:solidFill>
                  <a:srgbClr val="212121"/>
                </a:solidFill>
                <a:latin typeface="Trebuchet MS"/>
                <a:cs typeface="Trebuchet MS"/>
              </a:rPr>
              <a:t>service="myService"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(migrate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version)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versions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start/stop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25" dirty="0">
                <a:solidFill>
                  <a:srgbClr val="212121"/>
                </a:solidFill>
                <a:latin typeface="Trebuchet MS"/>
                <a:cs typeface="Trebuchet MS"/>
              </a:rPr>
              <a:t>v1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service=my-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v1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my-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102</a:t>
            </a:fld>
            <a:endParaRPr spc="-25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3707129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App</a:t>
            </a:r>
            <a:r>
              <a:rPr spc="-265" dirty="0"/>
              <a:t> </a:t>
            </a:r>
            <a:r>
              <a:rPr spc="-90" dirty="0"/>
              <a:t>Engine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114" dirty="0"/>
              <a:t>Cron</a:t>
            </a:r>
            <a:r>
              <a:rPr spc="-265" dirty="0"/>
              <a:t> </a:t>
            </a:r>
            <a:r>
              <a:rPr spc="-25" dirty="0"/>
              <a:t>Job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121463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580557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293113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330676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3732465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4183212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453379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70747" y="1843324"/>
            <a:ext cx="6823075" cy="286829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Allows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scheduled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jobs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pre-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defined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intervals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cases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report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email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day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Refresh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cache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30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minutes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Configured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cron.yaml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command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b="1" i="1" spc="-2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2350" b="1" i="1" spc="-2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deploy</a:t>
            </a:r>
            <a:r>
              <a:rPr sz="2350" b="1" i="1" spc="-2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cron.yaml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Performs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HTTP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GET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request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configured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URL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schedule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49609" y="894080"/>
            <a:ext cx="9083040" cy="944244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475"/>
              </a:spcBef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cron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274320" marR="5617210" indent="-199390">
              <a:lnSpc>
                <a:spcPct val="101099"/>
              </a:lnSpc>
            </a:pPr>
            <a:r>
              <a:rPr sz="1300" dirty="0">
                <a:latin typeface="Courier New"/>
                <a:cs typeface="Courier New"/>
              </a:rPr>
              <a:t>-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description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"daily summary </a:t>
            </a:r>
            <a:r>
              <a:rPr sz="1300" spc="-20" dirty="0">
                <a:solidFill>
                  <a:srgbClr val="A21515"/>
                </a:solidFill>
                <a:latin typeface="Courier New"/>
                <a:cs typeface="Courier New"/>
              </a:rPr>
              <a:t>job"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url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10" dirty="0">
                <a:latin typeface="Courier New"/>
                <a:cs typeface="Courier New"/>
              </a:rPr>
              <a:t>/tasks/summary</a:t>
            </a:r>
            <a:endParaRPr sz="1300">
              <a:latin typeface="Courier New"/>
              <a:cs typeface="Courier New"/>
            </a:endParaRPr>
          </a:p>
          <a:p>
            <a:pPr marL="274320">
              <a:lnSpc>
                <a:spcPts val="1510"/>
              </a:lnSpc>
            </a:pP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schedule</a:t>
            </a:r>
            <a:r>
              <a:rPr sz="1300" dirty="0">
                <a:latin typeface="Courier New"/>
                <a:cs typeface="Courier New"/>
              </a:rPr>
              <a:t>: every 24 </a:t>
            </a:r>
            <a:r>
              <a:rPr sz="1300" spc="-10" dirty="0">
                <a:latin typeface="Courier New"/>
                <a:cs typeface="Courier New"/>
              </a:rPr>
              <a:t>hours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103</a:t>
            </a:fld>
            <a:endParaRPr spc="-25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60527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Others</a:t>
            </a:r>
            <a:r>
              <a:rPr spc="-254" dirty="0"/>
              <a:t> </a:t>
            </a:r>
            <a:r>
              <a:rPr spc="-85" dirty="0"/>
              <a:t>Important</a:t>
            </a:r>
            <a:r>
              <a:rPr spc="-254" dirty="0"/>
              <a:t> </a:t>
            </a:r>
            <a:r>
              <a:rPr spc="-120" dirty="0"/>
              <a:t>App</a:t>
            </a:r>
            <a:r>
              <a:rPr spc="-254" dirty="0"/>
              <a:t> </a:t>
            </a:r>
            <a:r>
              <a:rPr spc="-90" dirty="0"/>
              <a:t>Engine</a:t>
            </a:r>
            <a:r>
              <a:rPr spc="-254" dirty="0"/>
              <a:t> </a:t>
            </a:r>
            <a:r>
              <a:rPr spc="-90" dirty="0"/>
              <a:t>yaml</a:t>
            </a:r>
            <a:r>
              <a:rPr spc="-254" dirty="0"/>
              <a:t> </a:t>
            </a:r>
            <a:r>
              <a:rPr spc="-45" dirty="0"/>
              <a:t>files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70747" y="898425"/>
            <a:ext cx="477012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dispatch.yaml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override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routing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endParaRPr sz="2350">
              <a:latin typeface="Yu Gothic"/>
              <a:cs typeface="Yu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947832"/>
            <a:ext cx="91818" cy="918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70747" y="2768189"/>
            <a:ext cx="433705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queue.yaml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task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queues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9609" y="1520825"/>
            <a:ext cx="9083040" cy="1143000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470"/>
              </a:spcBef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dispatch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471805" marR="6214110" indent="-197485">
              <a:lnSpc>
                <a:spcPts val="1510"/>
              </a:lnSpc>
              <a:spcBef>
                <a:spcPts val="110"/>
              </a:spcBef>
              <a:buClr>
                <a:srgbClr val="000000"/>
              </a:buClr>
              <a:buChar char="-"/>
              <a:tabLst>
                <a:tab pos="473709" algn="l"/>
              </a:tabLst>
            </a:pP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url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"*/mobile/*" 	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service</a:t>
            </a:r>
            <a:r>
              <a:rPr sz="1300" dirty="0">
                <a:latin typeface="Courier New"/>
                <a:cs typeface="Courier New"/>
              </a:rPr>
              <a:t>: mobile-</a:t>
            </a:r>
            <a:r>
              <a:rPr sz="1300" spc="-10" dirty="0">
                <a:latin typeface="Courier New"/>
                <a:cs typeface="Courier New"/>
              </a:rPr>
              <a:t>frontend</a:t>
            </a:r>
            <a:endParaRPr sz="1300">
              <a:latin typeface="Courier New"/>
              <a:cs typeface="Courier New"/>
            </a:endParaRPr>
          </a:p>
          <a:p>
            <a:pPr marL="471805" marR="6313170" indent="-197485">
              <a:lnSpc>
                <a:spcPts val="1580"/>
              </a:lnSpc>
              <a:spcBef>
                <a:spcPts val="15"/>
              </a:spcBef>
              <a:buClr>
                <a:srgbClr val="000000"/>
              </a:buClr>
              <a:buChar char="-"/>
              <a:tabLst>
                <a:tab pos="473709" algn="l"/>
              </a:tabLst>
            </a:pP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url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"*/work/*" 	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service</a:t>
            </a:r>
            <a:r>
              <a:rPr sz="1300" dirty="0">
                <a:latin typeface="Courier New"/>
                <a:cs typeface="Courier New"/>
              </a:rPr>
              <a:t>:</a:t>
            </a:r>
            <a:r>
              <a:rPr sz="1300" spc="-1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static-</a:t>
            </a:r>
            <a:r>
              <a:rPr sz="1300" spc="-10" dirty="0">
                <a:latin typeface="Courier New"/>
                <a:cs typeface="Courier New"/>
              </a:rPr>
              <a:t>backend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9609" y="3389629"/>
            <a:ext cx="9083040" cy="1335405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75565">
              <a:lnSpc>
                <a:spcPts val="1535"/>
              </a:lnSpc>
              <a:spcBef>
                <a:spcPts val="480"/>
              </a:spcBef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queue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274320" marR="7108825" indent="-199390">
              <a:lnSpc>
                <a:spcPts val="1580"/>
              </a:lnSpc>
              <a:spcBef>
                <a:spcPts val="10"/>
              </a:spcBef>
            </a:pPr>
            <a:r>
              <a:rPr sz="1300" dirty="0">
                <a:latin typeface="Courier New"/>
                <a:cs typeface="Courier New"/>
              </a:rPr>
              <a:t>-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name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10" dirty="0">
                <a:latin typeface="Courier New"/>
                <a:cs typeface="Courier New"/>
              </a:rPr>
              <a:t>fooqueue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rate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25" dirty="0">
                <a:latin typeface="Courier New"/>
                <a:cs typeface="Courier New"/>
              </a:rPr>
              <a:t>1/s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retry_parameters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473709" marR="6710680">
              <a:lnSpc>
                <a:spcPts val="1510"/>
              </a:lnSpc>
              <a:spcBef>
                <a:spcPts val="50"/>
              </a:spcBef>
            </a:pP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task_retry_limit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50" dirty="0">
                <a:latin typeface="Courier New"/>
                <a:cs typeface="Courier New"/>
              </a:rPr>
              <a:t>7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task_age_limit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25" dirty="0">
                <a:latin typeface="Courier New"/>
                <a:cs typeface="Courier New"/>
              </a:rPr>
              <a:t>2d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104</a:t>
            </a:fld>
            <a:endParaRPr spc="-25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997915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7408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467015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8175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52015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489543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5806735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70250" y="856689"/>
            <a:ext cx="8740140" cy="508889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AppEngine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Regional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(services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deployed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zones)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CANNOT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Application's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Good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simple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microservices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(multiple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services)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Standard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v2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languages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Flexible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building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containerized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apps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aware</a:t>
            </a:r>
            <a:r>
              <a:rPr sz="235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ATLEAST</a:t>
            </a:r>
            <a:r>
              <a:rPr sz="2350" b="1" spc="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2350" b="1" spc="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container</a:t>
            </a:r>
            <a:r>
              <a:rPr sz="2350" b="1" spc="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always</a:t>
            </a:r>
            <a:r>
              <a:rPr sz="235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Flexible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Go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35" dirty="0">
                <a:solidFill>
                  <a:srgbClr val="212121"/>
                </a:solidFill>
                <a:latin typeface="Trebuchet MS"/>
                <a:cs typeface="Trebuchet MS"/>
              </a:rPr>
              <a:t>Standard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able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number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to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50"/>
              </a:spcBef>
            </a:pP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zero</a:t>
            </a:r>
            <a:r>
              <a:rPr sz="190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there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combination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resident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dynamic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Resident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Instances: Run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continuously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Dynamic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Added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dynamic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sensitive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sensitive,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keep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resident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always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App</a:t>
            </a:r>
            <a:r>
              <a:rPr spc="-270" dirty="0"/>
              <a:t> </a:t>
            </a:r>
            <a:r>
              <a:rPr spc="-90" dirty="0"/>
              <a:t>Engine</a:t>
            </a:r>
            <a:r>
              <a:rPr spc="-270" dirty="0"/>
              <a:t> </a:t>
            </a:r>
            <a:r>
              <a:rPr spc="-155" dirty="0"/>
              <a:t>-</a:t>
            </a:r>
            <a:r>
              <a:rPr spc="-270" dirty="0"/>
              <a:t> </a:t>
            </a:r>
            <a:r>
              <a:rPr spc="-105" dirty="0"/>
              <a:t>Remember</a:t>
            </a:r>
          </a:p>
        </p:txBody>
      </p:sp>
      <p:sp>
        <p:nvSpPr>
          <p:cNvPr id="17" name="object 17"/>
          <p:cNvSpPr/>
          <p:nvPr/>
        </p:nvSpPr>
        <p:spPr>
          <a:xfrm>
            <a:off x="11839590" y="6572250"/>
            <a:ext cx="276225" cy="209550"/>
          </a:xfrm>
          <a:custGeom>
            <a:avLst/>
            <a:gdLst/>
            <a:ahLst/>
            <a:cxnLst/>
            <a:rect l="l" t="t" r="r" b="b"/>
            <a:pathLst>
              <a:path w="276225" h="209550">
                <a:moveTo>
                  <a:pt x="2762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76225" y="0"/>
                </a:lnTo>
                <a:lnTo>
                  <a:pt x="2762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105</a:t>
            </a:fld>
            <a:endParaRPr spc="-25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36770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336936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4362676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5664833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App</a:t>
            </a:r>
            <a:r>
              <a:rPr spc="-270" dirty="0"/>
              <a:t> </a:t>
            </a:r>
            <a:r>
              <a:rPr spc="-90" dirty="0"/>
              <a:t>Engine</a:t>
            </a:r>
            <a:r>
              <a:rPr spc="-270" dirty="0"/>
              <a:t> </a:t>
            </a:r>
            <a:r>
              <a:rPr spc="-155" dirty="0"/>
              <a:t>-</a:t>
            </a:r>
            <a:r>
              <a:rPr spc="-270" dirty="0"/>
              <a:t> </a:t>
            </a:r>
            <a:r>
              <a:rPr spc="-70" dirty="0"/>
              <a:t>Scenarios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6370" y="980227"/>
            <a:ext cx="42995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17900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6370" y="1407936"/>
            <a:ext cx="290703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two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App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Apps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same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01916" y="1407936"/>
            <a:ext cx="6124575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possible.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6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per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project.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However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can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services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each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service.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6370" y="2417942"/>
            <a:ext cx="2896870" cy="8356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just">
              <a:lnSpc>
                <a:spcPct val="107900"/>
              </a:lnSpc>
              <a:spcBef>
                <a:spcPts val="65"/>
              </a:spcBef>
            </a:pP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sz="16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6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two</a:t>
            </a:r>
            <a:r>
              <a:rPr sz="16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16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650" b="1" spc="-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6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Services</a:t>
            </a:r>
            <a:r>
              <a:rPr sz="16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inside</a:t>
            </a:r>
            <a:r>
              <a:rPr sz="16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6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same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01916" y="2417942"/>
            <a:ext cx="6216015" cy="56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00"/>
              </a:spcBef>
            </a:pP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Yup.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6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services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under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app.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service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versions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well.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6370" y="3402907"/>
            <a:ext cx="287655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move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my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App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different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region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01916" y="3402907"/>
            <a:ext cx="6231255" cy="843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130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specific.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6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8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move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different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region.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new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region.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6370" y="4427604"/>
            <a:ext cx="268351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Perform</a:t>
            </a:r>
            <a:r>
              <a:rPr sz="16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Canary</a:t>
            </a:r>
            <a:r>
              <a:rPr sz="16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deployments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01916" y="4396219"/>
            <a:ext cx="6021705" cy="1160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40335">
              <a:lnSpc>
                <a:spcPct val="112900"/>
              </a:lnSpc>
              <a:spcBef>
                <a:spcPts val="95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v2</a:t>
            </a: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without</a:t>
            </a: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shifting</a:t>
            </a:r>
            <a:r>
              <a:rPr sz="16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650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650" spc="2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212121"/>
                </a:solidFill>
                <a:latin typeface="Courier New"/>
                <a:cs typeface="Courier New"/>
              </a:rPr>
              <a:t>app</a:t>
            </a:r>
            <a:r>
              <a:rPr sz="1650" spc="2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212121"/>
                </a:solidFill>
                <a:latin typeface="Courier New"/>
                <a:cs typeface="Courier New"/>
              </a:rPr>
              <a:t>deploy</a:t>
            </a:r>
            <a:r>
              <a:rPr sz="1650" spc="2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212121"/>
                </a:solidFill>
                <a:latin typeface="Courier New"/>
                <a:cs typeface="Courier New"/>
              </a:rPr>
              <a:t>--</a:t>
            </a:r>
            <a:r>
              <a:rPr sz="1650" spc="-25" dirty="0">
                <a:solidFill>
                  <a:srgbClr val="212121"/>
                </a:solidFill>
                <a:latin typeface="Courier New"/>
                <a:cs typeface="Courier New"/>
              </a:rPr>
              <a:t>no- </a:t>
            </a:r>
            <a:r>
              <a:rPr sz="1650" spc="-10" dirty="0">
                <a:solidFill>
                  <a:srgbClr val="212121"/>
                </a:solidFill>
                <a:latin typeface="Courier New"/>
                <a:cs typeface="Courier New"/>
              </a:rPr>
              <a:t>promote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12900"/>
              </a:lnSpc>
            </a:pP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Shift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65" dirty="0">
                <a:solidFill>
                  <a:srgbClr val="212121"/>
                </a:solidFill>
                <a:latin typeface="Yu Gothic"/>
                <a:cs typeface="Yu Gothic"/>
              </a:rPr>
              <a:t>V2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650" dirty="0">
                <a:solidFill>
                  <a:srgbClr val="212121"/>
                </a:solidFill>
                <a:latin typeface="Courier New"/>
                <a:cs typeface="Courier New"/>
              </a:rPr>
              <a:t>gcloud app</a:t>
            </a:r>
            <a:r>
              <a:rPr sz="165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212121"/>
                </a:solidFill>
                <a:latin typeface="Courier New"/>
                <a:cs typeface="Courier New"/>
              </a:rPr>
              <a:t>services</a:t>
            </a:r>
            <a:r>
              <a:rPr sz="165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212121"/>
                </a:solidFill>
                <a:latin typeface="Courier New"/>
                <a:cs typeface="Courier New"/>
              </a:rPr>
              <a:t>set-</a:t>
            </a:r>
            <a:r>
              <a:rPr sz="1650" spc="-10" dirty="0">
                <a:solidFill>
                  <a:srgbClr val="212121"/>
                </a:solidFill>
                <a:latin typeface="Courier New"/>
                <a:cs typeface="Courier New"/>
              </a:rPr>
              <a:t>traffic </a:t>
            </a:r>
            <a:r>
              <a:rPr sz="1650" dirty="0">
                <a:solidFill>
                  <a:srgbClr val="212121"/>
                </a:solidFill>
                <a:latin typeface="Courier New"/>
                <a:cs typeface="Courier New"/>
              </a:rPr>
              <a:t>s1</a:t>
            </a:r>
            <a:r>
              <a:rPr sz="165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212121"/>
                </a:solidFill>
                <a:latin typeface="Courier New"/>
                <a:cs typeface="Courier New"/>
              </a:rPr>
              <a:t>--splits</a:t>
            </a:r>
            <a:r>
              <a:rPr sz="165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Courier New"/>
                <a:cs typeface="Courier New"/>
              </a:rPr>
              <a:t>v1=0.9,v2=0.1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49100" y="6572250"/>
            <a:ext cx="266700" cy="209550"/>
          </a:xfrm>
          <a:custGeom>
            <a:avLst/>
            <a:gdLst/>
            <a:ahLst/>
            <a:cxnLst/>
            <a:rect l="l" t="t" r="r" b="b"/>
            <a:pathLst>
              <a:path w="266700" h="209550">
                <a:moveTo>
                  <a:pt x="26670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66700" y="0"/>
                </a:lnTo>
                <a:lnTo>
                  <a:pt x="26670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106</a:t>
            </a:fld>
            <a:endParaRPr spc="-25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4145" y="1966861"/>
            <a:ext cx="8514080" cy="182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1529" marR="5080" indent="-3339465">
              <a:lnSpc>
                <a:spcPct val="100299"/>
              </a:lnSpc>
              <a:spcBef>
                <a:spcPts val="95"/>
              </a:spcBef>
            </a:pPr>
            <a:r>
              <a:rPr sz="5900" spc="-165" dirty="0">
                <a:solidFill>
                  <a:srgbClr val="1BA74A"/>
                </a:solidFill>
              </a:rPr>
              <a:t>Google</a:t>
            </a:r>
            <a:r>
              <a:rPr sz="5900" spc="-545" dirty="0">
                <a:solidFill>
                  <a:srgbClr val="1BA74A"/>
                </a:solidFill>
              </a:rPr>
              <a:t> </a:t>
            </a:r>
            <a:r>
              <a:rPr sz="5900" spc="-254" dirty="0">
                <a:solidFill>
                  <a:srgbClr val="1BA74A"/>
                </a:solidFill>
              </a:rPr>
              <a:t>Kubernetes</a:t>
            </a:r>
            <a:r>
              <a:rPr sz="5900" spc="-540" dirty="0">
                <a:solidFill>
                  <a:srgbClr val="1BA74A"/>
                </a:solidFill>
              </a:rPr>
              <a:t> </a:t>
            </a:r>
            <a:r>
              <a:rPr sz="5900" spc="-155" dirty="0">
                <a:solidFill>
                  <a:srgbClr val="1BA74A"/>
                </a:solidFill>
              </a:rPr>
              <a:t>Engine </a:t>
            </a:r>
            <a:r>
              <a:rPr sz="5900" spc="-20" dirty="0">
                <a:solidFill>
                  <a:srgbClr val="1BA74A"/>
                </a:solidFill>
              </a:rPr>
              <a:t>(GKE)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9590" y="6572250"/>
            <a:ext cx="276225" cy="209550"/>
          </a:xfrm>
          <a:custGeom>
            <a:avLst/>
            <a:gdLst/>
            <a:ahLst/>
            <a:cxnLst/>
            <a:rect l="l" t="t" r="r" b="b"/>
            <a:pathLst>
              <a:path w="276225" h="209550">
                <a:moveTo>
                  <a:pt x="2762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76225" y="0"/>
                </a:lnTo>
                <a:lnTo>
                  <a:pt x="2762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107</a:t>
            </a:fld>
            <a:endParaRPr spc="-25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3001" y="1283662"/>
            <a:ext cx="4497194" cy="24497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70250" y="866705"/>
            <a:ext cx="4833620" cy="2292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53745" algn="l"/>
                <a:tab pos="1880235" algn="l"/>
                <a:tab pos="2655570" algn="l"/>
                <a:tab pos="3621404" algn="l"/>
              </a:tabLst>
            </a:pP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popular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open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source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container orchestration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solution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  <a:tabLst>
                <a:tab pos="1692275" algn="l"/>
                <a:tab pos="316992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Management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(including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upgrades)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70"/>
              </a:spcBef>
              <a:tabLst>
                <a:tab pos="977265" algn="l"/>
                <a:tab pos="1802130" algn="l"/>
                <a:tab pos="2305050" algn="l"/>
                <a:tab pos="2930525" algn="l"/>
                <a:tab pos="3931920" algn="l"/>
                <a:tab pos="4619625" algn="l"/>
              </a:tabLst>
            </a:pP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of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machines</a:t>
            </a:r>
            <a:endParaRPr sz="1900">
              <a:latin typeface="Yu Gothic"/>
              <a:cs typeface="Yu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398578"/>
            <a:ext cx="91818" cy="918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779233" y="3218936"/>
            <a:ext cx="122491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container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08157" y="41414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51709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90106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52766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70250" y="3187217"/>
            <a:ext cx="3321685" cy="226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416685" algn="l"/>
                <a:tab pos="203644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important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orchestration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features: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Auto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Scaling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Discovery</a:t>
            </a:r>
            <a:endParaRPr sz="1900">
              <a:latin typeface="Trebuchet MS"/>
              <a:cs typeface="Trebuchet MS"/>
            </a:endParaRPr>
          </a:p>
          <a:p>
            <a:pPr marL="346075" marR="1498600">
              <a:lnSpc>
                <a:spcPct val="129700"/>
              </a:lnSpc>
              <a:spcBef>
                <a:spcPts val="65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Load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Balancer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Self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Healing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308157" y="56523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504136" y="5516074"/>
            <a:ext cx="303149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Zero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Downtime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Deployments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Kubernetes</a:t>
            </a:r>
          </a:p>
        </p:txBody>
      </p:sp>
      <p:sp>
        <p:nvSpPr>
          <p:cNvPr id="17" name="object 17"/>
          <p:cNvSpPr/>
          <p:nvPr/>
        </p:nvSpPr>
        <p:spPr>
          <a:xfrm>
            <a:off x="11839590" y="6572250"/>
            <a:ext cx="276225" cy="209550"/>
          </a:xfrm>
          <a:custGeom>
            <a:avLst/>
            <a:gdLst/>
            <a:ahLst/>
            <a:cxnLst/>
            <a:rect l="l" t="t" r="r" b="b"/>
            <a:pathLst>
              <a:path w="276225" h="209550">
                <a:moveTo>
                  <a:pt x="2762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76225" y="0"/>
                </a:lnTo>
                <a:lnTo>
                  <a:pt x="2762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108</a:t>
            </a:fld>
            <a:endParaRPr spc="-25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9550" y="1094765"/>
            <a:ext cx="1001660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88572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839319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690729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149823"/>
            <a:ext cx="91818" cy="918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70250" y="799928"/>
            <a:ext cx="7838440" cy="355663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Minimize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auto-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repair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(repair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failed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nodes)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auto-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upgrade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(use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latest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K8S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always)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features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Pod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Autoscaling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459"/>
              </a:spcBef>
              <a:tabLst>
                <a:tab pos="1038225" algn="l"/>
                <a:tab pos="1952625" algn="l"/>
                <a:tab pos="3137535" algn="l"/>
                <a:tab pos="3779520" algn="l"/>
                <a:tab pos="4693920" algn="l"/>
                <a:tab pos="6271895" algn="l"/>
                <a:tab pos="698436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Enable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Logging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Monitoring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simple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2350">
              <a:latin typeface="Yu Gothic"/>
              <a:cs typeface="Yu Gothic"/>
            </a:endParaRPr>
          </a:p>
          <a:p>
            <a:pPr marL="12700" marR="84455">
              <a:lnSpc>
                <a:spcPct val="128200"/>
              </a:lnSpc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Uses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Container-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Optimized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OS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hardened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0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built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Google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support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Local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SSD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46100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Google</a:t>
            </a:r>
            <a:r>
              <a:rPr spc="-240" dirty="0"/>
              <a:t> </a:t>
            </a:r>
            <a:r>
              <a:rPr spc="-135" dirty="0"/>
              <a:t>Kubernetes</a:t>
            </a:r>
            <a:r>
              <a:rPr spc="-235" dirty="0"/>
              <a:t> </a:t>
            </a:r>
            <a:r>
              <a:rPr spc="-90" dirty="0"/>
              <a:t>Engine</a:t>
            </a:r>
            <a:r>
              <a:rPr spc="-235" dirty="0"/>
              <a:t> </a:t>
            </a:r>
            <a:r>
              <a:rPr spc="-70" dirty="0"/>
              <a:t>(GKE)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9590" y="6572250"/>
            <a:ext cx="276225" cy="209550"/>
          </a:xfrm>
          <a:custGeom>
            <a:avLst/>
            <a:gdLst/>
            <a:ahLst/>
            <a:cxnLst/>
            <a:rect l="l" t="t" r="r" b="b"/>
            <a:pathLst>
              <a:path w="276225" h="209550">
                <a:moveTo>
                  <a:pt x="2762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76225" y="0"/>
                </a:lnTo>
                <a:lnTo>
                  <a:pt x="2762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109</a:t>
            </a:fld>
            <a:endParaRPr spc="-25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3971" y="1094762"/>
            <a:ext cx="838599" cy="8413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20493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630640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081387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4403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856689"/>
            <a:ext cx="8740140" cy="307848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Let's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Have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Some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Fun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journey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Kubernetes: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cluster,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play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13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steps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!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1: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node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pool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container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clusters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console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2: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Login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Shell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3: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110"/>
              </a:spcBef>
            </a:pP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70" dirty="0">
                <a:solidFill>
                  <a:srgbClr val="212121"/>
                </a:solidFill>
                <a:latin typeface="Trebuchet MS"/>
                <a:cs typeface="Trebuchet MS"/>
              </a:rPr>
              <a:t>container</a:t>
            </a:r>
            <a:r>
              <a:rPr sz="1900" i="1" spc="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0" dirty="0">
                <a:solidFill>
                  <a:srgbClr val="212121"/>
                </a:solidFill>
                <a:latin typeface="Trebuchet MS"/>
                <a:cs typeface="Trebuchet MS"/>
              </a:rPr>
              <a:t>clusters</a:t>
            </a:r>
            <a:r>
              <a:rPr sz="1900" b="1" i="1" spc="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get-</a:t>
            </a:r>
            <a:r>
              <a:rPr sz="19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credentials</a:t>
            </a:r>
            <a:r>
              <a:rPr sz="1900" b="1" i="1" spc="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80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r>
              <a:rPr sz="1900" i="1" spc="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30" dirty="0">
                <a:solidFill>
                  <a:srgbClr val="212121"/>
                </a:solidFill>
                <a:latin typeface="Trebuchet MS"/>
                <a:cs typeface="Trebuchet MS"/>
              </a:rPr>
              <a:t>zone</a:t>
            </a:r>
            <a:r>
              <a:rPr sz="1900" i="1" spc="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80" dirty="0">
                <a:solidFill>
                  <a:srgbClr val="212121"/>
                </a:solidFill>
                <a:latin typeface="Trebuchet MS"/>
                <a:cs typeface="Trebuchet MS"/>
              </a:rPr>
              <a:t>us-</a:t>
            </a:r>
            <a:r>
              <a:rPr sz="1900" i="1" spc="-120" dirty="0">
                <a:solidFill>
                  <a:srgbClr val="212121"/>
                </a:solidFill>
                <a:latin typeface="Trebuchet MS"/>
                <a:cs typeface="Trebuchet MS"/>
              </a:rPr>
              <a:t>central1-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900" i="1" spc="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85" dirty="0">
                <a:solidFill>
                  <a:srgbClr val="212121"/>
                </a:solidFill>
                <a:latin typeface="Trebuchet MS"/>
                <a:cs typeface="Trebuchet MS"/>
              </a:rPr>
              <a:t>project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solid-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course-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258105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Kubernetes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240" dirty="0"/>
              <a:t>A</a:t>
            </a:r>
            <a:r>
              <a:rPr spc="-245" dirty="0"/>
              <a:t> </a:t>
            </a:r>
            <a:r>
              <a:rPr spc="-130" dirty="0"/>
              <a:t>Microservice</a:t>
            </a:r>
            <a:r>
              <a:rPr spc="-245" dirty="0"/>
              <a:t> </a:t>
            </a:r>
            <a:r>
              <a:rPr spc="-125" dirty="0"/>
              <a:t>Journey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110" dirty="0"/>
              <a:t>Getting</a:t>
            </a:r>
            <a:r>
              <a:rPr spc="-245" dirty="0"/>
              <a:t> </a:t>
            </a:r>
            <a:r>
              <a:rPr spc="-45" dirty="0"/>
              <a:t>Started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9590" y="6572250"/>
            <a:ext cx="276225" cy="209550"/>
          </a:xfrm>
          <a:custGeom>
            <a:avLst/>
            <a:gdLst/>
            <a:ahLst/>
            <a:cxnLst/>
            <a:rect l="l" t="t" r="r" b="b"/>
            <a:pathLst>
              <a:path w="276225" h="209550">
                <a:moveTo>
                  <a:pt x="2762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76225" y="0"/>
                </a:lnTo>
                <a:lnTo>
                  <a:pt x="2762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110</a:t>
            </a:fld>
            <a:endParaRPr spc="-25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3971" y="1094762"/>
            <a:ext cx="838599" cy="8413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24973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50512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430308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7892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214941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56552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394949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856689"/>
            <a:ext cx="8698865" cy="3270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4: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Kubernetes: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deployment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kubectl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i="1" spc="-75" dirty="0">
                <a:solidFill>
                  <a:srgbClr val="212121"/>
                </a:solidFill>
                <a:latin typeface="Trebuchet MS"/>
                <a:cs typeface="Trebuchet MS"/>
              </a:rPr>
              <a:t>kubectl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500" b="1" i="1" spc="-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r>
              <a:rPr sz="1500" b="1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hello-world-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rest-</a:t>
            </a:r>
            <a:r>
              <a:rPr sz="1500" i="1" spc="-45" dirty="0">
                <a:solidFill>
                  <a:srgbClr val="212121"/>
                </a:solidFill>
                <a:latin typeface="Trebuchet MS"/>
                <a:cs typeface="Trebuchet MS"/>
              </a:rPr>
              <a:t>api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75" dirty="0">
                <a:solidFill>
                  <a:srgbClr val="212121"/>
                </a:solidFill>
                <a:latin typeface="Trebuchet MS"/>
                <a:cs typeface="Trebuchet MS"/>
              </a:rPr>
              <a:t>image=in28min/hello-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world-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rest-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api:0.0.1.RELEASE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65"/>
              </a:spcBef>
            </a:pPr>
            <a:r>
              <a:rPr sz="1500" i="1" spc="-75" dirty="0">
                <a:solidFill>
                  <a:srgbClr val="212121"/>
                </a:solidFill>
                <a:latin typeface="Trebuchet MS"/>
                <a:cs typeface="Trebuchet MS"/>
              </a:rPr>
              <a:t>kubectl </a:t>
            </a:r>
            <a:r>
              <a:rPr sz="1500" b="1" i="1" spc="-100" dirty="0">
                <a:solidFill>
                  <a:srgbClr val="212121"/>
                </a:solidFill>
                <a:latin typeface="Trebuchet MS"/>
                <a:cs typeface="Trebuchet MS"/>
              </a:rPr>
              <a:t>expose</a:t>
            </a:r>
            <a:r>
              <a:rPr sz="1500" b="1" i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r>
              <a:rPr sz="15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hello-world-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rest-</a:t>
            </a:r>
            <a:r>
              <a:rPr sz="1500" i="1" spc="-45" dirty="0">
                <a:solidFill>
                  <a:srgbClr val="212121"/>
                </a:solidFill>
                <a:latin typeface="Trebuchet MS"/>
                <a:cs typeface="Trebuchet MS"/>
              </a:rPr>
              <a:t>api</a:t>
            </a:r>
            <a:r>
              <a:rPr sz="1500" i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type=LoadBalancer</a:t>
            </a:r>
            <a:r>
              <a:rPr sz="1500" i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port=8080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5: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Increase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microservice: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kubectl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30" dirty="0">
                <a:solidFill>
                  <a:srgbClr val="212121"/>
                </a:solidFill>
                <a:latin typeface="Trebuchet MS"/>
                <a:cs typeface="Trebuchet MS"/>
              </a:rPr>
              <a:t>scale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30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14" dirty="0">
                <a:solidFill>
                  <a:srgbClr val="212121"/>
                </a:solidFill>
                <a:latin typeface="Trebuchet MS"/>
                <a:cs typeface="Trebuchet MS"/>
              </a:rPr>
              <a:t>hello-world-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rest-</a:t>
            </a:r>
            <a:r>
              <a:rPr sz="1900" i="1" spc="-70" dirty="0">
                <a:solidFill>
                  <a:srgbClr val="212121"/>
                </a:solidFill>
                <a:latin typeface="Trebuchet MS"/>
                <a:cs typeface="Trebuchet MS"/>
              </a:rPr>
              <a:t>api</a:t>
            </a:r>
            <a:r>
              <a:rPr sz="1900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replicas=2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6: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Increase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cluster: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container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clusters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resize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cluster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node-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pool</a:t>
            </a:r>
            <a:r>
              <a:rPr sz="190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node-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pool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num-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nodes</a:t>
            </a:r>
            <a:r>
              <a:rPr sz="190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50" dirty="0">
                <a:solidFill>
                  <a:srgbClr val="212121"/>
                </a:solidFill>
                <a:latin typeface="Trebuchet MS"/>
                <a:cs typeface="Trebuchet MS"/>
              </a:rPr>
              <a:t>5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happy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manually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increasing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nodes!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Kubernetes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240" dirty="0"/>
              <a:t>A</a:t>
            </a:r>
            <a:r>
              <a:rPr spc="-245" dirty="0"/>
              <a:t> </a:t>
            </a:r>
            <a:r>
              <a:rPr spc="-130" dirty="0"/>
              <a:t>Microservice</a:t>
            </a:r>
            <a:r>
              <a:rPr spc="-250" dirty="0"/>
              <a:t> </a:t>
            </a:r>
            <a:r>
              <a:rPr spc="-125" dirty="0"/>
              <a:t>Journey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00" dirty="0"/>
              <a:t>Deploy</a:t>
            </a:r>
            <a:r>
              <a:rPr spc="-245" dirty="0"/>
              <a:t> </a:t>
            </a:r>
            <a:r>
              <a:rPr spc="-95" dirty="0"/>
              <a:t>Microservice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9590" y="6572250"/>
            <a:ext cx="276225" cy="209550"/>
          </a:xfrm>
          <a:custGeom>
            <a:avLst/>
            <a:gdLst/>
            <a:ahLst/>
            <a:cxnLst/>
            <a:rect l="l" t="t" r="r" b="b"/>
            <a:pathLst>
              <a:path w="276225" h="209550">
                <a:moveTo>
                  <a:pt x="2762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76225" y="0"/>
                </a:lnTo>
                <a:lnTo>
                  <a:pt x="2762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111</a:t>
            </a:fld>
            <a:endParaRPr spc="-25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3971" y="1094762"/>
            <a:ext cx="838599" cy="8413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33320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11311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47204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206594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56552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300072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65065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846255"/>
            <a:ext cx="8740140" cy="42995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7: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microservice: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kubectl</a:t>
            </a:r>
            <a:r>
              <a:rPr sz="19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autoscale </a:t>
            </a:r>
            <a:r>
              <a:rPr sz="1900" b="1" i="1" spc="-130" dirty="0">
                <a:solidFill>
                  <a:srgbClr val="212121"/>
                </a:solidFill>
                <a:latin typeface="Trebuchet MS"/>
                <a:cs typeface="Trebuchet MS"/>
              </a:rPr>
              <a:t>deployment </a:t>
            </a:r>
            <a:r>
              <a:rPr sz="1900" i="1" spc="-114" dirty="0">
                <a:solidFill>
                  <a:srgbClr val="212121"/>
                </a:solidFill>
                <a:latin typeface="Trebuchet MS"/>
                <a:cs typeface="Trebuchet MS"/>
              </a:rPr>
              <a:t>hello-world-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rest-</a:t>
            </a:r>
            <a:r>
              <a:rPr sz="1900" i="1" spc="-70" dirty="0">
                <a:solidFill>
                  <a:srgbClr val="212121"/>
                </a:solidFill>
                <a:latin typeface="Trebuchet MS"/>
                <a:cs typeface="Trebuchet MS"/>
              </a:rPr>
              <a:t>api</a:t>
            </a:r>
            <a:r>
              <a:rPr sz="19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max=10</a:t>
            </a:r>
            <a:r>
              <a:rPr sz="19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80" dirty="0">
                <a:solidFill>
                  <a:srgbClr val="212121"/>
                </a:solidFill>
                <a:latin typeface="Trebuchet MS"/>
                <a:cs typeface="Trebuchet MS"/>
              </a:rPr>
              <a:t>cpu-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percent=70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called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horizontal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pod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autoscaling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HPA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i="1" spc="-75" dirty="0">
                <a:solidFill>
                  <a:srgbClr val="212121"/>
                </a:solidFill>
                <a:latin typeface="Trebuchet MS"/>
                <a:cs typeface="Trebuchet MS"/>
              </a:rPr>
              <a:t>kubectl</a:t>
            </a:r>
            <a:r>
              <a:rPr sz="15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get</a:t>
            </a:r>
            <a:r>
              <a:rPr sz="1500" i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25" dirty="0">
                <a:solidFill>
                  <a:srgbClr val="212121"/>
                </a:solidFill>
                <a:latin typeface="Trebuchet MS"/>
                <a:cs typeface="Trebuchet MS"/>
              </a:rPr>
              <a:t>hpa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8: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110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30" dirty="0">
                <a:solidFill>
                  <a:srgbClr val="212121"/>
                </a:solidFill>
                <a:latin typeface="Trebuchet MS"/>
                <a:cs typeface="Trebuchet MS"/>
              </a:rPr>
              <a:t>container</a:t>
            </a:r>
            <a:r>
              <a:rPr sz="1900" b="1" i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clusters</a:t>
            </a:r>
            <a:r>
              <a:rPr sz="1900" b="1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update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cluster-</a:t>
            </a:r>
            <a:r>
              <a:rPr sz="1900" i="1" spc="-65" dirty="0">
                <a:solidFill>
                  <a:srgbClr val="212121"/>
                </a:solidFill>
                <a:latin typeface="Trebuchet MS"/>
                <a:cs typeface="Trebuchet MS"/>
              </a:rPr>
              <a:t>name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enable-</a:t>
            </a:r>
            <a:r>
              <a:rPr sz="1900" i="1" spc="-70" dirty="0">
                <a:solidFill>
                  <a:srgbClr val="212121"/>
                </a:solidFill>
                <a:latin typeface="Trebuchet MS"/>
                <a:cs typeface="Trebuchet MS"/>
              </a:rPr>
              <a:t>autoscaling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min-</a:t>
            </a:r>
            <a:r>
              <a:rPr sz="1900" i="1" spc="-80" dirty="0">
                <a:solidFill>
                  <a:srgbClr val="212121"/>
                </a:solidFill>
                <a:latin typeface="Trebuchet MS"/>
                <a:cs typeface="Trebuchet MS"/>
              </a:rPr>
              <a:t>nodes=1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900" i="1" spc="-50" dirty="0">
                <a:solidFill>
                  <a:srgbClr val="212121"/>
                </a:solidFill>
                <a:latin typeface="Trebuchet MS"/>
                <a:cs typeface="Trebuchet MS"/>
              </a:rPr>
              <a:t>-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max-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nodes=10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9: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75"/>
              </a:spcBef>
              <a:tabLst>
                <a:tab pos="1182370" algn="l"/>
                <a:tab pos="1800225" algn="l"/>
                <a:tab pos="2061845" algn="l"/>
                <a:tab pos="2971800" algn="l"/>
                <a:tab pos="3792854" algn="l"/>
                <a:tab pos="5054600" algn="l"/>
                <a:tab pos="8049259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Config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Map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kubectl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configmap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todo-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web-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application-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config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--from- </a:t>
            </a:r>
            <a:r>
              <a:rPr sz="1900" i="1" spc="-55" dirty="0">
                <a:solidFill>
                  <a:srgbClr val="212121"/>
                </a:solidFill>
                <a:latin typeface="Trebuchet MS"/>
                <a:cs typeface="Trebuchet MS"/>
              </a:rPr>
              <a:t>literal=RDS_DB_NAME=todos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10: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password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Secrets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kubectl</a:t>
            </a:r>
            <a:r>
              <a:rPr sz="1900" i="1" spc="-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secret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85" dirty="0">
                <a:solidFill>
                  <a:srgbClr val="212121"/>
                </a:solidFill>
                <a:latin typeface="Trebuchet MS"/>
                <a:cs typeface="Trebuchet MS"/>
              </a:rPr>
              <a:t>generic</a:t>
            </a:r>
            <a:r>
              <a:rPr sz="1900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todo-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web-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application-</a:t>
            </a:r>
            <a:r>
              <a:rPr sz="1900" i="1" spc="-114" dirty="0">
                <a:solidFill>
                  <a:srgbClr val="212121"/>
                </a:solidFill>
                <a:latin typeface="Trebuchet MS"/>
                <a:cs typeface="Trebuchet MS"/>
              </a:rPr>
              <a:t>secrets-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900" i="1" spc="-50" dirty="0">
                <a:solidFill>
                  <a:srgbClr val="212121"/>
                </a:solidFill>
                <a:latin typeface="Trebuchet MS"/>
                <a:cs typeface="Trebuchet MS"/>
              </a:rPr>
              <a:t>-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from-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literal=RDS_PASSWORD=dummytodos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Kubernetes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240" dirty="0"/>
              <a:t>A</a:t>
            </a:r>
            <a:r>
              <a:rPr spc="-250" dirty="0"/>
              <a:t> </a:t>
            </a:r>
            <a:r>
              <a:rPr spc="-130" dirty="0"/>
              <a:t>Microservice</a:t>
            </a:r>
            <a:r>
              <a:rPr spc="-245" dirty="0"/>
              <a:t> </a:t>
            </a:r>
            <a:r>
              <a:rPr spc="-125" dirty="0"/>
              <a:t>Journey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145" dirty="0"/>
              <a:t>Auto</a:t>
            </a:r>
            <a:r>
              <a:rPr spc="-250" dirty="0"/>
              <a:t> </a:t>
            </a:r>
            <a:r>
              <a:rPr spc="-55" dirty="0"/>
              <a:t>Scaling</a:t>
            </a:r>
            <a:r>
              <a:rPr spc="-245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310" dirty="0"/>
              <a:t>..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9590" y="6572250"/>
            <a:ext cx="276225" cy="209550"/>
          </a:xfrm>
          <a:custGeom>
            <a:avLst/>
            <a:gdLst/>
            <a:ahLst/>
            <a:cxnLst/>
            <a:rect l="l" t="t" r="r" b="b"/>
            <a:pathLst>
              <a:path w="276225" h="209550">
                <a:moveTo>
                  <a:pt x="2762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76225" y="0"/>
                </a:lnTo>
                <a:lnTo>
                  <a:pt x="2762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112</a:t>
            </a:fld>
            <a:endParaRPr spc="-25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Kubernetes</a:t>
            </a:r>
            <a:r>
              <a:rPr spc="-245" dirty="0"/>
              <a:t> </a:t>
            </a:r>
            <a:r>
              <a:rPr spc="-110" dirty="0"/>
              <a:t>Deployment</a:t>
            </a:r>
            <a:r>
              <a:rPr spc="-240" dirty="0"/>
              <a:t> </a:t>
            </a:r>
            <a:r>
              <a:rPr spc="-200" dirty="0"/>
              <a:t>YAML</a:t>
            </a:r>
            <a:r>
              <a:rPr spc="-240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70" dirty="0"/>
              <a:t>Deployment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9609" y="894080"/>
            <a:ext cx="9083040" cy="4116070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75565" marR="7108825">
              <a:lnSpc>
                <a:spcPct val="101099"/>
              </a:lnSpc>
              <a:spcBef>
                <a:spcPts val="459"/>
              </a:spcBef>
            </a:pP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apiVersion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10" dirty="0">
                <a:latin typeface="Courier New"/>
                <a:cs typeface="Courier New"/>
              </a:rPr>
              <a:t>apps/v1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kind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10" dirty="0">
                <a:latin typeface="Courier New"/>
                <a:cs typeface="Courier New"/>
              </a:rPr>
              <a:t>Deployment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metadata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274320">
              <a:lnSpc>
                <a:spcPts val="1510"/>
              </a:lnSpc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labels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274320" marR="6114415" indent="198755">
              <a:lnSpc>
                <a:spcPct val="101099"/>
              </a:lnSpc>
            </a:pP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app</a:t>
            </a:r>
            <a:r>
              <a:rPr sz="1300" dirty="0">
                <a:latin typeface="Courier New"/>
                <a:cs typeface="Courier New"/>
              </a:rPr>
              <a:t>: hello-world-rest-</a:t>
            </a:r>
            <a:r>
              <a:rPr sz="1300" spc="-25" dirty="0">
                <a:latin typeface="Courier New"/>
                <a:cs typeface="Courier New"/>
              </a:rPr>
              <a:t>api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name</a:t>
            </a:r>
            <a:r>
              <a:rPr sz="1300" dirty="0">
                <a:latin typeface="Courier New"/>
                <a:cs typeface="Courier New"/>
              </a:rPr>
              <a:t>: hello-world-rest-</a:t>
            </a:r>
            <a:r>
              <a:rPr sz="1300" spc="-25" dirty="0">
                <a:latin typeface="Courier New"/>
                <a:cs typeface="Courier New"/>
              </a:rPr>
              <a:t>api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namespace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10" dirty="0">
                <a:latin typeface="Courier New"/>
                <a:cs typeface="Courier New"/>
              </a:rPr>
              <a:t>default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10"/>
              </a:lnSpc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spec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274320" marR="7705725">
              <a:lnSpc>
                <a:spcPct val="101099"/>
              </a:lnSpc>
            </a:pP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replicas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50" dirty="0">
                <a:latin typeface="Courier New"/>
                <a:cs typeface="Courier New"/>
              </a:rPr>
              <a:t>3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selector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ts val="1535"/>
              </a:lnSpc>
              <a:spcBef>
                <a:spcPts val="15"/>
              </a:spcBef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matchLabels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274320" marR="5915660" indent="397510">
              <a:lnSpc>
                <a:spcPts val="1580"/>
              </a:lnSpc>
              <a:spcBef>
                <a:spcPts val="15"/>
              </a:spcBef>
            </a:pP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app</a:t>
            </a:r>
            <a:r>
              <a:rPr sz="1300" dirty="0">
                <a:latin typeface="Courier New"/>
                <a:cs typeface="Courier New"/>
              </a:rPr>
              <a:t>: hello-world-rest-</a:t>
            </a:r>
            <a:r>
              <a:rPr sz="1300" spc="-25" dirty="0">
                <a:latin typeface="Courier New"/>
                <a:cs typeface="Courier New"/>
              </a:rPr>
              <a:t>api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template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R="7705725" algn="r">
              <a:lnSpc>
                <a:spcPts val="1520"/>
              </a:lnSpc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metadata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R="7705725" algn="r">
              <a:lnSpc>
                <a:spcPts val="1535"/>
              </a:lnSpc>
              <a:spcBef>
                <a:spcPts val="15"/>
              </a:spcBef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labels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473709" marR="5716270" indent="397510">
              <a:lnSpc>
                <a:spcPts val="1580"/>
              </a:lnSpc>
              <a:spcBef>
                <a:spcPts val="15"/>
              </a:spcBef>
            </a:pP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app</a:t>
            </a:r>
            <a:r>
              <a:rPr sz="1300" dirty="0">
                <a:latin typeface="Courier New"/>
                <a:cs typeface="Courier New"/>
              </a:rPr>
              <a:t>: hello-world-rest-</a:t>
            </a:r>
            <a:r>
              <a:rPr sz="1300" spc="-25" dirty="0">
                <a:latin typeface="Courier New"/>
                <a:cs typeface="Courier New"/>
              </a:rPr>
              <a:t>api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spec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ts val="1520"/>
              </a:lnSpc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containers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871219" marR="3329304" indent="-199390">
              <a:lnSpc>
                <a:spcPts val="1510"/>
              </a:lnSpc>
              <a:spcBef>
                <a:spcPts val="105"/>
              </a:spcBef>
            </a:pPr>
            <a:r>
              <a:rPr sz="1300" dirty="0">
                <a:latin typeface="Courier New"/>
                <a:cs typeface="Courier New"/>
              </a:rPr>
              <a:t>-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image</a:t>
            </a:r>
            <a:r>
              <a:rPr sz="1300" dirty="0">
                <a:latin typeface="Courier New"/>
                <a:cs typeface="Courier New"/>
              </a:rPr>
              <a:t>: in28min/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hello-world-rest-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api</a:t>
            </a:r>
            <a:r>
              <a:rPr sz="1300" spc="-10" dirty="0">
                <a:latin typeface="Courier New"/>
                <a:cs typeface="Courier New"/>
              </a:rPr>
              <a:t>:0.0.3.RELEASE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name</a:t>
            </a:r>
            <a:r>
              <a:rPr sz="1300" dirty="0">
                <a:latin typeface="Courier New"/>
                <a:cs typeface="Courier New"/>
              </a:rPr>
              <a:t>: hello-world-rest-</a:t>
            </a:r>
            <a:r>
              <a:rPr sz="1300" spc="-25" dirty="0">
                <a:latin typeface="Courier New"/>
                <a:cs typeface="Courier New"/>
              </a:rPr>
              <a:t>api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39590" y="6572250"/>
            <a:ext cx="276225" cy="209550"/>
          </a:xfrm>
          <a:custGeom>
            <a:avLst/>
            <a:gdLst/>
            <a:ahLst/>
            <a:cxnLst/>
            <a:rect l="l" t="t" r="r" b="b"/>
            <a:pathLst>
              <a:path w="276225" h="209550">
                <a:moveTo>
                  <a:pt x="2762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76225" y="0"/>
                </a:lnTo>
                <a:lnTo>
                  <a:pt x="2762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113</a:t>
            </a:fld>
            <a:endParaRPr spc="-25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Kubernetes</a:t>
            </a:r>
            <a:r>
              <a:rPr spc="-245" dirty="0"/>
              <a:t> </a:t>
            </a:r>
            <a:r>
              <a:rPr spc="-110" dirty="0"/>
              <a:t>Deployment</a:t>
            </a:r>
            <a:r>
              <a:rPr spc="-240" dirty="0"/>
              <a:t> </a:t>
            </a:r>
            <a:r>
              <a:rPr spc="-200" dirty="0"/>
              <a:t>YAML</a:t>
            </a:r>
            <a:r>
              <a:rPr spc="-240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85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9609" y="894080"/>
            <a:ext cx="9083040" cy="3322320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75565" marR="7606030">
              <a:lnSpc>
                <a:spcPct val="101099"/>
              </a:lnSpc>
              <a:spcBef>
                <a:spcPts val="459"/>
              </a:spcBef>
            </a:pP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apiVersion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25" dirty="0">
                <a:latin typeface="Courier New"/>
                <a:cs typeface="Courier New"/>
              </a:rPr>
              <a:t>v1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kind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10" dirty="0">
                <a:latin typeface="Courier New"/>
                <a:cs typeface="Courier New"/>
              </a:rPr>
              <a:t>Service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metadata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274320">
              <a:lnSpc>
                <a:spcPts val="1510"/>
              </a:lnSpc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labels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274320" marR="6114415" indent="198755">
              <a:lnSpc>
                <a:spcPct val="101099"/>
              </a:lnSpc>
            </a:pP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app</a:t>
            </a:r>
            <a:r>
              <a:rPr sz="1300" dirty="0">
                <a:latin typeface="Courier New"/>
                <a:cs typeface="Courier New"/>
              </a:rPr>
              <a:t>: hello-world-rest-</a:t>
            </a:r>
            <a:r>
              <a:rPr sz="1300" spc="-25" dirty="0">
                <a:latin typeface="Courier New"/>
                <a:cs typeface="Courier New"/>
              </a:rPr>
              <a:t>api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name</a:t>
            </a:r>
            <a:r>
              <a:rPr sz="1300" dirty="0">
                <a:latin typeface="Courier New"/>
                <a:cs typeface="Courier New"/>
              </a:rPr>
              <a:t>: hello-world-rest-</a:t>
            </a:r>
            <a:r>
              <a:rPr sz="1300" spc="-25" dirty="0">
                <a:latin typeface="Courier New"/>
                <a:cs typeface="Courier New"/>
              </a:rPr>
              <a:t>api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namespace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10" dirty="0">
                <a:latin typeface="Courier New"/>
                <a:cs typeface="Courier New"/>
              </a:rPr>
              <a:t>default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10"/>
              </a:lnSpc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spec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  <a:spcBef>
                <a:spcPts val="15"/>
              </a:spcBef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ports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473709" marR="7009130" indent="-199390">
              <a:lnSpc>
                <a:spcPct val="99000"/>
              </a:lnSpc>
              <a:spcBef>
                <a:spcPts val="35"/>
              </a:spcBef>
            </a:pPr>
            <a:r>
              <a:rPr sz="1300" dirty="0">
                <a:latin typeface="Courier New"/>
                <a:cs typeface="Courier New"/>
              </a:rPr>
              <a:t>-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port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20" dirty="0">
                <a:latin typeface="Courier New"/>
                <a:cs typeface="Courier New"/>
              </a:rPr>
              <a:t>8080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protocol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25" dirty="0">
                <a:latin typeface="Courier New"/>
                <a:cs typeface="Courier New"/>
              </a:rPr>
              <a:t>TCP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targetPort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20" dirty="0">
                <a:latin typeface="Courier New"/>
                <a:cs typeface="Courier New"/>
              </a:rPr>
              <a:t>8080</a:t>
            </a:r>
            <a:endParaRPr sz="13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  <a:spcBef>
                <a:spcPts val="15"/>
              </a:spcBef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selector</a:t>
            </a:r>
            <a:r>
              <a:rPr sz="1300" spc="-10" dirty="0">
                <a:latin typeface="Courier New"/>
                <a:cs typeface="Courier New"/>
              </a:rPr>
              <a:t>:</a:t>
            </a:r>
            <a:endParaRPr sz="1300">
              <a:latin typeface="Courier New"/>
              <a:cs typeface="Courier New"/>
            </a:endParaRPr>
          </a:p>
          <a:p>
            <a:pPr marL="274320" marR="6114415" indent="198755">
              <a:lnSpc>
                <a:spcPct val="99000"/>
              </a:lnSpc>
              <a:spcBef>
                <a:spcPts val="35"/>
              </a:spcBef>
            </a:pP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app</a:t>
            </a:r>
            <a:r>
              <a:rPr sz="1300" dirty="0">
                <a:latin typeface="Courier New"/>
                <a:cs typeface="Courier New"/>
              </a:rPr>
              <a:t>: hello-world-rest-</a:t>
            </a:r>
            <a:r>
              <a:rPr sz="1300" spc="-25" dirty="0">
                <a:latin typeface="Courier New"/>
                <a:cs typeface="Courier New"/>
              </a:rPr>
              <a:t>api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sessionAffinity</a:t>
            </a:r>
            <a:r>
              <a:rPr sz="1300" dirty="0">
                <a:latin typeface="Courier New"/>
                <a:cs typeface="Courier New"/>
              </a:rPr>
              <a:t>:</a:t>
            </a:r>
            <a:r>
              <a:rPr sz="1300" spc="-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None 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type</a:t>
            </a: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10" dirty="0">
                <a:latin typeface="Courier New"/>
                <a:cs typeface="Courier New"/>
              </a:rPr>
              <a:t>LoadBalancer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39590" y="6572250"/>
            <a:ext cx="276225" cy="209550"/>
          </a:xfrm>
          <a:custGeom>
            <a:avLst/>
            <a:gdLst/>
            <a:ahLst/>
            <a:cxnLst/>
            <a:rect l="l" t="t" r="r" b="b"/>
            <a:pathLst>
              <a:path w="276225" h="209550">
                <a:moveTo>
                  <a:pt x="2762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76225" y="0"/>
                </a:lnTo>
                <a:lnTo>
                  <a:pt x="2762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114</a:t>
            </a:fld>
            <a:endParaRPr spc="-25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3971" y="1094762"/>
            <a:ext cx="838599" cy="8413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08942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426134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7725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386058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765854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1247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5087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934456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528503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0250" y="866705"/>
            <a:ext cx="8740140" cy="4596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565150" algn="l"/>
                <a:tab pos="1606550" algn="l"/>
                <a:tab pos="1922145" algn="l"/>
                <a:tab pos="2614930" algn="l"/>
                <a:tab pos="4378960" algn="l"/>
                <a:tab pos="5294630" algn="l"/>
                <a:tab pos="6211570" algn="l"/>
                <a:tab pos="7142480" algn="l"/>
                <a:tab pos="7858759" algn="l"/>
                <a:tab pos="8174990" algn="l"/>
              </a:tabLst>
            </a:pP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11: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29" dirty="0">
                <a:solidFill>
                  <a:srgbClr val="212121"/>
                </a:solidFill>
                <a:latin typeface="Yu Gothic"/>
                <a:cs typeface="Yu Gothic"/>
              </a:rPr>
              <a:t>GPU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attached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Attach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node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pool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GPU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container</a:t>
            </a:r>
            <a:r>
              <a:rPr sz="150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node-</a:t>
            </a:r>
            <a:r>
              <a:rPr sz="1500" b="1" spc="-30" dirty="0">
                <a:solidFill>
                  <a:srgbClr val="212121"/>
                </a:solidFill>
                <a:latin typeface="Trebuchet MS"/>
                <a:cs typeface="Trebuchet MS"/>
              </a:rPr>
              <a:t>pools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create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POOL_NAME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CLUSTER_NAME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container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node-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pools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CLUSTER_NAME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pool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setting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nodeSelector</a:t>
            </a:r>
            <a:r>
              <a:rPr sz="1900" spc="-6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80"/>
              </a:spcBef>
            </a:pPr>
            <a:r>
              <a:rPr sz="1900" spc="-10" dirty="0">
                <a:solidFill>
                  <a:srgbClr val="212121"/>
                </a:solidFill>
                <a:latin typeface="Courier New"/>
                <a:cs typeface="Courier New"/>
              </a:rPr>
              <a:t>deployment.yaml</a:t>
            </a:r>
            <a:endParaRPr sz="1900">
              <a:latin typeface="Courier New"/>
              <a:cs typeface="Courier New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nodeSelector:</a:t>
            </a:r>
            <a:r>
              <a:rPr sz="15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cloud.google.com/gke-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nodepool:</a:t>
            </a:r>
            <a:r>
              <a:rPr sz="1500" spc="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POOL_NAME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12: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Microservices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kubectl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delete 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deployment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kubectl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delete 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13: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container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clusters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86701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Kubernetes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240" dirty="0"/>
              <a:t>A</a:t>
            </a:r>
            <a:r>
              <a:rPr spc="-250" dirty="0"/>
              <a:t> </a:t>
            </a:r>
            <a:r>
              <a:rPr spc="-130" dirty="0"/>
              <a:t>Microservice</a:t>
            </a:r>
            <a:r>
              <a:rPr spc="-250" dirty="0"/>
              <a:t> </a:t>
            </a:r>
            <a:r>
              <a:rPr spc="-125" dirty="0"/>
              <a:t>Journey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70" dirty="0"/>
              <a:t>The</a:t>
            </a:r>
            <a:r>
              <a:rPr spc="-250" dirty="0"/>
              <a:t> </a:t>
            </a:r>
            <a:r>
              <a:rPr spc="-25" dirty="0"/>
              <a:t>End!</a:t>
            </a: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115</a:t>
            </a:fld>
            <a:endParaRPr spc="-25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24" y="1186286"/>
            <a:ext cx="3617216" cy="21538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2650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64899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34180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759166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51097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548536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0250" y="856689"/>
            <a:ext cx="5835015" cy="512381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Master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Node(s)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Manages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Worker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Node(s)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(pods)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Master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Node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(Control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plane)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components: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API</a:t>
            </a:r>
            <a:r>
              <a:rPr sz="1900" b="1" spc="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Server</a:t>
            </a:r>
            <a:r>
              <a:rPr sz="1900" b="1" spc="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Handles</a:t>
            </a:r>
            <a:r>
              <a:rPr sz="19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communication</a:t>
            </a:r>
            <a:r>
              <a:rPr sz="1900" spc="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K8S cluster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(from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outside)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Scheduler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Decides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placement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pods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5"/>
              </a:spcBef>
              <a:tabLst>
                <a:tab pos="1397000" algn="l"/>
                <a:tab pos="2568575" algn="l"/>
                <a:tab pos="2917190" algn="l"/>
                <a:tab pos="4081145" algn="l"/>
                <a:tab pos="5675630" algn="l"/>
              </a:tabLst>
            </a:pP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Control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Manager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Manages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deployments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4" dirty="0">
                <a:solidFill>
                  <a:srgbClr val="212121"/>
                </a:solidFill>
                <a:latin typeface="Yu Gothic"/>
                <a:cs typeface="Yu Gothic"/>
              </a:rPr>
              <a:t>&amp;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replicasets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etcd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Distributed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storing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state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Worker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Node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components: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Runs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pods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9"/>
              </a:spcBef>
              <a:tabLst>
                <a:tab pos="1343025" algn="l"/>
                <a:tab pos="1612265" algn="l"/>
                <a:tab pos="2697480" algn="l"/>
                <a:tab pos="4478655" algn="l"/>
                <a:tab pos="5117465" algn="l"/>
              </a:tabLst>
            </a:pP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Kubelet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Manages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communication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master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node(s)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737984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Google</a:t>
            </a:r>
            <a:r>
              <a:rPr spc="-245" dirty="0"/>
              <a:t> </a:t>
            </a:r>
            <a:r>
              <a:rPr spc="-135" dirty="0"/>
              <a:t>Kubernetes</a:t>
            </a:r>
            <a:r>
              <a:rPr spc="-240" dirty="0"/>
              <a:t> </a:t>
            </a:r>
            <a:r>
              <a:rPr spc="-90" dirty="0"/>
              <a:t>Engine</a:t>
            </a:r>
            <a:r>
              <a:rPr spc="-240" dirty="0"/>
              <a:t> </a:t>
            </a:r>
            <a:r>
              <a:rPr spc="-114" dirty="0"/>
              <a:t>(GKE)</a:t>
            </a:r>
            <a:r>
              <a:rPr spc="-240" dirty="0"/>
              <a:t> </a:t>
            </a:r>
            <a:r>
              <a:rPr spc="-75" dirty="0"/>
              <a:t>Cluster</a:t>
            </a: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116</a:t>
            </a:fld>
            <a:endParaRPr spc="-25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8940165" cy="0"/>
          </a:xfrm>
          <a:custGeom>
            <a:avLst/>
            <a:gdLst/>
            <a:ahLst/>
            <a:cxnLst/>
            <a:rect l="l" t="t" r="r" b="b"/>
            <a:pathLst>
              <a:path w="8940165">
                <a:moveTo>
                  <a:pt x="0" y="0"/>
                </a:moveTo>
                <a:lnTo>
                  <a:pt x="893980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1825139"/>
            <a:ext cx="8940165" cy="0"/>
          </a:xfrm>
          <a:custGeom>
            <a:avLst/>
            <a:gdLst/>
            <a:ahLst/>
            <a:cxnLst/>
            <a:rect l="l" t="t" r="r" b="b"/>
            <a:pathLst>
              <a:path w="8940165">
                <a:moveTo>
                  <a:pt x="0" y="0"/>
                </a:moveTo>
                <a:lnTo>
                  <a:pt x="893980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2275886"/>
            <a:ext cx="8940165" cy="0"/>
          </a:xfrm>
          <a:custGeom>
            <a:avLst/>
            <a:gdLst/>
            <a:ahLst/>
            <a:cxnLst/>
            <a:rect l="l" t="t" r="r" b="b"/>
            <a:pathLst>
              <a:path w="8940165">
                <a:moveTo>
                  <a:pt x="0" y="0"/>
                </a:moveTo>
                <a:lnTo>
                  <a:pt x="893980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3002089"/>
            <a:ext cx="8940165" cy="0"/>
          </a:xfrm>
          <a:custGeom>
            <a:avLst/>
            <a:gdLst/>
            <a:ahLst/>
            <a:cxnLst/>
            <a:rect l="l" t="t" r="r" b="b"/>
            <a:pathLst>
              <a:path w="8940165">
                <a:moveTo>
                  <a:pt x="0" y="0"/>
                </a:moveTo>
                <a:lnTo>
                  <a:pt x="893980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3719945"/>
            <a:ext cx="8940165" cy="0"/>
          </a:xfrm>
          <a:custGeom>
            <a:avLst/>
            <a:gdLst/>
            <a:ahLst/>
            <a:cxnLst/>
            <a:rect l="l" t="t" r="r" b="b"/>
            <a:pathLst>
              <a:path w="8940165">
                <a:moveTo>
                  <a:pt x="0" y="0"/>
                </a:moveTo>
                <a:lnTo>
                  <a:pt x="893980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82950" y="4170691"/>
            <a:ext cx="8940165" cy="0"/>
          </a:xfrm>
          <a:custGeom>
            <a:avLst/>
            <a:gdLst/>
            <a:ahLst/>
            <a:cxnLst/>
            <a:rect l="l" t="t" r="r" b="b"/>
            <a:pathLst>
              <a:path w="8940165">
                <a:moveTo>
                  <a:pt x="0" y="0"/>
                </a:moveTo>
                <a:lnTo>
                  <a:pt x="893980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9550" y="1094765"/>
            <a:ext cx="1001660" cy="100165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305308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5" dirty="0"/>
              <a:t>GKE</a:t>
            </a:r>
            <a:r>
              <a:rPr spc="-250" dirty="0"/>
              <a:t> </a:t>
            </a:r>
            <a:r>
              <a:rPr spc="-114" dirty="0"/>
              <a:t>Cluster</a:t>
            </a:r>
            <a:r>
              <a:rPr spc="-250" dirty="0"/>
              <a:t> </a:t>
            </a:r>
            <a:r>
              <a:rPr spc="-110" dirty="0"/>
              <a:t>Types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96370" y="980227"/>
            <a:ext cx="7640320" cy="1179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72565" algn="l"/>
              </a:tabLst>
            </a:pP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Type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Description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  <a:tabLst>
                <a:tab pos="1472565" algn="l"/>
              </a:tabLst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Zonal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Single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Zone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plane.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zone.</a:t>
            </a:r>
            <a:endParaRPr sz="1650">
              <a:latin typeface="Yu Gothic"/>
              <a:cs typeface="Yu Gothic"/>
            </a:endParaRPr>
          </a:p>
          <a:p>
            <a:pPr marL="1472565">
              <a:lnSpc>
                <a:spcPct val="100000"/>
              </a:lnSpc>
              <a:spcBef>
                <a:spcPts val="1570"/>
              </a:spcBef>
            </a:pP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Multi-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zonal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plane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6370" y="2309429"/>
            <a:ext cx="81851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Regional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6728" y="2309429"/>
            <a:ext cx="704532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plane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runs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given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region.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also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same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where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plane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runs.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6370" y="3043979"/>
            <a:ext cx="673735" cy="56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00"/>
              </a:spcBef>
            </a:pP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Private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56728" y="3058670"/>
            <a:ext cx="508381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VPC-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native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cluster.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internal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addresses.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6370" y="3776526"/>
            <a:ext cx="120967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Alpha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56728" y="3776526"/>
            <a:ext cx="659574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Clusters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alpha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APIs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early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feature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API's.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test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55" dirty="0">
                <a:solidFill>
                  <a:srgbClr val="212121"/>
                </a:solidFill>
                <a:latin typeface="Yu Gothic"/>
                <a:cs typeface="Yu Gothic"/>
              </a:rPr>
              <a:t>K8S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features.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117</a:t>
            </a:fld>
            <a:endParaRPr spc="-25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3228" y="1094759"/>
            <a:ext cx="3806311" cy="22467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455349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79758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18155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55717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94114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31676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734124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70250" y="799928"/>
            <a:ext cx="5835015" cy="4533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01700">
              <a:lnSpc>
                <a:spcPct val="128200"/>
              </a:lnSpc>
              <a:spcBef>
                <a:spcPts val="95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Smallest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deployable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unit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Kubernetes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Pod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contains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or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more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containers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Pod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assigned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ephemeral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IP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address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containers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pod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share: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900">
              <a:latin typeface="Yu Gothic"/>
              <a:cs typeface="Yu Gothic"/>
            </a:endParaRPr>
          </a:p>
          <a:p>
            <a:pPr marL="346075" marR="4431665">
              <a:lnSpc>
                <a:spcPts val="3020"/>
              </a:lnSpc>
              <a:spcBef>
                <a:spcPts val="165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Address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Ports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Volumes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(Shared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disks)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POD</a:t>
            </a:r>
            <a:r>
              <a:rPr sz="2350" spc="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statuses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/Pending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/Succeeded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/Failed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/Unknown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Kubernetes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20" dirty="0"/>
              <a:t>Pods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118</a:t>
            </a:fld>
            <a:endParaRPr spc="-25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4893" y="1094765"/>
            <a:ext cx="2804647" cy="16503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126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13946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3651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7408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166518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51709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90106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52766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0250" y="846255"/>
            <a:ext cx="6837045" cy="492569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microservice: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kubectl</a:t>
            </a:r>
            <a:r>
              <a:rPr sz="1900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create</a:t>
            </a:r>
            <a:r>
              <a:rPr sz="1900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deployment</a:t>
            </a:r>
            <a:r>
              <a:rPr sz="1900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m1</a:t>
            </a:r>
            <a:r>
              <a:rPr sz="1900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--</a:t>
            </a:r>
            <a:r>
              <a:rPr sz="1900" spc="-10" dirty="0">
                <a:solidFill>
                  <a:srgbClr val="212121"/>
                </a:solidFill>
                <a:latin typeface="Courier New"/>
                <a:cs typeface="Courier New"/>
              </a:rPr>
              <a:t>image=m1:v1</a:t>
            </a:r>
            <a:endParaRPr sz="1900">
              <a:latin typeface="Courier New"/>
              <a:cs typeface="Courier New"/>
            </a:endParaRPr>
          </a:p>
          <a:p>
            <a:pPr marL="346075" marR="465455">
              <a:lnSpc>
                <a:spcPts val="3020"/>
              </a:lnSpc>
              <a:spcBef>
                <a:spcPts val="16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Deployment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represents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(with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its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releases)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Deployment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manages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releases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ensuring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zero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downtime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200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Replica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set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ensures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pods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are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kubectl</a:t>
            </a:r>
            <a:r>
              <a:rPr sz="1900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scale</a:t>
            </a:r>
            <a:r>
              <a:rPr sz="1900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deployment</a:t>
            </a:r>
            <a:r>
              <a:rPr sz="1900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m2</a:t>
            </a:r>
            <a:r>
              <a:rPr sz="1900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--</a:t>
            </a:r>
            <a:r>
              <a:rPr sz="1900" spc="-10" dirty="0">
                <a:solidFill>
                  <a:srgbClr val="212121"/>
                </a:solidFill>
                <a:latin typeface="Courier New"/>
                <a:cs typeface="Courier New"/>
              </a:rPr>
              <a:t>replicas=2</a:t>
            </a:r>
            <a:endParaRPr sz="190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Even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pods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killed,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replica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launch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V2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Creates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replica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kubectl</a:t>
            </a:r>
            <a:r>
              <a:rPr sz="1900" spc="-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set</a:t>
            </a:r>
            <a:r>
              <a:rPr sz="1900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image</a:t>
            </a:r>
            <a:r>
              <a:rPr sz="1900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deployment</a:t>
            </a:r>
            <a:r>
              <a:rPr sz="1900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m1</a:t>
            </a:r>
            <a:r>
              <a:rPr sz="1900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Courier New"/>
                <a:cs typeface="Courier New"/>
              </a:rPr>
              <a:t>m1=m1:v2</a:t>
            </a:r>
            <a:endParaRPr sz="190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V2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Replica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9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Deployment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updates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V1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Replica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V2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Replica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on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release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strategies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Kubernetes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110" dirty="0"/>
              <a:t>Deployment</a:t>
            </a:r>
            <a:r>
              <a:rPr spc="-245" dirty="0"/>
              <a:t> </a:t>
            </a:r>
            <a:r>
              <a:rPr spc="-55" dirty="0"/>
              <a:t>vs</a:t>
            </a:r>
            <a:r>
              <a:rPr spc="-245" dirty="0"/>
              <a:t> </a:t>
            </a:r>
            <a:r>
              <a:rPr spc="-105" dirty="0"/>
              <a:t>Replica</a:t>
            </a:r>
            <a:r>
              <a:rPr spc="-245" dirty="0"/>
              <a:t> </a:t>
            </a:r>
            <a:r>
              <a:rPr spc="-25" dirty="0"/>
              <a:t>Set</a:t>
            </a: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119</a:t>
            </a:fld>
            <a:endParaRPr spc="-25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Kubernetes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105" dirty="0"/>
              <a:t>Service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1716626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033818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2413614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276419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3060519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3369364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3749159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608655" y="40997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4396065"/>
            <a:ext cx="66777" cy="6677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08655" y="47341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5022101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608655" y="536016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71756" y="5648138"/>
            <a:ext cx="66777" cy="6677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470747" y="856689"/>
            <a:ext cx="9741535" cy="493077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Pod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its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own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IP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address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ensure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users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impacted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when: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pod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fails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replaced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replica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release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happens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existing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pods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old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release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replaced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ones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release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kubectl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expose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65" dirty="0">
                <a:solidFill>
                  <a:srgbClr val="212121"/>
                </a:solidFill>
                <a:latin typeface="Trebuchet MS"/>
                <a:cs typeface="Trebuchet MS"/>
              </a:rPr>
              <a:t>name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 --</a:t>
            </a:r>
            <a:r>
              <a:rPr sz="1900" i="1" spc="-85" dirty="0">
                <a:solidFill>
                  <a:srgbClr val="212121"/>
                </a:solidFill>
                <a:latin typeface="Trebuchet MS"/>
                <a:cs typeface="Trebuchet MS"/>
              </a:rPr>
              <a:t>type=LoadBalancer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 --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port=80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Expose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PODs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outside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stable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35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Ensures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impacted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pods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come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Three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Types: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ClusterIP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Exposes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Service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a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cluster-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internal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case: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inside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(Intra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communication)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LoadBalancer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Exposes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externally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provider's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balancer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case: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individual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Balancer's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NodePort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Exposes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Node's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static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port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NodePort)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case: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Balancer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0" dirty="0">
                <a:solidFill>
                  <a:srgbClr val="212121"/>
                </a:solidFill>
                <a:latin typeface="Yu Gothic"/>
                <a:cs typeface="Yu Gothic"/>
              </a:rPr>
              <a:t>(You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Ingress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120</a:t>
            </a:fld>
            <a:endParaRPr spc="-25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Container</a:t>
            </a:r>
            <a:r>
              <a:rPr spc="-245" dirty="0"/>
              <a:t> </a:t>
            </a:r>
            <a:r>
              <a:rPr spc="-95" dirty="0"/>
              <a:t>Registry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60" dirty="0"/>
              <a:t>Image</a:t>
            </a:r>
            <a:r>
              <a:rPr spc="-245" dirty="0"/>
              <a:t> </a:t>
            </a:r>
            <a:r>
              <a:rPr spc="-65" dirty="0"/>
              <a:t>Repository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7010" y="927820"/>
            <a:ext cx="7128479" cy="12687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638987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298956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3406926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866020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325113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4784207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5627271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60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pc="-140" dirty="0"/>
              <a:t>You've</a:t>
            </a:r>
            <a:r>
              <a:rPr spc="-155" dirty="0"/>
              <a:t> </a:t>
            </a:r>
            <a:r>
              <a:rPr spc="-114" dirty="0"/>
              <a:t>created</a:t>
            </a:r>
            <a:r>
              <a:rPr spc="-150" dirty="0"/>
              <a:t> </a:t>
            </a:r>
            <a:r>
              <a:rPr spc="-95" dirty="0"/>
              <a:t>docker</a:t>
            </a:r>
            <a:r>
              <a:rPr spc="-150" dirty="0"/>
              <a:t> </a:t>
            </a:r>
            <a:r>
              <a:rPr spc="-125" dirty="0"/>
              <a:t>images</a:t>
            </a:r>
            <a:r>
              <a:rPr spc="-150" dirty="0"/>
              <a:t> </a:t>
            </a:r>
            <a:r>
              <a:rPr spc="-80" dirty="0"/>
              <a:t>for</a:t>
            </a:r>
            <a:r>
              <a:rPr spc="-155" dirty="0"/>
              <a:t> </a:t>
            </a:r>
            <a:r>
              <a:rPr spc="-60" dirty="0"/>
              <a:t>your</a:t>
            </a:r>
            <a:r>
              <a:rPr spc="-150" dirty="0"/>
              <a:t> </a:t>
            </a:r>
            <a:r>
              <a:rPr spc="-25" dirty="0"/>
              <a:t>microservices:</a:t>
            </a: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135" dirty="0">
                <a:latin typeface="Trebuchet MS"/>
                <a:cs typeface="Trebuchet MS"/>
              </a:rPr>
              <a:t>Where</a:t>
            </a:r>
            <a:r>
              <a:rPr sz="1900" b="1" spc="-170" dirty="0">
                <a:latin typeface="Trebuchet MS"/>
                <a:cs typeface="Trebuchet MS"/>
              </a:rPr>
              <a:t> </a:t>
            </a:r>
            <a:r>
              <a:rPr sz="1900" b="1" spc="-50" dirty="0">
                <a:latin typeface="Trebuchet MS"/>
                <a:cs typeface="Trebuchet MS"/>
              </a:rPr>
              <a:t>do</a:t>
            </a:r>
            <a:r>
              <a:rPr sz="1900" b="1" spc="-165" dirty="0">
                <a:latin typeface="Trebuchet MS"/>
                <a:cs typeface="Trebuchet MS"/>
              </a:rPr>
              <a:t> </a:t>
            </a:r>
            <a:r>
              <a:rPr sz="1900" b="1" spc="-80" dirty="0">
                <a:latin typeface="Trebuchet MS"/>
                <a:cs typeface="Trebuchet MS"/>
              </a:rPr>
              <a:t>you</a:t>
            </a:r>
            <a:r>
              <a:rPr sz="1900" b="1" spc="-165" dirty="0">
                <a:latin typeface="Trebuchet MS"/>
                <a:cs typeface="Trebuchet MS"/>
              </a:rPr>
              <a:t> </a:t>
            </a:r>
            <a:r>
              <a:rPr sz="1900" b="1" spc="-85" dirty="0">
                <a:latin typeface="Trebuchet MS"/>
                <a:cs typeface="Trebuchet MS"/>
              </a:rPr>
              <a:t>store</a:t>
            </a:r>
            <a:r>
              <a:rPr sz="1900" b="1" spc="-165" dirty="0">
                <a:latin typeface="Trebuchet MS"/>
                <a:cs typeface="Trebuchet MS"/>
              </a:rPr>
              <a:t> </a:t>
            </a:r>
            <a:r>
              <a:rPr sz="1900" b="1" spc="-20" dirty="0">
                <a:latin typeface="Trebuchet MS"/>
                <a:cs typeface="Trebuchet MS"/>
              </a:rPr>
              <a:t>them?</a:t>
            </a:r>
            <a:endParaRPr sz="1900">
              <a:latin typeface="Trebuchet MS"/>
              <a:cs typeface="Trebuchet MS"/>
            </a:endParaRPr>
          </a:p>
          <a:p>
            <a:pPr marL="12700" marR="873760">
              <a:lnSpc>
                <a:spcPts val="3610"/>
              </a:lnSpc>
              <a:spcBef>
                <a:spcPts val="150"/>
              </a:spcBef>
            </a:pPr>
            <a:r>
              <a:rPr b="1" spc="-90" dirty="0">
                <a:latin typeface="Trebuchet MS"/>
                <a:cs typeface="Trebuchet MS"/>
              </a:rPr>
              <a:t>Container</a:t>
            </a:r>
            <a:r>
              <a:rPr b="1" spc="-180" dirty="0">
                <a:latin typeface="Trebuchet MS"/>
                <a:cs typeface="Trebuchet MS"/>
              </a:rPr>
              <a:t> </a:t>
            </a:r>
            <a:r>
              <a:rPr b="1" spc="-75" dirty="0">
                <a:latin typeface="Trebuchet MS"/>
                <a:cs typeface="Trebuchet MS"/>
              </a:rPr>
              <a:t>Registry</a:t>
            </a:r>
            <a:r>
              <a:rPr b="1" spc="-185" dirty="0">
                <a:latin typeface="Trebuchet MS"/>
                <a:cs typeface="Trebuchet MS"/>
              </a:rPr>
              <a:t> </a:t>
            </a:r>
            <a:r>
              <a:rPr spc="-300" dirty="0"/>
              <a:t>-</a:t>
            </a:r>
            <a:r>
              <a:rPr spc="-150" dirty="0"/>
              <a:t> </a:t>
            </a:r>
            <a:r>
              <a:rPr spc="-100" dirty="0"/>
              <a:t>fully-</a:t>
            </a:r>
            <a:r>
              <a:rPr spc="-125" dirty="0"/>
              <a:t>managed</a:t>
            </a:r>
            <a:r>
              <a:rPr spc="-145" dirty="0"/>
              <a:t> </a:t>
            </a:r>
            <a:r>
              <a:rPr spc="-90" dirty="0"/>
              <a:t>container</a:t>
            </a:r>
            <a:r>
              <a:rPr spc="-150" dirty="0"/>
              <a:t> </a:t>
            </a:r>
            <a:r>
              <a:rPr spc="-90" dirty="0"/>
              <a:t>registry</a:t>
            </a:r>
            <a:r>
              <a:rPr spc="-145" dirty="0"/>
              <a:t> </a:t>
            </a:r>
            <a:r>
              <a:rPr spc="-70" dirty="0"/>
              <a:t>provided</a:t>
            </a:r>
            <a:r>
              <a:rPr spc="-150" dirty="0"/>
              <a:t> </a:t>
            </a:r>
            <a:r>
              <a:rPr spc="-70" dirty="0"/>
              <a:t>by</a:t>
            </a:r>
            <a:r>
              <a:rPr spc="-145" dirty="0"/>
              <a:t> </a:t>
            </a:r>
            <a:r>
              <a:rPr spc="-135" dirty="0"/>
              <a:t>GCP </a:t>
            </a:r>
            <a:r>
              <a:rPr spc="-110" dirty="0"/>
              <a:t>(Alternative)</a:t>
            </a:r>
            <a:r>
              <a:rPr spc="-135" dirty="0"/>
              <a:t> Docker</a:t>
            </a:r>
            <a:r>
              <a:rPr spc="-130" dirty="0"/>
              <a:t> </a:t>
            </a:r>
            <a:r>
              <a:rPr spc="-25" dirty="0"/>
              <a:t>Hub</a:t>
            </a: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pc="-150" dirty="0"/>
              <a:t>Can</a:t>
            </a:r>
            <a:r>
              <a:rPr spc="-170" dirty="0"/>
              <a:t> </a:t>
            </a:r>
            <a:r>
              <a:rPr spc="-114" dirty="0"/>
              <a:t>be</a:t>
            </a:r>
            <a:r>
              <a:rPr spc="-165" dirty="0"/>
              <a:t> </a:t>
            </a:r>
            <a:r>
              <a:rPr spc="-95" dirty="0"/>
              <a:t>integrated</a:t>
            </a:r>
            <a:r>
              <a:rPr spc="-165" dirty="0"/>
              <a:t> </a:t>
            </a:r>
            <a:r>
              <a:rPr spc="-55" dirty="0"/>
              <a:t>to</a:t>
            </a:r>
            <a:r>
              <a:rPr spc="-165" dirty="0"/>
              <a:t> </a:t>
            </a:r>
            <a:r>
              <a:rPr spc="-250" dirty="0"/>
              <a:t>CI/CD</a:t>
            </a:r>
            <a:r>
              <a:rPr spc="-165" dirty="0"/>
              <a:t> </a:t>
            </a:r>
            <a:r>
              <a:rPr spc="-80" dirty="0"/>
              <a:t>tools</a:t>
            </a:r>
            <a:r>
              <a:rPr spc="-170" dirty="0"/>
              <a:t> </a:t>
            </a:r>
            <a:r>
              <a:rPr spc="-55" dirty="0"/>
              <a:t>to</a:t>
            </a:r>
            <a:r>
              <a:rPr spc="-165" dirty="0"/>
              <a:t> </a:t>
            </a:r>
            <a:r>
              <a:rPr spc="-85" dirty="0"/>
              <a:t>publish</a:t>
            </a:r>
            <a:r>
              <a:rPr spc="-165" dirty="0"/>
              <a:t> </a:t>
            </a:r>
            <a:r>
              <a:rPr spc="-125" dirty="0"/>
              <a:t>images</a:t>
            </a:r>
            <a:r>
              <a:rPr spc="-165" dirty="0"/>
              <a:t> </a:t>
            </a:r>
            <a:r>
              <a:rPr spc="-55" dirty="0"/>
              <a:t>to</a:t>
            </a:r>
            <a:r>
              <a:rPr spc="-165" dirty="0"/>
              <a:t> </a:t>
            </a:r>
            <a:r>
              <a:rPr spc="-10" dirty="0"/>
              <a:t>registry</a:t>
            </a:r>
          </a:p>
          <a:p>
            <a:pPr marL="12700" marR="5080">
              <a:lnSpc>
                <a:spcPct val="107200"/>
              </a:lnSpc>
              <a:spcBef>
                <a:spcPts val="590"/>
              </a:spcBef>
            </a:pPr>
            <a:r>
              <a:rPr spc="-215" dirty="0"/>
              <a:t>You</a:t>
            </a:r>
            <a:r>
              <a:rPr spc="-90" dirty="0"/>
              <a:t> </a:t>
            </a:r>
            <a:r>
              <a:rPr spc="-125" dirty="0"/>
              <a:t>can</a:t>
            </a:r>
            <a:r>
              <a:rPr spc="-75" dirty="0"/>
              <a:t> </a:t>
            </a:r>
            <a:r>
              <a:rPr spc="-135" dirty="0"/>
              <a:t>secure</a:t>
            </a:r>
            <a:r>
              <a:rPr spc="-85" dirty="0"/>
              <a:t> </a:t>
            </a:r>
            <a:r>
              <a:rPr spc="-55" dirty="0"/>
              <a:t>your</a:t>
            </a:r>
            <a:r>
              <a:rPr spc="-75" dirty="0"/>
              <a:t> </a:t>
            </a:r>
            <a:r>
              <a:rPr spc="-85" dirty="0"/>
              <a:t>container</a:t>
            </a:r>
            <a:r>
              <a:rPr spc="-80" dirty="0"/>
              <a:t> </a:t>
            </a:r>
            <a:r>
              <a:rPr spc="-110" dirty="0"/>
              <a:t>images.</a:t>
            </a:r>
            <a:r>
              <a:rPr spc="-75" dirty="0"/>
              <a:t> </a:t>
            </a:r>
            <a:r>
              <a:rPr spc="-120" dirty="0"/>
              <a:t>Analyze</a:t>
            </a:r>
            <a:r>
              <a:rPr spc="-85" dirty="0"/>
              <a:t> </a:t>
            </a:r>
            <a:r>
              <a:rPr spc="-75" dirty="0"/>
              <a:t>for </a:t>
            </a:r>
            <a:r>
              <a:rPr spc="-80" dirty="0"/>
              <a:t>vulnerabilities</a:t>
            </a:r>
            <a:r>
              <a:rPr spc="-75" dirty="0"/>
              <a:t> </a:t>
            </a:r>
            <a:r>
              <a:rPr spc="-90" dirty="0"/>
              <a:t>and</a:t>
            </a:r>
            <a:r>
              <a:rPr spc="-80" dirty="0"/>
              <a:t> </a:t>
            </a:r>
            <a:r>
              <a:rPr spc="-90" dirty="0"/>
              <a:t>enforce </a:t>
            </a:r>
            <a:r>
              <a:rPr spc="-80" dirty="0"/>
              <a:t>deployment</a:t>
            </a:r>
            <a:r>
              <a:rPr spc="-105" dirty="0"/>
              <a:t> </a:t>
            </a:r>
            <a:r>
              <a:rPr spc="-10" dirty="0"/>
              <a:t>policies.</a:t>
            </a: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pc="-110" dirty="0"/>
              <a:t>Naming:</a:t>
            </a:r>
            <a:r>
              <a:rPr spc="-114" dirty="0"/>
              <a:t> </a:t>
            </a:r>
            <a:r>
              <a:rPr b="1" spc="-85" dirty="0">
                <a:latin typeface="Trebuchet MS"/>
                <a:cs typeface="Trebuchet MS"/>
              </a:rPr>
              <a:t>HostName/ProjectID/Image:Tag</a:t>
            </a:r>
            <a:r>
              <a:rPr b="1" spc="-155" dirty="0">
                <a:latin typeface="Trebuchet MS"/>
                <a:cs typeface="Trebuchet MS"/>
              </a:rPr>
              <a:t> </a:t>
            </a:r>
            <a:r>
              <a:rPr spc="-300" dirty="0"/>
              <a:t>-</a:t>
            </a:r>
            <a:r>
              <a:rPr spc="-110" dirty="0"/>
              <a:t> </a:t>
            </a:r>
            <a:r>
              <a:rPr b="1" spc="-75" dirty="0">
                <a:latin typeface="Trebuchet MS"/>
                <a:cs typeface="Trebuchet MS"/>
              </a:rPr>
              <a:t>gcr.io/projectname/helloworld:1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121</a:t>
            </a:fld>
            <a:endParaRPr spc="-25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5" dirty="0"/>
              <a:t>GKE</a:t>
            </a:r>
            <a:r>
              <a:rPr spc="-280" dirty="0"/>
              <a:t> </a:t>
            </a:r>
            <a:r>
              <a:rPr spc="-155" dirty="0"/>
              <a:t>-</a:t>
            </a:r>
            <a:r>
              <a:rPr spc="-275" dirty="0"/>
              <a:t> </a:t>
            </a:r>
            <a:r>
              <a:rPr spc="-110" dirty="0"/>
              <a:t>Remember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305100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34152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832631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1832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600570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08655" y="49511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5376856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608655" y="57190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70747" y="799928"/>
            <a:ext cx="9143365" cy="5097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91515">
              <a:lnSpc>
                <a:spcPct val="128200"/>
              </a:lnSpc>
              <a:spcBef>
                <a:spcPts val="95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Replicate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master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nodes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availability </a:t>
            </a: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CPU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reserved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by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Control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Plane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1st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core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6%,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2nd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core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1%,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3rd/4th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0.5,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Rest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0.25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Docker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microservices(Dockerfile):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Build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Image: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docker</a:t>
            </a:r>
            <a:r>
              <a:rPr sz="1900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build</a:t>
            </a:r>
            <a:r>
              <a:rPr sz="1900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900" i="1" spc="-200" dirty="0">
                <a:solidFill>
                  <a:srgbClr val="212121"/>
                </a:solidFill>
                <a:latin typeface="Trebuchet MS"/>
                <a:cs typeface="Trebuchet MS"/>
              </a:rPr>
              <a:t>t</a:t>
            </a:r>
            <a:r>
              <a:rPr sz="1900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in28min/hello-</a:t>
            </a:r>
            <a:r>
              <a:rPr sz="1900" i="1" spc="-114" dirty="0">
                <a:solidFill>
                  <a:srgbClr val="212121"/>
                </a:solidFill>
                <a:latin typeface="Trebuchet MS"/>
                <a:cs typeface="Trebuchet MS"/>
              </a:rPr>
              <a:t>world-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rest-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api:0.0.1.RELEASE</a:t>
            </a:r>
            <a:r>
              <a:rPr sz="1900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50" dirty="0">
                <a:solidFill>
                  <a:srgbClr val="212121"/>
                </a:solidFill>
                <a:latin typeface="Trebuchet MS"/>
                <a:cs typeface="Trebuchet MS"/>
              </a:rPr>
              <a:t>.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Test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Locally: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docker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run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d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p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8080:8080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in28min/hello-</a:t>
            </a:r>
            <a:r>
              <a:rPr sz="1900" i="1" spc="-114" dirty="0">
                <a:solidFill>
                  <a:srgbClr val="212121"/>
                </a:solidFill>
                <a:latin typeface="Trebuchet MS"/>
                <a:cs typeface="Trebuchet MS"/>
              </a:rPr>
              <a:t>world-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rest-</a:t>
            </a:r>
            <a:r>
              <a:rPr sz="1900" i="1" spc="-45" dirty="0">
                <a:solidFill>
                  <a:srgbClr val="212121"/>
                </a:solidFill>
                <a:latin typeface="Trebuchet MS"/>
                <a:cs typeface="Trebuchet MS"/>
              </a:rPr>
              <a:t>api:0.0.1.RELEASE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Push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Container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Repository: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docker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65" dirty="0">
                <a:solidFill>
                  <a:srgbClr val="212121"/>
                </a:solidFill>
                <a:latin typeface="Trebuchet MS"/>
                <a:cs typeface="Trebuchet MS"/>
              </a:rPr>
              <a:t>push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in28min/hello-</a:t>
            </a:r>
            <a:r>
              <a:rPr sz="1900" i="1" spc="-114" dirty="0">
                <a:solidFill>
                  <a:srgbClr val="212121"/>
                </a:solidFill>
                <a:latin typeface="Trebuchet MS"/>
                <a:cs typeface="Trebuchet MS"/>
              </a:rPr>
              <a:t>world-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rest-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api:0.0.1.RELEASE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Stateful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deployments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like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Kafka,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Redis,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ZooKeeper: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StatefulSet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Pods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unique,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identities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stable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hostnames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log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collection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or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monitoring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DaemonSet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pod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node!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background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services)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(Enabled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default)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Integrates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System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exported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Big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Query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Pub/Sub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122</a:t>
            </a:fld>
            <a:endParaRPr spc="-25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10059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255134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3269198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371994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82950" y="4446147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82950" y="489689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29742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5" dirty="0"/>
              <a:t>GKE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14" dirty="0"/>
              <a:t>Cluster</a:t>
            </a:r>
            <a:r>
              <a:rPr spc="-254" dirty="0"/>
              <a:t> </a:t>
            </a:r>
            <a:r>
              <a:rPr spc="-85" dirty="0"/>
              <a:t>Management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0" dirty="0"/>
              <a:t>Command</a:t>
            </a:r>
            <a:r>
              <a:rPr spc="-250" dirty="0"/>
              <a:t> </a:t>
            </a:r>
            <a:r>
              <a:rPr spc="-65" dirty="0"/>
              <a:t>Line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96370" y="980227"/>
            <a:ext cx="2724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73555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Description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Command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6370" y="1430974"/>
            <a:ext cx="13049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57751" y="1407936"/>
            <a:ext cx="742569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 container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clusters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my-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zone 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us-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central1-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node-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locations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0" dirty="0">
                <a:solidFill>
                  <a:srgbClr val="212121"/>
                </a:solidFill>
                <a:latin typeface="Yu Gothic"/>
                <a:cs typeface="Yu Gothic"/>
              </a:rPr>
              <a:t>us-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central1-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c,us-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central1-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b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6370" y="2157177"/>
            <a:ext cx="128714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Resize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57751" y="2157177"/>
            <a:ext cx="759333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container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clusters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resize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my-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cluster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node-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pool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my-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node-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pool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num-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10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6370" y="2593232"/>
            <a:ext cx="906780" cy="56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00"/>
              </a:spcBef>
            </a:pP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Autoscale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57751" y="2593232"/>
            <a:ext cx="7973059" cy="56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00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container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clusters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update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cluster-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name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enable-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autoscaling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min-</a:t>
            </a: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nodes=1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max-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nodes=10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96370" y="3325779"/>
            <a:ext cx="12922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57751" y="3325779"/>
            <a:ext cx="381825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container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clusters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my-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96370" y="3753488"/>
            <a:ext cx="118427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Adding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Node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Pool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57751" y="3776526"/>
            <a:ext cx="68922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 container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node-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pools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create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new-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node-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pool-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name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my-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96370" y="4502729"/>
            <a:ext cx="104521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List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57751" y="4502729"/>
            <a:ext cx="24834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container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images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123</a:t>
            </a:fld>
            <a:endParaRPr spc="-25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10059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255134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3269198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371994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82950" y="417069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82950" y="4621438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82950" y="507218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82950" y="552293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71652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5" dirty="0"/>
              <a:t>GKE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05" dirty="0"/>
              <a:t>Workload</a:t>
            </a:r>
            <a:r>
              <a:rPr spc="-250" dirty="0"/>
              <a:t> </a:t>
            </a:r>
            <a:r>
              <a:rPr spc="-85" dirty="0"/>
              <a:t>Management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70" dirty="0"/>
              <a:t>Command</a:t>
            </a:r>
            <a:r>
              <a:rPr spc="-250" dirty="0"/>
              <a:t> </a:t>
            </a:r>
            <a:r>
              <a:rPr spc="-55" dirty="0"/>
              <a:t>Line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96370" y="980227"/>
            <a:ext cx="8587105" cy="1454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19730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Description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Command</a:t>
            </a:r>
            <a:endParaRPr sz="1650">
              <a:latin typeface="Trebuchet MS"/>
              <a:cs typeface="Trebuchet MS"/>
            </a:endParaRPr>
          </a:p>
          <a:p>
            <a:pPr marL="12700" marR="2338070">
              <a:lnSpc>
                <a:spcPct val="109500"/>
              </a:lnSpc>
              <a:spcBef>
                <a:spcPts val="1380"/>
              </a:spcBef>
              <a:tabLst>
                <a:tab pos="2919730" algn="l"/>
              </a:tabLst>
            </a:pP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List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Pods/Service/Replica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kubectl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get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pods/services/replicasets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Sets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  <a:tabLst>
                <a:tab pos="2919730" algn="l"/>
              </a:tabLst>
            </a:pP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kubectl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apply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f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deployment.yaml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kubectl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6370" y="2607923"/>
            <a:ext cx="13208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03533" y="2593232"/>
            <a:ext cx="6344285" cy="56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00"/>
              </a:spcBef>
            </a:pP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kubectl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expose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hello-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world-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rest-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type=LoadBalancer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-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port=8080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6370" y="3325779"/>
            <a:ext cx="166179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Scale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03533" y="3325779"/>
            <a:ext cx="438721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kubectl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scale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hello-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5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96370" y="3776526"/>
            <a:ext cx="205930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Autoscale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03533" y="3776526"/>
            <a:ext cx="504126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kubectl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autoscale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max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min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cpu-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percent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96370" y="4227272"/>
            <a:ext cx="175704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03533" y="4227272"/>
            <a:ext cx="348742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kubectl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hello-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96370" y="4678019"/>
            <a:ext cx="184340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Update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03533" y="4678019"/>
            <a:ext cx="300101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kubectl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apply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f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deployment.yaml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96370" y="5128766"/>
            <a:ext cx="1964689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Rollback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03533" y="5128766"/>
            <a:ext cx="537337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kubectl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rollout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undo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hello-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to-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revision=1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124</a:t>
            </a:fld>
            <a:endParaRPr spc="-25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918617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3644820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4362676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Google</a:t>
            </a:r>
            <a:r>
              <a:rPr spc="-250" dirty="0"/>
              <a:t> </a:t>
            </a:r>
            <a:r>
              <a:rPr spc="-135" dirty="0"/>
              <a:t>Kubernetes</a:t>
            </a:r>
            <a:r>
              <a:rPr spc="-245" dirty="0"/>
              <a:t> </a:t>
            </a:r>
            <a:r>
              <a:rPr spc="-90" dirty="0"/>
              <a:t>Engine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95" dirty="0"/>
              <a:t>Scenarios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50" dirty="0"/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96370" y="980227"/>
            <a:ext cx="542480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43120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6370" y="1407936"/>
            <a:ext cx="413004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keep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costs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low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optimize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GKE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implementation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27481" y="1407936"/>
            <a:ext cx="4946650" cy="139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15975">
              <a:lnSpc>
                <a:spcPct val="109500"/>
              </a:lnSpc>
              <a:spcBef>
                <a:spcPts val="100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Consider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Preemptible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85" dirty="0">
                <a:solidFill>
                  <a:srgbClr val="212121"/>
                </a:solidFill>
                <a:latin typeface="Yu Gothic"/>
                <a:cs typeface="Yu Gothic"/>
              </a:rPr>
              <a:t>VMs,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Appropriate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region,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Committed-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discounts.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650" spc="-130" dirty="0">
                <a:solidFill>
                  <a:srgbClr val="212121"/>
                </a:solidFill>
                <a:latin typeface="Yu Gothic"/>
                <a:cs typeface="Yu Gothic"/>
              </a:rPr>
              <a:t>E2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cheaper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than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N1.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ts val="2170"/>
              </a:lnSpc>
              <a:spcBef>
                <a:spcPts val="35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Choose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environment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fit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workload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(Use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node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pools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needed).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6370" y="2952160"/>
            <a:ext cx="415671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efficient,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completely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auto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scaling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GKE</a:t>
            </a:r>
            <a:r>
              <a:rPr sz="16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27481" y="2952160"/>
            <a:ext cx="507746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Horizontal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Pod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Autoscaler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deployments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Autoscaler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node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pools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6370" y="3686710"/>
            <a:ext cx="4284980" cy="56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0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execute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untrusted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third-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party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code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27481" y="3686710"/>
            <a:ext cx="4455795" cy="56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0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node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pool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85" dirty="0">
                <a:solidFill>
                  <a:srgbClr val="212121"/>
                </a:solidFill>
                <a:latin typeface="Yu Gothic"/>
                <a:cs typeface="Yu Gothic"/>
              </a:rPr>
              <a:t>GKE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Sandbox.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Deploy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untrused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code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Sandbox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node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pool.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125</a:t>
            </a:fld>
            <a:endParaRPr spc="-25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10059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281845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3269198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Google</a:t>
            </a:r>
            <a:r>
              <a:rPr spc="-250" dirty="0"/>
              <a:t> </a:t>
            </a:r>
            <a:r>
              <a:rPr spc="-135" dirty="0"/>
              <a:t>Kubernetes</a:t>
            </a:r>
            <a:r>
              <a:rPr spc="-245" dirty="0"/>
              <a:t> </a:t>
            </a:r>
            <a:r>
              <a:rPr spc="-90" dirty="0"/>
              <a:t>Engine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95" dirty="0"/>
              <a:t>Scenarios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50" dirty="0"/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96370" y="980227"/>
            <a:ext cx="8590915" cy="10045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831205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  <a:tabLst>
                <a:tab pos="5831205" algn="l"/>
              </a:tabLst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enable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ONLY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internal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communication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between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ClusterIP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microservice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deployments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6370" y="2157177"/>
            <a:ext cx="197993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My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pod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stays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pending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15123" y="2134139"/>
            <a:ext cx="354774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probably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Pod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scheduled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onto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node(insufficient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resources)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6370" y="2875033"/>
            <a:ext cx="19145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My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pod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stays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waiting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15123" y="2875033"/>
            <a:ext cx="340931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probably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failure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pull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126</a:t>
            </a:fld>
            <a:endParaRPr spc="-25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5547" y="2417608"/>
            <a:ext cx="7671434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65" dirty="0">
                <a:solidFill>
                  <a:srgbClr val="1BA74A"/>
                </a:solidFill>
              </a:rPr>
              <a:t>Google</a:t>
            </a:r>
            <a:r>
              <a:rPr sz="5900" spc="-525" dirty="0">
                <a:solidFill>
                  <a:srgbClr val="1BA74A"/>
                </a:solidFill>
              </a:rPr>
              <a:t> </a:t>
            </a:r>
            <a:r>
              <a:rPr sz="5900" spc="-165" dirty="0">
                <a:solidFill>
                  <a:srgbClr val="1BA74A"/>
                </a:solidFill>
              </a:rPr>
              <a:t>Cloud</a:t>
            </a:r>
            <a:r>
              <a:rPr sz="5900" spc="-520" dirty="0">
                <a:solidFill>
                  <a:srgbClr val="1BA74A"/>
                </a:solidFill>
              </a:rPr>
              <a:t> </a:t>
            </a:r>
            <a:r>
              <a:rPr sz="5900" spc="-190" dirty="0">
                <a:solidFill>
                  <a:srgbClr val="1BA74A"/>
                </a:solidFill>
              </a:rPr>
              <a:t>Functions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127</a:t>
            </a:fld>
            <a:endParaRPr spc="-25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163199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51378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801757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118949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45700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744986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062178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379370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71743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10139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389377"/>
            <a:ext cx="66777" cy="6677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5706569"/>
            <a:ext cx="66777" cy="6677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70250" y="856689"/>
            <a:ext cx="8740140" cy="498919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Imagine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execute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some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code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when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an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event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happens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uploaded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Storage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(OR)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error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written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(OR)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arrives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Pub/Sub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(OR)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http/https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invocation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received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Enter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Functions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Run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code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response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events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Write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business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logic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Node.js,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Python,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Go,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Java,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.NET,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Ruby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Don't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worry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servers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(only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worry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code)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Pay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only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what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invocations</a:t>
            </a:r>
            <a:endParaRPr sz="1500">
              <a:latin typeface="Yu Gothic"/>
              <a:cs typeface="Yu Gothic"/>
            </a:endParaRPr>
          </a:p>
          <a:p>
            <a:pPr marL="680085" marR="5429885">
              <a:lnSpc>
                <a:spcPct val="138800"/>
              </a:lnSpc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invocations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0" dirty="0">
                <a:solidFill>
                  <a:srgbClr val="212121"/>
                </a:solidFill>
                <a:latin typeface="Yu Gothic"/>
                <a:cs typeface="Yu Gothic"/>
              </a:rPr>
              <a:t>CPU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provisioned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Bound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min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85" dirty="0">
                <a:solidFill>
                  <a:srgbClr val="212121"/>
                </a:solidFill>
                <a:latin typeface="Yu Gothic"/>
                <a:cs typeface="Yu Gothic"/>
              </a:rPr>
              <a:t>MAX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60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minutes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(3600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seconds)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product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versions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Functions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(1st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gen):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First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Functions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(2nd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gen):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built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top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Eventarc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74066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95" dirty="0"/>
              <a:t>Functions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128</a:t>
            </a:fld>
            <a:endParaRPr spc="-25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633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89070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4152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79089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1748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5504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493445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0250" y="799928"/>
            <a:ext cx="6277610" cy="43122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Event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Upload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Trigger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Respond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event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Function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call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Trigger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function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trigger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event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happens?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Functions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event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perform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action?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Events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triggered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Pub/Sub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HTTP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0" dirty="0">
                <a:solidFill>
                  <a:srgbClr val="212121"/>
                </a:solidFill>
                <a:latin typeface="Yu Gothic"/>
                <a:cs typeface="Yu Gothic"/>
              </a:rPr>
              <a:t>POST/GET/DELETE/PUT/OPTIONS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Firebase</a:t>
            </a:r>
            <a:endParaRPr sz="1900">
              <a:latin typeface="Yu Gothic"/>
              <a:cs typeface="Yu Gothic"/>
            </a:endParaRPr>
          </a:p>
          <a:p>
            <a:pPr marL="346075" marR="3934460">
              <a:lnSpc>
                <a:spcPts val="3020"/>
              </a:lnSpc>
              <a:spcBef>
                <a:spcPts val="4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Firestore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Stack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driver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114" dirty="0"/>
              <a:t>Functions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80" dirty="0"/>
              <a:t>Concepts</a:t>
            </a: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129</a:t>
            </a:fld>
            <a:endParaRPr spc="-25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Example</a:t>
            </a:r>
            <a:r>
              <a:rPr spc="-265" dirty="0"/>
              <a:t> </a:t>
            </a:r>
            <a:r>
              <a:rPr spc="-80" dirty="0"/>
              <a:t>Cloud</a:t>
            </a:r>
            <a:r>
              <a:rPr spc="-260" dirty="0"/>
              <a:t> </a:t>
            </a:r>
            <a:r>
              <a:rPr spc="-130" dirty="0"/>
              <a:t>Function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110" dirty="0"/>
              <a:t>HTTP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80" dirty="0"/>
              <a:t>Node.js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9609" y="894080"/>
            <a:ext cx="9083040" cy="2729865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475"/>
              </a:spcBef>
            </a:pPr>
            <a:r>
              <a:rPr sz="1300" dirty="0">
                <a:latin typeface="Courier New"/>
                <a:cs typeface="Courier New"/>
              </a:rPr>
              <a:t>const escapeHtml = require(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'escape-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html'</a:t>
            </a:r>
            <a:r>
              <a:rPr sz="1300" spc="-10" dirty="0">
                <a:latin typeface="Courier New"/>
                <a:cs typeface="Courier New"/>
              </a:rPr>
              <a:t>);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35"/>
              </a:lnSpc>
              <a:spcBef>
                <a:spcPts val="5"/>
              </a:spcBef>
            </a:pPr>
            <a:r>
              <a:rPr sz="1300" spc="-25" dirty="0">
                <a:latin typeface="Courier New"/>
                <a:cs typeface="Courier New"/>
              </a:rPr>
              <a:t>/**</a:t>
            </a:r>
            <a:endParaRPr sz="1300">
              <a:latin typeface="Courier New"/>
              <a:cs typeface="Courier New"/>
            </a:endParaRPr>
          </a:p>
          <a:p>
            <a:pPr marL="372745" indent="-197485">
              <a:lnSpc>
                <a:spcPts val="1535"/>
              </a:lnSpc>
              <a:buChar char="*"/>
              <a:tabLst>
                <a:tab pos="372745" algn="l"/>
              </a:tabLst>
            </a:pPr>
            <a:r>
              <a:rPr sz="1300" dirty="0">
                <a:latin typeface="Courier New"/>
                <a:cs typeface="Courier New"/>
              </a:rPr>
              <a:t>HTTP Cloud </a:t>
            </a:r>
            <a:r>
              <a:rPr sz="1300" spc="-10" dirty="0">
                <a:latin typeface="Courier New"/>
                <a:cs typeface="Courier New"/>
              </a:rPr>
              <a:t>Function.</a:t>
            </a:r>
            <a:endParaRPr sz="1300">
              <a:latin typeface="Courier New"/>
              <a:cs typeface="Courier New"/>
            </a:endParaRPr>
          </a:p>
          <a:p>
            <a:pPr marL="175260">
              <a:lnSpc>
                <a:spcPct val="100000"/>
              </a:lnSpc>
              <a:spcBef>
                <a:spcPts val="15"/>
              </a:spcBef>
            </a:pPr>
            <a:r>
              <a:rPr sz="1300" spc="-50" dirty="0">
                <a:latin typeface="Courier New"/>
                <a:cs typeface="Courier New"/>
              </a:rPr>
              <a:t>*</a:t>
            </a:r>
            <a:endParaRPr sz="1300">
              <a:latin typeface="Courier New"/>
              <a:cs typeface="Courier New"/>
            </a:endParaRPr>
          </a:p>
          <a:p>
            <a:pPr marL="372745" indent="-197485">
              <a:lnSpc>
                <a:spcPct val="100000"/>
              </a:lnSpc>
              <a:spcBef>
                <a:spcPts val="20"/>
              </a:spcBef>
              <a:buChar char="*"/>
              <a:tabLst>
                <a:tab pos="372745" algn="l"/>
              </a:tabLst>
            </a:pPr>
            <a:r>
              <a:rPr sz="1300" dirty="0">
                <a:latin typeface="Courier New"/>
                <a:cs typeface="Courier New"/>
              </a:rPr>
              <a:t>@</a:t>
            </a: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param </a:t>
            </a:r>
            <a:r>
              <a:rPr sz="1300" dirty="0">
                <a:latin typeface="Courier New"/>
                <a:cs typeface="Courier New"/>
              </a:rPr>
              <a:t>{Object} </a:t>
            </a: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req Cloud Function request </a:t>
            </a:r>
            <a:r>
              <a:rPr sz="1300" spc="-10" dirty="0">
                <a:solidFill>
                  <a:srgbClr val="0000FF"/>
                </a:solidFill>
                <a:latin typeface="Courier New"/>
                <a:cs typeface="Courier New"/>
              </a:rPr>
              <a:t>context</a:t>
            </a:r>
            <a:r>
              <a:rPr sz="1300" spc="-10" dirty="0">
                <a:latin typeface="Courier New"/>
                <a:cs typeface="Courier New"/>
              </a:rPr>
              <a:t>.</a:t>
            </a:r>
            <a:endParaRPr sz="1300">
              <a:latin typeface="Courier New"/>
              <a:cs typeface="Courier New"/>
            </a:endParaRPr>
          </a:p>
          <a:p>
            <a:pPr marL="2362835" indent="-2187575">
              <a:lnSpc>
                <a:spcPts val="1535"/>
              </a:lnSpc>
              <a:spcBef>
                <a:spcPts val="15"/>
              </a:spcBef>
              <a:buChar char="*"/>
              <a:tabLst>
                <a:tab pos="2362835" algn="l"/>
              </a:tabLst>
            </a:pPr>
            <a:r>
              <a:rPr sz="1300" dirty="0">
                <a:latin typeface="Courier New"/>
                <a:cs typeface="Courier New"/>
              </a:rPr>
              <a:t>More info: </a:t>
            </a:r>
            <a:r>
              <a:rPr sz="1300" spc="-10" dirty="0">
                <a:latin typeface="Courier New"/>
                <a:cs typeface="Courier New"/>
              </a:rPr>
              <a:t>https://expressjs.com/en/api.html</a:t>
            </a:r>
            <a:r>
              <a:rPr sz="1300" spc="-10" dirty="0">
                <a:solidFill>
                  <a:srgbClr val="008000"/>
                </a:solidFill>
                <a:latin typeface="Courier New"/>
                <a:cs typeface="Courier New"/>
              </a:rPr>
              <a:t>#req</a:t>
            </a:r>
            <a:endParaRPr sz="1300">
              <a:latin typeface="Courier New"/>
              <a:cs typeface="Courier New"/>
            </a:endParaRPr>
          </a:p>
          <a:p>
            <a:pPr marL="372745" indent="-197485">
              <a:lnSpc>
                <a:spcPts val="1535"/>
              </a:lnSpc>
              <a:buChar char="*"/>
              <a:tabLst>
                <a:tab pos="372745" algn="l"/>
              </a:tabLst>
            </a:pPr>
            <a:r>
              <a:rPr sz="1300" dirty="0">
                <a:latin typeface="Courier New"/>
                <a:cs typeface="Courier New"/>
              </a:rPr>
              <a:t>@</a:t>
            </a: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param </a:t>
            </a:r>
            <a:r>
              <a:rPr sz="1300" dirty="0">
                <a:latin typeface="Courier New"/>
                <a:cs typeface="Courier New"/>
              </a:rPr>
              <a:t>{Object} </a:t>
            </a: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res Cloud Function response </a:t>
            </a:r>
            <a:r>
              <a:rPr sz="1300" spc="-10" dirty="0">
                <a:solidFill>
                  <a:srgbClr val="0000FF"/>
                </a:solidFill>
                <a:latin typeface="Courier New"/>
                <a:cs typeface="Courier New"/>
              </a:rPr>
              <a:t>context</a:t>
            </a:r>
            <a:r>
              <a:rPr sz="1300" spc="-10" dirty="0">
                <a:latin typeface="Courier New"/>
                <a:cs typeface="Courier New"/>
              </a:rPr>
              <a:t>.</a:t>
            </a:r>
            <a:endParaRPr sz="1300">
              <a:latin typeface="Courier New"/>
              <a:cs typeface="Courier New"/>
            </a:endParaRPr>
          </a:p>
          <a:p>
            <a:pPr marL="2362835" indent="-2187575">
              <a:lnSpc>
                <a:spcPct val="100000"/>
              </a:lnSpc>
              <a:spcBef>
                <a:spcPts val="20"/>
              </a:spcBef>
              <a:buChar char="*"/>
              <a:tabLst>
                <a:tab pos="2362835" algn="l"/>
              </a:tabLst>
            </a:pPr>
            <a:r>
              <a:rPr sz="1300" dirty="0">
                <a:latin typeface="Courier New"/>
                <a:cs typeface="Courier New"/>
              </a:rPr>
              <a:t>More info: </a:t>
            </a:r>
            <a:r>
              <a:rPr sz="1300" spc="-10" dirty="0">
                <a:latin typeface="Courier New"/>
                <a:cs typeface="Courier New"/>
              </a:rPr>
              <a:t>https://expressjs.com/en/api.html</a:t>
            </a:r>
            <a:r>
              <a:rPr sz="1300" spc="-10" dirty="0">
                <a:solidFill>
                  <a:srgbClr val="008000"/>
                </a:solidFill>
                <a:latin typeface="Courier New"/>
                <a:cs typeface="Courier New"/>
              </a:rPr>
              <a:t>#res</a:t>
            </a:r>
            <a:endParaRPr sz="1300">
              <a:latin typeface="Courier New"/>
              <a:cs typeface="Courier New"/>
            </a:endParaRPr>
          </a:p>
          <a:p>
            <a:pPr marL="175260">
              <a:lnSpc>
                <a:spcPct val="100000"/>
              </a:lnSpc>
              <a:spcBef>
                <a:spcPts val="15"/>
              </a:spcBef>
            </a:pPr>
            <a:r>
              <a:rPr sz="1300" spc="-25" dirty="0">
                <a:latin typeface="Courier New"/>
                <a:cs typeface="Courier New"/>
              </a:rPr>
              <a:t>*/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35"/>
              </a:lnSpc>
              <a:spcBef>
                <a:spcPts val="20"/>
              </a:spcBef>
            </a:pPr>
            <a:r>
              <a:rPr sz="1300" dirty="0">
                <a:latin typeface="Courier New"/>
                <a:cs typeface="Courier New"/>
              </a:rPr>
              <a:t>exports.helloHttp = (req, res) =&gt; </a:t>
            </a: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274320">
              <a:lnSpc>
                <a:spcPts val="1535"/>
              </a:lnSpc>
            </a:pPr>
            <a:r>
              <a:rPr sz="1300" dirty="0">
                <a:latin typeface="Courier New"/>
                <a:cs typeface="Courier New"/>
              </a:rPr>
              <a:t>res.send(`Hello</a:t>
            </a:r>
            <a:r>
              <a:rPr sz="1300" spc="-1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${escapeHtml(req.query.name || req.body.name ||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'World'</a:t>
            </a:r>
            <a:r>
              <a:rPr sz="1300" spc="-10" dirty="0">
                <a:latin typeface="Courier New"/>
                <a:cs typeface="Courier New"/>
              </a:rPr>
              <a:t>)}!`);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ct val="100000"/>
              </a:lnSpc>
              <a:spcBef>
                <a:spcPts val="15"/>
              </a:spcBef>
            </a:pPr>
            <a:r>
              <a:rPr sz="1300" spc="-25" dirty="0">
                <a:latin typeface="Courier New"/>
                <a:cs typeface="Courier New"/>
              </a:rPr>
              <a:t>};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130</a:t>
            </a:fld>
            <a:endParaRPr spc="-25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Example</a:t>
            </a:r>
            <a:r>
              <a:rPr spc="-254" dirty="0"/>
              <a:t> </a:t>
            </a:r>
            <a:r>
              <a:rPr spc="-80" dirty="0"/>
              <a:t>Cloud</a:t>
            </a:r>
            <a:r>
              <a:rPr spc="-254" dirty="0"/>
              <a:t> </a:t>
            </a:r>
            <a:r>
              <a:rPr spc="-130" dirty="0"/>
              <a:t>Function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55" dirty="0"/>
              <a:t>Pub/Sub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5" dirty="0"/>
              <a:t>Node.js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9609" y="894080"/>
            <a:ext cx="9083040" cy="3122930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475"/>
              </a:spcBef>
            </a:pPr>
            <a:r>
              <a:rPr sz="1300" spc="-25" dirty="0">
                <a:solidFill>
                  <a:srgbClr val="008000"/>
                </a:solidFill>
                <a:latin typeface="Courier New"/>
                <a:cs typeface="Courier New"/>
              </a:rPr>
              <a:t>/**</a:t>
            </a:r>
            <a:endParaRPr sz="1300">
              <a:latin typeface="Courier New"/>
              <a:cs typeface="Courier New"/>
            </a:endParaRPr>
          </a:p>
          <a:p>
            <a:pPr marL="372745" indent="-197485">
              <a:lnSpc>
                <a:spcPct val="100000"/>
              </a:lnSpc>
              <a:spcBef>
                <a:spcPts val="20"/>
              </a:spcBef>
              <a:buChar char="*"/>
              <a:tabLst>
                <a:tab pos="372745" algn="l"/>
              </a:tabLst>
            </a:pP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Background Cloud Function to be triggered by </a:t>
            </a:r>
            <a:r>
              <a:rPr sz="1300" spc="-10" dirty="0">
                <a:solidFill>
                  <a:srgbClr val="008000"/>
                </a:solidFill>
                <a:latin typeface="Courier New"/>
                <a:cs typeface="Courier New"/>
              </a:rPr>
              <a:t>Pub/Sub.</a:t>
            </a:r>
            <a:endParaRPr sz="1300">
              <a:latin typeface="Courier New"/>
              <a:cs typeface="Courier New"/>
            </a:endParaRPr>
          </a:p>
          <a:p>
            <a:pPr marL="372745" indent="-197485">
              <a:lnSpc>
                <a:spcPts val="1535"/>
              </a:lnSpc>
              <a:spcBef>
                <a:spcPts val="15"/>
              </a:spcBef>
              <a:buChar char="*"/>
              <a:tabLst>
                <a:tab pos="372745" algn="l"/>
              </a:tabLst>
            </a:pP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This function is exported by index.js, and executed </a:t>
            </a:r>
            <a:r>
              <a:rPr sz="1300" spc="-20" dirty="0">
                <a:solidFill>
                  <a:srgbClr val="008000"/>
                </a:solidFill>
                <a:latin typeface="Courier New"/>
                <a:cs typeface="Courier New"/>
              </a:rPr>
              <a:t>when</a:t>
            </a:r>
            <a:endParaRPr sz="1300">
              <a:latin typeface="Courier New"/>
              <a:cs typeface="Courier New"/>
            </a:endParaRPr>
          </a:p>
          <a:p>
            <a:pPr marL="372745" indent="-197485">
              <a:lnSpc>
                <a:spcPts val="1535"/>
              </a:lnSpc>
              <a:buChar char="*"/>
              <a:tabLst>
                <a:tab pos="372745" algn="l"/>
              </a:tabLst>
            </a:pP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the trigger topic receives a </a:t>
            </a:r>
            <a:r>
              <a:rPr sz="1300" spc="-10" dirty="0">
                <a:solidFill>
                  <a:srgbClr val="008000"/>
                </a:solidFill>
                <a:latin typeface="Courier New"/>
                <a:cs typeface="Courier New"/>
              </a:rPr>
              <a:t>message.</a:t>
            </a:r>
            <a:endParaRPr sz="1300">
              <a:latin typeface="Courier New"/>
              <a:cs typeface="Courier New"/>
            </a:endParaRPr>
          </a:p>
          <a:p>
            <a:pPr marL="175260">
              <a:lnSpc>
                <a:spcPct val="100000"/>
              </a:lnSpc>
              <a:spcBef>
                <a:spcPts val="20"/>
              </a:spcBef>
            </a:pPr>
            <a:r>
              <a:rPr sz="1300" spc="-50" dirty="0">
                <a:solidFill>
                  <a:srgbClr val="008000"/>
                </a:solidFill>
                <a:latin typeface="Courier New"/>
                <a:cs typeface="Courier New"/>
              </a:rPr>
              <a:t>*</a:t>
            </a:r>
            <a:endParaRPr sz="1300">
              <a:latin typeface="Courier New"/>
              <a:cs typeface="Courier New"/>
            </a:endParaRPr>
          </a:p>
          <a:p>
            <a:pPr marL="372745" indent="-197485">
              <a:lnSpc>
                <a:spcPct val="100000"/>
              </a:lnSpc>
              <a:spcBef>
                <a:spcPts val="15"/>
              </a:spcBef>
              <a:buChar char="*"/>
              <a:tabLst>
                <a:tab pos="372745" algn="l"/>
              </a:tabLst>
            </a:pP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@param {object} message The Pub/Sub </a:t>
            </a:r>
            <a:r>
              <a:rPr sz="1300" spc="-10" dirty="0">
                <a:solidFill>
                  <a:srgbClr val="008000"/>
                </a:solidFill>
                <a:latin typeface="Courier New"/>
                <a:cs typeface="Courier New"/>
              </a:rPr>
              <a:t>message.</a:t>
            </a:r>
            <a:endParaRPr sz="1300">
              <a:latin typeface="Courier New"/>
              <a:cs typeface="Courier New"/>
            </a:endParaRPr>
          </a:p>
          <a:p>
            <a:pPr marL="372745" indent="-197485">
              <a:lnSpc>
                <a:spcPts val="1535"/>
              </a:lnSpc>
              <a:spcBef>
                <a:spcPts val="20"/>
              </a:spcBef>
              <a:buChar char="*"/>
              <a:tabLst>
                <a:tab pos="372745" algn="l"/>
              </a:tabLst>
            </a:pP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@param {object} context The event </a:t>
            </a:r>
            <a:r>
              <a:rPr sz="1300" spc="-10" dirty="0">
                <a:solidFill>
                  <a:srgbClr val="008000"/>
                </a:solidFill>
                <a:latin typeface="Courier New"/>
                <a:cs typeface="Courier New"/>
              </a:rPr>
              <a:t>metadata.</a:t>
            </a:r>
            <a:endParaRPr sz="1300">
              <a:latin typeface="Courier New"/>
              <a:cs typeface="Courier New"/>
            </a:endParaRPr>
          </a:p>
          <a:p>
            <a:pPr marL="175260">
              <a:lnSpc>
                <a:spcPts val="1535"/>
              </a:lnSpc>
            </a:pPr>
            <a:r>
              <a:rPr sz="1300" spc="-25" dirty="0">
                <a:solidFill>
                  <a:srgbClr val="008000"/>
                </a:solidFill>
                <a:latin typeface="Courier New"/>
                <a:cs typeface="Courier New"/>
              </a:rPr>
              <a:t>*/</a:t>
            </a:r>
            <a:endParaRPr sz="1300">
              <a:latin typeface="Courier New"/>
              <a:cs typeface="Courier New"/>
            </a:endParaRPr>
          </a:p>
          <a:p>
            <a:pPr marL="274320" marR="4523105" indent="-199390">
              <a:lnSpc>
                <a:spcPct val="101099"/>
              </a:lnSpc>
            </a:pPr>
            <a:r>
              <a:rPr sz="1300" dirty="0">
                <a:latin typeface="Courier New"/>
                <a:cs typeface="Courier New"/>
              </a:rPr>
              <a:t>exports.helloPubSub = (message, context) =&gt; </a:t>
            </a:r>
            <a:r>
              <a:rPr sz="1300" spc="-50" dirty="0">
                <a:latin typeface="Courier New"/>
                <a:cs typeface="Courier New"/>
              </a:rPr>
              <a:t>{ </a:t>
            </a:r>
            <a:r>
              <a:rPr sz="1300" dirty="0">
                <a:latin typeface="Courier New"/>
                <a:cs typeface="Courier New"/>
              </a:rPr>
              <a:t>const </a:t>
            </a: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name </a:t>
            </a:r>
            <a:r>
              <a:rPr sz="1300" dirty="0">
                <a:latin typeface="Courier New"/>
                <a:cs typeface="Courier New"/>
              </a:rPr>
              <a:t>= </a:t>
            </a:r>
            <a:r>
              <a:rPr sz="1300" spc="-10" dirty="0">
                <a:latin typeface="Courier New"/>
                <a:cs typeface="Courier New"/>
              </a:rPr>
              <a:t>message.</a:t>
            </a:r>
            <a:r>
              <a:rPr sz="1300" spc="-10" dirty="0">
                <a:solidFill>
                  <a:srgbClr val="0000FF"/>
                </a:solidFill>
                <a:latin typeface="Courier New"/>
                <a:cs typeface="Courier New"/>
              </a:rPr>
              <a:t>data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ts val="1535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? Buffer.from(message.</a:t>
            </a: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data</a:t>
            </a:r>
            <a:r>
              <a:rPr sz="1300" dirty="0">
                <a:latin typeface="Courier New"/>
                <a:cs typeface="Courier New"/>
              </a:rPr>
              <a:t>,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'base64'</a:t>
            </a:r>
            <a:r>
              <a:rPr sz="1300" spc="-10" dirty="0">
                <a:latin typeface="Courier New"/>
                <a:cs typeface="Courier New"/>
              </a:rPr>
              <a:t>).toString()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ts val="1535"/>
              </a:lnSpc>
            </a:pPr>
            <a:r>
              <a:rPr sz="1300" dirty="0">
                <a:latin typeface="Courier New"/>
                <a:cs typeface="Courier New"/>
              </a:rPr>
              <a:t>: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'World'</a:t>
            </a:r>
            <a:r>
              <a:rPr sz="1300" spc="-10" dirty="0">
                <a:latin typeface="Courier New"/>
                <a:cs typeface="Courier New"/>
              </a:rPr>
              <a:t>;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3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latin typeface="Courier New"/>
                <a:cs typeface="Courier New"/>
              </a:rPr>
              <a:t>console.</a:t>
            </a: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log</a:t>
            </a:r>
            <a:r>
              <a:rPr sz="1300" dirty="0">
                <a:latin typeface="Courier New"/>
                <a:cs typeface="Courier New"/>
              </a:rPr>
              <a:t>(`Hello, </a:t>
            </a:r>
            <a:r>
              <a:rPr sz="1300" spc="-10" dirty="0">
                <a:latin typeface="Courier New"/>
                <a:cs typeface="Courier New"/>
              </a:rPr>
              <a:t>${</a:t>
            </a:r>
            <a:r>
              <a:rPr sz="1300" spc="-10" dirty="0">
                <a:solidFill>
                  <a:srgbClr val="0000FF"/>
                </a:solidFill>
                <a:latin typeface="Courier New"/>
                <a:cs typeface="Courier New"/>
              </a:rPr>
              <a:t>name</a:t>
            </a:r>
            <a:r>
              <a:rPr sz="1300" spc="-10" dirty="0">
                <a:latin typeface="Courier New"/>
                <a:cs typeface="Courier New"/>
              </a:rPr>
              <a:t>}!`);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ct val="100000"/>
              </a:lnSpc>
              <a:spcBef>
                <a:spcPts val="15"/>
              </a:spcBef>
            </a:pPr>
            <a:r>
              <a:rPr sz="1300" spc="-25" dirty="0">
                <a:latin typeface="Courier New"/>
                <a:cs typeface="Courier New"/>
              </a:rPr>
              <a:t>};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131</a:t>
            </a:fld>
            <a:endParaRPr spc="-25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089734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34403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728292"/>
            <a:ext cx="66777" cy="6677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70250" y="866705"/>
            <a:ext cx="8740140" cy="3001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Management: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dont</a:t>
            </a:r>
            <a:r>
              <a:rPr sz="235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worry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function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Functions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spin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back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response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events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horizontally!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Functions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responding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events: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Functions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ideal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long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processes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212121"/>
                </a:solidFill>
                <a:latin typeface="Trebuchet MS"/>
                <a:cs typeface="Trebuchet MS"/>
              </a:rPr>
              <a:t>Bound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min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20" dirty="0">
                <a:solidFill>
                  <a:srgbClr val="212121"/>
                </a:solidFill>
                <a:latin typeface="Yu Gothic"/>
                <a:cs typeface="Yu Gothic"/>
              </a:rPr>
              <a:t>MAX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60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minutes(3600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seconds)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114" dirty="0"/>
              <a:t>Functions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95" dirty="0"/>
              <a:t>Remember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132</a:t>
            </a:fld>
            <a:endParaRPr spc="-25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1322" y="1094762"/>
            <a:ext cx="708761" cy="8494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00595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417787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797583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14816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5237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389940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325113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67569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5093052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5835949"/>
            <a:ext cx="75565" cy="60325"/>
          </a:xfrm>
          <a:custGeom>
            <a:avLst/>
            <a:gdLst/>
            <a:ahLst/>
            <a:cxnLst/>
            <a:rect l="l" t="t" r="r" b="b"/>
            <a:pathLst>
              <a:path w="75565" h="60325">
                <a:moveTo>
                  <a:pt x="75124" y="60009"/>
                </a:moveTo>
                <a:lnTo>
                  <a:pt x="0" y="60009"/>
                </a:lnTo>
                <a:lnTo>
                  <a:pt x="0" y="0"/>
                </a:lnTo>
                <a:lnTo>
                  <a:pt x="75124" y="0"/>
                </a:lnTo>
                <a:lnTo>
                  <a:pt x="75124" y="60009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8740140" cy="515747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Run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"Container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Seconds"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Built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top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open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standard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Knative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Fully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serverless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platform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containerized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ZERO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management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Pay-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per-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(For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CPU,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Memory,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Networking)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Fully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integrated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end-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to-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end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developer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experience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No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limitations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languages,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binaries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dependencies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Easily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portable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because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container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architecture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Code,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Build,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Integrations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Anthos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clusters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anywhere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Cloud,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Multi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Premise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  <a:tabLst>
                <a:tab pos="903605" algn="l"/>
                <a:tab pos="1553845" algn="l"/>
                <a:tab pos="2058670" algn="l"/>
                <a:tab pos="3173095" algn="l"/>
                <a:tab pos="4186554" algn="l"/>
                <a:tab pos="4890770" algn="l"/>
                <a:tab pos="6337300" algn="l"/>
                <a:tab pos="6732905" algn="l"/>
                <a:tab pos="774890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Run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Anthos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Anthos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clusters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premises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Leverage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existing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investment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quickly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serverless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5" dirty="0"/>
              <a:t> </a:t>
            </a:r>
            <a:r>
              <a:rPr spc="-85" dirty="0"/>
              <a:t>Run</a:t>
            </a:r>
            <a:r>
              <a:rPr spc="-265" dirty="0"/>
              <a:t> </a:t>
            </a:r>
            <a:r>
              <a:rPr spc="-200" dirty="0"/>
              <a:t>&amp;</a:t>
            </a:r>
            <a:r>
              <a:rPr spc="-265" dirty="0"/>
              <a:t> </a:t>
            </a:r>
            <a:r>
              <a:rPr spc="-80" dirty="0"/>
              <a:t>Cloud</a:t>
            </a:r>
            <a:r>
              <a:rPr spc="-265" dirty="0"/>
              <a:t> </a:t>
            </a:r>
            <a:r>
              <a:rPr spc="-85" dirty="0"/>
              <a:t>Run</a:t>
            </a:r>
            <a:r>
              <a:rPr spc="-265" dirty="0"/>
              <a:t> </a:t>
            </a:r>
            <a:r>
              <a:rPr spc="-140" dirty="0"/>
              <a:t>for</a:t>
            </a:r>
            <a:r>
              <a:rPr spc="-265" dirty="0"/>
              <a:t> </a:t>
            </a:r>
            <a:r>
              <a:rPr spc="-65" dirty="0"/>
              <a:t>Anthos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133</a:t>
            </a:fld>
            <a:endParaRPr spc="-25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00308" y="1374392"/>
            <a:ext cx="9182100" cy="0"/>
          </a:xfrm>
          <a:custGeom>
            <a:avLst/>
            <a:gdLst/>
            <a:ahLst/>
            <a:cxnLst/>
            <a:rect l="l" t="t" r="r" b="b"/>
            <a:pathLst>
              <a:path w="9182100">
                <a:moveTo>
                  <a:pt x="0" y="0"/>
                </a:moveTo>
                <a:lnTo>
                  <a:pt x="9181877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00308" y="2376051"/>
            <a:ext cx="9182100" cy="0"/>
          </a:xfrm>
          <a:custGeom>
            <a:avLst/>
            <a:gdLst/>
            <a:ahLst/>
            <a:cxnLst/>
            <a:rect l="l" t="t" r="r" b="b"/>
            <a:pathLst>
              <a:path w="9182100">
                <a:moveTo>
                  <a:pt x="0" y="0"/>
                </a:moveTo>
                <a:lnTo>
                  <a:pt x="9181877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00308" y="2826798"/>
            <a:ext cx="9182100" cy="0"/>
          </a:xfrm>
          <a:custGeom>
            <a:avLst/>
            <a:gdLst/>
            <a:ahLst/>
            <a:cxnLst/>
            <a:rect l="l" t="t" r="r" b="b"/>
            <a:pathLst>
              <a:path w="9182100">
                <a:moveTo>
                  <a:pt x="0" y="0"/>
                </a:moveTo>
                <a:lnTo>
                  <a:pt x="9181877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0308" y="3277545"/>
            <a:ext cx="9182100" cy="0"/>
          </a:xfrm>
          <a:custGeom>
            <a:avLst/>
            <a:gdLst/>
            <a:ahLst/>
            <a:cxnLst/>
            <a:rect l="l" t="t" r="r" b="b"/>
            <a:pathLst>
              <a:path w="9182100">
                <a:moveTo>
                  <a:pt x="0" y="0"/>
                </a:moveTo>
                <a:lnTo>
                  <a:pt x="9181877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17220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85" dirty="0"/>
              <a:t>Run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50" dirty="0"/>
              <a:t>From</a:t>
            </a:r>
            <a:r>
              <a:rPr spc="-254" dirty="0"/>
              <a:t> </a:t>
            </a:r>
            <a:r>
              <a:rPr spc="-145" dirty="0"/>
              <a:t>the</a:t>
            </a:r>
            <a:r>
              <a:rPr spc="-260" dirty="0"/>
              <a:t> </a:t>
            </a:r>
            <a:r>
              <a:rPr spc="-70" dirty="0"/>
              <a:t>Command</a:t>
            </a:r>
            <a:r>
              <a:rPr spc="-260" dirty="0"/>
              <a:t> </a:t>
            </a:r>
            <a:r>
              <a:rPr spc="-70" dirty="0"/>
              <a:t>Line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13337" y="980227"/>
            <a:ext cx="355790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06675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Description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Command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3337" y="1439321"/>
            <a:ext cx="214439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Deploy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new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container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07873" y="1416283"/>
            <a:ext cx="6236335" cy="852169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650" i="1" spc="-5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650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i="1" spc="-80" dirty="0">
                <a:solidFill>
                  <a:srgbClr val="212121"/>
                </a:solidFill>
                <a:latin typeface="Trebuchet MS"/>
                <a:cs typeface="Trebuchet MS"/>
              </a:rPr>
              <a:t>run</a:t>
            </a:r>
            <a:r>
              <a:rPr sz="165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deploy</a:t>
            </a:r>
            <a:r>
              <a:rPr sz="1650" b="1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i="1" spc="-70" dirty="0">
                <a:solidFill>
                  <a:srgbClr val="212121"/>
                </a:solidFill>
                <a:latin typeface="Trebuchet MS"/>
                <a:cs typeface="Trebuchet MS"/>
              </a:rPr>
              <a:t>SERVICE_NAME</a:t>
            </a:r>
            <a:r>
              <a:rPr sz="1650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i="1" spc="-114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650" i="1" spc="-45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r>
              <a:rPr sz="165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i="1" spc="-95" dirty="0">
                <a:solidFill>
                  <a:srgbClr val="212121"/>
                </a:solidFill>
                <a:latin typeface="Trebuchet MS"/>
                <a:cs typeface="Trebuchet MS"/>
              </a:rPr>
              <a:t>IMAGE_URL</a:t>
            </a:r>
            <a:r>
              <a:rPr sz="165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i="1" spc="-114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650" i="1" spc="-90" dirty="0">
                <a:solidFill>
                  <a:srgbClr val="212121"/>
                </a:solidFill>
                <a:latin typeface="Trebuchet MS"/>
                <a:cs typeface="Trebuchet MS"/>
              </a:rPr>
              <a:t>revision-</a:t>
            </a:r>
            <a:r>
              <a:rPr sz="1650" i="1" spc="-80" dirty="0">
                <a:solidFill>
                  <a:srgbClr val="212121"/>
                </a:solidFill>
                <a:latin typeface="Trebuchet MS"/>
                <a:cs typeface="Trebuchet MS"/>
              </a:rPr>
              <a:t>suﬀix</a:t>
            </a:r>
            <a:r>
              <a:rPr sz="1650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i="1" spc="-25" dirty="0">
                <a:solidFill>
                  <a:srgbClr val="212121"/>
                </a:solidFill>
                <a:latin typeface="Trebuchet MS"/>
                <a:cs typeface="Trebuchet MS"/>
              </a:rPr>
              <a:t>v1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First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deployment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creates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first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revision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Next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deployments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revisions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13337" y="2440980"/>
            <a:ext cx="207454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List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available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revisions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07873" y="2440980"/>
            <a:ext cx="213995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run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revisions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3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3337" y="2883380"/>
            <a:ext cx="236791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Adjust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traffic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assignments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07873" y="2883380"/>
            <a:ext cx="636143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run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services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update-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traffic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myservice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to-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revisions=v2=10,v1=90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134</a:t>
            </a:fld>
            <a:endParaRPr spc="-25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229976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89070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4152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1080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8009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51765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5593882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170250" y="856689"/>
            <a:ext cx="8740140" cy="494411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Product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Versions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Functions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(1st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gen):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First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Functions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(2nd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gen):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built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top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Eventarc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Recommended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Functions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(2nd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gen)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Enhancements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2nd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gen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Longer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Request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timeout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Up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60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minutes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HTTP-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triggered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functions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</a:pP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Larger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sizes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16GiB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65" dirty="0">
                <a:solidFill>
                  <a:srgbClr val="212121"/>
                </a:solidFill>
                <a:latin typeface="Yu Gothic"/>
                <a:cs typeface="Yu Gothic"/>
              </a:rPr>
              <a:t>RAM</a:t>
            </a:r>
            <a:r>
              <a:rPr sz="1900" spc="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4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vCPU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(v1: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Up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8GB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65" dirty="0">
                <a:solidFill>
                  <a:srgbClr val="212121"/>
                </a:solidFill>
                <a:latin typeface="Yu Gothic"/>
                <a:cs typeface="Yu Gothic"/>
              </a:rPr>
              <a:t>RAM</a:t>
            </a:r>
            <a:r>
              <a:rPr sz="1900" spc="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2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vCPU)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5"/>
              </a:spcBef>
              <a:tabLst>
                <a:tab pos="1892935" algn="l"/>
                <a:tab pos="2563495" algn="l"/>
                <a:tab pos="3214370" algn="l"/>
                <a:tab pos="4490085" algn="l"/>
                <a:tab pos="5528310" algn="l"/>
                <a:tab pos="6036945" algn="l"/>
                <a:tab pos="7050405" algn="l"/>
                <a:tab pos="8070215" algn="l"/>
                <a:tab pos="8607425" algn="l"/>
              </a:tabLst>
            </a:pP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Concurrency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Upto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1000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concurrent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per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function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(v1: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1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concurrent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request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per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function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instance)</a:t>
            </a:r>
            <a:endParaRPr sz="1900">
              <a:latin typeface="Yu Gothic"/>
              <a:cs typeface="Yu Gothic"/>
            </a:endParaRPr>
          </a:p>
          <a:p>
            <a:pPr marL="346075" marR="337185">
              <a:lnSpc>
                <a:spcPct val="129700"/>
              </a:lnSpc>
              <a:spcBef>
                <a:spcPts val="65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Multiple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Function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Revisions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Traffic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splitting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(v1: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supported)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Support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90+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event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types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enabled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Eventarc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(v1: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7)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DEMO!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114" dirty="0"/>
              <a:t>Functions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90" dirty="0"/>
              <a:t>Second</a:t>
            </a:r>
            <a:r>
              <a:rPr spc="-260" dirty="0"/>
              <a:t> </a:t>
            </a:r>
            <a:r>
              <a:rPr spc="-130" dirty="0"/>
              <a:t>Generation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5" dirty="0"/>
              <a:t>What's</a:t>
            </a:r>
            <a:r>
              <a:rPr spc="-254" dirty="0"/>
              <a:t> </a:t>
            </a:r>
            <a:r>
              <a:rPr spc="-20" dirty="0"/>
              <a:t>New?</a:t>
            </a: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135</a:t>
            </a:fld>
            <a:endParaRPr spc="-25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476217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043824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3818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678209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987053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366849"/>
            <a:ext cx="91818" cy="918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825943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1765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5464501"/>
            <a:ext cx="66777" cy="6677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781693"/>
            <a:ext cx="66777" cy="6677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70250" y="856689"/>
            <a:ext cx="8740140" cy="50641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Typical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serverless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functions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architecture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Autoscaling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invocations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in,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function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endParaRPr sz="1900">
              <a:latin typeface="Yu Gothic"/>
              <a:cs typeface="Yu Gothic"/>
            </a:endParaRPr>
          </a:p>
          <a:p>
            <a:pPr marL="346075" marR="2444750">
              <a:lnSpc>
                <a:spcPts val="3020"/>
              </a:lnSpc>
              <a:spcBef>
                <a:spcPts val="16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function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handles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7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request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TIME 3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concurrent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function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invocations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3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function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ts val="1735"/>
              </a:lnSpc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4th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function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invocation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occurs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while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existing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invocations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progress,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new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function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70"/>
              </a:spcBef>
            </a:pP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HOWEVER,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function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completed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execution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may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reused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future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(Typical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Problem)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Cold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Start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function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instance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initialization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scratch can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take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3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(Solution)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Configure 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Min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(increases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cost)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1st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Gen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uses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typical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serverless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functions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architecture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2nd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Gen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adds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important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feature: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function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handle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Concurrency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many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concurrent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invocations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function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handle?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(Max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1000)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50" dirty="0">
                <a:solidFill>
                  <a:srgbClr val="212121"/>
                </a:solidFill>
                <a:latin typeface="Yu Gothic"/>
                <a:cs typeface="Yu Gothic"/>
              </a:rPr>
              <a:t>(IMPORTANT)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function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code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safe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execute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concurrently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114" dirty="0"/>
              <a:t>Functions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55" dirty="0"/>
              <a:t>Scaling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54" dirty="0"/>
              <a:t> </a:t>
            </a:r>
            <a:r>
              <a:rPr spc="-100" dirty="0"/>
              <a:t>Concurrency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136</a:t>
            </a:fld>
            <a:endParaRPr spc="-25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290434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14" dirty="0"/>
              <a:t>Functions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110" dirty="0"/>
              <a:t>Deployment</a:t>
            </a:r>
            <a:r>
              <a:rPr spc="-250" dirty="0"/>
              <a:t> </a:t>
            </a:r>
            <a:r>
              <a:rPr spc="-55" dirty="0"/>
              <a:t>using</a:t>
            </a:r>
            <a:r>
              <a:rPr spc="-245" dirty="0"/>
              <a:t> </a:t>
            </a:r>
            <a:r>
              <a:rPr spc="-10" dirty="0"/>
              <a:t>gcloud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86415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1733320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058859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39691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701591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0396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4152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3711597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608655" y="40413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4345982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4671521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608655" y="50095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08655" y="538520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08655" y="57691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470747" y="865036"/>
            <a:ext cx="9627235" cy="508190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gcloud functions</a:t>
            </a:r>
            <a:r>
              <a:rPr sz="2350" b="1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deploy</a:t>
            </a:r>
            <a:r>
              <a:rPr sz="2350" b="1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Courier New"/>
                <a:cs typeface="Courier New"/>
              </a:rPr>
              <a:t>[NAME]</a:t>
            </a:r>
            <a:endParaRPr sz="235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docker-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registry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(registry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store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function's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Docker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images)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500" spc="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container-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registry</a:t>
            </a:r>
            <a:endParaRPr sz="1500">
              <a:latin typeface="Courier New"/>
              <a:cs typeface="Courier New"/>
            </a:endParaRPr>
          </a:p>
          <a:p>
            <a:pPr marL="680085">
              <a:lnSpc>
                <a:spcPct val="100000"/>
              </a:lnSpc>
              <a:spcBef>
                <a:spcPts val="76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Alternative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artifact-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registry</a:t>
            </a:r>
            <a:endParaRPr sz="150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docker-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repository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(repository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store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function's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Docker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images)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50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projects/${PROJECT}/locations/${LOCATION}/repositories/${REPOSITORY}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gen2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(Use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2nd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gen.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present,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1st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gen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used)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runtime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(nodejs,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python,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java,...)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Reference</a:t>
            </a:r>
            <a:r>
              <a:rPr sz="150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b="1" i="1" spc="-80" dirty="0">
                <a:latin typeface="Trebuchet MS"/>
                <a:cs typeface="Trebuchet MS"/>
                <a:hlinkClick r:id="rId5"/>
              </a:rPr>
              <a:t>https://cloud.google.com/functions/docs/runtime-</a:t>
            </a:r>
            <a:r>
              <a:rPr sz="1350" b="1" i="1" spc="-10" dirty="0">
                <a:latin typeface="Trebuchet MS"/>
                <a:cs typeface="Trebuchet MS"/>
                <a:hlinkClick r:id="rId5"/>
              </a:rPr>
              <a:t>support</a:t>
            </a:r>
            <a:endParaRPr sz="1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30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--service-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(Service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use)</a:t>
            </a:r>
            <a:endParaRPr sz="1900">
              <a:latin typeface="Yu Gothic"/>
              <a:cs typeface="Yu Gothic"/>
            </a:endParaRPr>
          </a:p>
          <a:p>
            <a:pPr marL="813435" indent="-133350">
              <a:lnSpc>
                <a:spcPct val="100000"/>
              </a:lnSpc>
              <a:spcBef>
                <a:spcPts val="290"/>
              </a:spcBef>
              <a:buAutoNum type="arabicPlain"/>
              <a:tabLst>
                <a:tab pos="813435" algn="l"/>
              </a:tabLst>
            </a:pP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GEN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App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  <a:hlinkClick r:id="rId6"/>
              </a:rPr>
              <a:t>PROJECT_ID@appspot.gserviceaccount.com</a:t>
            </a:r>
            <a:endParaRPr sz="1500">
              <a:latin typeface="Courier New"/>
              <a:cs typeface="Courier New"/>
            </a:endParaRPr>
          </a:p>
          <a:p>
            <a:pPr marL="813435" indent="-133350">
              <a:lnSpc>
                <a:spcPct val="100000"/>
              </a:lnSpc>
              <a:spcBef>
                <a:spcPts val="760"/>
              </a:spcBef>
              <a:buAutoNum type="arabicPlain"/>
              <a:tabLst>
                <a:tab pos="813435" algn="l"/>
              </a:tabLst>
            </a:pP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GEN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account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  <a:hlinkClick r:id="rId7"/>
              </a:rPr>
              <a:t>PROJECT_NO-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  <a:hlinkClick r:id="rId7"/>
              </a:rPr>
              <a:t>compute@developer.gserviceaccount.com</a:t>
            </a:r>
            <a:endParaRPr sz="150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timeout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(function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execution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timeout)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max-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(function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execution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exceeding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max-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times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out)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min-instances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(avoid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cold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starts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higher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cost)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137</a:t>
            </a:fld>
            <a:endParaRPr spc="-25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114" dirty="0"/>
              <a:t>Functions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10" dirty="0"/>
              <a:t>Deployment</a:t>
            </a:r>
            <a:r>
              <a:rPr spc="-254" dirty="0"/>
              <a:t> </a:t>
            </a:r>
            <a:r>
              <a:rPr spc="-55" dirty="0"/>
              <a:t>using</a:t>
            </a:r>
            <a:r>
              <a:rPr spc="-254" dirty="0"/>
              <a:t> </a:t>
            </a:r>
            <a:r>
              <a:rPr spc="-75" dirty="0"/>
              <a:t>gcloud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50" dirty="0"/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722459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307303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3377711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3703250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020442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435015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504297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70747" y="2501079"/>
            <a:ext cx="9742170" cy="271970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gcloud functions</a:t>
            </a:r>
            <a:r>
              <a:rPr sz="2350" b="1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deploy</a:t>
            </a:r>
            <a:r>
              <a:rPr sz="2350" b="1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Courier New"/>
                <a:cs typeface="Courier New"/>
              </a:rPr>
              <a:t>[NAME]</a:t>
            </a:r>
            <a:endParaRPr sz="235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source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Zip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file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gs://my-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source-bucket/my_function_source.zip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(OR)</a:t>
            </a:r>
            <a:endParaRPr sz="1500">
              <a:latin typeface="Yu Gothic"/>
              <a:cs typeface="Yu Gothic"/>
            </a:endParaRPr>
          </a:p>
          <a:p>
            <a:pPr marL="680085" marR="2282825">
              <a:lnSpc>
                <a:spcPct val="138800"/>
              </a:lnSpc>
              <a:spcBef>
                <a:spcPts val="65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Source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Repo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https://URL/projects/${PROJECT}/repos/${REPO}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(OR)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Local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system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09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trigger-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r>
              <a:rPr sz="1900" b="1" spc="-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(OR)</a:t>
            </a:r>
            <a:r>
              <a:rPr sz="19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trigger-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http</a:t>
            </a:r>
            <a:r>
              <a:rPr sz="1900" b="1" spc="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(OR)</a:t>
            </a:r>
            <a:r>
              <a:rPr sz="19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trigger-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topic</a:t>
            </a:r>
            <a:r>
              <a:rPr sz="1900" b="1" spc="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(OR)</a:t>
            </a:r>
            <a:r>
              <a:rPr sz="19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trigger-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event-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filters</a:t>
            </a:r>
            <a:r>
              <a:rPr sz="1900" b="1" spc="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50" dirty="0">
                <a:solidFill>
                  <a:srgbClr val="212121"/>
                </a:solidFill>
                <a:latin typeface="Yu Gothic"/>
                <a:cs typeface="Yu Gothic"/>
              </a:rPr>
              <a:t>(ONLY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in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gen2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Eventarc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matching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criteria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trigger)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serve-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all-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traffic-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latest-revision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54" dirty="0">
                <a:solidFill>
                  <a:srgbClr val="212121"/>
                </a:solidFill>
                <a:latin typeface="Yu Gothic"/>
                <a:cs typeface="Yu Gothic"/>
              </a:rPr>
              <a:t>(ONLY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in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gen2)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49609" y="894080"/>
            <a:ext cx="9083040" cy="1535430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75565" marR="2534285">
              <a:lnSpc>
                <a:spcPct val="101099"/>
              </a:lnSpc>
              <a:spcBef>
                <a:spcPts val="459"/>
              </a:spcBef>
            </a:pP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//Deploy Pubsub Triggered gen2 function from Cloud Storage </a:t>
            </a:r>
            <a:r>
              <a:rPr sz="1300" spc="-10" dirty="0">
                <a:solidFill>
                  <a:srgbClr val="008000"/>
                </a:solidFill>
                <a:latin typeface="Courier New"/>
                <a:cs typeface="Courier New"/>
              </a:rPr>
              <a:t>Bucket </a:t>
            </a:r>
            <a:r>
              <a:rPr sz="1300" dirty="0">
                <a:latin typeface="Courier New"/>
                <a:cs typeface="Courier New"/>
              </a:rPr>
              <a:t>gcloud functions deploy my-pubsub-function </a:t>
            </a:r>
            <a:r>
              <a:rPr sz="1300" spc="-50" dirty="0">
                <a:latin typeface="Courier New"/>
                <a:cs typeface="Courier New"/>
              </a:rPr>
              <a:t>\</a:t>
            </a:r>
            <a:endParaRPr sz="1300">
              <a:latin typeface="Courier New"/>
              <a:cs typeface="Courier New"/>
            </a:endParaRPr>
          </a:p>
          <a:p>
            <a:pPr marL="274320">
              <a:lnSpc>
                <a:spcPts val="1535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--gen2 </a:t>
            </a:r>
            <a:r>
              <a:rPr sz="1300" spc="-50" dirty="0">
                <a:latin typeface="Courier New"/>
                <a:cs typeface="Courier New"/>
              </a:rPr>
              <a:t>\</a:t>
            </a:r>
            <a:endParaRPr sz="1300">
              <a:latin typeface="Courier New"/>
              <a:cs typeface="Courier New"/>
            </a:endParaRPr>
          </a:p>
          <a:p>
            <a:pPr marL="274320">
              <a:lnSpc>
                <a:spcPts val="1535"/>
              </a:lnSpc>
            </a:pPr>
            <a:r>
              <a:rPr sz="1300" dirty="0">
                <a:latin typeface="Courier New"/>
                <a:cs typeface="Courier New"/>
              </a:rPr>
              <a:t>--region=europe-west1 </a:t>
            </a:r>
            <a:r>
              <a:rPr sz="1300" spc="-50" dirty="0">
                <a:latin typeface="Courier New"/>
                <a:cs typeface="Courier New"/>
              </a:rPr>
              <a:t>\</a:t>
            </a:r>
            <a:endParaRPr sz="13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  <a:spcBef>
                <a:spcPts val="20"/>
              </a:spcBef>
            </a:pPr>
            <a:r>
              <a:rPr sz="1300" dirty="0">
                <a:latin typeface="Courier New"/>
                <a:cs typeface="Courier New"/>
              </a:rPr>
              <a:t>--runtime=nodejs16 </a:t>
            </a:r>
            <a:r>
              <a:rPr sz="1300" spc="-50" dirty="0">
                <a:latin typeface="Courier New"/>
                <a:cs typeface="Courier New"/>
              </a:rPr>
              <a:t>\</a:t>
            </a:r>
            <a:endParaRPr sz="13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--source=</a:t>
            </a:r>
            <a:r>
              <a:rPr sz="1300" dirty="0">
                <a:solidFill>
                  <a:srgbClr val="00B0E7"/>
                </a:solidFill>
                <a:latin typeface="Courier New"/>
                <a:cs typeface="Courier New"/>
              </a:rPr>
              <a:t>gs:</a:t>
            </a:r>
            <a:r>
              <a:rPr sz="1300" dirty="0">
                <a:latin typeface="Courier New"/>
                <a:cs typeface="Courier New"/>
              </a:rPr>
              <a:t>//my-source-bucket/source.zip </a:t>
            </a:r>
            <a:r>
              <a:rPr sz="1300" spc="-50" dirty="0">
                <a:latin typeface="Courier New"/>
                <a:cs typeface="Courier New"/>
              </a:rPr>
              <a:t>\</a:t>
            </a:r>
            <a:endParaRPr sz="13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  <a:spcBef>
                <a:spcPts val="20"/>
              </a:spcBef>
            </a:pPr>
            <a:r>
              <a:rPr sz="1300" dirty="0">
                <a:latin typeface="Courier New"/>
                <a:cs typeface="Courier New"/>
              </a:rPr>
              <a:t>--trigger-topic=my-pubsub-</a:t>
            </a:r>
            <a:r>
              <a:rPr sz="1300" spc="-10" dirty="0">
                <a:latin typeface="Courier New"/>
                <a:cs typeface="Courier New"/>
              </a:rPr>
              <a:t>topic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138</a:t>
            </a:fld>
            <a:endParaRPr spc="-25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0467" y="2417608"/>
            <a:ext cx="3581400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85" dirty="0">
                <a:solidFill>
                  <a:srgbClr val="1BA74A"/>
                </a:solidFill>
              </a:rPr>
              <a:t>Encryption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139</a:t>
            </a:fld>
            <a:endParaRPr spc="-25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Data</a:t>
            </a:r>
            <a:r>
              <a:rPr spc="-254" dirty="0"/>
              <a:t> </a:t>
            </a:r>
            <a:r>
              <a:rPr spc="-55" dirty="0"/>
              <a:t>States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9570" y="994598"/>
            <a:ext cx="1602655" cy="6009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4140" y="1261706"/>
            <a:ext cx="567608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66885" y="936167"/>
            <a:ext cx="1602655" cy="65942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205468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40526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2822624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17320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54882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71756" y="3845152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71756" y="4162344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08655" y="45004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71756" y="4788381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71756" y="5105573"/>
            <a:ext cx="66777" cy="6677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5485369"/>
            <a:ext cx="91818" cy="91818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608655" y="5835949"/>
            <a:ext cx="75565" cy="60325"/>
          </a:xfrm>
          <a:custGeom>
            <a:avLst/>
            <a:gdLst/>
            <a:ahLst/>
            <a:cxnLst/>
            <a:rect l="l" t="t" r="r" b="b"/>
            <a:pathLst>
              <a:path w="75564" h="60325">
                <a:moveTo>
                  <a:pt x="75124" y="60009"/>
                </a:moveTo>
                <a:lnTo>
                  <a:pt x="0" y="60009"/>
                </a:lnTo>
                <a:lnTo>
                  <a:pt x="0" y="0"/>
                </a:lnTo>
                <a:lnTo>
                  <a:pt x="75124" y="0"/>
                </a:lnTo>
                <a:lnTo>
                  <a:pt x="75124" y="60009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470747" y="1833307"/>
            <a:ext cx="7416800" cy="418084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at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rest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Stored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device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backup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Examples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hard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disk,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database,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backups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archives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motion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Being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transferred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called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transit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Examples</a:t>
            </a:r>
            <a:r>
              <a:rPr sz="190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copied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premise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talking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Two</a:t>
            </a:r>
            <a:r>
              <a:rPr sz="190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Types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out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(from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internet)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processed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non-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state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90" dirty="0">
                <a:solidFill>
                  <a:srgbClr val="212121"/>
                </a:solidFill>
                <a:latin typeface="Yu Gothic"/>
                <a:cs typeface="Yu Gothic"/>
              </a:rPr>
              <a:t>RAM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140</a:t>
            </a:fld>
            <a:endParaRPr spc="-25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Encryption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9570" y="994598"/>
            <a:ext cx="1602655" cy="6009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4140" y="1261706"/>
            <a:ext cx="567608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66885" y="936167"/>
            <a:ext cx="1602655" cy="65942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205468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79758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3214941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3674035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402461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440023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477586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5201565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08655" y="555214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470747" y="1843323"/>
            <a:ext cx="9741535" cy="3886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store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is,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happen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unauthorized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entity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gets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it?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Imagine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losing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unencrypted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hard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endParaRPr sz="1900">
              <a:latin typeface="Yu Gothic"/>
              <a:cs typeface="Yu Gothic"/>
            </a:endParaRPr>
          </a:p>
          <a:p>
            <a:pPr marL="12700" marR="4872990">
              <a:lnSpc>
                <a:spcPts val="3610"/>
              </a:lnSpc>
              <a:spcBef>
                <a:spcPts val="150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First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law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security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Defense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Depth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Typically,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enterprises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encrypt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hard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endParaRPr sz="1900">
              <a:latin typeface="Yu Gothic"/>
              <a:cs typeface="Yu Gothic"/>
            </a:endParaRPr>
          </a:p>
          <a:p>
            <a:pPr marL="346075" marR="6975475">
              <a:lnSpc>
                <a:spcPct val="129700"/>
              </a:lnSpc>
              <a:spcBef>
                <a:spcPts val="5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databases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servers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sufficient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encrypt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rest?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35" dirty="0">
                <a:solidFill>
                  <a:srgbClr val="212121"/>
                </a:solidFill>
                <a:latin typeface="Trebuchet MS"/>
                <a:cs typeface="Trebuchet MS"/>
              </a:rPr>
              <a:t>No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.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Encrypt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transit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between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well.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141</a:t>
            </a:fld>
            <a:endParaRPr spc="-25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Symmetric</a:t>
            </a:r>
            <a:r>
              <a:rPr spc="-254" dirty="0"/>
              <a:t> </a:t>
            </a:r>
            <a:r>
              <a:rPr spc="-140" dirty="0"/>
              <a:t>Key</a:t>
            </a:r>
            <a:r>
              <a:rPr spc="-250" dirty="0"/>
              <a:t> </a:t>
            </a:r>
            <a:r>
              <a:rPr spc="-80" dirty="0"/>
              <a:t>Encryption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0165" y="927820"/>
            <a:ext cx="5350520" cy="21786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532133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383544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4834290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5293384"/>
            <a:ext cx="91818" cy="9181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475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522095" algn="l"/>
                <a:tab pos="3042285" algn="l"/>
                <a:tab pos="4550410" algn="l"/>
                <a:tab pos="5139055" algn="l"/>
                <a:tab pos="5703570" algn="l"/>
                <a:tab pos="6546850" algn="l"/>
                <a:tab pos="7148830" algn="l"/>
                <a:tab pos="7668895" algn="l"/>
                <a:tab pos="9233535" algn="l"/>
              </a:tabLst>
            </a:pPr>
            <a:r>
              <a:rPr spc="-10" dirty="0"/>
              <a:t>Symmetric</a:t>
            </a:r>
            <a:r>
              <a:rPr dirty="0"/>
              <a:t>	</a:t>
            </a:r>
            <a:r>
              <a:rPr spc="-10" dirty="0"/>
              <a:t>encryption</a:t>
            </a:r>
            <a:r>
              <a:rPr dirty="0"/>
              <a:t>	</a:t>
            </a:r>
            <a:r>
              <a:rPr spc="-10" dirty="0"/>
              <a:t>algorithms</a:t>
            </a:r>
            <a:r>
              <a:rPr dirty="0"/>
              <a:t>	</a:t>
            </a:r>
            <a:r>
              <a:rPr spc="-25" dirty="0"/>
              <a:t>use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b="1" spc="-20" dirty="0">
                <a:latin typeface="Trebuchet MS"/>
                <a:cs typeface="Trebuchet MS"/>
              </a:rPr>
              <a:t>same</a:t>
            </a:r>
            <a:r>
              <a:rPr b="1" dirty="0">
                <a:latin typeface="Trebuchet MS"/>
                <a:cs typeface="Trebuchet MS"/>
              </a:rPr>
              <a:t>	</a:t>
            </a:r>
            <a:r>
              <a:rPr b="1" spc="-25" dirty="0">
                <a:latin typeface="Trebuchet MS"/>
                <a:cs typeface="Trebuchet MS"/>
              </a:rPr>
              <a:t>key</a:t>
            </a:r>
            <a:r>
              <a:rPr b="1" dirty="0">
                <a:latin typeface="Trebuchet MS"/>
                <a:cs typeface="Trebuchet MS"/>
              </a:rPr>
              <a:t>	</a:t>
            </a:r>
            <a:r>
              <a:rPr b="1" spc="-25" dirty="0">
                <a:latin typeface="Trebuchet MS"/>
                <a:cs typeface="Trebuchet MS"/>
              </a:rPr>
              <a:t>for</a:t>
            </a:r>
            <a:r>
              <a:rPr b="1" dirty="0">
                <a:latin typeface="Trebuchet MS"/>
                <a:cs typeface="Trebuchet MS"/>
              </a:rPr>
              <a:t>	</a:t>
            </a:r>
            <a:r>
              <a:rPr b="1" spc="-10" dirty="0">
                <a:latin typeface="Trebuchet MS"/>
                <a:cs typeface="Trebuchet MS"/>
              </a:rPr>
              <a:t>encryption</a:t>
            </a:r>
            <a:r>
              <a:rPr b="1" dirty="0">
                <a:latin typeface="Trebuchet MS"/>
                <a:cs typeface="Trebuchet MS"/>
              </a:rPr>
              <a:t>	</a:t>
            </a:r>
            <a:r>
              <a:rPr b="1" spc="-55" dirty="0">
                <a:latin typeface="Trebuchet MS"/>
                <a:cs typeface="Trebuchet MS"/>
              </a:rPr>
              <a:t>and </a:t>
            </a:r>
            <a:r>
              <a:rPr b="1" spc="-10" dirty="0">
                <a:latin typeface="Trebuchet MS"/>
                <a:cs typeface="Trebuchet MS"/>
              </a:rPr>
              <a:t>decryption</a:t>
            </a:r>
          </a:p>
          <a:p>
            <a:pPr marL="12700" marR="3154045" algn="just">
              <a:lnSpc>
                <a:spcPct val="127000"/>
              </a:lnSpc>
              <a:spcBef>
                <a:spcPts val="35"/>
              </a:spcBef>
            </a:pPr>
            <a:r>
              <a:rPr spc="-254" dirty="0"/>
              <a:t>Key</a:t>
            </a:r>
            <a:r>
              <a:rPr spc="85" dirty="0"/>
              <a:t> </a:t>
            </a:r>
            <a:r>
              <a:rPr spc="-150" dirty="0"/>
              <a:t>Factor</a:t>
            </a:r>
            <a:r>
              <a:rPr spc="-15" dirty="0"/>
              <a:t> </a:t>
            </a:r>
            <a:r>
              <a:rPr spc="-245" dirty="0"/>
              <a:t>1:</a:t>
            </a:r>
            <a:r>
              <a:rPr spc="75" dirty="0"/>
              <a:t> </a:t>
            </a:r>
            <a:r>
              <a:rPr spc="-170" dirty="0"/>
              <a:t>Choose</a:t>
            </a:r>
            <a:r>
              <a:rPr dirty="0"/>
              <a:t> </a:t>
            </a:r>
            <a:r>
              <a:rPr spc="-140" dirty="0"/>
              <a:t>the</a:t>
            </a:r>
            <a:r>
              <a:rPr spc="-30" dirty="0"/>
              <a:t> </a:t>
            </a:r>
            <a:r>
              <a:rPr b="1" spc="-95" dirty="0">
                <a:latin typeface="Trebuchet MS"/>
                <a:cs typeface="Trebuchet MS"/>
              </a:rPr>
              <a:t>right</a:t>
            </a:r>
            <a:r>
              <a:rPr b="1" spc="-20" dirty="0">
                <a:latin typeface="Trebuchet MS"/>
                <a:cs typeface="Trebuchet MS"/>
              </a:rPr>
              <a:t> </a:t>
            </a:r>
            <a:r>
              <a:rPr b="1" spc="-105" dirty="0">
                <a:latin typeface="Trebuchet MS"/>
                <a:cs typeface="Trebuchet MS"/>
              </a:rPr>
              <a:t>encryption</a:t>
            </a:r>
            <a:r>
              <a:rPr b="1" spc="-10" dirty="0">
                <a:latin typeface="Trebuchet MS"/>
                <a:cs typeface="Trebuchet MS"/>
              </a:rPr>
              <a:t> </a:t>
            </a:r>
            <a:r>
              <a:rPr b="1" spc="-40" dirty="0">
                <a:latin typeface="Trebuchet MS"/>
                <a:cs typeface="Trebuchet MS"/>
              </a:rPr>
              <a:t>algorithm </a:t>
            </a:r>
            <a:r>
              <a:rPr spc="-254" dirty="0"/>
              <a:t>Key</a:t>
            </a:r>
            <a:r>
              <a:rPr spc="75" dirty="0"/>
              <a:t> </a:t>
            </a:r>
            <a:r>
              <a:rPr spc="-150" dirty="0"/>
              <a:t>Factor</a:t>
            </a:r>
            <a:r>
              <a:rPr spc="-15" dirty="0"/>
              <a:t> </a:t>
            </a:r>
            <a:r>
              <a:rPr spc="-245" dirty="0"/>
              <a:t>2:</a:t>
            </a:r>
            <a:r>
              <a:rPr spc="75" dirty="0"/>
              <a:t> </a:t>
            </a:r>
            <a:r>
              <a:rPr spc="-204" dirty="0"/>
              <a:t>How</a:t>
            </a:r>
            <a:r>
              <a:rPr spc="35" dirty="0"/>
              <a:t> </a:t>
            </a:r>
            <a:r>
              <a:rPr spc="-110" dirty="0"/>
              <a:t>do</a:t>
            </a:r>
            <a:r>
              <a:rPr spc="-60" dirty="0"/>
              <a:t> </a:t>
            </a:r>
            <a:r>
              <a:rPr spc="-315" dirty="0"/>
              <a:t>we</a:t>
            </a:r>
            <a:r>
              <a:rPr spc="150" dirty="0"/>
              <a:t> </a:t>
            </a:r>
            <a:r>
              <a:rPr b="1" spc="-145" dirty="0">
                <a:latin typeface="Trebuchet MS"/>
                <a:cs typeface="Trebuchet MS"/>
              </a:rPr>
              <a:t>secure</a:t>
            </a:r>
            <a:r>
              <a:rPr b="1" spc="-15" dirty="0">
                <a:latin typeface="Trebuchet MS"/>
                <a:cs typeface="Trebuchet MS"/>
              </a:rPr>
              <a:t> </a:t>
            </a:r>
            <a:r>
              <a:rPr b="1" spc="-190" dirty="0">
                <a:latin typeface="Trebuchet MS"/>
                <a:cs typeface="Trebuchet MS"/>
              </a:rPr>
              <a:t>the</a:t>
            </a:r>
            <a:r>
              <a:rPr b="1" spc="15" dirty="0">
                <a:latin typeface="Trebuchet MS"/>
                <a:cs typeface="Trebuchet MS"/>
              </a:rPr>
              <a:t> </a:t>
            </a:r>
            <a:r>
              <a:rPr b="1" spc="-105" dirty="0">
                <a:latin typeface="Trebuchet MS"/>
                <a:cs typeface="Trebuchet MS"/>
              </a:rPr>
              <a:t>encryption</a:t>
            </a:r>
            <a:r>
              <a:rPr b="1" spc="15" dirty="0">
                <a:latin typeface="Trebuchet MS"/>
                <a:cs typeface="Trebuchet MS"/>
              </a:rPr>
              <a:t> </a:t>
            </a:r>
            <a:r>
              <a:rPr b="1" spc="-110" dirty="0">
                <a:latin typeface="Trebuchet MS"/>
                <a:cs typeface="Trebuchet MS"/>
              </a:rPr>
              <a:t>key</a:t>
            </a:r>
            <a:r>
              <a:rPr spc="-110" dirty="0"/>
              <a:t>? </a:t>
            </a:r>
            <a:r>
              <a:rPr spc="-165" dirty="0"/>
              <a:t>Key</a:t>
            </a:r>
            <a:r>
              <a:rPr spc="-170" dirty="0"/>
              <a:t> </a:t>
            </a:r>
            <a:r>
              <a:rPr spc="-125" dirty="0"/>
              <a:t>Factor</a:t>
            </a:r>
            <a:r>
              <a:rPr spc="-165" dirty="0"/>
              <a:t> </a:t>
            </a:r>
            <a:r>
              <a:rPr spc="-114" dirty="0"/>
              <a:t>3:</a:t>
            </a:r>
            <a:r>
              <a:rPr spc="-170" dirty="0"/>
              <a:t> </a:t>
            </a:r>
            <a:r>
              <a:rPr spc="-135" dirty="0"/>
              <a:t>How</a:t>
            </a:r>
            <a:r>
              <a:rPr spc="-165" dirty="0"/>
              <a:t> </a:t>
            </a:r>
            <a:r>
              <a:rPr spc="-50" dirty="0"/>
              <a:t>do</a:t>
            </a:r>
            <a:r>
              <a:rPr spc="-165" dirty="0"/>
              <a:t> </a:t>
            </a:r>
            <a:r>
              <a:rPr spc="-150" dirty="0"/>
              <a:t>we</a:t>
            </a:r>
            <a:r>
              <a:rPr spc="-170" dirty="0"/>
              <a:t> </a:t>
            </a:r>
            <a:r>
              <a:rPr b="1" spc="-90" dirty="0">
                <a:latin typeface="Trebuchet MS"/>
                <a:cs typeface="Trebuchet MS"/>
              </a:rPr>
              <a:t>share</a:t>
            </a:r>
            <a:r>
              <a:rPr b="1" spc="-195" dirty="0">
                <a:latin typeface="Trebuchet MS"/>
                <a:cs typeface="Trebuchet MS"/>
              </a:rPr>
              <a:t> </a:t>
            </a:r>
            <a:r>
              <a:rPr b="1" spc="-120" dirty="0">
                <a:latin typeface="Trebuchet MS"/>
                <a:cs typeface="Trebuchet MS"/>
              </a:rPr>
              <a:t>the</a:t>
            </a:r>
            <a:r>
              <a:rPr b="1" spc="-200" dirty="0">
                <a:latin typeface="Trebuchet MS"/>
                <a:cs typeface="Trebuchet MS"/>
              </a:rPr>
              <a:t> </a:t>
            </a:r>
            <a:r>
              <a:rPr b="1" spc="-90" dirty="0">
                <a:latin typeface="Trebuchet MS"/>
                <a:cs typeface="Trebuchet MS"/>
              </a:rPr>
              <a:t>encryption</a:t>
            </a:r>
            <a:r>
              <a:rPr b="1" spc="-195" dirty="0">
                <a:latin typeface="Trebuchet MS"/>
                <a:cs typeface="Trebuchet MS"/>
              </a:rPr>
              <a:t> </a:t>
            </a:r>
            <a:r>
              <a:rPr b="1" spc="-20" dirty="0">
                <a:latin typeface="Trebuchet MS"/>
                <a:cs typeface="Trebuchet MS"/>
              </a:rPr>
              <a:t>key</a:t>
            </a:r>
            <a:r>
              <a:rPr spc="-20" dirty="0"/>
              <a:t>?</a:t>
            </a:r>
          </a:p>
        </p:txBody>
      </p:sp>
      <p:sp>
        <p:nvSpPr>
          <p:cNvPr id="9" name="object 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142</a:t>
            </a:fld>
            <a:endParaRPr spc="-25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1595" y="1094780"/>
            <a:ext cx="4807976" cy="36059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839319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083046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443362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5159830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799928"/>
            <a:ext cx="4833620" cy="456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6835" algn="just">
              <a:lnSpc>
                <a:spcPct val="128200"/>
              </a:lnSpc>
              <a:spcBef>
                <a:spcPts val="95"/>
              </a:spcBef>
            </a:pP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Two</a:t>
            </a:r>
            <a:r>
              <a:rPr sz="2350" b="1" spc="-2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Keys</a:t>
            </a:r>
            <a:r>
              <a:rPr sz="2350" b="1" spc="-2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called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Public</a:t>
            </a:r>
            <a:r>
              <a:rPr sz="2350" b="1" spc="-2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r>
              <a:rPr sz="2350" b="1" spc="-2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Cyptography</a:t>
            </a:r>
            <a:endParaRPr sz="2350">
              <a:latin typeface="Trebuchet MS"/>
              <a:cs typeface="Trebuchet MS"/>
            </a:endParaRPr>
          </a:p>
          <a:p>
            <a:pPr marL="12700" marR="5080" algn="just">
              <a:lnSpc>
                <a:spcPct val="109500"/>
              </a:lnSpc>
              <a:spcBef>
                <a:spcPts val="525"/>
              </a:spcBef>
            </a:pP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Encrypt</a:t>
            </a:r>
            <a:r>
              <a:rPr sz="2350" spc="4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4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4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2350" spc="4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2350" spc="4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decrypt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endParaRPr sz="235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464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Share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Public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everybody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keep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you(YEAH,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ITS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PRIVATE!)</a:t>
            </a:r>
            <a:endParaRPr sz="235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795"/>
              </a:spcBef>
            </a:pP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crazy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questions: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somebody</a:t>
            </a:r>
            <a:r>
              <a:rPr sz="19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figure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out</a:t>
            </a:r>
            <a:r>
              <a:rPr sz="19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19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key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key?</a:t>
            </a:r>
            <a:endParaRPr sz="190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68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Asymmetric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Keys?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0" dirty="0"/>
              <a:t>Asymmetric</a:t>
            </a:r>
            <a:r>
              <a:rPr spc="-245" dirty="0"/>
              <a:t> </a:t>
            </a:r>
            <a:r>
              <a:rPr spc="-140" dirty="0"/>
              <a:t>Key</a:t>
            </a:r>
            <a:r>
              <a:rPr spc="-245" dirty="0"/>
              <a:t> </a:t>
            </a:r>
            <a:r>
              <a:rPr spc="-80" dirty="0"/>
              <a:t>Encryption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78878" y="4900054"/>
            <a:ext cx="5788025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b="1" i="1" spc="-85" dirty="0">
                <a:solidFill>
                  <a:srgbClr val="A52929"/>
                </a:solidFill>
                <a:latin typeface="Trebuchet MS"/>
                <a:cs typeface="Trebuchet MS"/>
              </a:rPr>
              <a:t>https://commons.wikimedia.org/wiki/File:Asymmetric_encryption_(colored).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143</a:t>
            </a:fld>
            <a:endParaRPr spc="-25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2926" y="1094762"/>
            <a:ext cx="801326" cy="10684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88572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839319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298413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40413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441693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8009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866705"/>
            <a:ext cx="7838440" cy="4112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030605" algn="l"/>
                <a:tab pos="1714500" algn="l"/>
                <a:tab pos="2930525" algn="l"/>
                <a:tab pos="4945380" algn="l"/>
                <a:tab pos="5725160" algn="l"/>
                <a:tab pos="734060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cryptographic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keys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(symmetric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asymmetric)</a:t>
            </a:r>
            <a:endParaRPr sz="2350">
              <a:latin typeface="Yu Gothic"/>
              <a:cs typeface="Yu Gothic"/>
            </a:endParaRPr>
          </a:p>
          <a:p>
            <a:pPr marL="12700" marR="878840">
              <a:lnSpc>
                <a:spcPct val="128200"/>
              </a:lnSpc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Control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their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Services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encrypt,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decrypt,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sign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existing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cryptographic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keys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premises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1501140" algn="l"/>
                <a:tab pos="2256790" algn="l"/>
                <a:tab pos="3327400" algn="l"/>
                <a:tab pos="3823970" algn="l"/>
                <a:tab pos="4540250" algn="l"/>
                <a:tab pos="5753735" algn="l"/>
                <a:tab pos="6450330" algn="l"/>
                <a:tab pos="725487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Integrates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almost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GCP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services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encryption: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Google-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managed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key: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required</a:t>
            </a:r>
            <a:endParaRPr sz="1900">
              <a:latin typeface="Yu Gothic"/>
              <a:cs typeface="Yu Gothic"/>
            </a:endParaRPr>
          </a:p>
          <a:p>
            <a:pPr marL="346075" marR="2908935">
              <a:lnSpc>
                <a:spcPts val="3020"/>
              </a:lnSpc>
              <a:spcBef>
                <a:spcPts val="4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Customer-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key: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90" dirty="0">
                <a:solidFill>
                  <a:srgbClr val="212121"/>
                </a:solidFill>
                <a:latin typeface="Yu Gothic"/>
                <a:cs typeface="Yu Gothic"/>
              </a:rPr>
              <a:t>KMS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Customer-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supplied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key: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own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25" dirty="0"/>
              <a:t>KMS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144</a:t>
            </a:fld>
            <a:endParaRPr spc="-25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29995" y="2417608"/>
            <a:ext cx="252285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50" dirty="0">
                <a:solidFill>
                  <a:srgbClr val="1BA74A"/>
                </a:solidFill>
              </a:rPr>
              <a:t>Storage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145</a:t>
            </a:fld>
            <a:endParaRPr spc="-25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Storage</a:t>
            </a:r>
            <a:r>
              <a:rPr spc="-254" dirty="0"/>
              <a:t> </a:t>
            </a:r>
            <a:r>
              <a:rPr spc="-135" dirty="0"/>
              <a:t>Types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5" dirty="0"/>
              <a:t>Block</a:t>
            </a:r>
            <a:r>
              <a:rPr spc="-250" dirty="0"/>
              <a:t> </a:t>
            </a:r>
            <a:r>
              <a:rPr spc="-85" dirty="0"/>
              <a:t>Storage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155" dirty="0"/>
              <a:t>File</a:t>
            </a:r>
            <a:r>
              <a:rPr spc="-254" dirty="0"/>
              <a:t> </a:t>
            </a:r>
            <a:r>
              <a:rPr spc="-35" dirty="0"/>
              <a:t>Storage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3881" y="927820"/>
            <a:ext cx="4949864" cy="18447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198247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354882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396618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470908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353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pc="-150" dirty="0"/>
              <a:t>What</a:t>
            </a:r>
            <a:r>
              <a:rPr spc="-175" dirty="0"/>
              <a:t> </a:t>
            </a:r>
            <a:r>
              <a:rPr spc="-135" dirty="0"/>
              <a:t>is</a:t>
            </a:r>
            <a:r>
              <a:rPr spc="-170" dirty="0"/>
              <a:t> </a:t>
            </a:r>
            <a:r>
              <a:rPr spc="-90" dirty="0"/>
              <a:t>the</a:t>
            </a:r>
            <a:r>
              <a:rPr spc="-170" dirty="0"/>
              <a:t> </a:t>
            </a:r>
            <a:r>
              <a:rPr spc="-75" dirty="0"/>
              <a:t>type</a:t>
            </a:r>
            <a:r>
              <a:rPr spc="-175" dirty="0"/>
              <a:t> </a:t>
            </a:r>
            <a:r>
              <a:rPr spc="-85" dirty="0"/>
              <a:t>of</a:t>
            </a:r>
            <a:r>
              <a:rPr spc="-170" dirty="0"/>
              <a:t> </a:t>
            </a:r>
            <a:r>
              <a:rPr spc="-120" dirty="0"/>
              <a:t>storage</a:t>
            </a:r>
            <a:r>
              <a:rPr spc="-170" dirty="0"/>
              <a:t> </a:t>
            </a:r>
            <a:r>
              <a:rPr spc="-85" dirty="0"/>
              <a:t>of</a:t>
            </a:r>
            <a:r>
              <a:rPr spc="-170" dirty="0"/>
              <a:t> </a:t>
            </a:r>
            <a:r>
              <a:rPr spc="-60" dirty="0"/>
              <a:t>your</a:t>
            </a:r>
            <a:r>
              <a:rPr spc="-175" dirty="0"/>
              <a:t> </a:t>
            </a:r>
            <a:r>
              <a:rPr spc="-80" dirty="0"/>
              <a:t>hard</a:t>
            </a:r>
            <a:r>
              <a:rPr spc="-170" dirty="0"/>
              <a:t> </a:t>
            </a:r>
            <a:r>
              <a:rPr spc="-10" dirty="0"/>
              <a:t>disk?</a:t>
            </a: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60" dirty="0">
                <a:latin typeface="Trebuchet MS"/>
                <a:cs typeface="Trebuchet MS"/>
              </a:rPr>
              <a:t>Block</a:t>
            </a:r>
            <a:r>
              <a:rPr sz="1900" b="1" spc="-150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Storage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pc="-100" dirty="0"/>
              <a:t>You've</a:t>
            </a:r>
            <a:r>
              <a:rPr spc="-35" dirty="0"/>
              <a:t> </a:t>
            </a:r>
            <a:r>
              <a:rPr spc="-70" dirty="0"/>
              <a:t>created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file</a:t>
            </a:r>
            <a:r>
              <a:rPr spc="-35" dirty="0"/>
              <a:t> </a:t>
            </a:r>
            <a:r>
              <a:rPr spc="-65" dirty="0"/>
              <a:t>share</a:t>
            </a:r>
            <a:r>
              <a:rPr spc="-3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65" dirty="0"/>
              <a:t>share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50" dirty="0"/>
              <a:t>set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55" dirty="0"/>
              <a:t>files</a:t>
            </a:r>
            <a:r>
              <a:rPr spc="-30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your</a:t>
            </a:r>
            <a:r>
              <a:rPr spc="-35" dirty="0"/>
              <a:t> </a:t>
            </a:r>
            <a:r>
              <a:rPr spc="-85" dirty="0"/>
              <a:t>colleagues</a:t>
            </a:r>
            <a:r>
              <a:rPr spc="-3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spc="-50" dirty="0"/>
              <a:t>a </a:t>
            </a:r>
            <a:r>
              <a:rPr spc="-90" dirty="0"/>
              <a:t>enterprise.</a:t>
            </a:r>
            <a:r>
              <a:rPr spc="-165" dirty="0"/>
              <a:t> </a:t>
            </a:r>
            <a:r>
              <a:rPr spc="-150" dirty="0"/>
              <a:t>What</a:t>
            </a:r>
            <a:r>
              <a:rPr spc="-160" dirty="0"/>
              <a:t> </a:t>
            </a:r>
            <a:r>
              <a:rPr spc="-75" dirty="0"/>
              <a:t>type</a:t>
            </a:r>
            <a:r>
              <a:rPr spc="-165" dirty="0"/>
              <a:t> </a:t>
            </a:r>
            <a:r>
              <a:rPr spc="-85" dirty="0"/>
              <a:t>of</a:t>
            </a:r>
            <a:r>
              <a:rPr spc="-165" dirty="0"/>
              <a:t> </a:t>
            </a:r>
            <a:r>
              <a:rPr spc="-120" dirty="0"/>
              <a:t>storage</a:t>
            </a:r>
            <a:r>
              <a:rPr spc="-160" dirty="0"/>
              <a:t> </a:t>
            </a:r>
            <a:r>
              <a:rPr spc="-114" dirty="0"/>
              <a:t>are</a:t>
            </a:r>
            <a:r>
              <a:rPr spc="-165" dirty="0"/>
              <a:t> </a:t>
            </a:r>
            <a:r>
              <a:rPr spc="-65" dirty="0"/>
              <a:t>you</a:t>
            </a:r>
            <a:r>
              <a:rPr spc="-160" dirty="0"/>
              <a:t> </a:t>
            </a:r>
            <a:r>
              <a:rPr spc="-10" dirty="0"/>
              <a:t>using?</a:t>
            </a: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110" dirty="0">
                <a:latin typeface="Trebuchet MS"/>
                <a:cs typeface="Trebuchet MS"/>
              </a:rPr>
              <a:t>File</a:t>
            </a:r>
            <a:r>
              <a:rPr sz="1900" b="1" spc="-155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Storage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146</a:t>
            </a:fld>
            <a:endParaRPr spc="-25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4159" y="1261206"/>
            <a:ext cx="3549784" cy="16158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29872" y="898425"/>
            <a:ext cx="257556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432560" algn="l"/>
                <a:tab pos="199263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attached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0250" y="866705"/>
            <a:ext cx="2986405" cy="810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78510" algn="l"/>
                <a:tab pos="1714500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case: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Harddisks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computers</a:t>
            </a:r>
            <a:endParaRPr sz="2350">
              <a:latin typeface="Yu Gothic"/>
              <a:cs typeface="Yu Gothic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715771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558834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90941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528503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1718116"/>
            <a:ext cx="5835015" cy="4062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327785" algn="l"/>
                <a:tab pos="2018664" algn="l"/>
                <a:tab pos="2859405" algn="l"/>
                <a:tab pos="3966210" algn="l"/>
                <a:tab pos="4915535" algn="l"/>
                <a:tab pos="550608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Typically,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Block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device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be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connected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endParaRPr sz="2350">
              <a:latin typeface="Yu Gothic"/>
              <a:cs typeface="Yu Gothic"/>
            </a:endParaRPr>
          </a:p>
          <a:p>
            <a:pPr marL="346075" marR="5080" algn="just">
              <a:lnSpc>
                <a:spcPct val="108100"/>
              </a:lnSpc>
              <a:spcBef>
                <a:spcPts val="10"/>
              </a:spcBef>
            </a:pP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(EXCEPTIONS)</a:t>
            </a:r>
            <a:r>
              <a:rPr sz="19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attach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block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devices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with  multiple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virtual  servers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certain 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cloud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providers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exploring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multi-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writer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well!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50"/>
              </a:spcBef>
            </a:pP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HOWEVER,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can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different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block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devices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as:</a:t>
            </a:r>
            <a:endParaRPr sz="235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260"/>
              </a:spcBef>
            </a:pP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Direct-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attached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(DAS)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Similar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hard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endParaRPr sz="1900">
              <a:latin typeface="Yu Gothic"/>
              <a:cs typeface="Yu Gothic"/>
            </a:endParaRPr>
          </a:p>
          <a:p>
            <a:pPr marL="346075" marR="5080" algn="just">
              <a:lnSpc>
                <a:spcPct val="109500"/>
              </a:lnSpc>
              <a:spcBef>
                <a:spcPts val="459"/>
              </a:spcBef>
            </a:pP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Area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Network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(SAN)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High-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speed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network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connecting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pool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devices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95020" y="5894380"/>
            <a:ext cx="19685" cy="1905"/>
          </a:xfrm>
          <a:custGeom>
            <a:avLst/>
            <a:gdLst/>
            <a:ahLst/>
            <a:cxnLst/>
            <a:rect l="l" t="t" r="r" b="b"/>
            <a:pathLst>
              <a:path w="19685" h="1904">
                <a:moveTo>
                  <a:pt x="0" y="1579"/>
                </a:moveTo>
                <a:lnTo>
                  <a:pt x="2026" y="742"/>
                </a:lnTo>
                <a:lnTo>
                  <a:pt x="5753" y="0"/>
                </a:lnTo>
                <a:lnTo>
                  <a:pt x="9627" y="0"/>
                </a:lnTo>
                <a:lnTo>
                  <a:pt x="13501" y="0"/>
                </a:lnTo>
                <a:lnTo>
                  <a:pt x="17228" y="742"/>
                </a:lnTo>
                <a:lnTo>
                  <a:pt x="19254" y="1579"/>
                </a:lnTo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Block</a:t>
            </a:r>
            <a:r>
              <a:rPr spc="-245" dirty="0"/>
              <a:t> </a:t>
            </a:r>
            <a:r>
              <a:rPr spc="-65" dirty="0"/>
              <a:t>Storage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147</a:t>
            </a:fld>
            <a:endParaRPr spc="-25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5643" y="1353524"/>
            <a:ext cx="4206983" cy="20200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21795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557175"/>
            <a:ext cx="91818" cy="918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0250" y="866705"/>
            <a:ext cx="4833620" cy="3289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9500"/>
              </a:lnSpc>
              <a:spcBef>
                <a:spcPts val="95"/>
              </a:spcBef>
            </a:pP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Media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workflows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 need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huge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shared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supporting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processes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like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video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editing</a:t>
            </a:r>
            <a:endParaRPr sz="2350">
              <a:latin typeface="Yu Gothic"/>
              <a:cs typeface="Yu Gothic"/>
            </a:endParaRPr>
          </a:p>
          <a:p>
            <a:pPr marL="12700" marR="5080" algn="just">
              <a:lnSpc>
                <a:spcPct val="108400"/>
              </a:lnSpc>
              <a:spcBef>
                <a:spcPts val="560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Enterprise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quick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way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share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secure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organized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way</a:t>
            </a:r>
            <a:endParaRPr sz="235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525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These</a:t>
            </a:r>
            <a:r>
              <a:rPr sz="235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shares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several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servers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009139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5" dirty="0"/>
              <a:t>File</a:t>
            </a:r>
            <a:r>
              <a:rPr spc="-260" dirty="0"/>
              <a:t> </a:t>
            </a:r>
            <a:r>
              <a:rPr spc="-65" dirty="0"/>
              <a:t>Storage</a:t>
            </a:r>
          </a:p>
        </p:txBody>
      </p:sp>
      <p:sp>
        <p:nvSpPr>
          <p:cNvPr id="8" name="object 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148</a:t>
            </a:fld>
            <a:endParaRPr spc="-25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11505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GCP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75" dirty="0"/>
              <a:t>Block</a:t>
            </a:r>
            <a:r>
              <a:rPr spc="-254" dirty="0"/>
              <a:t> </a:t>
            </a:r>
            <a:r>
              <a:rPr spc="-85" dirty="0"/>
              <a:t>Storage</a:t>
            </a:r>
            <a:r>
              <a:rPr spc="-260" dirty="0"/>
              <a:t> </a:t>
            </a:r>
            <a:r>
              <a:rPr spc="-65" dirty="0"/>
              <a:t>and</a:t>
            </a:r>
            <a:r>
              <a:rPr spc="-254" dirty="0"/>
              <a:t> </a:t>
            </a:r>
            <a:r>
              <a:rPr spc="-155" dirty="0"/>
              <a:t>File</a:t>
            </a:r>
            <a:r>
              <a:rPr spc="-260" dirty="0"/>
              <a:t> </a:t>
            </a:r>
            <a:r>
              <a:rPr spc="-45" dirty="0"/>
              <a:t>Storage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9660" y="927820"/>
            <a:ext cx="818021" cy="10016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9832" y="927820"/>
            <a:ext cx="818021" cy="10016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2396919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74750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1756" y="3035477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1756" y="3352669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6907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116435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45866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70747" y="2175541"/>
            <a:ext cx="4396105" cy="24612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Block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Network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Block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Zonal: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replicated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Regional: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replicated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Local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SSDs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Local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Block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File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Filestore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149</a:t>
            </a:fld>
            <a:endParaRPr spc="-25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GCP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75" dirty="0"/>
              <a:t>Block</a:t>
            </a:r>
            <a:r>
              <a:rPr spc="-265" dirty="0"/>
              <a:t> </a:t>
            </a:r>
            <a:r>
              <a:rPr spc="-60" dirty="0"/>
              <a:t>Storage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3373537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41080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70747" y="856689"/>
            <a:ext cx="8555990" cy="342963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Two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popular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block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attached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instances: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Local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SSDs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Local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SSDs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physically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attached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Temporary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Lifecycle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tied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durable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Lifecycle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tied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150</a:t>
            </a:fld>
            <a:endParaRPr spc="-25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Local</a:t>
            </a:r>
            <a:r>
              <a:rPr spc="-254" dirty="0"/>
              <a:t> </a:t>
            </a:r>
            <a:r>
              <a:rPr spc="-20" dirty="0"/>
              <a:t>SSDs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100595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43865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726632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0646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44866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38242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241642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08655" y="459222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08655" y="49761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470747" y="856689"/>
            <a:ext cx="9488805" cy="429768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Physically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attached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(IOPS)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(BUT)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Ephemeral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Temporary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(Data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persists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until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running)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b="1" spc="-50" dirty="0">
                <a:solidFill>
                  <a:srgbClr val="212121"/>
                </a:solidFill>
                <a:latin typeface="Trebuchet MS"/>
                <a:cs typeface="Trebuchet MS"/>
              </a:rPr>
              <a:t>Enable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live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migration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survive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maintenance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events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encrypted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HOWEVER,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encryption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keys!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Lifecycle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tied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900">
              <a:latin typeface="Yu Gothic"/>
              <a:cs typeface="Yu Gothic"/>
            </a:endParaRPr>
          </a:p>
          <a:p>
            <a:pPr marL="346075" marR="4516755">
              <a:lnSpc>
                <a:spcPct val="129700"/>
              </a:lnSpc>
              <a:spcBef>
                <a:spcPts val="65"/>
              </a:spcBef>
            </a:pPr>
            <a:r>
              <a:rPr sz="1900" spc="-27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support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Local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SSDs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0" dirty="0">
                <a:solidFill>
                  <a:srgbClr val="212121"/>
                </a:solidFill>
                <a:latin typeface="Yu Gothic"/>
                <a:cs typeface="Yu Gothic"/>
              </a:rPr>
              <a:t>SCSI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4" dirty="0">
                <a:solidFill>
                  <a:srgbClr val="212121"/>
                </a:solidFill>
                <a:latin typeface="Yu Gothic"/>
                <a:cs typeface="Yu Gothic"/>
              </a:rPr>
              <a:t>NVMe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interfaces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Remember: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Choose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0" dirty="0">
                <a:solidFill>
                  <a:srgbClr val="212121"/>
                </a:solidFill>
                <a:latin typeface="Yu Gothic"/>
                <a:cs typeface="Yu Gothic"/>
              </a:rPr>
              <a:t>NVMe-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enabled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multi-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queue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0" dirty="0">
                <a:solidFill>
                  <a:srgbClr val="212121"/>
                </a:solidFill>
                <a:latin typeface="Yu Gothic"/>
                <a:cs typeface="Yu Gothic"/>
              </a:rPr>
              <a:t>SCSI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best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Larger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Local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SSDs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(more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storage),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vCPUs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(attached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80" dirty="0">
                <a:solidFill>
                  <a:srgbClr val="212121"/>
                </a:solidFill>
                <a:latin typeface="Yu Gothic"/>
                <a:cs typeface="Yu Gothic"/>
              </a:rPr>
              <a:t>VM)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Even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Better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151</a:t>
            </a:fld>
            <a:endParaRPr spc="-25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Local</a:t>
            </a:r>
            <a:r>
              <a:rPr spc="-240" dirty="0"/>
              <a:t> </a:t>
            </a:r>
            <a:r>
              <a:rPr dirty="0"/>
              <a:t>SSDs</a:t>
            </a:r>
            <a:r>
              <a:rPr spc="-235" dirty="0"/>
              <a:t> </a:t>
            </a:r>
            <a:r>
              <a:rPr spc="-155" dirty="0"/>
              <a:t>-</a:t>
            </a:r>
            <a:r>
              <a:rPr spc="-235" dirty="0"/>
              <a:t> </a:t>
            </a:r>
            <a:r>
              <a:rPr spc="-100" dirty="0"/>
              <a:t>Advantages</a:t>
            </a:r>
            <a:r>
              <a:rPr spc="-235" dirty="0"/>
              <a:t> </a:t>
            </a:r>
            <a:r>
              <a:rPr spc="-65" dirty="0"/>
              <a:t>and</a:t>
            </a:r>
            <a:r>
              <a:rPr spc="-235" dirty="0"/>
              <a:t> </a:t>
            </a:r>
            <a:r>
              <a:rPr spc="-45" dirty="0"/>
              <a:t>Disadvantages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171662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0546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351010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730806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0813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3369364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37074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70747" y="856689"/>
            <a:ext cx="7821930" cy="30289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Advantages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Fast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I/O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95" dirty="0">
                <a:solidFill>
                  <a:srgbClr val="212121"/>
                </a:solidFill>
                <a:latin typeface="Yu Gothic"/>
                <a:cs typeface="Yu Gothic"/>
              </a:rPr>
              <a:t>(~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10-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100X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compared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PDs)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Higher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throughput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lower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Ideal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cases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needing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IOPs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while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storing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temporary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35" dirty="0">
                <a:solidFill>
                  <a:srgbClr val="212121"/>
                </a:solidFill>
                <a:latin typeface="Trebuchet MS"/>
                <a:cs typeface="Trebuchet MS"/>
              </a:rPr>
              <a:t>information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Examples: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Caches,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temporary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data,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scratch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Disadvantages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Ephemeral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Lower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durability,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lower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availability,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lower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flexibility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compared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PDs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CANNOT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detach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attach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152</a:t>
            </a:fld>
            <a:endParaRPr spc="-25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1690" y="1094765"/>
            <a:ext cx="1602655" cy="6009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56332" y="1879396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80042" y="2497100"/>
            <a:ext cx="1602655" cy="6594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3468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27224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3010436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390231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37408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0882" y="4166518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45087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2015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0882" y="5627271"/>
            <a:ext cx="91818" cy="9181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70250" y="799928"/>
            <a:ext cx="7838440" cy="503428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Network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block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attached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Provisioned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capacity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Flexible: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Increase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size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when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need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it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attached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Performance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scales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size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higher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performance,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resize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PDs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Independent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lifecycle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Attach/Detach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Options: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Zonal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Zonal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PDs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replicated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zone.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PDs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replicated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in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Region.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555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Typically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PDs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2X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Zonal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PDs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case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349631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Persistent</a:t>
            </a:r>
            <a:r>
              <a:rPr spc="-229" dirty="0"/>
              <a:t> </a:t>
            </a:r>
            <a:r>
              <a:rPr spc="-60" dirty="0"/>
              <a:t>Disks</a:t>
            </a:r>
            <a:r>
              <a:rPr spc="-229" dirty="0"/>
              <a:t> </a:t>
            </a:r>
            <a:r>
              <a:rPr spc="-30" dirty="0"/>
              <a:t>(PD)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153</a:t>
            </a:fld>
            <a:endParaRPr spc="-25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Persistent</a:t>
            </a:r>
            <a:r>
              <a:rPr spc="-250" dirty="0"/>
              <a:t> </a:t>
            </a:r>
            <a:r>
              <a:rPr spc="-60" dirty="0"/>
              <a:t>Disks</a:t>
            </a:r>
            <a:r>
              <a:rPr spc="-245" dirty="0"/>
              <a:t> </a:t>
            </a:r>
            <a:r>
              <a:rPr spc="-55" dirty="0"/>
              <a:t>vs</a:t>
            </a:r>
            <a:r>
              <a:rPr spc="-250" dirty="0"/>
              <a:t> </a:t>
            </a:r>
            <a:r>
              <a:rPr spc="-114" dirty="0"/>
              <a:t>Local</a:t>
            </a:r>
            <a:r>
              <a:rPr spc="-245" dirty="0"/>
              <a:t> </a:t>
            </a:r>
            <a:r>
              <a:rPr spc="-20" dirty="0"/>
              <a:t>SSDs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85107" y="1000733"/>
          <a:ext cx="7412355" cy="2624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12700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Feature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7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Persistent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Disks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7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Local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SSDs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Attachment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VM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instance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As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network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drive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Physically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attached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Lifecycle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Separate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from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VM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instance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Tied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with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VM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instance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I/O</a:t>
                      </a:r>
                      <a:r>
                        <a:rPr sz="1650" b="1" spc="-1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Speed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Lower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(network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latency)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3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10-100X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of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PDs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Snapshots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Supported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Not</a:t>
                      </a: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Supported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Use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case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Permanent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storage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Ephemeral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storage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154</a:t>
            </a:fld>
            <a:endParaRPr spc="-25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Persistent</a:t>
            </a:r>
            <a:r>
              <a:rPr spc="-254" dirty="0"/>
              <a:t> </a:t>
            </a:r>
            <a:r>
              <a:rPr spc="-60" dirty="0"/>
              <a:t>Disks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65" dirty="0"/>
              <a:t>Standard</a:t>
            </a:r>
            <a:r>
              <a:rPr spc="-250" dirty="0"/>
              <a:t> </a:t>
            </a:r>
            <a:r>
              <a:rPr spc="-55" dirty="0"/>
              <a:t>vs</a:t>
            </a:r>
            <a:r>
              <a:rPr spc="-250" dirty="0"/>
              <a:t> </a:t>
            </a:r>
            <a:r>
              <a:rPr spc="-95" dirty="0"/>
              <a:t>Balanced</a:t>
            </a:r>
            <a:r>
              <a:rPr spc="-250" dirty="0"/>
              <a:t> </a:t>
            </a:r>
            <a:r>
              <a:rPr spc="-55" dirty="0"/>
              <a:t>vs</a:t>
            </a:r>
            <a:r>
              <a:rPr spc="-250" dirty="0"/>
              <a:t> </a:t>
            </a:r>
            <a:r>
              <a:rPr spc="-25" dirty="0"/>
              <a:t>SSD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82950" y="1000733"/>
          <a:ext cx="10015853" cy="4168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2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9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6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Feature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Standard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Balanced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1925"/>
                        </a:lnSpc>
                      </a:pPr>
                      <a:r>
                        <a:rPr sz="1650" b="1" spc="-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SSD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Underlying</a:t>
                      </a:r>
                      <a:r>
                        <a:rPr sz="1650" b="1" spc="-10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Storage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Hard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Disk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Drive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Solid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State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Drive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97180" marR="590550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Solid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State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Drive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10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Referred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pd-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standard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pd-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balanced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pd-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ssd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125730" marR="198120">
                        <a:lnSpc>
                          <a:spcPct val="106200"/>
                        </a:lnSpc>
                        <a:spcBef>
                          <a:spcPts val="430"/>
                        </a:spcBef>
                      </a:pP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Performance</a:t>
                      </a:r>
                      <a:r>
                        <a:rPr sz="1650" b="1" spc="-114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650" b="1" spc="-1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Sequential</a:t>
                      </a:r>
                      <a:r>
                        <a:rPr sz="1650" b="1" spc="-114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IOPS</a:t>
                      </a:r>
                      <a:r>
                        <a:rPr sz="1650" b="1" spc="-1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(Big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Data/Batch)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Good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Good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Very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Good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 marR="814069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Performance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650" b="1" spc="-114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Random</a:t>
                      </a:r>
                      <a:r>
                        <a:rPr sz="1650" b="1" spc="-114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IOPS </a:t>
                      </a: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(Transactional</a:t>
                      </a: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Apps)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Bad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Good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Very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Good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Cost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Cheapest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Between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Expensive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Use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cases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5740" marR="38671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Big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Data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(cost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efficient)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635" marR="289560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Balance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between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cost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performance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97180" marR="40957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High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Performance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155</a:t>
            </a:fld>
            <a:endParaRPr spc="-25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1094765"/>
            <a:ext cx="877130" cy="43633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7071" y="1687411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8064" y="2296756"/>
            <a:ext cx="895403" cy="3839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2305100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764194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3223288"/>
            <a:ext cx="91818" cy="91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3682382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02461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450321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48009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1765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08157" y="555214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70250" y="799928"/>
            <a:ext cx="8335009" cy="4930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315085">
              <a:lnSpc>
                <a:spcPct val="128200"/>
              </a:lnSpc>
              <a:spcBef>
                <a:spcPts val="95"/>
              </a:spcBef>
            </a:pPr>
            <a:r>
              <a:rPr sz="2350" spc="-200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point-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in-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snapshots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Disks </a:t>
            </a: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schedule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(configure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schedule):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auto-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after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60" dirty="0">
                <a:solidFill>
                  <a:srgbClr val="212121"/>
                </a:solidFill>
                <a:latin typeface="Yu Gothic"/>
                <a:cs typeface="Yu Gothic"/>
              </a:rPr>
              <a:t>X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days</a:t>
            </a:r>
            <a:endParaRPr sz="1900">
              <a:latin typeface="Yu Gothic"/>
              <a:cs typeface="Yu Gothic"/>
            </a:endParaRPr>
          </a:p>
          <a:p>
            <a:pPr marL="12700" marR="2576195">
              <a:lnSpc>
                <a:spcPts val="3610"/>
              </a:lnSpc>
              <a:spcBef>
                <a:spcPts val="150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Multi-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Regional </a:t>
            </a: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share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2350">
              <a:latin typeface="Yu Gothic"/>
              <a:cs typeface="Yu Gothic"/>
            </a:endParaRPr>
          </a:p>
          <a:p>
            <a:pPr marL="12700" marR="1405255">
              <a:lnSpc>
                <a:spcPts val="3610"/>
              </a:lnSpc>
              <a:spcBef>
                <a:spcPts val="10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snapshots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incremental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ts val="2225"/>
              </a:lnSpc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Deleting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snapshot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only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deletes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which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needed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Keep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similar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together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Disk: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Separate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operating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system,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volatile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permanent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Attach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needed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helps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better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organize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473773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Persistent</a:t>
            </a:r>
            <a:r>
              <a:rPr spc="-250" dirty="0"/>
              <a:t> </a:t>
            </a:r>
            <a:r>
              <a:rPr spc="-60" dirty="0"/>
              <a:t>Disks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10" dirty="0"/>
              <a:t>Snapshots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156</a:t>
            </a:fld>
            <a:endParaRPr spc="-25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1094765"/>
            <a:ext cx="877130" cy="43633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7071" y="1687411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8064" y="2296756"/>
            <a:ext cx="895403" cy="3839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2305100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3327628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0882" y="3707424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05800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443362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48092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799928"/>
            <a:ext cx="8523605" cy="418719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Avoid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taking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often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than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once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hour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volume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but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Snapshots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reduce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performance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Schedule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during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off-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peak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hours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faster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than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images: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faster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than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repeatedly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Create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snapshot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incremental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don't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lose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deleting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older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  <a:p>
            <a:pPr marL="346075" marR="193675">
              <a:lnSpc>
                <a:spcPct val="129700"/>
              </a:lnSpc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Deleting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snapshot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only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deletes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which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needed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snapshots </a:t>
            </a: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hesitate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unnecessary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Persistent</a:t>
            </a:r>
            <a:r>
              <a:rPr spc="-254" dirty="0"/>
              <a:t> </a:t>
            </a:r>
            <a:r>
              <a:rPr spc="-60" dirty="0"/>
              <a:t>Disks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45" dirty="0"/>
              <a:t>Snapshots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0" dirty="0"/>
              <a:t>Recommendations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157</a:t>
            </a:fld>
            <a:endParaRPr spc="-25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1099336"/>
            <a:ext cx="883096" cy="3611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98064" y="1587246"/>
            <a:ext cx="874176" cy="3321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15409" y="2129811"/>
            <a:ext cx="83471" cy="1752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98064" y="2430307"/>
            <a:ext cx="901494" cy="34067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15409" y="2989578"/>
            <a:ext cx="83471" cy="1752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98064" y="3290068"/>
            <a:ext cx="874176" cy="3242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3745399"/>
            <a:ext cx="883096" cy="36111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22633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2689070"/>
            <a:ext cx="91818" cy="918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0882" y="3139817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349039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1259" y="3786721"/>
            <a:ext cx="66777" cy="6677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1259" y="4103914"/>
            <a:ext cx="66777" cy="6677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1259" y="4421106"/>
            <a:ext cx="66777" cy="6677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1259" y="4729951"/>
            <a:ext cx="66777" cy="6677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5109747"/>
            <a:ext cx="91818" cy="91818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170250" y="799928"/>
            <a:ext cx="8237220" cy="451675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Machine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Multiple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attached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5" dirty="0">
                <a:solidFill>
                  <a:srgbClr val="212121"/>
                </a:solidFill>
                <a:latin typeface="Yu Gothic"/>
                <a:cs typeface="Yu Gothic"/>
              </a:rPr>
              <a:t>VM: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Boot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(Your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runs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Boot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Disk)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endParaRPr sz="1900">
              <a:latin typeface="Yu Gothic"/>
              <a:cs typeface="Yu Gothic"/>
            </a:endParaRPr>
          </a:p>
          <a:p>
            <a:pPr marL="12700" marR="919480">
              <a:lnSpc>
                <a:spcPct val="125899"/>
              </a:lnSpc>
              <a:spcBef>
                <a:spcPts val="25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boot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Disk </a:t>
            </a: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HOWEVER,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instance: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contains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everything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need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1500">
              <a:latin typeface="Yu Gothic"/>
              <a:cs typeface="Yu Gothic"/>
            </a:endParaRPr>
          </a:p>
          <a:p>
            <a:pPr marL="680085" marR="6575425">
              <a:lnSpc>
                <a:spcPct val="138800"/>
              </a:lnSpc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Metadata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35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Recommended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backups,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cloning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replication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50" dirty="0"/>
              <a:t> </a:t>
            </a:r>
            <a:r>
              <a:rPr spc="-114" dirty="0"/>
              <a:t>with</a:t>
            </a:r>
            <a:r>
              <a:rPr spc="-250" dirty="0"/>
              <a:t> </a:t>
            </a:r>
            <a:r>
              <a:rPr spc="-105" dirty="0"/>
              <a:t>Machine</a:t>
            </a:r>
            <a:r>
              <a:rPr spc="-245" dirty="0"/>
              <a:t> </a:t>
            </a:r>
            <a:r>
              <a:rPr spc="-10" dirty="0"/>
              <a:t>Images</a:t>
            </a:r>
          </a:p>
        </p:txBody>
      </p:sp>
      <p:sp>
        <p:nvSpPr>
          <p:cNvPr id="23" name="object 2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158</a:t>
            </a:fld>
            <a:endParaRPr spc="-25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Let's</a:t>
            </a:r>
            <a:r>
              <a:rPr spc="-265" dirty="0"/>
              <a:t> </a:t>
            </a:r>
            <a:r>
              <a:rPr spc="-85" dirty="0"/>
              <a:t>Compare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5439" y="994588"/>
            <a:ext cx="6944850" cy="35392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10238" y="4941790"/>
            <a:ext cx="4362450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b="1" i="1" spc="-80" dirty="0">
                <a:solidFill>
                  <a:srgbClr val="A52929"/>
                </a:solidFill>
                <a:latin typeface="Trebuchet MS"/>
                <a:cs typeface="Trebuchet MS"/>
                <a:hlinkClick r:id="rId3"/>
              </a:rPr>
              <a:t>https://cloud.google.com/compute/docs/machine-</a:t>
            </a:r>
            <a:r>
              <a:rPr sz="1400" b="1" i="1" spc="-10" dirty="0">
                <a:solidFill>
                  <a:srgbClr val="A52929"/>
                </a:solidFill>
                <a:latin typeface="Trebuchet MS"/>
                <a:cs typeface="Trebuchet MS"/>
                <a:hlinkClick r:id="rId3"/>
              </a:rPr>
              <a:t>images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159</a:t>
            </a:fld>
            <a:endParaRPr spc="-25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1094762"/>
            <a:ext cx="874176" cy="3321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5409" y="1637330"/>
            <a:ext cx="83471" cy="1752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8064" y="1942398"/>
            <a:ext cx="883096" cy="3611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1724973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026013" y="195452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26013" y="2221629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2509606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026013" y="273915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3027130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026013" y="3256677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357386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3870193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70250" y="846255"/>
            <a:ext cx="7020559" cy="316293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b="1" i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2350" b="1" i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3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2350" b="1" i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list/create/delete/resize/snapshot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7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my-disk-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zone=us-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east1-</a:t>
            </a:r>
            <a:r>
              <a:rPr sz="1900" i="1" spc="-50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size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type?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04"/>
              </a:spcBef>
            </a:pP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50" dirty="0">
                <a:solidFill>
                  <a:srgbClr val="212121"/>
                </a:solidFill>
                <a:latin typeface="Trebuchet MS"/>
                <a:cs typeface="Trebuchet MS"/>
              </a:rPr>
              <a:t>size=SIZE</a:t>
            </a:r>
            <a:r>
              <a:rPr sz="1200" i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spc="-110" dirty="0">
                <a:solidFill>
                  <a:srgbClr val="212121"/>
                </a:solidFill>
                <a:latin typeface="Yu Gothic"/>
                <a:cs typeface="Yu Gothic"/>
              </a:rPr>
              <a:t>(1GB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0" dirty="0">
                <a:solidFill>
                  <a:srgbClr val="212121"/>
                </a:solidFill>
                <a:latin typeface="Yu Gothic"/>
                <a:cs typeface="Yu Gothic"/>
              </a:rPr>
              <a:t>2TB)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70" dirty="0">
                <a:solidFill>
                  <a:srgbClr val="212121"/>
                </a:solidFill>
                <a:latin typeface="Trebuchet MS"/>
                <a:cs typeface="Trebuchet MS"/>
              </a:rPr>
              <a:t>type=TYPE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(default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pd-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standard)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(gcloud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list)</a:t>
            </a:r>
            <a:endParaRPr sz="12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25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disk?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30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r>
              <a:rPr sz="1200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image-</a:t>
            </a:r>
            <a:r>
              <a:rPr sz="1200" i="1" spc="-70" dirty="0">
                <a:solidFill>
                  <a:srgbClr val="212121"/>
                </a:solidFill>
                <a:latin typeface="Trebuchet MS"/>
                <a:cs typeface="Trebuchet MS"/>
              </a:rPr>
              <a:t>family</a:t>
            </a:r>
            <a:r>
              <a:rPr sz="1200" i="1" spc="-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disk</a:t>
            </a:r>
            <a:r>
              <a:rPr sz="1200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10" dirty="0">
                <a:solidFill>
                  <a:srgbClr val="212121"/>
                </a:solidFill>
                <a:latin typeface="Trebuchet MS"/>
                <a:cs typeface="Trebuchet MS"/>
              </a:rPr>
              <a:t>snapshot</a:t>
            </a:r>
            <a:endParaRPr sz="12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625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encrypted?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45" dirty="0">
                <a:solidFill>
                  <a:srgbClr val="212121"/>
                </a:solidFill>
                <a:latin typeface="Trebuchet MS"/>
                <a:cs typeface="Trebuchet MS"/>
              </a:rPr>
              <a:t>kms-</a:t>
            </a:r>
            <a:r>
              <a:rPr sz="1200" i="1" spc="-70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r>
              <a:rPr sz="1200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45" dirty="0">
                <a:solidFill>
                  <a:srgbClr val="212121"/>
                </a:solidFill>
                <a:latin typeface="Trebuchet MS"/>
                <a:cs typeface="Trebuchet MS"/>
              </a:rPr>
              <a:t>kms-</a:t>
            </a:r>
            <a:r>
              <a:rPr sz="1200" i="1" spc="-10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endParaRPr sz="12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7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resize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example-disk-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size=6TB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increasing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size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308157" y="420825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28901" y="4072015"/>
            <a:ext cx="204787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zone=us-</a:t>
            </a:r>
            <a:r>
              <a:rPr sz="1900" i="1" spc="-120" dirty="0">
                <a:solidFill>
                  <a:srgbClr val="212121"/>
                </a:solidFill>
                <a:latin typeface="Trebuchet MS"/>
                <a:cs typeface="Trebuchet MS"/>
              </a:rPr>
              <a:t>central1-</a:t>
            </a:r>
            <a:r>
              <a:rPr sz="1900" i="1" spc="-50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72098" y="4072015"/>
            <a:ext cx="113792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70" dirty="0">
                <a:solidFill>
                  <a:srgbClr val="212121"/>
                </a:solidFill>
                <a:latin typeface="Trebuchet MS"/>
                <a:cs typeface="Trebuchet MS"/>
              </a:rPr>
              <a:t>snapshot-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4813422"/>
            <a:ext cx="66777" cy="66777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2026013" y="504297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504136" y="4043301"/>
            <a:ext cx="4808855" cy="1118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4785">
              <a:lnSpc>
                <a:spcPct val="109500"/>
              </a:lnSpc>
              <a:spcBef>
                <a:spcPts val="100"/>
              </a:spcBef>
              <a:tabLst>
                <a:tab pos="1003935" algn="l"/>
                <a:tab pos="2188210" algn="l"/>
                <a:tab pos="3002280" algn="l"/>
                <a:tab pos="4250055" algn="l"/>
              </a:tabLst>
            </a:pP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snapshot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test </a:t>
            </a:r>
            <a:r>
              <a:rPr sz="1900" i="1" spc="-75" dirty="0">
                <a:solidFill>
                  <a:srgbClr val="212121"/>
                </a:solidFill>
                <a:latin typeface="Trebuchet MS"/>
                <a:cs typeface="Trebuchet MS"/>
              </a:rPr>
              <a:t>names=snapshot-</a:t>
            </a:r>
            <a:r>
              <a:rPr sz="1900" i="1" spc="-20" dirty="0">
                <a:solidFill>
                  <a:srgbClr val="212121"/>
                </a:solidFill>
                <a:latin typeface="Trebuchet MS"/>
                <a:cs typeface="Trebuchet MS"/>
              </a:rPr>
              <a:t>test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16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play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created: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04"/>
              </a:spcBef>
            </a:pPr>
            <a:r>
              <a:rPr sz="1200" i="1" spc="-3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200" i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200" i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30" dirty="0">
                <a:solidFill>
                  <a:srgbClr val="212121"/>
                </a:solidFill>
                <a:latin typeface="Trebuchet MS"/>
                <a:cs typeface="Trebuchet MS"/>
              </a:rPr>
              <a:t>snapshots</a:t>
            </a:r>
            <a:r>
              <a:rPr sz="1200" i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30" dirty="0">
                <a:solidFill>
                  <a:srgbClr val="212121"/>
                </a:solidFill>
                <a:latin typeface="Trebuchet MS"/>
                <a:cs typeface="Trebuchet MS"/>
              </a:rPr>
              <a:t>list/describe/delete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90486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50" dirty="0"/>
              <a:t> </a:t>
            </a:r>
            <a:r>
              <a:rPr spc="-114" dirty="0"/>
              <a:t>with</a:t>
            </a:r>
            <a:r>
              <a:rPr spc="-250" dirty="0"/>
              <a:t> </a:t>
            </a:r>
            <a:r>
              <a:rPr spc="-60" dirty="0"/>
              <a:t>Disks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70" dirty="0"/>
              <a:t>Command</a:t>
            </a:r>
            <a:r>
              <a:rPr spc="-250" dirty="0"/>
              <a:t> </a:t>
            </a:r>
            <a:r>
              <a:rPr spc="-65" dirty="0"/>
              <a:t>Line</a:t>
            </a:r>
          </a:p>
        </p:txBody>
      </p:sp>
      <p:sp>
        <p:nvSpPr>
          <p:cNvPr id="24" name="object 2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160</a:t>
            </a:fld>
            <a:endParaRPr spc="-25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1094765"/>
            <a:ext cx="877130" cy="43633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5409" y="1737493"/>
            <a:ext cx="83471" cy="1752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8064" y="2037990"/>
            <a:ext cx="892201" cy="3313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2184067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026013" y="2413614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26013" y="268072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26013" y="294783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26013" y="3214941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1259" y="4020442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43585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4663173"/>
            <a:ext cx="66777" cy="66777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308157" y="525999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5556320"/>
            <a:ext cx="66777" cy="6677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70250" y="799928"/>
            <a:ext cx="8740140" cy="489521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b="1" i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2350" b="1" i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Actions: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create/delete/deprecate/describe/export/import/list/update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5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500" i="1" spc="-20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endParaRPr sz="1500">
              <a:latin typeface="Trebuchet MS"/>
              <a:cs typeface="Trebuchet MS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2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2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50" dirty="0">
                <a:solidFill>
                  <a:srgbClr val="212121"/>
                </a:solidFill>
                <a:latin typeface="Trebuchet MS"/>
                <a:cs typeface="Trebuchet MS"/>
              </a:rPr>
              <a:t>disk=my-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disk</a:t>
            </a:r>
            <a:r>
              <a:rPr sz="12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55" dirty="0">
                <a:solidFill>
                  <a:srgbClr val="212121"/>
                </a:solidFill>
                <a:latin typeface="Trebuchet MS"/>
                <a:cs typeface="Trebuchet MS"/>
              </a:rPr>
              <a:t>disk-zone=us-east1-</a:t>
            </a:r>
            <a:r>
              <a:rPr sz="1200" i="1" spc="-50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endParaRPr sz="1200">
              <a:latin typeface="Trebuchet MS"/>
              <a:cs typeface="Trebuchet MS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Snapshot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45" dirty="0">
                <a:solidFill>
                  <a:srgbClr val="212121"/>
                </a:solidFill>
                <a:latin typeface="Trebuchet MS"/>
                <a:cs typeface="Trebuchet MS"/>
              </a:rPr>
              <a:t>snapshot=source-</a:t>
            </a:r>
            <a:r>
              <a:rPr sz="1200" i="1" spc="-10" dirty="0">
                <a:solidFill>
                  <a:srgbClr val="212121"/>
                </a:solidFill>
                <a:latin typeface="Trebuchet MS"/>
                <a:cs typeface="Trebuchet MS"/>
              </a:rPr>
              <a:t>snapshot</a:t>
            </a:r>
            <a:endParaRPr sz="1200">
              <a:latin typeface="Trebuchet MS"/>
              <a:cs typeface="Trebuchet MS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2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r>
              <a:rPr sz="12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2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45" dirty="0">
                <a:solidFill>
                  <a:srgbClr val="212121"/>
                </a:solidFill>
                <a:latin typeface="Trebuchet MS"/>
                <a:cs typeface="Trebuchet MS"/>
              </a:rPr>
              <a:t>image=source-</a:t>
            </a:r>
            <a:r>
              <a:rPr sz="1200" i="1" spc="-30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r>
              <a:rPr sz="1200" i="1" spc="-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image-</a:t>
            </a:r>
            <a:r>
              <a:rPr sz="1200" i="1" spc="-70" dirty="0">
                <a:solidFill>
                  <a:srgbClr val="212121"/>
                </a:solidFill>
                <a:latin typeface="Trebuchet MS"/>
                <a:cs typeface="Trebuchet MS"/>
              </a:rPr>
              <a:t>project=source-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image-</a:t>
            </a:r>
            <a:r>
              <a:rPr sz="1200" i="1" spc="-10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endParaRPr sz="1200">
              <a:latin typeface="Trebuchet MS"/>
              <a:cs typeface="Trebuchet MS"/>
            </a:endParaRPr>
          </a:p>
          <a:p>
            <a:pPr marL="1014094" marR="5080">
              <a:lnSpc>
                <a:spcPct val="109500"/>
              </a:lnSpc>
              <a:spcBef>
                <a:spcPts val="525"/>
              </a:spcBef>
            </a:pP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200" spc="3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latest</a:t>
            </a:r>
            <a:r>
              <a:rPr sz="1200" spc="3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non</a:t>
            </a:r>
            <a:r>
              <a:rPr sz="1200" spc="3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deprecated</a:t>
            </a:r>
            <a:r>
              <a:rPr sz="1200" spc="3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200" spc="3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200" spc="3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200" spc="3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family</a:t>
            </a:r>
            <a:r>
              <a:rPr sz="1200" spc="3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3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image-</a:t>
            </a:r>
            <a:r>
              <a:rPr sz="1200" i="1" spc="-65" dirty="0">
                <a:solidFill>
                  <a:srgbClr val="212121"/>
                </a:solidFill>
                <a:latin typeface="Trebuchet MS"/>
                <a:cs typeface="Trebuchet MS"/>
              </a:rPr>
              <a:t>family=source-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image-</a:t>
            </a:r>
            <a:r>
              <a:rPr sz="1200" i="1" spc="-25" dirty="0">
                <a:solidFill>
                  <a:srgbClr val="212121"/>
                </a:solidFill>
                <a:latin typeface="Trebuchet MS"/>
                <a:cs typeface="Trebuchet MS"/>
              </a:rPr>
              <a:t>family</a:t>
            </a:r>
            <a:r>
              <a:rPr sz="1200" i="1" spc="2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10" dirty="0">
                <a:solidFill>
                  <a:srgbClr val="212121"/>
                </a:solidFill>
                <a:latin typeface="Trebuchet MS"/>
                <a:cs typeface="Trebuchet MS"/>
              </a:rPr>
              <a:t>image- </a:t>
            </a:r>
            <a:r>
              <a:rPr sz="1200" i="1" spc="-70" dirty="0">
                <a:solidFill>
                  <a:srgbClr val="212121"/>
                </a:solidFill>
                <a:latin typeface="Trebuchet MS"/>
                <a:cs typeface="Trebuchet MS"/>
              </a:rPr>
              <a:t>project=source-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image-</a:t>
            </a:r>
            <a:r>
              <a:rPr sz="1200" i="1" spc="-10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endParaRPr sz="12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2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Deprecate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deprecate</a:t>
            </a:r>
            <a:r>
              <a:rPr sz="15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state=DEPRECATED</a:t>
            </a:r>
            <a:endParaRPr sz="15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Exports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30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export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image=my-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destination-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uri=gs://my-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bucket/my-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image.vmdk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35"/>
              </a:spcBef>
            </a:pP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export-</a:t>
            </a:r>
            <a:r>
              <a:rPr sz="1500" i="1" spc="-75" dirty="0">
                <a:solidFill>
                  <a:srgbClr val="212121"/>
                </a:solidFill>
                <a:latin typeface="Trebuchet MS"/>
                <a:cs typeface="Trebuchet MS"/>
              </a:rPr>
              <a:t>format=vmdk</a:t>
            </a:r>
            <a:r>
              <a:rPr sz="1500" i="1" spc="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90" dirty="0">
                <a:solidFill>
                  <a:srgbClr val="212121"/>
                </a:solidFill>
                <a:latin typeface="Trebuchet MS"/>
                <a:cs typeface="Trebuchet MS"/>
              </a:rPr>
              <a:t>project=my-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endParaRPr sz="15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Examples: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15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500" i="1" spc="-45" dirty="0">
                <a:solidFill>
                  <a:srgbClr val="212121"/>
                </a:solidFill>
                <a:latin typeface="Trebuchet MS"/>
                <a:cs typeface="Trebuchet MS"/>
              </a:rPr>
              <a:t>image1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image2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82617" y="5886032"/>
            <a:ext cx="44450" cy="10160"/>
          </a:xfrm>
          <a:custGeom>
            <a:avLst/>
            <a:gdLst/>
            <a:ahLst/>
            <a:cxnLst/>
            <a:rect l="l" t="t" r="r" b="b"/>
            <a:pathLst>
              <a:path w="44450" h="10160">
                <a:moveTo>
                  <a:pt x="0" y="9926"/>
                </a:moveTo>
                <a:lnTo>
                  <a:pt x="18155" y="0"/>
                </a:lnTo>
                <a:lnTo>
                  <a:pt x="22029" y="0"/>
                </a:lnTo>
                <a:lnTo>
                  <a:pt x="25903" y="0"/>
                </a:lnTo>
                <a:lnTo>
                  <a:pt x="42688" y="8555"/>
                </a:lnTo>
                <a:lnTo>
                  <a:pt x="44059" y="9926"/>
                </a:lnTo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22490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50" dirty="0"/>
              <a:t> </a:t>
            </a:r>
            <a:r>
              <a:rPr spc="-114" dirty="0"/>
              <a:t>with</a:t>
            </a:r>
            <a:r>
              <a:rPr spc="-250" dirty="0"/>
              <a:t> </a:t>
            </a:r>
            <a:r>
              <a:rPr spc="-50" dirty="0"/>
              <a:t>Images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70" dirty="0"/>
              <a:t>Command</a:t>
            </a:r>
            <a:r>
              <a:rPr spc="-250" dirty="0"/>
              <a:t> </a:t>
            </a:r>
            <a:r>
              <a:rPr spc="-65" dirty="0"/>
              <a:t>Line</a:t>
            </a:r>
          </a:p>
        </p:txBody>
      </p:sp>
      <p:sp>
        <p:nvSpPr>
          <p:cNvPr id="22" name="object 2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161</a:t>
            </a:fld>
            <a:endParaRPr spc="-25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1099336"/>
            <a:ext cx="883096" cy="3611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98064" y="1587246"/>
            <a:ext cx="874176" cy="3321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15409" y="2129811"/>
            <a:ext cx="83471" cy="1752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98064" y="2430307"/>
            <a:ext cx="901494" cy="34067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15409" y="2989578"/>
            <a:ext cx="83471" cy="1752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98064" y="3290068"/>
            <a:ext cx="874176" cy="3242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3745399"/>
            <a:ext cx="883096" cy="36111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799928"/>
            <a:ext cx="8000365" cy="1265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8200"/>
              </a:lnSpc>
              <a:spcBef>
                <a:spcPts val="9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0" dirty="0">
                <a:solidFill>
                  <a:srgbClr val="212121"/>
                </a:solidFill>
                <a:latin typeface="Yu Gothic"/>
                <a:cs typeface="Yu Gothic"/>
              </a:rPr>
              <a:t>BETA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Commands: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Machine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Image:</a:t>
            </a:r>
            <a:endParaRPr sz="1900">
              <a:latin typeface="Yu Gothic"/>
              <a:cs typeface="Yu Gothic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1259" y="2184067"/>
            <a:ext cx="66777" cy="6677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392016" y="2066693"/>
            <a:ext cx="3518535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119630" algn="l"/>
              </a:tabLst>
            </a:pP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MACHINE_IMAGE_NAME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5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08157" y="278088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504136" y="2038714"/>
            <a:ext cx="4695190" cy="920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6075" marR="5080">
              <a:lnSpc>
                <a:spcPct val="113199"/>
              </a:lnSpc>
              <a:spcBef>
                <a:spcPts val="95"/>
              </a:spcBef>
              <a:tabLst>
                <a:tab pos="1109980" algn="l"/>
                <a:tab pos="1692275" algn="l"/>
                <a:tab pos="2614930" algn="l"/>
                <a:tab pos="4173220" algn="l"/>
              </a:tabLst>
            </a:pP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beta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70" dirty="0">
                <a:solidFill>
                  <a:srgbClr val="212121"/>
                </a:solidFill>
                <a:latin typeface="Trebuchet MS"/>
                <a:cs typeface="Trebuchet MS"/>
              </a:rPr>
              <a:t>machine-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create </a:t>
            </a:r>
            <a:r>
              <a:rPr sz="1500" b="1" i="1" spc="-45" dirty="0">
                <a:solidFill>
                  <a:srgbClr val="212121"/>
                </a:solidFill>
                <a:latin typeface="Trebuchet MS"/>
                <a:cs typeface="Trebuchet MS"/>
              </a:rPr>
              <a:t>SOURCE_INSTANCE_NAME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Machine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Image:</a:t>
            </a:r>
            <a:endParaRPr sz="1900">
              <a:latin typeface="Yu Gothic"/>
              <a:cs typeface="Yu Gothic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1259" y="3085560"/>
            <a:ext cx="66777" cy="6677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838023" y="2948554"/>
            <a:ext cx="8072120" cy="526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41680" algn="l"/>
                <a:tab pos="1288415" algn="l"/>
                <a:tab pos="2176145" algn="l"/>
                <a:tab pos="3117850" algn="l"/>
                <a:tab pos="3809365" algn="l"/>
                <a:tab pos="4786630" algn="l"/>
                <a:tab pos="5467350" algn="l"/>
                <a:tab pos="6091555" algn="l"/>
              </a:tabLst>
            </a:pP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beta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VM_NAME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zone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ZONE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500" b="1" i="1" spc="-70" dirty="0">
                <a:solidFill>
                  <a:srgbClr val="212121"/>
                </a:solidFill>
                <a:latin typeface="Trebuchet MS"/>
                <a:cs typeface="Trebuchet MS"/>
              </a:rPr>
              <a:t>machine-</a:t>
            </a:r>
            <a:r>
              <a:rPr sz="1500" b="1" i="1" spc="-55" dirty="0">
                <a:solidFill>
                  <a:srgbClr val="212121"/>
                </a:solidFill>
                <a:latin typeface="Trebuchet MS"/>
                <a:cs typeface="Trebuchet MS"/>
              </a:rPr>
              <a:t>image </a:t>
            </a:r>
            <a:r>
              <a:rPr sz="1500" b="1" i="1" spc="-50" dirty="0">
                <a:solidFill>
                  <a:srgbClr val="212121"/>
                </a:solidFill>
                <a:latin typeface="Trebuchet MS"/>
                <a:cs typeface="Trebuchet MS"/>
              </a:rPr>
              <a:t>SOURCE_MACHINE_IMAGE_NAME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71715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50" dirty="0"/>
              <a:t> </a:t>
            </a:r>
            <a:r>
              <a:rPr spc="-114" dirty="0"/>
              <a:t>with</a:t>
            </a:r>
            <a:r>
              <a:rPr spc="-250" dirty="0"/>
              <a:t> </a:t>
            </a:r>
            <a:r>
              <a:rPr spc="-105" dirty="0"/>
              <a:t>Machine</a:t>
            </a:r>
            <a:r>
              <a:rPr spc="-250" dirty="0"/>
              <a:t> </a:t>
            </a:r>
            <a:r>
              <a:rPr spc="-50" dirty="0"/>
              <a:t>Images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70" dirty="0"/>
              <a:t>Command</a:t>
            </a:r>
            <a:r>
              <a:rPr spc="-250" dirty="0"/>
              <a:t> </a:t>
            </a:r>
            <a:r>
              <a:rPr spc="-45" dirty="0"/>
              <a:t>Line</a:t>
            </a:r>
          </a:p>
        </p:txBody>
      </p:sp>
      <p:sp>
        <p:nvSpPr>
          <p:cNvPr id="20" name="object 2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162</a:t>
            </a:fld>
            <a:endParaRPr spc="-25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10059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281845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354465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4270857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Storage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95" dirty="0"/>
              <a:t>Scenarios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114" dirty="0"/>
              <a:t>Persistent</a:t>
            </a:r>
            <a:r>
              <a:rPr spc="-240" dirty="0"/>
              <a:t> </a:t>
            </a:r>
            <a:r>
              <a:rPr spc="-10" dirty="0"/>
              <a:t>Disks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6370" y="980227"/>
            <a:ext cx="62865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504815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6370" y="1430974"/>
            <a:ext cx="52266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improve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performance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(PD)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88799" y="1407936"/>
            <a:ext cx="398780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Increase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size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80" dirty="0">
                <a:solidFill>
                  <a:srgbClr val="212121"/>
                </a:solidFill>
                <a:latin typeface="Yu Gothic"/>
                <a:cs typeface="Yu Gothic"/>
              </a:rPr>
              <a:t>PD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PDs.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Increase 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vCPUs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VM.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6370" y="2157177"/>
            <a:ext cx="495109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increase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durability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(PD)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88799" y="2134139"/>
            <a:ext cx="410845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75" dirty="0">
                <a:solidFill>
                  <a:srgbClr val="212121"/>
                </a:solidFill>
                <a:latin typeface="Yu Gothic"/>
                <a:cs typeface="Yu Gothic"/>
              </a:rPr>
              <a:t>PDs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65" dirty="0">
                <a:solidFill>
                  <a:srgbClr val="212121"/>
                </a:solidFill>
                <a:latin typeface="Yu Gothic"/>
                <a:cs typeface="Yu Gothic"/>
              </a:rPr>
              <a:t>(2X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replicated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2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zones)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6370" y="2851994"/>
            <a:ext cx="500126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take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hourly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backup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(PD)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disaster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recovery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88799" y="2875033"/>
            <a:ext cx="245745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Schedule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hourly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snapshots!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6370" y="3578197"/>
            <a:ext cx="496633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old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snapshots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created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by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scheduled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snapshots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88799" y="3601235"/>
            <a:ext cx="42741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part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snapshot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scheduling!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163</a:t>
            </a:fld>
            <a:endParaRPr spc="-25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56311" y="1251335"/>
            <a:ext cx="2542342" cy="12222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997915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849325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856689"/>
            <a:ext cx="6837045" cy="358330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Shared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file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NFSv3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protocol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Provisioned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Capacity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Suitable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high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performance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workloads: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320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TB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throughput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16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GB/s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480K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IOPS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  <a:tabLst>
                <a:tab pos="1554480" algn="l"/>
                <a:tab pos="2509520" algn="l"/>
                <a:tab pos="3927475" algn="l"/>
                <a:tab pos="5447030" algn="l"/>
                <a:tab pos="632206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305" dirty="0">
                <a:solidFill>
                  <a:srgbClr val="212121"/>
                </a:solidFill>
                <a:latin typeface="Yu Gothic"/>
                <a:cs typeface="Yu Gothic"/>
              </a:rPr>
              <a:t>HDD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(general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purpose)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85" dirty="0">
                <a:solidFill>
                  <a:srgbClr val="212121"/>
                </a:solidFill>
                <a:latin typeface="Yu Gothic"/>
                <a:cs typeface="Yu Gothic"/>
              </a:rPr>
              <a:t>SSD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(performance-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critical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workloads)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95"/>
              </a:spcBef>
            </a:pP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cases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share,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media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workflows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content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management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20" dirty="0"/>
              <a:t>Filestore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164</a:t>
            </a:fld>
            <a:endParaRPr spc="-25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81304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Review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10" dirty="0"/>
              <a:t>Global,</a:t>
            </a:r>
            <a:r>
              <a:rPr spc="-250" dirty="0"/>
              <a:t> </a:t>
            </a:r>
            <a:r>
              <a:rPr spc="-80" dirty="0"/>
              <a:t>Regional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4" dirty="0"/>
              <a:t> </a:t>
            </a:r>
            <a:r>
              <a:rPr spc="-80" dirty="0"/>
              <a:t>Zonal</a:t>
            </a:r>
            <a:r>
              <a:rPr spc="-250" dirty="0"/>
              <a:t> </a:t>
            </a:r>
            <a:r>
              <a:rPr spc="-75" dirty="0"/>
              <a:t>Resources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605598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33318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757507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1080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44837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8655" y="48676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5155656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470747" y="856689"/>
            <a:ext cx="7369175" cy="443801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Global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templates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(Unless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zonal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templates)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Regional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Regional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groups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Zonal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Zonal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managed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groups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attach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165</a:t>
            </a:fld>
            <a:endParaRPr spc="-25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1825139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255134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3269198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399540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Storage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0" dirty="0"/>
              <a:t>Scenarios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6370" y="980227"/>
            <a:ext cx="81534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54083" y="980227"/>
            <a:ext cx="79375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6370" y="1430974"/>
            <a:ext cx="624776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Very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High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IOPS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but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lost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without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problem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54083" y="1430974"/>
            <a:ext cx="9759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Local </a:t>
            </a:r>
            <a:r>
              <a:rPr sz="1650" spc="-160" dirty="0">
                <a:solidFill>
                  <a:srgbClr val="212121"/>
                </a:solidFill>
                <a:latin typeface="Yu Gothic"/>
                <a:cs typeface="Yu Gothic"/>
              </a:rPr>
              <a:t>SSDs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6370" y="1858682"/>
            <a:ext cx="7017384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high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perfomance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file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sharing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system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GCP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which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be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attached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multiple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VMs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54083" y="1881720"/>
            <a:ext cx="78549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Filestore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6370" y="2607923"/>
            <a:ext cx="768794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backup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configuration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along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its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attached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54083" y="2593232"/>
            <a:ext cx="1532890" cy="56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0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Machine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6370" y="3325779"/>
            <a:ext cx="75184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make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it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easy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launch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VMs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hardened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OS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customized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software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54083" y="3302741"/>
            <a:ext cx="146939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Custom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166</a:t>
            </a:fld>
            <a:endParaRPr spc="-25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5504" y="2417608"/>
            <a:ext cx="989139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310" dirty="0">
                <a:solidFill>
                  <a:srgbClr val="1BA74A"/>
                </a:solidFill>
              </a:rPr>
              <a:t>Object</a:t>
            </a:r>
            <a:r>
              <a:rPr sz="5900" spc="-545" dirty="0">
                <a:solidFill>
                  <a:srgbClr val="1BA74A"/>
                </a:solidFill>
              </a:rPr>
              <a:t> </a:t>
            </a:r>
            <a:r>
              <a:rPr sz="5900" spc="-170" dirty="0">
                <a:solidFill>
                  <a:srgbClr val="1BA74A"/>
                </a:solidFill>
              </a:rPr>
              <a:t>Storage</a:t>
            </a:r>
            <a:r>
              <a:rPr sz="5900" spc="-540" dirty="0">
                <a:solidFill>
                  <a:srgbClr val="1BA74A"/>
                </a:solidFill>
              </a:rPr>
              <a:t> </a:t>
            </a:r>
            <a:r>
              <a:rPr sz="5900" spc="-260" dirty="0">
                <a:solidFill>
                  <a:srgbClr val="1BA74A"/>
                </a:solidFill>
              </a:rPr>
              <a:t>-</a:t>
            </a:r>
            <a:r>
              <a:rPr sz="5900" spc="-540" dirty="0">
                <a:solidFill>
                  <a:srgbClr val="1BA74A"/>
                </a:solidFill>
              </a:rPr>
              <a:t> </a:t>
            </a:r>
            <a:r>
              <a:rPr sz="5900" spc="-165" dirty="0">
                <a:solidFill>
                  <a:srgbClr val="1BA74A"/>
                </a:solidFill>
              </a:rPr>
              <a:t>Cloud</a:t>
            </a:r>
            <a:r>
              <a:rPr sz="5900" spc="-540" dirty="0">
                <a:solidFill>
                  <a:srgbClr val="1BA74A"/>
                </a:solidFill>
              </a:rPr>
              <a:t> </a:t>
            </a:r>
            <a:r>
              <a:rPr sz="5900" spc="-110" dirty="0">
                <a:solidFill>
                  <a:srgbClr val="1BA74A"/>
                </a:solidFill>
              </a:rPr>
              <a:t>Storage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167</a:t>
            </a:fld>
            <a:endParaRPr spc="-25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492912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810104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14816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565522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91610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650653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9928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37685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75247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7838440" cy="50736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Most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popular,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very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flexible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&amp;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inexpensive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Serverless: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Autoscaling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infinite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Store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large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key-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value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approach: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Treats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entire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unit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(Partial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updates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allowed)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operate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entire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3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called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REST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modify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CLI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(gsutil)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Client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Libraries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60" dirty="0">
                <a:solidFill>
                  <a:srgbClr val="212121"/>
                </a:solidFill>
                <a:latin typeface="Yu Gothic"/>
                <a:cs typeface="Yu Gothic"/>
              </a:rPr>
              <a:t>(C++,</a:t>
            </a:r>
            <a:r>
              <a:rPr sz="1900" spc="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C#,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Java,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Node.js,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PHP,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Python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Ruby)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Store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file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types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text,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binary,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backup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archives: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Media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archives,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packages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Backups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devices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Staging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during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premise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database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migration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65" dirty="0"/>
              <a:t>Storage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168</a:t>
            </a:fld>
            <a:endParaRPr spc="-25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49708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18990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56552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991227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34180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759166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51097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70250" y="856689"/>
            <a:ext cx="7838440" cy="443103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stored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buckets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names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globally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unique</a:t>
            </a:r>
            <a:endParaRPr sz="1900">
              <a:latin typeface="Trebuchet MS"/>
              <a:cs typeface="Trebuchet MS"/>
            </a:endParaRPr>
          </a:p>
          <a:p>
            <a:pPr marL="346075" marR="5080">
              <a:lnSpc>
                <a:spcPct val="109500"/>
              </a:lnSpc>
              <a:spcBef>
                <a:spcPts val="464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names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part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URLs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contain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7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lower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case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letters,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numbers,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hyphens,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underscores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periods.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3-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63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characters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max.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Can't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goog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prefix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contain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20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(even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misspelled)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Unlimited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associated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identified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unique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r>
              <a:rPr sz="190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190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unique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225" dirty="0">
                <a:solidFill>
                  <a:srgbClr val="212121"/>
                </a:solidFill>
                <a:latin typeface="Yu Gothic"/>
                <a:cs typeface="Yu Gothic"/>
              </a:rPr>
              <a:t>Max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size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5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TB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store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unlimited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such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07568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85" dirty="0"/>
              <a:t>Storage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40" dirty="0"/>
              <a:t>Objects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70" dirty="0"/>
              <a:t>Buckets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169</a:t>
            </a:fld>
            <a:endParaRPr spc="-25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5638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989568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440314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899408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6423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856689"/>
            <a:ext cx="7838440" cy="396367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Different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kinds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stored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Media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archives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packages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900">
              <a:latin typeface="Yu Gothic"/>
              <a:cs typeface="Yu Gothic"/>
            </a:endParaRPr>
          </a:p>
          <a:p>
            <a:pPr marL="346075" marR="2942590">
              <a:lnSpc>
                <a:spcPct val="129700"/>
              </a:lnSpc>
              <a:spcBef>
                <a:spcPts val="6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Backups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devices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Long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term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archives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Huge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variations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patterns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pay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cheaper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price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less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frequently?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classes</a:t>
            </a:r>
            <a:r>
              <a:rPr sz="2350" b="1" spc="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help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optimize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costs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your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Designed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durability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99.999999999%(11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9’s)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85" dirty="0"/>
              <a:t>Storage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85" dirty="0"/>
              <a:t>Storage</a:t>
            </a:r>
            <a:r>
              <a:rPr spc="-250" dirty="0"/>
              <a:t> </a:t>
            </a:r>
            <a:r>
              <a:rPr spc="-65" dirty="0"/>
              <a:t>Classes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70" dirty="0"/>
              <a:t>Introduction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170</a:t>
            </a:fld>
            <a:endParaRPr spc="-25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85" dirty="0"/>
              <a:t>Storage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85" dirty="0"/>
              <a:t>Storage</a:t>
            </a:r>
            <a:r>
              <a:rPr spc="-250" dirty="0"/>
              <a:t> </a:t>
            </a:r>
            <a:r>
              <a:rPr spc="-65" dirty="0"/>
              <a:t>Classes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45" dirty="0"/>
              <a:t>Comparison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82950" y="1000733"/>
          <a:ext cx="10015854" cy="3811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7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5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8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8970"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Storage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  <a:p>
                      <a:pPr marL="1257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Class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5890" algn="ctr">
                        <a:lnSpc>
                          <a:spcPts val="1925"/>
                        </a:lnSpc>
                      </a:pP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Name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Minimum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  <a:p>
                      <a:pPr marR="2159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b="1" spc="-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Storage</a:t>
                      </a:r>
                      <a:r>
                        <a:rPr sz="1650" b="1" spc="-1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duration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ts val="1925"/>
                        </a:lnSpc>
                      </a:pPr>
                      <a:r>
                        <a:rPr sz="1650" b="1" spc="-7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Typical</a:t>
                      </a:r>
                      <a:r>
                        <a:rPr sz="1650" b="1" spc="-10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Monthly</a:t>
                      </a:r>
                      <a:r>
                        <a:rPr sz="1650" b="1" spc="-10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availability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5"/>
                        </a:lnSpc>
                      </a:pP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Use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case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3140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Standard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525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STANDARD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None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40029" marR="255904" indent="7048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3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&gt;</a:t>
                      </a: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99.99%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multi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dual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region,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99.99%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24485" marR="321945" algn="ctr">
                        <a:lnSpc>
                          <a:spcPct val="107900"/>
                        </a:lnSpc>
                        <a:spcBef>
                          <a:spcPts val="395"/>
                        </a:spcBef>
                      </a:pP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Frequently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used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data/Short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period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of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time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5016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 marR="33718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b="1" spc="-7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Nearline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storage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525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3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NEARLINE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30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days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09270" marR="182245" indent="-342900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99.95%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multi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dual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region,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99.9%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16559" marR="238125" indent="-17589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Read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modify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once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 </a:t>
                      </a:r>
                      <a:r>
                        <a:rPr sz="1650" b="1" spc="-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month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average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 marR="35496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b="1" spc="-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Coldline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storage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58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COLDLINE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90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days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09270" marR="182245" indent="-342900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99.95%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multi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dual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region,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99.9%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66420" marR="187325" indent="-377190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Read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modify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b="1" spc="-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sz="1650" b="1" spc="-1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most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once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quarter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125730" marR="428625">
                        <a:lnSpc>
                          <a:spcPct val="106200"/>
                        </a:lnSpc>
                        <a:spcBef>
                          <a:spcPts val="430"/>
                        </a:spcBef>
                      </a:pPr>
                      <a:r>
                        <a:rPr sz="1650" b="1" spc="-9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Archive </a:t>
                      </a: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storage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525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ARCHIVE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365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days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09270" marR="182245" indent="-342900">
                        <a:lnSpc>
                          <a:spcPct val="106200"/>
                        </a:lnSpc>
                        <a:spcBef>
                          <a:spcPts val="430"/>
                        </a:spcBef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99.95%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multi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dual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region,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99.9%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5461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Less</a:t>
                      </a:r>
                      <a:r>
                        <a:rPr sz="1650" b="1" spc="-1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than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once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year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171</a:t>
            </a:fld>
            <a:endParaRPr spc="-25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3468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7224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139817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598910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7341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799928"/>
            <a:ext cx="7838440" cy="4112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86790">
              <a:lnSpc>
                <a:spcPct val="128200"/>
              </a:lnSpc>
              <a:spcBef>
                <a:spcPts val="9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durability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(99.999999999%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annual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durability)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Low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(first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byte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typically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tens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milliseconds)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Unlimited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Autoscaling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(No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needed)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NO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minimum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size</a:t>
            </a:r>
            <a:endParaRPr sz="190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690"/>
              </a:spcBef>
            </a:pP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APIs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classes</a:t>
            </a:r>
            <a:endParaRPr sz="235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52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Committed</a:t>
            </a:r>
            <a:r>
              <a:rPr sz="2350" b="1" spc="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SLA</a:t>
            </a:r>
            <a:r>
              <a:rPr sz="2350" b="1" spc="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99.95%</a:t>
            </a:r>
            <a:r>
              <a:rPr sz="2350" spc="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multi</a:t>
            </a:r>
            <a:r>
              <a:rPr sz="2350" spc="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2350" spc="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99.9%</a:t>
            </a:r>
            <a:r>
              <a:rPr sz="2350" spc="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for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2350" spc="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Standard,</a:t>
            </a:r>
            <a:r>
              <a:rPr sz="2350" spc="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Nearline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Coldline</a:t>
            </a:r>
            <a:r>
              <a:rPr sz="2350" spc="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storage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classes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No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committed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SLA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Archive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0" dirty="0"/>
              <a:t>Features</a:t>
            </a:r>
            <a:r>
              <a:rPr spc="-240" dirty="0"/>
              <a:t> </a:t>
            </a:r>
            <a:r>
              <a:rPr spc="-80" dirty="0"/>
              <a:t>across</a:t>
            </a:r>
            <a:r>
              <a:rPr spc="-235" dirty="0"/>
              <a:t> </a:t>
            </a:r>
            <a:r>
              <a:rPr spc="-85" dirty="0"/>
              <a:t>Storage</a:t>
            </a:r>
            <a:r>
              <a:rPr spc="-240" dirty="0"/>
              <a:t> </a:t>
            </a:r>
            <a:r>
              <a:rPr spc="-20" dirty="0"/>
              <a:t>Classes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172</a:t>
            </a:fld>
            <a:endParaRPr spc="-25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83282" y="1374392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83282" y="1825139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83282" y="2275886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83282" y="3002089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3282" y="3444488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83282" y="4170691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83282" y="4621438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83282" y="5072184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83282" y="5522931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45" dirty="0"/>
              <a:t> </a:t>
            </a:r>
            <a:r>
              <a:rPr spc="-85" dirty="0"/>
              <a:t>Storage</a:t>
            </a:r>
            <a:r>
              <a:rPr spc="-240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65" dirty="0"/>
              <a:t>Uploading</a:t>
            </a:r>
            <a:r>
              <a:rPr spc="-240" dirty="0"/>
              <a:t> </a:t>
            </a:r>
            <a:r>
              <a:rPr spc="-65" dirty="0"/>
              <a:t>and</a:t>
            </a:r>
            <a:r>
              <a:rPr spc="-240" dirty="0"/>
              <a:t> </a:t>
            </a:r>
            <a:r>
              <a:rPr spc="-70" dirty="0"/>
              <a:t>Downloading</a:t>
            </a:r>
            <a:r>
              <a:rPr spc="-240" dirty="0"/>
              <a:t> </a:t>
            </a:r>
            <a:r>
              <a:rPr spc="-75" dirty="0"/>
              <a:t>Objects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98136" y="980227"/>
            <a:ext cx="9386570" cy="1179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06370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Recommended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  <a:tabLst>
                <a:tab pos="2706370" algn="l"/>
              </a:tabLst>
            </a:pP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Simple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Upload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Small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(that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re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uploaded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case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failures)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85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55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metadata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  <a:tabLst>
                <a:tab pos="2706370" algn="l"/>
              </a:tabLst>
            </a:pP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Multipart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upload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Small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(that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re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uploaded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case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failures)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85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metadata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98136" y="2332467"/>
            <a:ext cx="171005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Resumable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upload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92181" y="2309429"/>
            <a:ext cx="4948555" cy="57658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Larger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files.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usecases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(even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small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costs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additional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60" dirty="0">
                <a:solidFill>
                  <a:srgbClr val="212121"/>
                </a:solidFill>
                <a:latin typeface="Yu Gothic"/>
                <a:cs typeface="Yu Gothic"/>
              </a:rPr>
              <a:t>HTTP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request)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98136" y="3058670"/>
            <a:ext cx="181419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Streaming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transfers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92181" y="3058670"/>
            <a:ext cx="299021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Upload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unknown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size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98136" y="3509417"/>
            <a:ext cx="246761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Parallel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composite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uploads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92181" y="3494726"/>
            <a:ext cx="6022340" cy="56007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divided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32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chunks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uploaded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parallel.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Significantly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faster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speed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limiting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factors.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98136" y="4227272"/>
            <a:ext cx="160401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Simple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download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92181" y="4227272"/>
            <a:ext cx="330454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Downloading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destination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98136" y="4678019"/>
            <a:ext cx="19151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Streaming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download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92181" y="4678019"/>
            <a:ext cx="272923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Downloading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process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98136" y="5128766"/>
            <a:ext cx="21310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Sliced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download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92181" y="5128766"/>
            <a:ext cx="291401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Slice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download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large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173</a:t>
            </a:fld>
            <a:endParaRPr spc="-25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0546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351010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668202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00626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6990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856689"/>
            <a:ext cx="7838440" cy="30200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Prevents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accidental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deletion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history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Enabled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Can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turned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on/off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Live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version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latest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live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object,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becomes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noncurrent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noncurrent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version,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deleted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35"/>
              </a:spcBef>
              <a:tabLst>
                <a:tab pos="1032510" algn="l"/>
                <a:tab pos="1995170" algn="l"/>
                <a:tab pos="2447925" algn="l"/>
                <a:tab pos="3454400" algn="l"/>
                <a:tab pos="4548505" algn="l"/>
                <a:tab pos="4922520" algn="l"/>
                <a:tab pos="5757545" algn="l"/>
                <a:tab pos="6234430" algn="l"/>
                <a:tab pos="6482715" algn="l"/>
                <a:tab pos="6735445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Older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versions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uniquely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identified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(object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49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generation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number)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Reduce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costs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deleting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older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(noncurrent)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versions!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0" dirty="0"/>
              <a:t>Object</a:t>
            </a:r>
            <a:r>
              <a:rPr spc="-245" dirty="0"/>
              <a:t> </a:t>
            </a:r>
            <a:r>
              <a:rPr spc="-100" dirty="0"/>
              <a:t>Versioning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174</a:t>
            </a:fld>
            <a:endParaRPr spc="-25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00595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480391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83097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20659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623952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9745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3585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775860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1264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5020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8353425" cy="48234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frequently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accessed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Generally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usage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reduces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save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costs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moving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files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automatically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between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classes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Solution: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Lifecycle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Management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Identify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conditions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on: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Age,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CreatedBefore,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IsLive,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MatchesStorageClass,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NumberOfNewerVersions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conditions: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conditions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must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satisfied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action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happen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kinds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actions: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SetStorageClass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(change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storage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class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another)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Deletion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(delete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Allowed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Transitions: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(Standard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Multi-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Regional)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(Nearline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Coldline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Archive)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Nearline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(Coldline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Archive)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308157" y="5886032"/>
            <a:ext cx="75565" cy="10160"/>
          </a:xfrm>
          <a:custGeom>
            <a:avLst/>
            <a:gdLst/>
            <a:ahLst/>
            <a:cxnLst/>
            <a:rect l="l" t="t" r="r" b="b"/>
            <a:pathLst>
              <a:path w="75565" h="10160">
                <a:moveTo>
                  <a:pt x="75124" y="9926"/>
                </a:moveTo>
                <a:lnTo>
                  <a:pt x="0" y="9926"/>
                </a:lnTo>
                <a:lnTo>
                  <a:pt x="0" y="0"/>
                </a:lnTo>
                <a:lnTo>
                  <a:pt x="75124" y="0"/>
                </a:lnTo>
                <a:lnTo>
                  <a:pt x="75124" y="9926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0" dirty="0"/>
              <a:t>Object</a:t>
            </a:r>
            <a:r>
              <a:rPr spc="-240" dirty="0"/>
              <a:t> </a:t>
            </a:r>
            <a:r>
              <a:rPr spc="-155" dirty="0"/>
              <a:t>Lifecycle</a:t>
            </a:r>
            <a:r>
              <a:rPr spc="-240" dirty="0"/>
              <a:t> </a:t>
            </a:r>
            <a:r>
              <a:rPr spc="-60" dirty="0"/>
              <a:t>Management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175</a:t>
            </a:fld>
            <a:endParaRPr spc="-25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0" dirty="0"/>
              <a:t>Object</a:t>
            </a:r>
            <a:r>
              <a:rPr spc="-250" dirty="0"/>
              <a:t> </a:t>
            </a:r>
            <a:r>
              <a:rPr spc="-155" dirty="0"/>
              <a:t>Lifecycle</a:t>
            </a:r>
            <a:r>
              <a:rPr spc="-250" dirty="0"/>
              <a:t> </a:t>
            </a:r>
            <a:r>
              <a:rPr spc="-85" dirty="0"/>
              <a:t>Management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10" dirty="0"/>
              <a:t>Example</a:t>
            </a:r>
            <a:r>
              <a:rPr spc="-245" dirty="0"/>
              <a:t> </a:t>
            </a:r>
            <a:r>
              <a:rPr spc="-20" dirty="0"/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9609" y="894080"/>
            <a:ext cx="9083040" cy="4708525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475"/>
              </a:spcBef>
            </a:pP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ct val="100000"/>
              </a:lnSpc>
              <a:spcBef>
                <a:spcPts val="20"/>
              </a:spcBef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lifecycle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ts val="1535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rule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[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ts val="1535"/>
              </a:lnSpc>
            </a:pP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871219" marR="5318760">
              <a:lnSpc>
                <a:spcPct val="101099"/>
              </a:lnSpc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action</a:t>
            </a:r>
            <a:r>
              <a:rPr sz="1300" dirty="0">
                <a:latin typeface="Courier New"/>
                <a:cs typeface="Courier New"/>
              </a:rPr>
              <a:t>": {"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type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"Delete"</a:t>
            </a:r>
            <a:r>
              <a:rPr sz="1300" spc="-10" dirty="0">
                <a:latin typeface="Courier New"/>
                <a:cs typeface="Courier New"/>
              </a:rPr>
              <a:t>}, </a:t>
            </a: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condition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1069975" marR="6611620">
              <a:lnSpc>
                <a:spcPts val="1510"/>
              </a:lnSpc>
              <a:spcBef>
                <a:spcPts val="110"/>
              </a:spcBef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age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25" dirty="0">
                <a:latin typeface="Courier New"/>
                <a:cs typeface="Courier New"/>
              </a:rPr>
              <a:t>30, </a:t>
            </a: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isLive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20" dirty="0">
                <a:solidFill>
                  <a:srgbClr val="A21515"/>
                </a:solidFill>
                <a:latin typeface="Courier New"/>
                <a:cs typeface="Courier New"/>
              </a:rPr>
              <a:t>true</a:t>
            </a:r>
            <a:endParaRPr sz="1300">
              <a:latin typeface="Courier New"/>
              <a:cs typeface="Courier New"/>
            </a:endParaRPr>
          </a:p>
          <a:p>
            <a:pPr marL="871219">
              <a:lnSpc>
                <a:spcPts val="1535"/>
              </a:lnSpc>
            </a:pPr>
            <a:r>
              <a:rPr sz="1300" spc="-5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ct val="100000"/>
              </a:lnSpc>
              <a:spcBef>
                <a:spcPts val="20"/>
              </a:spcBef>
            </a:pPr>
            <a:r>
              <a:rPr sz="1300" spc="-25" dirty="0">
                <a:latin typeface="Courier New"/>
                <a:cs typeface="Courier New"/>
              </a:rPr>
              <a:t>},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ts val="1535"/>
              </a:lnSpc>
              <a:spcBef>
                <a:spcPts val="15"/>
              </a:spcBef>
            </a:pP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871219">
              <a:lnSpc>
                <a:spcPts val="1535"/>
              </a:lnSpc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action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1069975" marR="5417820">
              <a:lnSpc>
                <a:spcPct val="101099"/>
              </a:lnSpc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type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"SetStorageClass"</a:t>
            </a:r>
            <a:r>
              <a:rPr sz="1300" spc="-10" dirty="0">
                <a:latin typeface="Courier New"/>
                <a:cs typeface="Courier New"/>
              </a:rPr>
              <a:t>, </a:t>
            </a: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storageClass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"NEARLINE"</a:t>
            </a:r>
            <a:endParaRPr sz="1300">
              <a:latin typeface="Courier New"/>
              <a:cs typeface="Courier New"/>
            </a:endParaRPr>
          </a:p>
          <a:p>
            <a:pPr marL="871219">
              <a:lnSpc>
                <a:spcPts val="1535"/>
              </a:lnSpc>
              <a:spcBef>
                <a:spcPts val="20"/>
              </a:spcBef>
            </a:pPr>
            <a:r>
              <a:rPr sz="1300" spc="-25" dirty="0">
                <a:latin typeface="Courier New"/>
                <a:cs typeface="Courier New"/>
              </a:rPr>
              <a:t>},</a:t>
            </a:r>
            <a:endParaRPr sz="1300">
              <a:latin typeface="Courier New"/>
              <a:cs typeface="Courier New"/>
            </a:endParaRPr>
          </a:p>
          <a:p>
            <a:pPr marL="871219">
              <a:lnSpc>
                <a:spcPts val="1535"/>
              </a:lnSpc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condition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1069975">
              <a:lnSpc>
                <a:spcPct val="100000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age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20" dirty="0">
                <a:latin typeface="Courier New"/>
                <a:cs typeface="Courier New"/>
              </a:rPr>
              <a:t>365,</a:t>
            </a:r>
            <a:endParaRPr sz="1300">
              <a:latin typeface="Courier New"/>
              <a:cs typeface="Courier New"/>
            </a:endParaRPr>
          </a:p>
          <a:p>
            <a:pPr marL="1069975">
              <a:lnSpc>
                <a:spcPct val="100000"/>
              </a:lnSpc>
              <a:spcBef>
                <a:spcPts val="20"/>
              </a:spcBef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matchesStorageClass</a:t>
            </a:r>
            <a:r>
              <a:rPr sz="1300" dirty="0">
                <a:latin typeface="Courier New"/>
                <a:cs typeface="Courier New"/>
              </a:rPr>
              <a:t>":</a:t>
            </a:r>
            <a:r>
              <a:rPr sz="1300" spc="-10" dirty="0">
                <a:latin typeface="Courier New"/>
                <a:cs typeface="Courier New"/>
              </a:rPr>
              <a:t> [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"STANDARD"</a:t>
            </a:r>
            <a:r>
              <a:rPr sz="1300" spc="-10" dirty="0">
                <a:latin typeface="Courier New"/>
                <a:cs typeface="Courier New"/>
              </a:rPr>
              <a:t>]</a:t>
            </a:r>
            <a:endParaRPr sz="1300">
              <a:latin typeface="Courier New"/>
              <a:cs typeface="Courier New"/>
            </a:endParaRPr>
          </a:p>
          <a:p>
            <a:pPr marL="871219">
              <a:lnSpc>
                <a:spcPts val="1535"/>
              </a:lnSpc>
              <a:spcBef>
                <a:spcPts val="15"/>
              </a:spcBef>
            </a:pPr>
            <a:r>
              <a:rPr sz="1300" spc="-5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ts val="1535"/>
              </a:lnSpc>
            </a:pPr>
            <a:r>
              <a:rPr sz="1300" spc="-5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ct val="100000"/>
              </a:lnSpc>
              <a:spcBef>
                <a:spcPts val="20"/>
              </a:spcBef>
            </a:pPr>
            <a:r>
              <a:rPr sz="1300" spc="-50" dirty="0">
                <a:latin typeface="Courier New"/>
                <a:cs typeface="Courier New"/>
              </a:rPr>
              <a:t>]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ct val="100000"/>
              </a:lnSpc>
              <a:spcBef>
                <a:spcPts val="15"/>
              </a:spcBef>
            </a:pPr>
            <a:r>
              <a:rPr sz="1300" spc="-5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ct val="100000"/>
              </a:lnSpc>
              <a:spcBef>
                <a:spcPts val="15"/>
              </a:spcBef>
            </a:pPr>
            <a:r>
              <a:rPr sz="1300" spc="-5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176</a:t>
            </a:fld>
            <a:endParaRPr spc="-25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9861" y="1136501"/>
            <a:ext cx="709509" cy="7178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7071" y="2037992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8064" y="2698249"/>
            <a:ext cx="875737" cy="4582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3260850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891061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62561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799928"/>
            <a:ext cx="8740140" cy="400367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always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encrypts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side!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1374775" algn="l"/>
                <a:tab pos="2973070" algn="l"/>
                <a:tab pos="4554220" algn="l"/>
                <a:tab pos="6069965" algn="l"/>
                <a:tab pos="7543165" algn="l"/>
                <a:tab pos="7985759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Server-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side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encryption: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Encryption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performed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Cloud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Google-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encryption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(No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required)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25"/>
              </a:spcBef>
              <a:tabLst>
                <a:tab pos="2519045" algn="l"/>
                <a:tab pos="3745865" algn="l"/>
                <a:tab pos="4324350" algn="l"/>
                <a:tab pos="4530090" algn="l"/>
                <a:tab pos="5449570" algn="l"/>
                <a:tab pos="6123940" algn="l"/>
                <a:tab pos="6859905" algn="l"/>
                <a:tab pos="7372984" algn="l"/>
              </a:tabLst>
            </a:pP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Customer-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encryption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keys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Management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(KMS)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.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customer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KMS.</a:t>
            </a:r>
            <a:endParaRPr sz="19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55"/>
              </a:spcBef>
            </a:pP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5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5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keys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KMS</a:t>
            </a:r>
            <a:r>
              <a:rPr sz="1500" spc="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encrypting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decrypting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the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Customer-</a:t>
            </a:r>
            <a:r>
              <a:rPr sz="1500" b="1" spc="-35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encryption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endParaRPr sz="15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30"/>
              </a:spcBef>
              <a:tabLst>
                <a:tab pos="1729739" algn="l"/>
                <a:tab pos="3335654" algn="l"/>
                <a:tab pos="4932045" algn="l"/>
                <a:tab pos="5252085" algn="l"/>
                <a:tab pos="6858000" algn="l"/>
                <a:tab pos="8420735" algn="l"/>
              </a:tabLst>
            </a:pP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(OPTIONAL)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Client-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side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encryption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3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Encryption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performed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by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customer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before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upload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know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keys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85" dirty="0"/>
              <a:t>Storage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85" dirty="0"/>
              <a:t>Encryption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177</a:t>
            </a:fld>
            <a:endParaRPr spc="-25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210059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81845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354465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481342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85" dirty="0"/>
              <a:t>Storage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0" dirty="0"/>
              <a:t>Scenarios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35825" y="980227"/>
            <a:ext cx="106743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Description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35825" y="1407936"/>
            <a:ext cx="3604260" cy="1027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1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Parallel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composite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uploads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(File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is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broken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small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chunks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uploaded)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Archive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35825" y="2875033"/>
            <a:ext cx="845819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Cold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Line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6370" y="980227"/>
            <a:ext cx="5355590" cy="3174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endParaRPr sz="1650">
              <a:latin typeface="Trebuchet MS"/>
              <a:cs typeface="Trebuchet MS"/>
            </a:endParaRPr>
          </a:p>
          <a:p>
            <a:pPr marL="12700" marR="229870">
              <a:lnSpc>
                <a:spcPct val="109500"/>
              </a:lnSpc>
              <a:spcBef>
                <a:spcPts val="1380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How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speed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up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large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uploads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(example: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100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GB)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to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Storage?</a:t>
            </a:r>
            <a:endParaRPr sz="1650">
              <a:latin typeface="Trebuchet MS"/>
              <a:cs typeface="Trebuchet MS"/>
            </a:endParaRPr>
          </a:p>
          <a:p>
            <a:pPr marL="12700" marR="103505">
              <a:lnSpc>
                <a:spcPct val="109500"/>
              </a:lnSpc>
              <a:spcBef>
                <a:spcPts val="138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permanently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store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for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regulatory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reasons.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don't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expect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them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at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all.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1315"/>
              </a:spcBef>
            </a:pP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Log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files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stored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storage.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expect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them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once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quarter.</a:t>
            </a:r>
            <a:endParaRPr sz="1650">
              <a:latin typeface="Trebuchet MS"/>
              <a:cs typeface="Trebuchet MS"/>
            </a:endParaRPr>
          </a:p>
          <a:p>
            <a:pPr marL="12700" marR="241300">
              <a:lnSpc>
                <a:spcPct val="109500"/>
              </a:lnSpc>
              <a:spcBef>
                <a:spcPts val="1385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How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change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class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existing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in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Storage?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35825" y="3578197"/>
            <a:ext cx="3783965" cy="1119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Step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1: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Change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Class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bucket.</a:t>
            </a:r>
            <a:endParaRPr sz="1650">
              <a:latin typeface="Yu Gothic"/>
              <a:cs typeface="Yu Gothic"/>
            </a:endParaRPr>
          </a:p>
          <a:p>
            <a:pPr marL="12700" marR="367030">
              <a:lnSpc>
                <a:spcPct val="106200"/>
              </a:lnSpc>
              <a:spcBef>
                <a:spcPts val="65"/>
              </a:spcBef>
            </a:pP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Step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2: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Update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Class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bucket.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178</a:t>
            </a:fld>
            <a:endParaRPr spc="-25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960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6723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960353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30676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3603084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928623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27503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49761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280864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606403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70250" y="799928"/>
            <a:ext cx="8740140" cy="4945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48715">
              <a:lnSpc>
                <a:spcPct val="128200"/>
              </a:lnSpc>
              <a:spcBef>
                <a:spcPts val="95"/>
              </a:spcBef>
            </a:pP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CLI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)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mb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35" dirty="0">
                <a:solidFill>
                  <a:srgbClr val="212121"/>
                </a:solidFill>
                <a:latin typeface="Trebuchet MS"/>
                <a:cs typeface="Trebuchet MS"/>
              </a:rPr>
              <a:t>gs://BKT_NAME</a:t>
            </a:r>
            <a:r>
              <a:rPr sz="19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(Create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Storage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bucket)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ls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9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35" dirty="0">
                <a:solidFill>
                  <a:srgbClr val="212121"/>
                </a:solidFill>
                <a:latin typeface="Trebuchet MS"/>
                <a:cs typeface="Trebuchet MS"/>
              </a:rPr>
              <a:t>gs://BKT_NAME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(List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current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non-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current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versions)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805"/>
              </a:spcBef>
            </a:pP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cp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20" dirty="0">
                <a:solidFill>
                  <a:srgbClr val="212121"/>
                </a:solidFill>
                <a:latin typeface="Trebuchet MS"/>
                <a:cs typeface="Trebuchet MS"/>
              </a:rPr>
              <a:t>gs://SRC_BKT/SRC_OBJ</a:t>
            </a:r>
            <a:r>
              <a:rPr sz="19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gs://DESTN_BKT/NAME_COPY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(Copy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'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GSUtil:encryption_key=ENCRYPTION_KEY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'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Encrypt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55"/>
              </a:spcBef>
            </a:pP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mv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(Rename/Move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i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mv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90" dirty="0">
                <a:solidFill>
                  <a:srgbClr val="212121"/>
                </a:solidFill>
                <a:latin typeface="Trebuchet MS"/>
                <a:cs typeface="Trebuchet MS"/>
              </a:rPr>
              <a:t>gs://BKT_NAME/OLD_OBJ_NAME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5" dirty="0">
                <a:solidFill>
                  <a:srgbClr val="212121"/>
                </a:solidFill>
                <a:latin typeface="Trebuchet MS"/>
                <a:cs typeface="Trebuchet MS"/>
              </a:rPr>
              <a:t>gs://BKT_NAME/NEW_OBJ_NAME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65"/>
              </a:spcBef>
            </a:pP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mv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gs://OLD_BUCKET_NAME/OLD_OBJECT_NAME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5" dirty="0">
                <a:solidFill>
                  <a:srgbClr val="212121"/>
                </a:solidFill>
                <a:latin typeface="Trebuchet MS"/>
                <a:cs typeface="Trebuchet MS"/>
              </a:rPr>
              <a:t>gs://NEW_BKT_NAME/NEW_OBJ_NAME</a:t>
            </a:r>
            <a:endParaRPr sz="1500">
              <a:latin typeface="Trebuchet MS"/>
              <a:cs typeface="Trebuchet MS"/>
            </a:endParaRPr>
          </a:p>
          <a:p>
            <a:pPr marL="346075" marR="5080">
              <a:lnSpc>
                <a:spcPct val="109500"/>
              </a:lnSpc>
              <a:spcBef>
                <a:spcPts val="540"/>
              </a:spcBef>
            </a:pP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rewrite</a:t>
            </a:r>
            <a:r>
              <a:rPr sz="1900" b="1" i="1" spc="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s</a:t>
            </a:r>
            <a:r>
              <a:rPr sz="1900" i="1" spc="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85" dirty="0">
                <a:solidFill>
                  <a:srgbClr val="212121"/>
                </a:solidFill>
                <a:latin typeface="Trebuchet MS"/>
                <a:cs typeface="Trebuchet MS"/>
              </a:rPr>
              <a:t>STORAGE_CLASS</a:t>
            </a:r>
            <a:r>
              <a:rPr sz="1900" i="1" spc="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gs://BKT_NAME/OBJ_PATH</a:t>
            </a:r>
            <a:r>
              <a:rPr sz="1900" i="1" spc="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(Ex:</a:t>
            </a:r>
            <a:r>
              <a:rPr sz="1900" spc="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1900" spc="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Storage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Class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cp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Upload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Download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85"/>
              </a:spcBef>
            </a:pP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cp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LOCAL_LOCATION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gs://DESTINATION_BKT_NAME/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(Upload)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65"/>
              </a:spcBef>
            </a:pP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cp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gs://BKT_NAME/OBJ_PATH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LOCAL_LOCATION</a:t>
            </a:r>
            <a:r>
              <a:rPr sz="1500" i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(Download)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85" dirty="0"/>
              <a:t>Storage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0" dirty="0"/>
              <a:t>Command</a:t>
            </a:r>
            <a:r>
              <a:rPr spc="-254" dirty="0"/>
              <a:t> </a:t>
            </a:r>
            <a:r>
              <a:rPr spc="-145" dirty="0"/>
              <a:t>Line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65" dirty="0"/>
              <a:t>gsutil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50" dirty="0"/>
              <a:t>1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179</a:t>
            </a:fld>
            <a:endParaRPr spc="-25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132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509606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835145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026013" y="306469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26013" y="333180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619779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39661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262510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588049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493445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46255"/>
            <a:ext cx="8740140" cy="458343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(gsutil)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versioning</a:t>
            </a:r>
            <a:r>
              <a:rPr sz="190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set</a:t>
            </a:r>
            <a:r>
              <a:rPr sz="190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on/off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35" dirty="0">
                <a:solidFill>
                  <a:srgbClr val="212121"/>
                </a:solidFill>
                <a:latin typeface="Trebuchet MS"/>
                <a:cs typeface="Trebuchet MS"/>
              </a:rPr>
              <a:t>gs://BKT_NAME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(Enable/Disable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Versioning)</a:t>
            </a:r>
            <a:endParaRPr sz="1900">
              <a:latin typeface="Yu Gothic"/>
              <a:cs typeface="Yu Gothic"/>
            </a:endParaRPr>
          </a:p>
          <a:p>
            <a:pPr marL="346075" marR="2649855">
              <a:lnSpc>
                <a:spcPts val="3090"/>
              </a:lnSpc>
              <a:spcBef>
                <a:spcPts val="170"/>
              </a:spcBef>
            </a:pP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30" dirty="0">
                <a:solidFill>
                  <a:srgbClr val="212121"/>
                </a:solidFill>
                <a:latin typeface="Trebuchet MS"/>
                <a:cs typeface="Trebuchet MS"/>
              </a:rPr>
              <a:t>uniformbucketlevelaccess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set</a:t>
            </a:r>
            <a:r>
              <a:rPr sz="1900" b="1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on/off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14" dirty="0">
                <a:solidFill>
                  <a:srgbClr val="212121"/>
                </a:solidFill>
                <a:latin typeface="Trebuchet MS"/>
                <a:cs typeface="Trebuchet MS"/>
              </a:rPr>
              <a:t>gs://BKT_NAME 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acl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95" dirty="0">
                <a:solidFill>
                  <a:srgbClr val="212121"/>
                </a:solidFill>
                <a:latin typeface="Trebuchet MS"/>
                <a:cs typeface="Trebuchet MS"/>
              </a:rPr>
              <a:t>ch</a:t>
            </a:r>
            <a:r>
              <a:rPr sz="190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(Set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ts val="1785"/>
              </a:lnSpc>
            </a:pP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5" dirty="0">
                <a:solidFill>
                  <a:srgbClr val="212121"/>
                </a:solidFill>
                <a:latin typeface="Trebuchet MS"/>
                <a:cs typeface="Trebuchet MS"/>
              </a:rPr>
              <a:t>acl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ch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u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90" dirty="0">
                <a:solidFill>
                  <a:srgbClr val="212121"/>
                </a:solidFill>
                <a:latin typeface="Trebuchet MS"/>
                <a:cs typeface="Trebuchet MS"/>
              </a:rPr>
              <a:t>AllUsers:R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gs://BKT_NAME/OBJ_PATH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(Make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public)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65"/>
              </a:spcBef>
            </a:pP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5" dirty="0">
                <a:solidFill>
                  <a:srgbClr val="212121"/>
                </a:solidFill>
                <a:latin typeface="Trebuchet MS"/>
                <a:cs typeface="Trebuchet MS"/>
              </a:rPr>
              <a:t>acl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ch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u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john.doe@example.com:WRITE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gs://BKT_NAME/OBJ_PATH</a:t>
            </a:r>
            <a:endParaRPr sz="1500">
              <a:latin typeface="Trebuchet MS"/>
              <a:cs typeface="Trebuchet MS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3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(R),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10" dirty="0">
                <a:solidFill>
                  <a:srgbClr val="212121"/>
                </a:solidFill>
                <a:latin typeface="Yu Gothic"/>
                <a:cs typeface="Yu Gothic"/>
              </a:rPr>
              <a:t>WRITE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0" dirty="0">
                <a:solidFill>
                  <a:srgbClr val="212121"/>
                </a:solidFill>
                <a:latin typeface="Yu Gothic"/>
                <a:cs typeface="Yu Gothic"/>
              </a:rPr>
              <a:t>(W),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25" dirty="0">
                <a:solidFill>
                  <a:srgbClr val="212121"/>
                </a:solidFill>
                <a:latin typeface="Yu Gothic"/>
                <a:cs typeface="Yu Gothic"/>
              </a:rPr>
              <a:t>OWNER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(O)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Scope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User,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allAuthenticatedUsers,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allUsers(-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u),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30" dirty="0">
                <a:solidFill>
                  <a:srgbClr val="212121"/>
                </a:solidFill>
                <a:latin typeface="Yu Gothic"/>
                <a:cs typeface="Yu Gothic"/>
              </a:rPr>
              <a:t>(-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g),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30" dirty="0">
                <a:solidFill>
                  <a:srgbClr val="212121"/>
                </a:solidFill>
                <a:latin typeface="Yu Gothic"/>
                <a:cs typeface="Yu Gothic"/>
              </a:rPr>
              <a:t>(-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p)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2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3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gsutil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acl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JSON_FILE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gs://BKT_NAME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55"/>
              </a:spcBef>
            </a:pP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iam</a:t>
            </a:r>
            <a:r>
              <a:rPr sz="190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95" dirty="0">
                <a:solidFill>
                  <a:srgbClr val="212121"/>
                </a:solidFill>
                <a:latin typeface="Trebuchet MS"/>
                <a:cs typeface="Trebuchet MS"/>
              </a:rPr>
              <a:t>ch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MBR_TYPE:MBR_NAME:IAM_ROLE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35" dirty="0">
                <a:solidFill>
                  <a:srgbClr val="212121"/>
                </a:solidFill>
                <a:latin typeface="Trebuchet MS"/>
                <a:cs typeface="Trebuchet MS"/>
              </a:rPr>
              <a:t>gs://BKT_NAME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(Setup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role)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iam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ch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user:me@myemail.com:objectCreator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gs://BKT_NAME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60"/>
              </a:spcBef>
            </a:pP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iam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ch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90" dirty="0">
                <a:solidFill>
                  <a:srgbClr val="212121"/>
                </a:solidFill>
                <a:latin typeface="Trebuchet MS"/>
                <a:cs typeface="Trebuchet MS"/>
              </a:rPr>
              <a:t>allUsers:objectViewer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gs://BKT_NAME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(make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 entire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readable)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545"/>
              </a:spcBef>
            </a:pPr>
            <a:r>
              <a:rPr sz="1900" i="1" spc="-70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signurl</a:t>
            </a:r>
            <a:r>
              <a:rPr sz="1900" b="1" i="1" spc="-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d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10m</a:t>
            </a:r>
            <a:r>
              <a:rPr sz="19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YOUR_KEY</a:t>
            </a:r>
            <a:r>
              <a:rPr sz="1900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gs://BUCKET_NAME/OBJECT_PATH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(Signed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URL</a:t>
            </a:r>
            <a:r>
              <a:rPr sz="19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for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temporary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access)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85" dirty="0"/>
              <a:t>Storage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0" dirty="0"/>
              <a:t>Command</a:t>
            </a:r>
            <a:r>
              <a:rPr spc="-254" dirty="0"/>
              <a:t> </a:t>
            </a:r>
            <a:r>
              <a:rPr spc="-145" dirty="0"/>
              <a:t>Line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65" dirty="0"/>
              <a:t>gsutil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50" dirty="0"/>
              <a:t>2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180</a:t>
            </a:fld>
            <a:endParaRPr spc="-25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026013" y="194617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6013" y="221328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26013" y="2480391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26013" y="274750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26013" y="3014609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84941" y="3206594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41735" y="20867"/>
                </a:moveTo>
                <a:lnTo>
                  <a:pt x="41735" y="23639"/>
                </a:lnTo>
                <a:lnTo>
                  <a:pt x="41209" y="26293"/>
                </a:lnTo>
                <a:lnTo>
                  <a:pt x="23639" y="41735"/>
                </a:lnTo>
                <a:lnTo>
                  <a:pt x="20867" y="41735"/>
                </a:lnTo>
                <a:lnTo>
                  <a:pt x="18096" y="41735"/>
                </a:lnTo>
                <a:lnTo>
                  <a:pt x="0" y="23639"/>
                </a:lnTo>
                <a:lnTo>
                  <a:pt x="0" y="20867"/>
                </a:lnTo>
                <a:lnTo>
                  <a:pt x="0" y="18096"/>
                </a:lnTo>
                <a:lnTo>
                  <a:pt x="18096" y="0"/>
                </a:lnTo>
                <a:lnTo>
                  <a:pt x="20867" y="0"/>
                </a:lnTo>
                <a:lnTo>
                  <a:pt x="23639" y="0"/>
                </a:lnTo>
                <a:lnTo>
                  <a:pt x="41735" y="18096"/>
                </a:lnTo>
                <a:lnTo>
                  <a:pt x="41735" y="20867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35522" y="3356843"/>
            <a:ext cx="33655" cy="33655"/>
          </a:xfrm>
          <a:custGeom>
            <a:avLst/>
            <a:gdLst/>
            <a:ahLst/>
            <a:cxnLst/>
            <a:rect l="l" t="t" r="r" b="b"/>
            <a:pathLst>
              <a:path w="33655" h="33654">
                <a:moveTo>
                  <a:pt x="33388" y="16694"/>
                </a:moveTo>
                <a:lnTo>
                  <a:pt x="33388" y="18906"/>
                </a:lnTo>
                <a:lnTo>
                  <a:pt x="32962" y="21034"/>
                </a:lnTo>
                <a:lnTo>
                  <a:pt x="32119" y="23079"/>
                </a:lnTo>
                <a:lnTo>
                  <a:pt x="31268" y="25124"/>
                </a:lnTo>
                <a:lnTo>
                  <a:pt x="30066" y="26936"/>
                </a:lnTo>
                <a:lnTo>
                  <a:pt x="28497" y="28497"/>
                </a:lnTo>
                <a:lnTo>
                  <a:pt x="26936" y="30066"/>
                </a:lnTo>
                <a:lnTo>
                  <a:pt x="25124" y="31268"/>
                </a:lnTo>
                <a:lnTo>
                  <a:pt x="23079" y="32119"/>
                </a:lnTo>
                <a:lnTo>
                  <a:pt x="21034" y="32962"/>
                </a:lnTo>
                <a:lnTo>
                  <a:pt x="18906" y="33388"/>
                </a:lnTo>
                <a:lnTo>
                  <a:pt x="16694" y="33388"/>
                </a:lnTo>
                <a:lnTo>
                  <a:pt x="14482" y="33388"/>
                </a:lnTo>
                <a:lnTo>
                  <a:pt x="4891" y="28497"/>
                </a:lnTo>
                <a:lnTo>
                  <a:pt x="3322" y="26936"/>
                </a:lnTo>
                <a:lnTo>
                  <a:pt x="2120" y="25124"/>
                </a:lnTo>
                <a:lnTo>
                  <a:pt x="1268" y="23079"/>
                </a:lnTo>
                <a:lnTo>
                  <a:pt x="425" y="21034"/>
                </a:lnTo>
                <a:lnTo>
                  <a:pt x="0" y="18906"/>
                </a:lnTo>
                <a:lnTo>
                  <a:pt x="0" y="16694"/>
                </a:lnTo>
                <a:lnTo>
                  <a:pt x="0" y="14482"/>
                </a:lnTo>
                <a:lnTo>
                  <a:pt x="4891" y="4891"/>
                </a:lnTo>
                <a:lnTo>
                  <a:pt x="6452" y="3322"/>
                </a:lnTo>
                <a:lnTo>
                  <a:pt x="8263" y="2120"/>
                </a:lnTo>
                <a:lnTo>
                  <a:pt x="10308" y="1268"/>
                </a:lnTo>
                <a:lnTo>
                  <a:pt x="12353" y="425"/>
                </a:lnTo>
                <a:lnTo>
                  <a:pt x="14482" y="0"/>
                </a:lnTo>
                <a:lnTo>
                  <a:pt x="16694" y="0"/>
                </a:lnTo>
                <a:lnTo>
                  <a:pt x="18906" y="0"/>
                </a:lnTo>
                <a:lnTo>
                  <a:pt x="28497" y="4891"/>
                </a:lnTo>
                <a:lnTo>
                  <a:pt x="30066" y="6452"/>
                </a:lnTo>
                <a:lnTo>
                  <a:pt x="31268" y="8263"/>
                </a:lnTo>
                <a:lnTo>
                  <a:pt x="32119" y="10308"/>
                </a:lnTo>
                <a:lnTo>
                  <a:pt x="32962" y="12353"/>
                </a:lnTo>
                <a:lnTo>
                  <a:pt x="33388" y="14482"/>
                </a:lnTo>
                <a:lnTo>
                  <a:pt x="33388" y="16694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84941" y="3565522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41735" y="20867"/>
                </a:moveTo>
                <a:lnTo>
                  <a:pt x="41735" y="23639"/>
                </a:lnTo>
                <a:lnTo>
                  <a:pt x="41209" y="26293"/>
                </a:lnTo>
                <a:lnTo>
                  <a:pt x="23639" y="41735"/>
                </a:lnTo>
                <a:lnTo>
                  <a:pt x="20867" y="41735"/>
                </a:lnTo>
                <a:lnTo>
                  <a:pt x="18096" y="41735"/>
                </a:lnTo>
                <a:lnTo>
                  <a:pt x="0" y="23639"/>
                </a:lnTo>
                <a:lnTo>
                  <a:pt x="0" y="20867"/>
                </a:lnTo>
                <a:lnTo>
                  <a:pt x="0" y="18096"/>
                </a:lnTo>
                <a:lnTo>
                  <a:pt x="18096" y="0"/>
                </a:lnTo>
                <a:lnTo>
                  <a:pt x="20867" y="0"/>
                </a:lnTo>
                <a:lnTo>
                  <a:pt x="23639" y="0"/>
                </a:lnTo>
                <a:lnTo>
                  <a:pt x="41735" y="18096"/>
                </a:lnTo>
                <a:lnTo>
                  <a:pt x="41735" y="20867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84941" y="3790895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41735" y="20867"/>
                </a:moveTo>
                <a:lnTo>
                  <a:pt x="41735" y="23630"/>
                </a:lnTo>
                <a:lnTo>
                  <a:pt x="41209" y="26293"/>
                </a:lnTo>
                <a:lnTo>
                  <a:pt x="23639" y="41735"/>
                </a:lnTo>
                <a:lnTo>
                  <a:pt x="20867" y="41735"/>
                </a:lnTo>
                <a:lnTo>
                  <a:pt x="18096" y="41735"/>
                </a:lnTo>
                <a:lnTo>
                  <a:pt x="0" y="23630"/>
                </a:lnTo>
                <a:lnTo>
                  <a:pt x="0" y="20867"/>
                </a:lnTo>
                <a:lnTo>
                  <a:pt x="0" y="18096"/>
                </a:lnTo>
                <a:lnTo>
                  <a:pt x="18096" y="0"/>
                </a:lnTo>
                <a:lnTo>
                  <a:pt x="20867" y="0"/>
                </a:lnTo>
                <a:lnTo>
                  <a:pt x="23639" y="0"/>
                </a:lnTo>
                <a:lnTo>
                  <a:pt x="41735" y="18096"/>
                </a:lnTo>
                <a:lnTo>
                  <a:pt x="41735" y="20867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84941" y="4016269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41735" y="20867"/>
                </a:moveTo>
                <a:lnTo>
                  <a:pt x="41735" y="23639"/>
                </a:lnTo>
                <a:lnTo>
                  <a:pt x="41209" y="26293"/>
                </a:lnTo>
                <a:lnTo>
                  <a:pt x="23639" y="41735"/>
                </a:lnTo>
                <a:lnTo>
                  <a:pt x="20867" y="41735"/>
                </a:lnTo>
                <a:lnTo>
                  <a:pt x="18096" y="41735"/>
                </a:lnTo>
                <a:lnTo>
                  <a:pt x="0" y="23639"/>
                </a:lnTo>
                <a:lnTo>
                  <a:pt x="0" y="20867"/>
                </a:lnTo>
                <a:lnTo>
                  <a:pt x="0" y="18096"/>
                </a:lnTo>
                <a:lnTo>
                  <a:pt x="18096" y="0"/>
                </a:lnTo>
                <a:lnTo>
                  <a:pt x="20867" y="0"/>
                </a:lnTo>
                <a:lnTo>
                  <a:pt x="23639" y="0"/>
                </a:lnTo>
                <a:lnTo>
                  <a:pt x="41735" y="18096"/>
                </a:lnTo>
                <a:lnTo>
                  <a:pt x="41735" y="20867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84941" y="4241642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41735" y="20867"/>
                </a:moveTo>
                <a:lnTo>
                  <a:pt x="41735" y="23630"/>
                </a:lnTo>
                <a:lnTo>
                  <a:pt x="41209" y="26293"/>
                </a:lnTo>
                <a:lnTo>
                  <a:pt x="23639" y="41735"/>
                </a:lnTo>
                <a:lnTo>
                  <a:pt x="20867" y="41735"/>
                </a:lnTo>
                <a:lnTo>
                  <a:pt x="18096" y="41735"/>
                </a:lnTo>
                <a:lnTo>
                  <a:pt x="0" y="23630"/>
                </a:lnTo>
                <a:lnTo>
                  <a:pt x="0" y="20867"/>
                </a:lnTo>
                <a:lnTo>
                  <a:pt x="0" y="18096"/>
                </a:lnTo>
                <a:lnTo>
                  <a:pt x="18096" y="0"/>
                </a:lnTo>
                <a:lnTo>
                  <a:pt x="20867" y="0"/>
                </a:lnTo>
                <a:lnTo>
                  <a:pt x="23639" y="0"/>
                </a:lnTo>
                <a:lnTo>
                  <a:pt x="41735" y="18096"/>
                </a:lnTo>
                <a:lnTo>
                  <a:pt x="41735" y="20867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35522" y="4391891"/>
            <a:ext cx="33655" cy="33655"/>
          </a:xfrm>
          <a:custGeom>
            <a:avLst/>
            <a:gdLst/>
            <a:ahLst/>
            <a:cxnLst/>
            <a:rect l="l" t="t" r="r" b="b"/>
            <a:pathLst>
              <a:path w="33655" h="33654">
                <a:moveTo>
                  <a:pt x="33388" y="16694"/>
                </a:moveTo>
                <a:lnTo>
                  <a:pt x="33388" y="18906"/>
                </a:lnTo>
                <a:lnTo>
                  <a:pt x="32962" y="21034"/>
                </a:lnTo>
                <a:lnTo>
                  <a:pt x="32119" y="23079"/>
                </a:lnTo>
                <a:lnTo>
                  <a:pt x="31268" y="25124"/>
                </a:lnTo>
                <a:lnTo>
                  <a:pt x="30066" y="26936"/>
                </a:lnTo>
                <a:lnTo>
                  <a:pt x="28497" y="28497"/>
                </a:lnTo>
                <a:lnTo>
                  <a:pt x="26936" y="30066"/>
                </a:lnTo>
                <a:lnTo>
                  <a:pt x="25124" y="31268"/>
                </a:lnTo>
                <a:lnTo>
                  <a:pt x="23079" y="32119"/>
                </a:lnTo>
                <a:lnTo>
                  <a:pt x="21034" y="32962"/>
                </a:lnTo>
                <a:lnTo>
                  <a:pt x="18906" y="33388"/>
                </a:lnTo>
                <a:lnTo>
                  <a:pt x="16694" y="33388"/>
                </a:lnTo>
                <a:lnTo>
                  <a:pt x="14482" y="33388"/>
                </a:lnTo>
                <a:lnTo>
                  <a:pt x="4891" y="28497"/>
                </a:lnTo>
                <a:lnTo>
                  <a:pt x="3322" y="26936"/>
                </a:lnTo>
                <a:lnTo>
                  <a:pt x="2120" y="25124"/>
                </a:lnTo>
                <a:lnTo>
                  <a:pt x="1268" y="23079"/>
                </a:lnTo>
                <a:lnTo>
                  <a:pt x="425" y="21034"/>
                </a:lnTo>
                <a:lnTo>
                  <a:pt x="0" y="18906"/>
                </a:lnTo>
                <a:lnTo>
                  <a:pt x="0" y="16694"/>
                </a:lnTo>
                <a:lnTo>
                  <a:pt x="0" y="14482"/>
                </a:lnTo>
                <a:lnTo>
                  <a:pt x="4891" y="4891"/>
                </a:lnTo>
                <a:lnTo>
                  <a:pt x="6452" y="3322"/>
                </a:lnTo>
                <a:lnTo>
                  <a:pt x="8263" y="2120"/>
                </a:lnTo>
                <a:lnTo>
                  <a:pt x="10308" y="1268"/>
                </a:lnTo>
                <a:lnTo>
                  <a:pt x="12353" y="425"/>
                </a:lnTo>
                <a:lnTo>
                  <a:pt x="14482" y="0"/>
                </a:lnTo>
                <a:lnTo>
                  <a:pt x="16694" y="0"/>
                </a:lnTo>
                <a:lnTo>
                  <a:pt x="18906" y="0"/>
                </a:lnTo>
                <a:lnTo>
                  <a:pt x="28497" y="4891"/>
                </a:lnTo>
                <a:lnTo>
                  <a:pt x="30066" y="6452"/>
                </a:lnTo>
                <a:lnTo>
                  <a:pt x="31268" y="8255"/>
                </a:lnTo>
                <a:lnTo>
                  <a:pt x="32119" y="10308"/>
                </a:lnTo>
                <a:lnTo>
                  <a:pt x="32962" y="12353"/>
                </a:lnTo>
                <a:lnTo>
                  <a:pt x="33388" y="14482"/>
                </a:lnTo>
                <a:lnTo>
                  <a:pt x="33388" y="16694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08157" y="465065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938630"/>
            <a:ext cx="66777" cy="6677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255822"/>
            <a:ext cx="66777" cy="6677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573014"/>
            <a:ext cx="66777" cy="66777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170250" y="856689"/>
            <a:ext cx="8716010" cy="485521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1397635" algn="ctr">
              <a:lnSpc>
                <a:spcPct val="100000"/>
              </a:lnSpc>
              <a:spcBef>
                <a:spcPts val="44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Earlier,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was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CLI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R="1377950" algn="ctr">
              <a:lnSpc>
                <a:spcPct val="100000"/>
              </a:lnSpc>
              <a:spcBef>
                <a:spcPts val="254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now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CLI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Advantages: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Upto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94%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faster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transfers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Better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parallel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processing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0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14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worry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options/parameters/flags</a:t>
            </a:r>
            <a:endParaRPr sz="1200">
              <a:latin typeface="Yu Gothic"/>
              <a:cs typeface="Yu Gothic"/>
            </a:endParaRPr>
          </a:p>
          <a:p>
            <a:pPr marL="1014094" marR="3054985">
              <a:lnSpc>
                <a:spcPct val="146100"/>
              </a:lnSpc>
            </a:pPr>
            <a:r>
              <a:rPr sz="1200" b="1" spc="-3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2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2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decide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optimal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transfer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approach 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you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simple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remember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(consistent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gcloud):</a:t>
            </a:r>
            <a:endParaRPr sz="1200">
              <a:latin typeface="Yu Gothic"/>
              <a:cs typeface="Yu Gothic"/>
            </a:endParaRPr>
          </a:p>
          <a:p>
            <a:pPr marL="1348105">
              <a:lnSpc>
                <a:spcPct val="100000"/>
              </a:lnSpc>
              <a:spcBef>
                <a:spcPts val="190"/>
              </a:spcBef>
            </a:pPr>
            <a:r>
              <a:rPr sz="950" b="1" spc="-2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3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 buckets </a:t>
            </a:r>
            <a:r>
              <a:rPr sz="950" b="1" spc="-5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950" b="1" spc="-35" dirty="0">
                <a:solidFill>
                  <a:srgbClr val="212121"/>
                </a:solidFill>
                <a:latin typeface="Trebuchet MS"/>
                <a:cs typeface="Trebuchet MS"/>
              </a:rPr>
              <a:t> gs://BKT_NAME</a:t>
            </a:r>
            <a:r>
              <a:rPr sz="9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spc="-60" dirty="0">
                <a:solidFill>
                  <a:srgbClr val="212121"/>
                </a:solidFill>
                <a:latin typeface="Yu Gothic"/>
                <a:cs typeface="Yu Gothic"/>
              </a:rPr>
              <a:t>(Create</a:t>
            </a:r>
            <a:r>
              <a:rPr sz="9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4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9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5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9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10" dirty="0">
                <a:solidFill>
                  <a:srgbClr val="212121"/>
                </a:solidFill>
                <a:latin typeface="Yu Gothic"/>
                <a:cs typeface="Yu Gothic"/>
              </a:rPr>
              <a:t>bucket)</a:t>
            </a:r>
            <a:endParaRPr sz="950">
              <a:latin typeface="Yu Gothic"/>
              <a:cs typeface="Yu Gothic"/>
            </a:endParaRPr>
          </a:p>
          <a:p>
            <a:pPr marL="1682114">
              <a:lnSpc>
                <a:spcPct val="100000"/>
              </a:lnSpc>
              <a:spcBef>
                <a:spcPts val="110"/>
              </a:spcBef>
            </a:pPr>
            <a:r>
              <a:rPr sz="750" spc="-25" dirty="0">
                <a:solidFill>
                  <a:srgbClr val="212121"/>
                </a:solidFill>
                <a:latin typeface="Yu Gothic"/>
                <a:cs typeface="Yu Gothic"/>
              </a:rPr>
              <a:t>options:</a:t>
            </a:r>
            <a:r>
              <a:rPr sz="75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750" spc="-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750" spc="-40" dirty="0">
                <a:solidFill>
                  <a:srgbClr val="212121"/>
                </a:solidFill>
                <a:latin typeface="Yu Gothic"/>
                <a:cs typeface="Yu Gothic"/>
              </a:rPr>
              <a:t>default-</a:t>
            </a:r>
            <a:r>
              <a:rPr sz="750" spc="-30" dirty="0">
                <a:solidFill>
                  <a:srgbClr val="212121"/>
                </a:solidFill>
                <a:latin typeface="Yu Gothic"/>
                <a:cs typeface="Yu Gothic"/>
              </a:rPr>
              <a:t>encryption-</a:t>
            </a:r>
            <a:r>
              <a:rPr sz="750" spc="-35" dirty="0">
                <a:solidFill>
                  <a:srgbClr val="212121"/>
                </a:solidFill>
                <a:latin typeface="Yu Gothic"/>
                <a:cs typeface="Yu Gothic"/>
              </a:rPr>
              <a:t>key,</a:t>
            </a:r>
            <a:r>
              <a:rPr sz="75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750" spc="-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750" spc="-40" dirty="0">
                <a:solidFill>
                  <a:srgbClr val="212121"/>
                </a:solidFill>
                <a:latin typeface="Yu Gothic"/>
                <a:cs typeface="Yu Gothic"/>
              </a:rPr>
              <a:t>default-</a:t>
            </a:r>
            <a:r>
              <a:rPr sz="750" spc="-45" dirty="0">
                <a:solidFill>
                  <a:srgbClr val="212121"/>
                </a:solidFill>
                <a:latin typeface="Yu Gothic"/>
                <a:cs typeface="Yu Gothic"/>
              </a:rPr>
              <a:t>storage-</a:t>
            </a:r>
            <a:r>
              <a:rPr sz="750" spc="-20" dirty="0">
                <a:solidFill>
                  <a:srgbClr val="212121"/>
                </a:solidFill>
                <a:latin typeface="Yu Gothic"/>
                <a:cs typeface="Yu Gothic"/>
              </a:rPr>
              <a:t>class</a:t>
            </a:r>
            <a:endParaRPr sz="750">
              <a:latin typeface="Yu Gothic"/>
              <a:cs typeface="Yu Gothic"/>
            </a:endParaRPr>
          </a:p>
          <a:p>
            <a:pPr marL="1348105" marR="4946015">
              <a:lnSpc>
                <a:spcPct val="155700"/>
              </a:lnSpc>
              <a:spcBef>
                <a:spcPts val="40"/>
              </a:spcBef>
            </a:pPr>
            <a:r>
              <a:rPr sz="950" b="1" spc="-2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9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3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 buckets </a:t>
            </a:r>
            <a:r>
              <a:rPr sz="950" b="1" spc="-50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9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30" dirty="0">
                <a:solidFill>
                  <a:srgbClr val="212121"/>
                </a:solidFill>
                <a:latin typeface="Trebuchet MS"/>
                <a:cs typeface="Trebuchet MS"/>
              </a:rPr>
              <a:t>gs://BKT_NAME </a:t>
            </a:r>
            <a:r>
              <a:rPr sz="950" b="1" spc="-2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9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3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9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buckets</a:t>
            </a:r>
            <a:r>
              <a:rPr sz="9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25" dirty="0">
                <a:solidFill>
                  <a:srgbClr val="212121"/>
                </a:solidFill>
                <a:latin typeface="Trebuchet MS"/>
                <a:cs typeface="Trebuchet MS"/>
              </a:rPr>
              <a:t>list</a:t>
            </a:r>
            <a:r>
              <a:rPr sz="9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10" dirty="0">
                <a:solidFill>
                  <a:srgbClr val="212121"/>
                </a:solidFill>
                <a:latin typeface="Trebuchet MS"/>
                <a:cs typeface="Trebuchet MS"/>
              </a:rPr>
              <a:t>gs://B*</a:t>
            </a:r>
            <a:endParaRPr sz="950">
              <a:latin typeface="Trebuchet MS"/>
              <a:cs typeface="Trebuchet MS"/>
            </a:endParaRPr>
          </a:p>
          <a:p>
            <a:pPr marL="1348105" marR="4826000">
              <a:lnSpc>
                <a:spcPct val="155700"/>
              </a:lnSpc>
            </a:pPr>
            <a:r>
              <a:rPr sz="950" b="1" spc="-2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9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3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9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buckets</a:t>
            </a:r>
            <a:r>
              <a:rPr sz="9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describe</a:t>
            </a:r>
            <a:r>
              <a:rPr sz="9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30" dirty="0">
                <a:solidFill>
                  <a:srgbClr val="212121"/>
                </a:solidFill>
                <a:latin typeface="Trebuchet MS"/>
                <a:cs typeface="Trebuchet MS"/>
              </a:rPr>
              <a:t>gs://BKT_NAME </a:t>
            </a:r>
            <a:r>
              <a:rPr sz="950" b="1" spc="-2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3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 buckets </a:t>
            </a:r>
            <a:r>
              <a:rPr sz="950" b="1" spc="-30" dirty="0">
                <a:solidFill>
                  <a:srgbClr val="212121"/>
                </a:solidFill>
                <a:latin typeface="Trebuchet MS"/>
                <a:cs typeface="Trebuchet MS"/>
              </a:rPr>
              <a:t>update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10" dirty="0">
                <a:solidFill>
                  <a:srgbClr val="212121"/>
                </a:solidFill>
                <a:latin typeface="Trebuchet MS"/>
                <a:cs typeface="Trebuchet MS"/>
              </a:rPr>
              <a:t>gs://BKT_NAME</a:t>
            </a:r>
            <a:endParaRPr sz="950">
              <a:latin typeface="Trebuchet MS"/>
              <a:cs typeface="Trebuchet MS"/>
            </a:endParaRPr>
          </a:p>
          <a:p>
            <a:pPr marL="1682114">
              <a:lnSpc>
                <a:spcPct val="100000"/>
              </a:lnSpc>
              <a:spcBef>
                <a:spcPts val="110"/>
              </a:spcBef>
            </a:pPr>
            <a:r>
              <a:rPr sz="750" spc="-25" dirty="0">
                <a:solidFill>
                  <a:srgbClr val="212121"/>
                </a:solidFill>
                <a:latin typeface="Yu Gothic"/>
                <a:cs typeface="Yu Gothic"/>
              </a:rPr>
              <a:t>options:</a:t>
            </a:r>
            <a:r>
              <a:rPr sz="7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750" spc="-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750" spc="-40" dirty="0">
                <a:solidFill>
                  <a:srgbClr val="212121"/>
                </a:solidFill>
                <a:latin typeface="Yu Gothic"/>
                <a:cs typeface="Yu Gothic"/>
              </a:rPr>
              <a:t>default-</a:t>
            </a:r>
            <a:r>
              <a:rPr sz="750" spc="-30" dirty="0">
                <a:solidFill>
                  <a:srgbClr val="212121"/>
                </a:solidFill>
                <a:latin typeface="Yu Gothic"/>
                <a:cs typeface="Yu Gothic"/>
              </a:rPr>
              <a:t>encryption-</a:t>
            </a:r>
            <a:r>
              <a:rPr sz="750" spc="-35" dirty="0">
                <a:solidFill>
                  <a:srgbClr val="212121"/>
                </a:solidFill>
                <a:latin typeface="Yu Gothic"/>
                <a:cs typeface="Yu Gothic"/>
              </a:rPr>
              <a:t>key,</a:t>
            </a:r>
            <a:r>
              <a:rPr sz="7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750" spc="-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750" spc="-40" dirty="0">
                <a:solidFill>
                  <a:srgbClr val="212121"/>
                </a:solidFill>
                <a:latin typeface="Yu Gothic"/>
                <a:cs typeface="Yu Gothic"/>
              </a:rPr>
              <a:t>default-</a:t>
            </a:r>
            <a:r>
              <a:rPr sz="750" spc="-45" dirty="0">
                <a:solidFill>
                  <a:srgbClr val="212121"/>
                </a:solidFill>
                <a:latin typeface="Yu Gothic"/>
                <a:cs typeface="Yu Gothic"/>
              </a:rPr>
              <a:t>storage-</a:t>
            </a:r>
            <a:r>
              <a:rPr sz="750" spc="-40" dirty="0">
                <a:solidFill>
                  <a:srgbClr val="212121"/>
                </a:solidFill>
                <a:latin typeface="Yu Gothic"/>
                <a:cs typeface="Yu Gothic"/>
              </a:rPr>
              <a:t>class,</a:t>
            </a:r>
            <a:r>
              <a:rPr sz="75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750" spc="-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750" spc="-50" dirty="0">
                <a:solidFill>
                  <a:srgbClr val="212121"/>
                </a:solidFill>
                <a:latin typeface="Yu Gothic"/>
                <a:cs typeface="Yu Gothic"/>
              </a:rPr>
              <a:t>[no-</a:t>
            </a:r>
            <a:r>
              <a:rPr sz="750" spc="-10" dirty="0">
                <a:solidFill>
                  <a:srgbClr val="212121"/>
                </a:solidFill>
                <a:latin typeface="Yu Gothic"/>
                <a:cs typeface="Yu Gothic"/>
              </a:rPr>
              <a:t>]versioning</a:t>
            </a:r>
            <a:endParaRPr sz="750">
              <a:latin typeface="Yu Gothic"/>
              <a:cs typeface="Yu Gothic"/>
            </a:endParaRPr>
          </a:p>
          <a:p>
            <a:pPr marR="1412875" algn="ctr">
              <a:lnSpc>
                <a:spcPct val="100000"/>
              </a:lnSpc>
              <a:spcBef>
                <a:spcPts val="58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existing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scripts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make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gsutil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scripts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benefits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offered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features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Check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out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35" dirty="0">
                <a:solidFill>
                  <a:srgbClr val="212121"/>
                </a:solidFill>
                <a:latin typeface="Trebuchet MS"/>
                <a:cs typeface="Trebuchet MS"/>
              </a:rPr>
              <a:t>shim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(In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boto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file,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use_gcloud_storage=True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under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GSUtil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section)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96163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85" dirty="0"/>
              <a:t>Storage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0" dirty="0"/>
              <a:t>Command</a:t>
            </a:r>
            <a:r>
              <a:rPr spc="-250" dirty="0"/>
              <a:t> </a:t>
            </a:r>
            <a:r>
              <a:rPr spc="-145" dirty="0"/>
              <a:t>Line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5" dirty="0"/>
              <a:t>gcloud</a:t>
            </a:r>
            <a:r>
              <a:rPr spc="-250" dirty="0"/>
              <a:t> </a:t>
            </a:r>
            <a:r>
              <a:rPr spc="-45" dirty="0"/>
              <a:t>storage</a:t>
            </a:r>
          </a:p>
        </p:txBody>
      </p:sp>
      <p:sp>
        <p:nvSpPr>
          <p:cNvPr id="24" name="object 2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181</a:t>
            </a:fld>
            <a:endParaRPr spc="-25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3552" y="2417608"/>
            <a:ext cx="1215390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b="1" spc="-125" dirty="0">
                <a:solidFill>
                  <a:srgbClr val="1BA74A"/>
                </a:solidFill>
                <a:latin typeface="Trebuchet MS"/>
                <a:cs typeface="Trebuchet MS"/>
              </a:rPr>
              <a:t>IAM</a:t>
            </a:r>
            <a:endParaRPr sz="5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182</a:t>
            </a:fld>
            <a:endParaRPr spc="-25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089734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34403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81593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233295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866705"/>
            <a:ext cx="7838440" cy="3965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resources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(examples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server,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identities</a:t>
            </a:r>
            <a:r>
              <a:rPr sz="2350" b="1" spc="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(human</a:t>
            </a:r>
            <a:r>
              <a:rPr sz="2350" b="1" spc="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and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non-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human)</a:t>
            </a:r>
            <a:r>
              <a:rPr sz="2350" b="1" spc="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those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resources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perform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launch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(stop,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terminate)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identify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users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access?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allow?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GCP: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i="1" spc="-125" dirty="0">
                <a:solidFill>
                  <a:srgbClr val="212121"/>
                </a:solidFill>
                <a:latin typeface="Trebuchet MS"/>
                <a:cs typeface="Trebuchet MS"/>
              </a:rPr>
              <a:t>Identity</a:t>
            </a:r>
            <a:r>
              <a:rPr sz="2350" i="1" spc="-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i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85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2350" i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60" dirty="0">
                <a:solidFill>
                  <a:srgbClr val="212121"/>
                </a:solidFill>
                <a:latin typeface="Trebuchet MS"/>
                <a:cs typeface="Trebuchet MS"/>
              </a:rPr>
              <a:t>Management</a:t>
            </a:r>
            <a:r>
              <a:rPr sz="2350" i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100" dirty="0">
                <a:solidFill>
                  <a:srgbClr val="212121"/>
                </a:solidFill>
                <a:latin typeface="Trebuchet MS"/>
                <a:cs typeface="Trebuchet MS"/>
              </a:rPr>
              <a:t>(Cloud</a:t>
            </a:r>
            <a:r>
              <a:rPr sz="2350" i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155" dirty="0">
                <a:solidFill>
                  <a:srgbClr val="212121"/>
                </a:solidFill>
                <a:latin typeface="Trebuchet MS"/>
                <a:cs typeface="Trebuchet MS"/>
              </a:rPr>
              <a:t>IAM)</a:t>
            </a:r>
            <a:r>
              <a:rPr sz="2350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provides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00024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0" dirty="0"/>
              <a:t>Typical</a:t>
            </a:r>
            <a:r>
              <a:rPr spc="-245" dirty="0"/>
              <a:t> </a:t>
            </a:r>
            <a:r>
              <a:rPr spc="-120" dirty="0"/>
              <a:t>identity</a:t>
            </a:r>
            <a:r>
              <a:rPr spc="-240" dirty="0"/>
              <a:t> </a:t>
            </a:r>
            <a:r>
              <a:rPr spc="-90" dirty="0"/>
              <a:t>management</a:t>
            </a:r>
            <a:r>
              <a:rPr spc="-240" dirty="0"/>
              <a:t> </a:t>
            </a:r>
            <a:r>
              <a:rPr spc="-105" dirty="0"/>
              <a:t>in</a:t>
            </a:r>
            <a:r>
              <a:rPr spc="-245" dirty="0"/>
              <a:t> </a:t>
            </a:r>
            <a:r>
              <a:rPr spc="-145" dirty="0"/>
              <a:t>the</a:t>
            </a:r>
            <a:r>
              <a:rPr spc="-240" dirty="0"/>
              <a:t> </a:t>
            </a:r>
            <a:r>
              <a:rPr spc="-25" dirty="0"/>
              <a:t>cloud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183</a:t>
            </a:fld>
            <a:endParaRPr spc="-25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3468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7224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0980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48205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8576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283378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62561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4921936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5239128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5556320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70250" y="799928"/>
            <a:ext cx="6528434" cy="4895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53745">
              <a:lnSpc>
                <a:spcPct val="128200"/>
              </a:lnSpc>
              <a:spcBef>
                <a:spcPts val="95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Authentication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(is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user?)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Authorization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(do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access?)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Identities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(Google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Account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Externally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Authenticated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User)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endParaRPr sz="1900">
              <a:latin typeface="Yu Gothic"/>
              <a:cs typeface="Yu Gothic"/>
            </a:endParaRPr>
          </a:p>
          <a:p>
            <a:pPr marL="346075" marR="1943100">
              <a:lnSpc>
                <a:spcPct val="129700"/>
              </a:lnSpc>
              <a:spcBef>
                <a:spcPts val="65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center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Unauthenticated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granular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Limit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user: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perform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action</a:t>
            </a:r>
            <a:endParaRPr sz="1500">
              <a:latin typeface="Yu Gothic"/>
              <a:cs typeface="Yu Gothic"/>
            </a:endParaRPr>
          </a:p>
          <a:p>
            <a:pPr marL="680085" marR="3623310">
              <a:lnSpc>
                <a:spcPct val="138800"/>
              </a:lnSpc>
            </a:pP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resource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677558" y="5877685"/>
            <a:ext cx="54610" cy="18415"/>
          </a:xfrm>
          <a:custGeom>
            <a:avLst/>
            <a:gdLst/>
            <a:ahLst/>
            <a:cxnLst/>
            <a:rect l="l" t="t" r="r" b="b"/>
            <a:pathLst>
              <a:path w="54610" h="18414">
                <a:moveTo>
                  <a:pt x="0" y="18273"/>
                </a:moveTo>
                <a:lnTo>
                  <a:pt x="97" y="18038"/>
                </a:lnTo>
                <a:lnTo>
                  <a:pt x="1580" y="14457"/>
                </a:lnTo>
                <a:lnTo>
                  <a:pt x="3691" y="11293"/>
                </a:lnTo>
                <a:lnTo>
                  <a:pt x="6430" y="8555"/>
                </a:lnTo>
                <a:lnTo>
                  <a:pt x="9170" y="5817"/>
                </a:lnTo>
                <a:lnTo>
                  <a:pt x="12329" y="3706"/>
                </a:lnTo>
                <a:lnTo>
                  <a:pt x="15908" y="2220"/>
                </a:lnTo>
                <a:lnTo>
                  <a:pt x="19488" y="742"/>
                </a:lnTo>
                <a:lnTo>
                  <a:pt x="23215" y="0"/>
                </a:lnTo>
                <a:lnTo>
                  <a:pt x="27089" y="0"/>
                </a:lnTo>
                <a:lnTo>
                  <a:pt x="30962" y="0"/>
                </a:lnTo>
                <a:lnTo>
                  <a:pt x="47747" y="8555"/>
                </a:lnTo>
                <a:lnTo>
                  <a:pt x="50486" y="11293"/>
                </a:lnTo>
                <a:lnTo>
                  <a:pt x="52597" y="14457"/>
                </a:lnTo>
                <a:lnTo>
                  <a:pt x="54080" y="18038"/>
                </a:lnTo>
                <a:lnTo>
                  <a:pt x="54178" y="18273"/>
                </a:lnTo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541259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45" dirty="0"/>
              <a:t> </a:t>
            </a:r>
            <a:r>
              <a:rPr spc="-105" dirty="0"/>
              <a:t>Identity</a:t>
            </a:r>
            <a:r>
              <a:rPr spc="-245" dirty="0"/>
              <a:t> </a:t>
            </a:r>
            <a:r>
              <a:rPr spc="-65" dirty="0"/>
              <a:t>and</a:t>
            </a:r>
            <a:r>
              <a:rPr spc="-240" dirty="0"/>
              <a:t> </a:t>
            </a:r>
            <a:r>
              <a:rPr spc="-155" dirty="0"/>
              <a:t>Access</a:t>
            </a:r>
            <a:r>
              <a:rPr spc="-245" dirty="0"/>
              <a:t> </a:t>
            </a:r>
            <a:r>
              <a:rPr spc="-85" dirty="0"/>
              <a:t>Management</a:t>
            </a:r>
            <a:r>
              <a:rPr spc="-240" dirty="0"/>
              <a:t> </a:t>
            </a:r>
            <a:r>
              <a:rPr spc="-30" dirty="0"/>
              <a:t>(IAM)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184</a:t>
            </a:fld>
            <a:endParaRPr spc="-25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9861" y="1136501"/>
            <a:ext cx="709509" cy="7178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7071" y="2037992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8064" y="2698249"/>
            <a:ext cx="875737" cy="4582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2108942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2426134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2743326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0813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3369364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2026013" y="359891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3886887"/>
            <a:ext cx="66777" cy="6677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026013" y="4116435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4467015"/>
            <a:ext cx="91818" cy="9181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926109"/>
            <a:ext cx="91818" cy="918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0882" y="5385203"/>
            <a:ext cx="91818" cy="91818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308157" y="57357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70250" y="866705"/>
            <a:ext cx="8740140" cy="5046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specific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storage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colleague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mine: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Important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Generic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Concepts: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Member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My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colleague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Resource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: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Action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Upload/Delete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IAM: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(to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perform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resources)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04"/>
              </a:spcBef>
            </a:pPr>
            <a:r>
              <a:rPr sz="1200" b="1" spc="-35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12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212121"/>
                </a:solidFill>
                <a:latin typeface="Trebuchet MS"/>
                <a:cs typeface="Trebuchet MS"/>
              </a:rPr>
              <a:t>do</a:t>
            </a:r>
            <a:r>
              <a:rPr sz="12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2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212121"/>
                </a:solidFill>
                <a:latin typeface="Trebuchet MS"/>
                <a:cs typeface="Trebuchet MS"/>
              </a:rPr>
              <a:t>know</a:t>
            </a:r>
            <a:r>
              <a:rPr sz="12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212121"/>
                </a:solidFill>
                <a:latin typeface="Trebuchet MS"/>
                <a:cs typeface="Trebuchet MS"/>
              </a:rPr>
              <a:t>about</a:t>
            </a:r>
            <a:r>
              <a:rPr sz="12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212121"/>
                </a:solidFill>
                <a:latin typeface="Trebuchet MS"/>
                <a:cs typeface="Trebuchet MS"/>
              </a:rPr>
              <a:t>members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.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permissions!</a:t>
            </a:r>
            <a:endParaRPr sz="12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30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member?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04"/>
              </a:spcBef>
            </a:pPr>
            <a:r>
              <a:rPr sz="1200" b="1" spc="-40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1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assign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(or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b="1" spc="-50" dirty="0">
                <a:solidFill>
                  <a:srgbClr val="212121"/>
                </a:solidFill>
                <a:latin typeface="Trebuchet MS"/>
                <a:cs typeface="Trebuchet MS"/>
              </a:rPr>
              <a:t>bind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 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a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member</a:t>
            </a:r>
            <a:endParaRPr sz="12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1: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Choose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Role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(Ex: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Admin)</a:t>
            </a:r>
            <a:endParaRPr sz="2350">
              <a:latin typeface="Yu Gothic"/>
              <a:cs typeface="Yu Gothic"/>
            </a:endParaRPr>
          </a:p>
          <a:p>
            <a:pPr marL="12700" marR="5715">
              <a:lnSpc>
                <a:spcPct val="128200"/>
              </a:lnSpc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2: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binding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member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(your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friend)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(permissions)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0" dirty="0">
                <a:solidFill>
                  <a:srgbClr val="212121"/>
                </a:solidFill>
                <a:latin typeface="Yu Gothic"/>
                <a:cs typeface="Yu Gothic"/>
              </a:rPr>
              <a:t>AWS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(Forget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0" dirty="0">
                <a:solidFill>
                  <a:srgbClr val="212121"/>
                </a:solidFill>
                <a:latin typeface="Yu Gothic"/>
                <a:cs typeface="Yu Gothic"/>
              </a:rPr>
              <a:t>AWS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FRESH!)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AWS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as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5" dirty="0"/>
              <a:t> </a:t>
            </a:r>
            <a:r>
              <a:rPr spc="-80" dirty="0"/>
              <a:t>IAM</a:t>
            </a:r>
            <a:r>
              <a:rPr spc="-260" dirty="0"/>
              <a:t> </a:t>
            </a:r>
            <a:r>
              <a:rPr spc="-90" dirty="0"/>
              <a:t>Example</a:t>
            </a:r>
          </a:p>
        </p:txBody>
      </p:sp>
      <p:sp>
        <p:nvSpPr>
          <p:cNvPr id="21" name="object 2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185</a:t>
            </a:fld>
            <a:endParaRPr spc="-25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077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492912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810104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127296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3436141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753333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09139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387717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704909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504297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8740140" cy="46729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Permissions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Perform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Three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Types: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Basic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(or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Primitive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roles)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Owner/Editor/Viewer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Viewer(roles.viewer)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Read-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Editor(roles.editor)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Edit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endParaRPr sz="1500">
              <a:latin typeface="Yu Gothic"/>
              <a:cs typeface="Yu Gothic"/>
            </a:endParaRPr>
          </a:p>
          <a:p>
            <a:pPr marL="680085" marR="2442210">
              <a:lnSpc>
                <a:spcPct val="135100"/>
              </a:lnSpc>
              <a:spcBef>
                <a:spcPts val="65"/>
              </a:spcBef>
            </a:pP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Owner(roles.owner)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Editor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Roles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Billing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EARLIEST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0" dirty="0">
                <a:solidFill>
                  <a:srgbClr val="212121"/>
                </a:solidFill>
                <a:latin typeface="Yu Gothic"/>
                <a:cs typeface="Yu Gothic"/>
              </a:rPr>
              <a:t>VERSION: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before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RECOMMENDED: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Don't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production</a:t>
            </a:r>
            <a:endParaRPr sz="15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Predefined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Fine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grained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predefined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purposes</a:t>
            </a:r>
            <a:endParaRPr sz="1500">
              <a:latin typeface="Yu Gothic"/>
              <a:cs typeface="Yu Gothic"/>
            </a:endParaRPr>
          </a:p>
          <a:p>
            <a:pPr marL="346075" indent="333375">
              <a:lnSpc>
                <a:spcPct val="100000"/>
              </a:lnSpc>
              <a:spcBef>
                <a:spcPts val="695"/>
              </a:spcBef>
            </a:pPr>
            <a:r>
              <a:rPr sz="1500" b="1" spc="-50" dirty="0">
                <a:solidFill>
                  <a:srgbClr val="212121"/>
                </a:solidFill>
                <a:latin typeface="Trebuchet MS"/>
                <a:cs typeface="Trebuchet MS"/>
              </a:rPr>
              <a:t>Examples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Admin,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Admin,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Viewer,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Creator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40"/>
              </a:spcBef>
            </a:pP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Custom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predefined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sufficient,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own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84658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80" dirty="0"/>
              <a:t> </a:t>
            </a:r>
            <a:r>
              <a:rPr spc="-155" dirty="0"/>
              <a:t>-</a:t>
            </a:r>
            <a:r>
              <a:rPr spc="-280" dirty="0"/>
              <a:t> </a:t>
            </a:r>
            <a:r>
              <a:rPr spc="-55" dirty="0"/>
              <a:t>Roles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186</a:t>
            </a:fld>
            <a:endParaRPr spc="-25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33818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37187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668202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00626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294239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63229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920276"/>
            <a:ext cx="66777" cy="66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237468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617264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496784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08157" y="53518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70250" y="856689"/>
            <a:ext cx="5773420" cy="46729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Important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30" dirty="0">
                <a:solidFill>
                  <a:srgbClr val="212121"/>
                </a:solidFill>
                <a:latin typeface="Trebuchet MS"/>
                <a:cs typeface="Trebuchet MS"/>
              </a:rPr>
              <a:t>(roles/storage.admin)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storage.buckets.*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storage.objects.*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(roles/storage.objectAdmin)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storage.objects.*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Creator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(roles/storage.objectCreator)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storage.objects.create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Viewer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(roles/storage.objectViewer)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storage.objects.get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storage.objects.list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these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permissions: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resourcemanager.projects.get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resourcemanager.projects.list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30" dirty="0"/>
              <a:t>Predefined</a:t>
            </a:r>
            <a:r>
              <a:rPr spc="-260" dirty="0"/>
              <a:t> </a:t>
            </a:r>
            <a:r>
              <a:rPr spc="-85" dirty="0"/>
              <a:t>Roles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10" dirty="0"/>
              <a:t>Example</a:t>
            </a:r>
            <a:r>
              <a:rPr spc="-260" dirty="0"/>
              <a:t> </a:t>
            </a:r>
            <a:r>
              <a:rPr spc="-50" dirty="0"/>
              <a:t>Permissions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187</a:t>
            </a:fld>
            <a:endParaRPr spc="-25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6398" y="1094780"/>
            <a:ext cx="2662756" cy="3080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88572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42362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028789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345982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725777"/>
            <a:ext cx="91818" cy="91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5184871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799928"/>
            <a:ext cx="5835015" cy="45916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Member</a:t>
            </a:r>
            <a:r>
              <a:rPr sz="2350" b="1" spc="-2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Who?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928369" algn="l"/>
                <a:tab pos="1214120" algn="l"/>
                <a:tab pos="2945765" algn="l"/>
                <a:tab pos="3902710" algn="l"/>
                <a:tab pos="516699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(What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Actions?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What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Resources?)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Members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Map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(What?)</a:t>
            </a:r>
            <a:r>
              <a:rPr sz="19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,</a:t>
            </a:r>
            <a:r>
              <a:rPr sz="19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Members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(Who?)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Conditions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(Which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Resources?,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When?,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From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Where?)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34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Remember: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are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directly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assigned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Member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represented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Member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gets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through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Role!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Member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50" dirty="0"/>
              <a:t>Most</a:t>
            </a:r>
            <a:r>
              <a:rPr spc="-260" dirty="0"/>
              <a:t> </a:t>
            </a:r>
            <a:r>
              <a:rPr spc="-85" dirty="0"/>
              <a:t>Important</a:t>
            </a:r>
            <a:r>
              <a:rPr spc="-260" dirty="0"/>
              <a:t> </a:t>
            </a:r>
            <a:r>
              <a:rPr spc="-110" dirty="0"/>
              <a:t>Concepts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240" dirty="0"/>
              <a:t>A</a:t>
            </a:r>
            <a:r>
              <a:rPr spc="-260" dirty="0"/>
              <a:t> </a:t>
            </a:r>
            <a:r>
              <a:rPr spc="-80" dirty="0"/>
              <a:t>Review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188</a:t>
            </a:fld>
            <a:endParaRPr spc="-25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633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89070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70250" y="799928"/>
            <a:ext cx="7326630" cy="2409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8200"/>
              </a:lnSpc>
              <a:spcBef>
                <a:spcPts val="9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assigned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through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IAM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documents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Represented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bindings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binding,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binds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members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Member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identified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prefix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user,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serviceaccount,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domain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742439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75" dirty="0"/>
              <a:t> </a:t>
            </a:r>
            <a:r>
              <a:rPr spc="-75" dirty="0"/>
              <a:t>policy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189</a:t>
            </a:fld>
            <a:endParaRPr spc="-25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65" dirty="0"/>
              <a:t> </a:t>
            </a:r>
            <a:r>
              <a:rPr spc="-100" dirty="0"/>
              <a:t>policy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8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9609" y="894080"/>
            <a:ext cx="9083040" cy="4909185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475"/>
              </a:spcBef>
            </a:pP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  <a:spcBef>
                <a:spcPts val="20"/>
              </a:spcBef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bindings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[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ts val="1535"/>
              </a:lnSpc>
              <a:spcBef>
                <a:spcPts val="15"/>
              </a:spcBef>
            </a:pP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771525" marR="4821555" indent="-99695">
              <a:lnSpc>
                <a:spcPts val="1580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role</a:t>
            </a:r>
            <a:r>
              <a:rPr sz="1300" dirty="0">
                <a:latin typeface="Courier New"/>
                <a:cs typeface="Courier New"/>
              </a:rPr>
              <a:t>":</a:t>
            </a:r>
            <a:r>
              <a:rPr sz="1300" spc="-10" dirty="0"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"roles/storage.objectAdmin"</a:t>
            </a:r>
            <a:r>
              <a:rPr sz="1300" spc="-10" dirty="0">
                <a:latin typeface="Courier New"/>
                <a:cs typeface="Courier New"/>
              </a:rPr>
              <a:t>, </a:t>
            </a: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members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[</a:t>
            </a:r>
            <a:endParaRPr sz="1300">
              <a:latin typeface="Courier New"/>
              <a:cs typeface="Courier New"/>
            </a:endParaRPr>
          </a:p>
          <a:p>
            <a:pPr marL="970915">
              <a:lnSpc>
                <a:spcPts val="1520"/>
              </a:lnSpc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  <a:hlinkClick r:id="rId2"/>
              </a:rPr>
              <a:t>user:you@in28minutes.com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r>
              <a:rPr sz="1300" spc="-10" dirty="0">
                <a:latin typeface="Courier New"/>
                <a:cs typeface="Courier New"/>
              </a:rPr>
              <a:t>,</a:t>
            </a:r>
            <a:endParaRPr sz="1300">
              <a:latin typeface="Courier New"/>
              <a:cs typeface="Courier New"/>
            </a:endParaRPr>
          </a:p>
          <a:p>
            <a:pPr marL="970915" marR="2633345">
              <a:lnSpc>
                <a:spcPct val="99000"/>
              </a:lnSpc>
              <a:spcBef>
                <a:spcPts val="30"/>
              </a:spcBef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  <a:hlinkClick r:id="rId3"/>
              </a:rPr>
              <a:t>serviceAccount:myAppName@appspot.gserviceaccount.com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r>
              <a:rPr sz="1300" spc="-10" dirty="0">
                <a:latin typeface="Courier New"/>
                <a:cs typeface="Courier New"/>
              </a:rPr>
              <a:t>,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  <a:hlinkClick r:id="rId4"/>
              </a:rPr>
              <a:t>group:administrators@in28minutes.com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r>
              <a:rPr sz="1300" spc="-10" dirty="0">
                <a:latin typeface="Courier New"/>
                <a:cs typeface="Courier New"/>
              </a:rPr>
              <a:t>,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"domain:google.com"</a:t>
            </a:r>
            <a:endParaRPr sz="1300">
              <a:latin typeface="Courier New"/>
              <a:cs typeface="Courier New"/>
            </a:endParaRPr>
          </a:p>
          <a:p>
            <a:pPr marL="771525">
              <a:lnSpc>
                <a:spcPct val="100000"/>
              </a:lnSpc>
              <a:spcBef>
                <a:spcPts val="20"/>
              </a:spcBef>
            </a:pPr>
            <a:r>
              <a:rPr sz="1300" spc="-50" dirty="0">
                <a:latin typeface="Courier New"/>
                <a:cs typeface="Courier New"/>
              </a:rPr>
              <a:t>]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ts val="1535"/>
              </a:lnSpc>
              <a:spcBef>
                <a:spcPts val="15"/>
              </a:spcBef>
            </a:pPr>
            <a:r>
              <a:rPr sz="1300" spc="-25" dirty="0">
                <a:latin typeface="Courier New"/>
                <a:cs typeface="Courier New"/>
              </a:rPr>
              <a:t>},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ts val="1535"/>
              </a:lnSpc>
            </a:pP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672465" marR="4721860">
              <a:lnSpc>
                <a:spcPct val="101099"/>
              </a:lnSpc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role</a:t>
            </a:r>
            <a:r>
              <a:rPr sz="1300" dirty="0">
                <a:latin typeface="Courier New"/>
                <a:cs typeface="Courier New"/>
              </a:rPr>
              <a:t>":</a:t>
            </a:r>
            <a:r>
              <a:rPr sz="1300" spc="-10" dirty="0"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"roles/storage.objectViewer"</a:t>
            </a:r>
            <a:r>
              <a:rPr sz="1300" spc="-10" dirty="0">
                <a:latin typeface="Courier New"/>
                <a:cs typeface="Courier New"/>
              </a:rPr>
              <a:t>, </a:t>
            </a: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members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[</a:t>
            </a:r>
            <a:endParaRPr sz="1300">
              <a:latin typeface="Courier New"/>
              <a:cs typeface="Courier New"/>
            </a:endParaRPr>
          </a:p>
          <a:p>
            <a:pPr marL="871219">
              <a:lnSpc>
                <a:spcPts val="1535"/>
              </a:lnSpc>
              <a:spcBef>
                <a:spcPts val="20"/>
              </a:spcBef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  <a:hlinkClick r:id="rId2"/>
              </a:rPr>
              <a:t>user:you@in28minutes.com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ts val="1535"/>
              </a:lnSpc>
            </a:pPr>
            <a:r>
              <a:rPr sz="1300" spc="-25" dirty="0">
                <a:latin typeface="Courier New"/>
                <a:cs typeface="Courier New"/>
              </a:rPr>
              <a:t>],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ct val="100000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condition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871219" marR="4622800">
              <a:lnSpc>
                <a:spcPct val="101099"/>
              </a:lnSpc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title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"Limited time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access"</a:t>
            </a:r>
            <a:r>
              <a:rPr sz="1300" spc="-10" dirty="0">
                <a:latin typeface="Courier New"/>
                <a:cs typeface="Courier New"/>
              </a:rPr>
              <a:t>, </a:t>
            </a: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description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"Only upto Feb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2022"</a:t>
            </a:r>
            <a:r>
              <a:rPr sz="1300" spc="-10" dirty="0">
                <a:latin typeface="Courier New"/>
                <a:cs typeface="Courier New"/>
              </a:rPr>
              <a:t>,</a:t>
            </a:r>
            <a:endParaRPr sz="1300">
              <a:latin typeface="Courier New"/>
              <a:cs typeface="Courier New"/>
            </a:endParaRPr>
          </a:p>
          <a:p>
            <a:pPr marL="871219">
              <a:lnSpc>
                <a:spcPts val="1510"/>
              </a:lnSpc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expression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"request.time &lt; timestamp('2022-02-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01T00:00:00.000Z')"</a:t>
            </a:r>
            <a:r>
              <a:rPr sz="1300" spc="-10" dirty="0">
                <a:latin typeface="Courier New"/>
                <a:cs typeface="Courier New"/>
              </a:rPr>
              <a:t>,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ct val="100000"/>
              </a:lnSpc>
              <a:spcBef>
                <a:spcPts val="20"/>
              </a:spcBef>
            </a:pPr>
            <a:r>
              <a:rPr sz="1300" spc="-5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ct val="100000"/>
              </a:lnSpc>
              <a:spcBef>
                <a:spcPts val="15"/>
              </a:spcBef>
            </a:pPr>
            <a:r>
              <a:rPr sz="1300" spc="-5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274320">
              <a:lnSpc>
                <a:spcPts val="1535"/>
              </a:lnSpc>
              <a:spcBef>
                <a:spcPts val="20"/>
              </a:spcBef>
            </a:pPr>
            <a:r>
              <a:rPr sz="1300" spc="-50" dirty="0">
                <a:latin typeface="Courier New"/>
                <a:cs typeface="Courier New"/>
              </a:rPr>
              <a:t>]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35"/>
              </a:lnSpc>
            </a:pPr>
            <a:r>
              <a:rPr sz="1300" spc="-5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190</a:t>
            </a:fld>
            <a:endParaRPr spc="-25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5638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94783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235809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553001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870193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187385"/>
            <a:ext cx="66777" cy="66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504578"/>
            <a:ext cx="66777" cy="6677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484263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130615"/>
            <a:ext cx="66777" cy="6677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447807"/>
            <a:ext cx="66777" cy="6677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5764999"/>
            <a:ext cx="66777" cy="6677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170250" y="856689"/>
            <a:ext cx="7826375" cy="504761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Playing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90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project-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info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describe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Describe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current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ts val="3020"/>
              </a:lnSpc>
              <a:spcBef>
                <a:spcPts val="165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auth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login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Platform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credentials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auth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revoke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Revoke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credentials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5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auth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list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projects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projects 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add-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iam-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policy-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binding</a:t>
            </a:r>
            <a:r>
              <a:rPr sz="15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binding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80" dirty="0">
                <a:solidFill>
                  <a:srgbClr val="212121"/>
                </a:solidFill>
                <a:latin typeface="Trebuchet MS"/>
                <a:cs typeface="Trebuchet MS"/>
              </a:rPr>
              <a:t>get-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iam-</a:t>
            </a:r>
            <a:r>
              <a:rPr sz="1500" b="1" spc="-50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1500">
              <a:latin typeface="Yu Gothic"/>
              <a:cs typeface="Yu Gothic"/>
            </a:endParaRPr>
          </a:p>
          <a:p>
            <a:pPr marL="680085" marR="1302385">
              <a:lnSpc>
                <a:spcPct val="138800"/>
              </a:lnSpc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remove-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iam-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policy-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binding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Remove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binding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set-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iam-</a:t>
            </a:r>
            <a:r>
              <a:rPr sz="1500" b="1" spc="-50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iam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describe</a:t>
            </a:r>
            <a:r>
              <a:rPr sz="15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Describe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endParaRPr sz="1500">
              <a:latin typeface="Yu Gothic"/>
              <a:cs typeface="Yu Gothic"/>
            </a:endParaRPr>
          </a:p>
          <a:p>
            <a:pPr marL="680085" marR="1039494">
              <a:lnSpc>
                <a:spcPct val="138800"/>
              </a:lnSpc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create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role(-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project,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permissions,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stage)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copy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Copy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83591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54" dirty="0"/>
              <a:t> </a:t>
            </a:r>
            <a:r>
              <a:rPr spc="-150" dirty="0"/>
              <a:t>With</a:t>
            </a:r>
            <a:r>
              <a:rPr spc="-250" dirty="0"/>
              <a:t> </a:t>
            </a:r>
            <a:r>
              <a:rPr spc="-25" dirty="0"/>
              <a:t>IAM</a:t>
            </a:r>
          </a:p>
        </p:txBody>
      </p:sp>
      <p:sp>
        <p:nvSpPr>
          <p:cNvPr id="20" name="object 2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191</a:t>
            </a:fld>
            <a:endParaRPr spc="-25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1094762"/>
            <a:ext cx="874176" cy="3321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7071" y="1587245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8064" y="2248342"/>
            <a:ext cx="875737" cy="4657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846007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2868534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3185726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565522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391610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4204080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45421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4838464"/>
            <a:ext cx="66777" cy="66777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308157" y="516817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1259" y="5464501"/>
            <a:ext cx="66777" cy="6677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5781693"/>
            <a:ext cx="66777" cy="6677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170250" y="856689"/>
            <a:ext cx="8456295" cy="50641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Scenario: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DONT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personal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credentials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275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Accounts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Identified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email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address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(Ex: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  <a:hlinkClick r:id="rId9"/>
              </a:rPr>
              <a:t>id-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  <a:hlinkClick r:id="rId9"/>
              </a:rPr>
              <a:t>compute@developer.gserviceaccount.com)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password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20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private/public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212121"/>
                </a:solidFill>
                <a:latin typeface="Trebuchet MS"/>
                <a:cs typeface="Trebuchet MS"/>
              </a:rPr>
              <a:t>RSA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key-</a:t>
            </a:r>
            <a:r>
              <a:rPr sz="1500" b="1" spc="-20" dirty="0">
                <a:solidFill>
                  <a:srgbClr val="212121"/>
                </a:solidFill>
                <a:latin typeface="Trebuchet MS"/>
                <a:cs typeface="Trebuchet MS"/>
              </a:rPr>
              <a:t>pairs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Can't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login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via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browsers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cookies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types: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Default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when some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services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(NOT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5" dirty="0">
                <a:solidFill>
                  <a:srgbClr val="212121"/>
                </a:solidFill>
                <a:latin typeface="Yu Gothic"/>
                <a:cs typeface="Yu Gothic"/>
              </a:rPr>
              <a:t>RECOMMENDED)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0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Editor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role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User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fine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grained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25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Google-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Created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perform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user's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behalf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general,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worry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5" dirty="0"/>
              <a:t>Service</a:t>
            </a:r>
            <a:r>
              <a:rPr spc="-250" dirty="0"/>
              <a:t> </a:t>
            </a:r>
            <a:r>
              <a:rPr spc="-114" dirty="0"/>
              <a:t>Accounts</a:t>
            </a:r>
          </a:p>
        </p:txBody>
      </p:sp>
      <p:sp>
        <p:nvSpPr>
          <p:cNvPr id="22" name="object 2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192</a:t>
            </a:fld>
            <a:endParaRPr spc="-25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56704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Use</a:t>
            </a:r>
            <a:r>
              <a:rPr spc="-275" dirty="0"/>
              <a:t> </a:t>
            </a:r>
            <a:r>
              <a:rPr spc="-110" dirty="0"/>
              <a:t>case</a:t>
            </a:r>
            <a:r>
              <a:rPr spc="-270" dirty="0"/>
              <a:t> </a:t>
            </a:r>
            <a:r>
              <a:rPr spc="-220" dirty="0"/>
              <a:t>1</a:t>
            </a:r>
            <a:r>
              <a:rPr spc="-270" dirty="0"/>
              <a:t> </a:t>
            </a:r>
            <a:r>
              <a:rPr spc="-285" dirty="0"/>
              <a:t>:</a:t>
            </a:r>
            <a:r>
              <a:rPr spc="-270" dirty="0"/>
              <a:t> </a:t>
            </a:r>
            <a:r>
              <a:rPr spc="-140" dirty="0"/>
              <a:t>VM</a:t>
            </a:r>
            <a:r>
              <a:rPr spc="-270" dirty="0"/>
              <a:t> </a:t>
            </a:r>
            <a:r>
              <a:rPr spc="-180" dirty="0"/>
              <a:t>&lt;-</a:t>
            </a:r>
            <a:r>
              <a:rPr spc="-220" dirty="0"/>
              <a:t>&gt;</a:t>
            </a:r>
            <a:r>
              <a:rPr spc="-270" dirty="0"/>
              <a:t> </a:t>
            </a:r>
            <a:r>
              <a:rPr spc="-80" dirty="0"/>
              <a:t>Cloud</a:t>
            </a:r>
            <a:r>
              <a:rPr spc="-275" dirty="0"/>
              <a:t> </a:t>
            </a:r>
            <a:r>
              <a:rPr spc="-50" dirty="0"/>
              <a:t>Storage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3290" y="961211"/>
            <a:ext cx="1602655" cy="6009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7861" y="1228318"/>
            <a:ext cx="567608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00605" y="994597"/>
            <a:ext cx="1135214" cy="6009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2021297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2480391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2939485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28171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9745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43585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4775860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08655" y="51264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70747" y="1743157"/>
            <a:ext cx="9741535" cy="356107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1: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2: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Uses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Cloud-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keys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generation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handled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account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555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rotated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store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credentials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config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Do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those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access!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193</a:t>
            </a:fld>
            <a:endParaRPr spc="-25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9861" y="1136501"/>
            <a:ext cx="709509" cy="7178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7071" y="2037992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8064" y="2698249"/>
            <a:ext cx="875737" cy="4582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35518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3018783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398578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37491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4053831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433627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477586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1259" y="5072184"/>
            <a:ext cx="66777" cy="6677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70250" y="799928"/>
            <a:ext cx="8446135" cy="4411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06070">
              <a:lnSpc>
                <a:spcPct val="128200"/>
              </a:lnSpc>
              <a:spcBef>
                <a:spcPts val="95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CANNOT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0" dirty="0">
                <a:solidFill>
                  <a:srgbClr val="212121"/>
                </a:solidFill>
                <a:latin typeface="Trebuchet MS"/>
                <a:cs typeface="Trebuchet MS"/>
              </a:rPr>
              <a:t>assign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directly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an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Prem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App 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1: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2: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User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iam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service-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accounts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keys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Download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Keep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secure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(It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used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impersonate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account)!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3: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Make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accessible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environment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variable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GOOGLE_APPLICATION_CREDENTIALS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export</a:t>
            </a:r>
            <a:r>
              <a:rPr sz="15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GOOGLE_APPLICATION_CREDENTIALS="/PATH_TO_KEY_FILE"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4: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Client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Libraries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Client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Libraries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library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Default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Credentials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(ADC)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75" dirty="0">
                <a:solidFill>
                  <a:srgbClr val="212121"/>
                </a:solidFill>
                <a:latin typeface="Yu Gothic"/>
                <a:cs typeface="Yu Gothic"/>
              </a:rPr>
              <a:t>ADC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uses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env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var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GOOGLE_APPLICATION_CREDENTIALS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exists!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867600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Use</a:t>
            </a:r>
            <a:r>
              <a:rPr spc="-265" dirty="0"/>
              <a:t> </a:t>
            </a:r>
            <a:r>
              <a:rPr spc="-110" dirty="0"/>
              <a:t>case</a:t>
            </a:r>
            <a:r>
              <a:rPr spc="-265" dirty="0"/>
              <a:t> </a:t>
            </a:r>
            <a:r>
              <a:rPr spc="-220" dirty="0"/>
              <a:t>2</a:t>
            </a:r>
            <a:r>
              <a:rPr spc="-265" dirty="0"/>
              <a:t> </a:t>
            </a:r>
            <a:r>
              <a:rPr spc="-285" dirty="0"/>
              <a:t>:</a:t>
            </a:r>
            <a:r>
              <a:rPr spc="-265" dirty="0"/>
              <a:t> </a:t>
            </a:r>
            <a:r>
              <a:rPr spc="-85" dirty="0"/>
              <a:t>On</a:t>
            </a:r>
            <a:r>
              <a:rPr spc="-265" dirty="0"/>
              <a:t> </a:t>
            </a:r>
            <a:r>
              <a:rPr spc="-110" dirty="0"/>
              <a:t>Prem</a:t>
            </a:r>
            <a:r>
              <a:rPr spc="-265" dirty="0"/>
              <a:t> </a:t>
            </a:r>
            <a:r>
              <a:rPr spc="-180" dirty="0"/>
              <a:t>&lt;-</a:t>
            </a:r>
            <a:r>
              <a:rPr spc="-220" dirty="0"/>
              <a:t>&gt;</a:t>
            </a:r>
            <a:r>
              <a:rPr spc="-265" dirty="0"/>
              <a:t> </a:t>
            </a:r>
            <a:r>
              <a:rPr spc="-80" dirty="0"/>
              <a:t>Cloud</a:t>
            </a:r>
            <a:r>
              <a:rPr spc="-265" dirty="0"/>
              <a:t> </a:t>
            </a:r>
            <a:r>
              <a:rPr spc="-85" dirty="0"/>
              <a:t>Storage</a:t>
            </a:r>
            <a:r>
              <a:rPr spc="-265" dirty="0"/>
              <a:t> </a:t>
            </a:r>
            <a:r>
              <a:rPr spc="-90" dirty="0"/>
              <a:t>(Long</a:t>
            </a:r>
            <a:r>
              <a:rPr spc="-260" dirty="0"/>
              <a:t> </a:t>
            </a:r>
            <a:r>
              <a:rPr spc="-80" dirty="0"/>
              <a:t>Lived)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194</a:t>
            </a:fld>
            <a:endParaRPr spc="-25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22293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3484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149823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4920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51848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5790040"/>
            <a:ext cx="66777" cy="6677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170250" y="866705"/>
            <a:ext cx="7838440" cy="5062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Make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calls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outside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GCP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APIs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short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lived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Few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hours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shorter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Less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risk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compared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sharing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keys!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Credential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Types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OAuth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2.0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tokens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OpenID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ID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tokens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Self-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signed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JSON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Web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Tokens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(JWTs)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Examples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member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elevated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permissions,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he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assume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service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(Create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OAuth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2.0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token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account)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335"/>
              </a:spcBef>
              <a:tabLst>
                <a:tab pos="1264285" algn="l"/>
                <a:tab pos="2268220" algn="l"/>
                <a:tab pos="2642870" algn="l"/>
                <a:tab pos="3481704" algn="l"/>
                <a:tab pos="3804920" algn="l"/>
                <a:tab pos="5438140" algn="l"/>
                <a:tab pos="5883275" algn="l"/>
                <a:tab pos="6750050" algn="l"/>
                <a:tab pos="7122795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OpenID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tokens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authentications: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authenticate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itself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Use</a:t>
            </a:r>
            <a:r>
              <a:rPr spc="-265" dirty="0"/>
              <a:t> </a:t>
            </a:r>
            <a:r>
              <a:rPr spc="-110" dirty="0"/>
              <a:t>case</a:t>
            </a:r>
            <a:r>
              <a:rPr spc="-265" dirty="0"/>
              <a:t> </a:t>
            </a:r>
            <a:r>
              <a:rPr spc="-220" dirty="0"/>
              <a:t>3</a:t>
            </a:r>
            <a:r>
              <a:rPr spc="-260" dirty="0"/>
              <a:t> </a:t>
            </a:r>
            <a:r>
              <a:rPr spc="-285" dirty="0"/>
              <a:t>:</a:t>
            </a:r>
            <a:r>
              <a:rPr spc="-265" dirty="0"/>
              <a:t> </a:t>
            </a:r>
            <a:r>
              <a:rPr spc="-85" dirty="0"/>
              <a:t>On</a:t>
            </a:r>
            <a:r>
              <a:rPr spc="-260" dirty="0"/>
              <a:t> </a:t>
            </a:r>
            <a:r>
              <a:rPr spc="-110" dirty="0"/>
              <a:t>Prem</a:t>
            </a:r>
            <a:r>
              <a:rPr spc="-265" dirty="0"/>
              <a:t> </a:t>
            </a:r>
            <a:r>
              <a:rPr spc="-180" dirty="0"/>
              <a:t>&lt;-</a:t>
            </a:r>
            <a:r>
              <a:rPr spc="-220" dirty="0"/>
              <a:t>&gt;</a:t>
            </a:r>
            <a:r>
              <a:rPr spc="-260" dirty="0"/>
              <a:t> </a:t>
            </a:r>
            <a:r>
              <a:rPr spc="-80" dirty="0"/>
              <a:t>Google</a:t>
            </a:r>
            <a:r>
              <a:rPr spc="-265" dirty="0"/>
              <a:t> </a:t>
            </a:r>
            <a:r>
              <a:rPr spc="-80" dirty="0"/>
              <a:t>Cloud</a:t>
            </a:r>
            <a:r>
              <a:rPr spc="-260" dirty="0"/>
              <a:t> </a:t>
            </a:r>
            <a:r>
              <a:rPr spc="-60" dirty="0"/>
              <a:t>APIs</a:t>
            </a:r>
            <a:r>
              <a:rPr spc="-265" dirty="0"/>
              <a:t> </a:t>
            </a:r>
            <a:r>
              <a:rPr spc="-85" dirty="0"/>
              <a:t>(Short</a:t>
            </a:r>
            <a:r>
              <a:rPr spc="-260" dirty="0"/>
              <a:t> </a:t>
            </a:r>
            <a:r>
              <a:rPr spc="-80" dirty="0"/>
              <a:t>Lived)</a:t>
            </a: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195</a:t>
            </a:fld>
            <a:endParaRPr spc="-25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10059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281845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3820110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481342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5" dirty="0"/>
              <a:t>Service</a:t>
            </a:r>
            <a:r>
              <a:rPr spc="-250" dirty="0"/>
              <a:t> </a:t>
            </a:r>
            <a:r>
              <a:rPr spc="-160" dirty="0"/>
              <a:t>Account</a:t>
            </a:r>
            <a:r>
              <a:rPr spc="-250" dirty="0"/>
              <a:t> </a:t>
            </a:r>
            <a:r>
              <a:rPr spc="-100" dirty="0"/>
              <a:t>Use</a:t>
            </a:r>
            <a:r>
              <a:rPr spc="-250" dirty="0"/>
              <a:t> </a:t>
            </a:r>
            <a:r>
              <a:rPr spc="-110" dirty="0"/>
              <a:t>case</a:t>
            </a:r>
            <a:r>
              <a:rPr spc="-250" dirty="0"/>
              <a:t> </a:t>
            </a:r>
            <a:r>
              <a:rPr spc="-60" dirty="0"/>
              <a:t>Scenarios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6370" y="980227"/>
            <a:ext cx="496697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85285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6370" y="1407936"/>
            <a:ext cx="3405504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wants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talk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 Cloud</a:t>
            </a:r>
            <a:r>
              <a:rPr sz="16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6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9297" y="1407936"/>
            <a:ext cx="456819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7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use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right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6370" y="2134139"/>
            <a:ext cx="313563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wants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put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message</a:t>
            </a:r>
            <a:r>
              <a:rPr sz="16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Pub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Sub</a:t>
            </a:r>
            <a:r>
              <a:rPr sz="16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Topic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69297" y="2134139"/>
            <a:ext cx="456819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7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use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right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6370" y="2851994"/>
            <a:ext cx="306197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identity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or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resource?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69297" y="2851994"/>
            <a:ext cx="5480050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both.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6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attach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(identity). </a:t>
            </a:r>
            <a:r>
              <a:rPr sz="1650" spc="-16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let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members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75" dirty="0">
                <a:solidFill>
                  <a:srgbClr val="212121"/>
                </a:solidFill>
                <a:latin typeface="Yu Gothic"/>
                <a:cs typeface="Yu Gothic"/>
              </a:rPr>
              <a:t>SA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granting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role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(resource).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6370" y="3853654"/>
            <a:ext cx="3896995" cy="843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130"/>
              </a:spcBef>
            </a:pP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default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in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4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needs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B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69297" y="3853654"/>
            <a:ext cx="547370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B,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assign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Permission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196</a:t>
            </a:fld>
            <a:endParaRPr spc="-25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460379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073039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532133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383544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866705"/>
            <a:ext cx="7839075" cy="4116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ACL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Define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who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buckets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objects,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as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well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as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what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level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How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this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different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IAM?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apply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ACLs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customized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18900"/>
              </a:lnSpc>
              <a:spcBef>
                <a:spcPts val="155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gets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he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allowed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either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ACL!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IAM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common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permissions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objects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1715770" algn="l"/>
                <a:tab pos="2327275" algn="l"/>
                <a:tab pos="3375025" algn="l"/>
                <a:tab pos="3974465" algn="l"/>
                <a:tab pos="4737735" algn="l"/>
                <a:tab pos="5133340" algn="l"/>
                <a:tab pos="6588125" algn="l"/>
                <a:tab pos="7555230" algn="l"/>
              </a:tabLst>
            </a:pP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ACLs</a:t>
            </a:r>
            <a:r>
              <a:rPr sz="2350" b="1" spc="-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customize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to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individual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objects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75" dirty="0"/>
              <a:t>ACL</a:t>
            </a:r>
            <a:r>
              <a:rPr spc="-250" dirty="0"/>
              <a:t> </a:t>
            </a:r>
            <a:r>
              <a:rPr spc="-155" dirty="0"/>
              <a:t>(Access</a:t>
            </a:r>
            <a:r>
              <a:rPr spc="-250" dirty="0"/>
              <a:t> </a:t>
            </a:r>
            <a:r>
              <a:rPr spc="-100" dirty="0"/>
              <a:t>Control</a:t>
            </a:r>
            <a:r>
              <a:rPr spc="-245" dirty="0"/>
              <a:t> </a:t>
            </a:r>
            <a:r>
              <a:rPr spc="-55" dirty="0"/>
              <a:t>Lists)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197</a:t>
            </a:fld>
            <a:endParaRPr spc="-25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943658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323454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174865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91776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866705"/>
            <a:ext cx="7838440" cy="4229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30250" algn="l"/>
                <a:tab pos="1205230" algn="l"/>
                <a:tab pos="1815464" algn="l"/>
                <a:tab pos="2860040" algn="l"/>
                <a:tab pos="3820795" algn="l"/>
                <a:tab pos="4227195" algn="l"/>
                <a:tab pos="5288915" algn="l"/>
                <a:tab pos="5671820" algn="l"/>
                <a:tab pos="5970905" algn="l"/>
                <a:tab pos="6856730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bucket?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controls: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Uniform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(Recommended)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Uniform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Fine-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grained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ACLs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access: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Both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individual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15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34"/>
              </a:spcBef>
            </a:pP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Uniform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access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Fine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grained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ACLs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customize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Give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edit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433451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5" dirty="0"/>
              <a:t>Access</a:t>
            </a:r>
            <a:r>
              <a:rPr spc="-260" dirty="0"/>
              <a:t> </a:t>
            </a:r>
            <a:r>
              <a:rPr spc="-100" dirty="0"/>
              <a:t>Control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00" dirty="0"/>
              <a:t>Overview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198</a:t>
            </a:fld>
            <a:endParaRPr spc="-25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238323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5889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323454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67403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43585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663173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866705"/>
            <a:ext cx="7838440" cy="39357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allow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user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limited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your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objects: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Signed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URL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functionality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URL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gives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permissions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limited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duration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perform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specific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Signed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URL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1: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(YOUR_KEY)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Account/User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desired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2: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Signed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URL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key: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70" dirty="0">
                <a:solidFill>
                  <a:srgbClr val="212121"/>
                </a:solidFill>
                <a:latin typeface="Trebuchet MS"/>
                <a:cs typeface="Trebuchet MS"/>
              </a:rPr>
              <a:t>signurl</a:t>
            </a:r>
            <a:r>
              <a:rPr sz="15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500" b="1" i="1" spc="-80" dirty="0">
                <a:solidFill>
                  <a:srgbClr val="212121"/>
                </a:solidFill>
                <a:latin typeface="Trebuchet MS"/>
                <a:cs typeface="Trebuchet MS"/>
              </a:rPr>
              <a:t>d</a:t>
            </a:r>
            <a:r>
              <a:rPr sz="15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10m</a:t>
            </a:r>
            <a:r>
              <a:rPr sz="15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YOUR_KEY</a:t>
            </a:r>
            <a:r>
              <a:rPr sz="15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gs://BUCKET_NAME/OBJECT_PATH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459295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85" dirty="0"/>
              <a:t>Storage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55" dirty="0"/>
              <a:t>Signed</a:t>
            </a:r>
            <a:r>
              <a:rPr spc="-250" dirty="0"/>
              <a:t> </a:t>
            </a:r>
            <a:r>
              <a:rPr spc="-25" dirty="0"/>
              <a:t>URL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199</a:t>
            </a:fld>
            <a:endParaRPr spc="-25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85" dirty="0"/>
              <a:t>Storage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85" dirty="0"/>
              <a:t>Static</a:t>
            </a:r>
            <a:r>
              <a:rPr spc="-250" dirty="0"/>
              <a:t> </a:t>
            </a:r>
            <a:r>
              <a:rPr spc="-90" dirty="0"/>
              <a:t>website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0753" y="969556"/>
            <a:ext cx="709509" cy="7178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7122" y="1353524"/>
            <a:ext cx="567608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49837" y="1119803"/>
            <a:ext cx="1135214" cy="6009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2146505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8894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3306760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6573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4074699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4252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b="1" spc="-105" dirty="0">
                <a:latin typeface="Trebuchet MS"/>
                <a:cs typeface="Trebuchet MS"/>
              </a:rPr>
              <a:t>1:</a:t>
            </a:r>
            <a:r>
              <a:rPr b="1" spc="-75" dirty="0">
                <a:latin typeface="Trebuchet MS"/>
                <a:cs typeface="Trebuchet MS"/>
              </a:rPr>
              <a:t> </a:t>
            </a:r>
            <a:r>
              <a:rPr spc="-105" dirty="0"/>
              <a:t>Create</a:t>
            </a:r>
            <a:r>
              <a:rPr spc="-65" dirty="0"/>
              <a:t> </a:t>
            </a:r>
            <a:r>
              <a:rPr dirty="0"/>
              <a:t>a</a:t>
            </a:r>
            <a:r>
              <a:rPr spc="-130" dirty="0"/>
              <a:t> </a:t>
            </a:r>
            <a:r>
              <a:rPr spc="-65" dirty="0"/>
              <a:t>bucket</a:t>
            </a:r>
            <a:r>
              <a:rPr spc="-70" dirty="0"/>
              <a:t> </a:t>
            </a:r>
            <a:r>
              <a:rPr dirty="0"/>
              <a:t>with</a:t>
            </a:r>
            <a:r>
              <a:rPr spc="-7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b="1" dirty="0">
                <a:latin typeface="Trebuchet MS"/>
                <a:cs typeface="Trebuchet MS"/>
              </a:rPr>
              <a:t>same</a:t>
            </a:r>
            <a:r>
              <a:rPr b="1" spc="-10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name</a:t>
            </a:r>
            <a:r>
              <a:rPr b="1" spc="-105" dirty="0">
                <a:latin typeface="Trebuchet MS"/>
                <a:cs typeface="Trebuchet MS"/>
              </a:rPr>
              <a:t> </a:t>
            </a:r>
            <a:r>
              <a:rPr spc="-30" dirty="0"/>
              <a:t>as</a:t>
            </a:r>
            <a:r>
              <a:rPr spc="-70" dirty="0"/>
              <a:t> </a:t>
            </a:r>
            <a:r>
              <a:rPr spc="-90" dirty="0"/>
              <a:t>website</a:t>
            </a:r>
            <a:r>
              <a:rPr spc="-65" dirty="0"/>
              <a:t> </a:t>
            </a:r>
            <a:r>
              <a:rPr spc="-40" dirty="0"/>
              <a:t>name</a:t>
            </a:r>
            <a:r>
              <a:rPr spc="-70" dirty="0"/>
              <a:t> </a:t>
            </a:r>
            <a:r>
              <a:rPr spc="-125" dirty="0"/>
              <a:t>(Name</a:t>
            </a:r>
            <a:r>
              <a:rPr spc="-4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55" dirty="0"/>
              <a:t>bucket </a:t>
            </a:r>
            <a:r>
              <a:rPr spc="-90" dirty="0"/>
              <a:t>should</a:t>
            </a:r>
            <a:r>
              <a:rPr spc="-170" dirty="0"/>
              <a:t> </a:t>
            </a:r>
            <a:r>
              <a:rPr spc="-100" dirty="0"/>
              <a:t>match</a:t>
            </a:r>
            <a:r>
              <a:rPr spc="-170" dirty="0"/>
              <a:t> </a:t>
            </a:r>
            <a:r>
              <a:rPr spc="-254" dirty="0"/>
              <a:t>DNS</a:t>
            </a:r>
            <a:r>
              <a:rPr spc="-170" dirty="0"/>
              <a:t> </a:t>
            </a:r>
            <a:r>
              <a:rPr spc="-114" dirty="0"/>
              <a:t>name</a:t>
            </a:r>
            <a:r>
              <a:rPr spc="-170" dirty="0"/>
              <a:t> </a:t>
            </a:r>
            <a:r>
              <a:rPr spc="-85" dirty="0"/>
              <a:t>of</a:t>
            </a:r>
            <a:r>
              <a:rPr spc="-170" dirty="0"/>
              <a:t> </a:t>
            </a:r>
            <a:r>
              <a:rPr spc="-90" dirty="0"/>
              <a:t>the</a:t>
            </a:r>
            <a:r>
              <a:rPr spc="-170" dirty="0"/>
              <a:t> </a:t>
            </a:r>
            <a:r>
              <a:rPr spc="-10" dirty="0"/>
              <a:t>website)</a:t>
            </a: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125" dirty="0">
                <a:latin typeface="Trebuchet MS"/>
                <a:cs typeface="Trebuchet MS"/>
              </a:rPr>
              <a:t>Verify</a:t>
            </a:r>
            <a:r>
              <a:rPr sz="1900" b="1" spc="-165" dirty="0">
                <a:latin typeface="Trebuchet MS"/>
                <a:cs typeface="Trebuchet MS"/>
              </a:rPr>
              <a:t> </a:t>
            </a:r>
            <a:r>
              <a:rPr sz="1900" spc="-70" dirty="0"/>
              <a:t>that</a:t>
            </a:r>
            <a:r>
              <a:rPr sz="1900" spc="-135" dirty="0"/>
              <a:t> </a:t>
            </a:r>
            <a:r>
              <a:rPr sz="1900" spc="-90" dirty="0"/>
              <a:t>the</a:t>
            </a:r>
            <a:r>
              <a:rPr sz="1900" spc="-135" dirty="0"/>
              <a:t> </a:t>
            </a:r>
            <a:r>
              <a:rPr sz="1900" spc="-70" dirty="0"/>
              <a:t>domain</a:t>
            </a:r>
            <a:r>
              <a:rPr sz="1900" spc="-135" dirty="0"/>
              <a:t> </a:t>
            </a:r>
            <a:r>
              <a:rPr sz="1900" spc="-114" dirty="0"/>
              <a:t>is</a:t>
            </a:r>
            <a:r>
              <a:rPr sz="1900" spc="-135" dirty="0"/>
              <a:t> </a:t>
            </a:r>
            <a:r>
              <a:rPr sz="1900" spc="-95" dirty="0"/>
              <a:t>owned</a:t>
            </a:r>
            <a:r>
              <a:rPr sz="1900" spc="-130" dirty="0"/>
              <a:t> </a:t>
            </a:r>
            <a:r>
              <a:rPr sz="1900" spc="-70" dirty="0"/>
              <a:t>by</a:t>
            </a:r>
            <a:r>
              <a:rPr sz="1900" spc="-135" dirty="0"/>
              <a:t> </a:t>
            </a:r>
            <a:r>
              <a:rPr sz="1900" spc="-25" dirty="0"/>
              <a:t>you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b="1" spc="-200" dirty="0">
                <a:latin typeface="Trebuchet MS"/>
                <a:cs typeface="Trebuchet MS"/>
              </a:rPr>
              <a:t>2:</a:t>
            </a:r>
            <a:r>
              <a:rPr b="1" spc="-215" dirty="0">
                <a:latin typeface="Trebuchet MS"/>
                <a:cs typeface="Trebuchet MS"/>
              </a:rPr>
              <a:t> </a:t>
            </a:r>
            <a:r>
              <a:rPr spc="-110" dirty="0"/>
              <a:t>Copy</a:t>
            </a:r>
            <a:r>
              <a:rPr spc="-170" dirty="0"/>
              <a:t> </a:t>
            </a:r>
            <a:r>
              <a:rPr spc="-90" dirty="0"/>
              <a:t>the</a:t>
            </a:r>
            <a:r>
              <a:rPr spc="-170" dirty="0"/>
              <a:t> </a:t>
            </a:r>
            <a:r>
              <a:rPr spc="-114" dirty="0"/>
              <a:t>files</a:t>
            </a:r>
            <a:r>
              <a:rPr spc="-175" dirty="0"/>
              <a:t> </a:t>
            </a:r>
            <a:r>
              <a:rPr spc="-55" dirty="0"/>
              <a:t>to</a:t>
            </a:r>
            <a:r>
              <a:rPr spc="-170" dirty="0"/>
              <a:t> </a:t>
            </a:r>
            <a:r>
              <a:rPr spc="-90" dirty="0"/>
              <a:t>the</a:t>
            </a:r>
            <a:r>
              <a:rPr spc="-170" dirty="0"/>
              <a:t> </a:t>
            </a:r>
            <a:r>
              <a:rPr spc="-10" dirty="0"/>
              <a:t>bucket</a:t>
            </a: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4" dirty="0"/>
              <a:t>Add</a:t>
            </a:r>
            <a:r>
              <a:rPr sz="1900" spc="-140" dirty="0"/>
              <a:t> </a:t>
            </a:r>
            <a:r>
              <a:rPr sz="1900" spc="-85" dirty="0"/>
              <a:t>index</a:t>
            </a:r>
            <a:r>
              <a:rPr sz="1900" spc="-135" dirty="0"/>
              <a:t> </a:t>
            </a:r>
            <a:r>
              <a:rPr sz="1900" spc="-85" dirty="0"/>
              <a:t>and</a:t>
            </a:r>
            <a:r>
              <a:rPr sz="1900" spc="-135" dirty="0"/>
              <a:t> </a:t>
            </a:r>
            <a:r>
              <a:rPr sz="1900" spc="-65" dirty="0"/>
              <a:t>error</a:t>
            </a:r>
            <a:r>
              <a:rPr sz="1900" spc="-135" dirty="0"/>
              <a:t> </a:t>
            </a:r>
            <a:r>
              <a:rPr sz="1900" spc="-60" dirty="0"/>
              <a:t>html</a:t>
            </a:r>
            <a:r>
              <a:rPr sz="1900" spc="-135" dirty="0"/>
              <a:t> </a:t>
            </a:r>
            <a:r>
              <a:rPr sz="1900" spc="-100" dirty="0"/>
              <a:t>files</a:t>
            </a:r>
            <a:r>
              <a:rPr sz="1900" spc="-135" dirty="0"/>
              <a:t> </a:t>
            </a:r>
            <a:r>
              <a:rPr sz="1900" spc="-70" dirty="0"/>
              <a:t>for</a:t>
            </a:r>
            <a:r>
              <a:rPr sz="1900" spc="-135" dirty="0"/>
              <a:t> </a:t>
            </a:r>
            <a:r>
              <a:rPr sz="1900" spc="-85" dirty="0"/>
              <a:t>better</a:t>
            </a:r>
            <a:r>
              <a:rPr sz="1900" spc="-135" dirty="0"/>
              <a:t> </a:t>
            </a:r>
            <a:r>
              <a:rPr sz="1900" spc="-110" dirty="0"/>
              <a:t>user</a:t>
            </a:r>
            <a:r>
              <a:rPr sz="1900" spc="-135" dirty="0"/>
              <a:t> </a:t>
            </a:r>
            <a:r>
              <a:rPr sz="1900" spc="-10" dirty="0"/>
              <a:t>experience</a:t>
            </a:r>
            <a:endParaRPr sz="1900"/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b="1" spc="-200" dirty="0">
                <a:latin typeface="Trebuchet MS"/>
                <a:cs typeface="Trebuchet MS"/>
              </a:rPr>
              <a:t>3:</a:t>
            </a:r>
            <a:r>
              <a:rPr b="1" spc="-204" dirty="0">
                <a:latin typeface="Trebuchet MS"/>
                <a:cs typeface="Trebuchet MS"/>
              </a:rPr>
              <a:t> </a:t>
            </a:r>
            <a:r>
              <a:rPr spc="-120" dirty="0"/>
              <a:t>Add</a:t>
            </a:r>
            <a:r>
              <a:rPr spc="-160" dirty="0"/>
              <a:t> </a:t>
            </a:r>
            <a:r>
              <a:rPr spc="-95" dirty="0"/>
              <a:t>member</a:t>
            </a:r>
            <a:r>
              <a:rPr spc="-160" dirty="0"/>
              <a:t> </a:t>
            </a:r>
            <a:r>
              <a:rPr b="1" spc="-65" dirty="0">
                <a:latin typeface="Trebuchet MS"/>
                <a:cs typeface="Trebuchet MS"/>
              </a:rPr>
              <a:t>allUsers</a:t>
            </a:r>
            <a:r>
              <a:rPr b="1" spc="-200" dirty="0">
                <a:latin typeface="Trebuchet MS"/>
                <a:cs typeface="Trebuchet MS"/>
              </a:rPr>
              <a:t> </a:t>
            </a:r>
            <a:r>
              <a:rPr spc="-90" dirty="0"/>
              <a:t>and</a:t>
            </a:r>
            <a:r>
              <a:rPr spc="-160" dirty="0"/>
              <a:t> </a:t>
            </a:r>
            <a:r>
              <a:rPr spc="-85" dirty="0"/>
              <a:t>grant</a:t>
            </a:r>
            <a:r>
              <a:rPr spc="-160" dirty="0"/>
              <a:t> </a:t>
            </a:r>
            <a:r>
              <a:rPr b="1" spc="-70" dirty="0">
                <a:latin typeface="Trebuchet MS"/>
                <a:cs typeface="Trebuchet MS"/>
              </a:rPr>
              <a:t>Storage</a:t>
            </a:r>
            <a:r>
              <a:rPr b="1" spc="-190" dirty="0">
                <a:latin typeface="Trebuchet MS"/>
                <a:cs typeface="Trebuchet MS"/>
              </a:rPr>
              <a:t> </a:t>
            </a:r>
            <a:r>
              <a:rPr b="1" spc="-130" dirty="0">
                <a:latin typeface="Trebuchet MS"/>
                <a:cs typeface="Trebuchet MS"/>
              </a:rPr>
              <a:t>Object</a:t>
            </a:r>
            <a:r>
              <a:rPr b="1" spc="-190" dirty="0">
                <a:latin typeface="Trebuchet MS"/>
                <a:cs typeface="Trebuchet MS"/>
              </a:rPr>
              <a:t> </a:t>
            </a:r>
            <a:r>
              <a:rPr b="1" spc="-145" dirty="0">
                <a:latin typeface="Trebuchet MS"/>
                <a:cs typeface="Trebuchet MS"/>
              </a:rPr>
              <a:t>Viewer</a:t>
            </a:r>
            <a:r>
              <a:rPr b="1" spc="-200" dirty="0">
                <a:latin typeface="Trebuchet MS"/>
                <a:cs typeface="Trebuchet MS"/>
              </a:rPr>
              <a:t> </a:t>
            </a:r>
            <a:r>
              <a:rPr spc="-10" dirty="0"/>
              <a:t>option</a:t>
            </a: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0" dirty="0"/>
              <a:t>Select</a:t>
            </a:r>
            <a:r>
              <a:rPr sz="1900" spc="-125" dirty="0"/>
              <a:t> </a:t>
            </a:r>
            <a:r>
              <a:rPr sz="1900" b="1" spc="-85" dirty="0">
                <a:latin typeface="Trebuchet MS"/>
                <a:cs typeface="Trebuchet MS"/>
              </a:rPr>
              <a:t>Allow</a:t>
            </a:r>
            <a:r>
              <a:rPr sz="1900" b="1" spc="-150" dirty="0">
                <a:latin typeface="Trebuchet MS"/>
                <a:cs typeface="Trebuchet MS"/>
              </a:rPr>
              <a:t> </a:t>
            </a:r>
            <a:r>
              <a:rPr sz="1900" b="1" spc="-65" dirty="0">
                <a:latin typeface="Trebuchet MS"/>
                <a:cs typeface="Trebuchet MS"/>
              </a:rPr>
              <a:t>Public</a:t>
            </a:r>
            <a:r>
              <a:rPr sz="1900" b="1" spc="-155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Access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200</a:t>
            </a:fld>
            <a:endParaRPr spc="-25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9471" y="2417608"/>
            <a:ext cx="7843520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55" dirty="0">
                <a:solidFill>
                  <a:srgbClr val="1BA74A"/>
                </a:solidFill>
              </a:rPr>
              <a:t>Database</a:t>
            </a:r>
            <a:r>
              <a:rPr sz="5900" spc="-520" dirty="0">
                <a:solidFill>
                  <a:srgbClr val="1BA74A"/>
                </a:solidFill>
              </a:rPr>
              <a:t> </a:t>
            </a:r>
            <a:r>
              <a:rPr sz="5900" spc="-170" dirty="0">
                <a:solidFill>
                  <a:srgbClr val="1BA74A"/>
                </a:solidFill>
              </a:rPr>
              <a:t>Fundamentals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201</a:t>
            </a:fld>
            <a:endParaRPr spc="-25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7229" y="1295094"/>
            <a:ext cx="1068436" cy="138563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304799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42362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8075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41832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55883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984539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866705"/>
            <a:ext cx="7838440" cy="4324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organized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your data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</a:pP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choose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between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different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types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,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would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need to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understand: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endParaRPr sz="1900">
              <a:latin typeface="Yu Gothic"/>
              <a:cs typeface="Yu Gothic"/>
            </a:endParaRPr>
          </a:p>
          <a:p>
            <a:pPr marL="346075" marR="6498590">
              <a:lnSpc>
                <a:spcPct val="129700"/>
              </a:lnSpc>
              <a:spcBef>
                <a:spcPts val="70"/>
              </a:spcBef>
            </a:pP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Durability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RTO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RPO</a:t>
            </a:r>
            <a:endParaRPr sz="1900">
              <a:latin typeface="Yu Gothic"/>
              <a:cs typeface="Yu Gothic"/>
            </a:endParaRPr>
          </a:p>
          <a:p>
            <a:pPr marL="346075" marR="5845810">
              <a:lnSpc>
                <a:spcPct val="129700"/>
              </a:lnSpc>
            </a:pP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Consistency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Transactions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started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simple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journey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understand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these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Databases</a:t>
            </a:r>
            <a:r>
              <a:rPr spc="-245" dirty="0"/>
              <a:t> </a:t>
            </a:r>
            <a:r>
              <a:rPr spc="-85" dirty="0"/>
              <a:t>Primer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202</a:t>
            </a:fld>
            <a:endParaRPr spc="-25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9531" y="1219960"/>
            <a:ext cx="1869763" cy="24791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0250" y="866705"/>
            <a:ext cx="6837045" cy="2275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186815" algn="l"/>
                <a:tab pos="1495425" algn="l"/>
                <a:tab pos="2811145" algn="l"/>
                <a:tab pos="4141470" algn="l"/>
                <a:tab pos="4543425" algn="l"/>
                <a:tab pos="4856480" algn="l"/>
                <a:tab pos="5599430" algn="l"/>
                <a:tab pos="657669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Imagine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deployed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center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in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London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consider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challenges: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</a:pPr>
            <a:r>
              <a:rPr sz="1900" b="1" spc="-35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spc="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19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19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center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crashes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fails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crashes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Database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10" dirty="0"/>
              <a:t>Getting</a:t>
            </a:r>
            <a:r>
              <a:rPr spc="-254" dirty="0"/>
              <a:t> </a:t>
            </a:r>
            <a:r>
              <a:rPr spc="-65" dirty="0"/>
              <a:t>Started</a:t>
            </a:r>
          </a:p>
        </p:txBody>
      </p:sp>
      <p:sp>
        <p:nvSpPr>
          <p:cNvPr id="9" name="object 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203</a:t>
            </a:fld>
            <a:endParaRPr spc="-25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591" y="1219979"/>
            <a:ext cx="3205311" cy="242067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21795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335684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962012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45504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70250" y="866705"/>
            <a:ext cx="5835650" cy="41706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9500"/>
              </a:lnSpc>
              <a:spcBef>
                <a:spcPts val="95"/>
              </a:spcBef>
            </a:pP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automate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taking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copy of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database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take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snapshot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hour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another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London</a:t>
            </a:r>
            <a:endParaRPr sz="235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79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consider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challenges: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crashes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34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(PARTIALLY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5" dirty="0">
                <a:solidFill>
                  <a:srgbClr val="212121"/>
                </a:solidFill>
                <a:latin typeface="Yu Gothic"/>
                <a:cs typeface="Yu Gothic"/>
              </a:rPr>
              <a:t>SOLVED):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lose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if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crashes</a:t>
            </a:r>
            <a:endParaRPr sz="1900">
              <a:latin typeface="Yu Gothic"/>
              <a:cs typeface="Yu Gothic"/>
            </a:endParaRPr>
          </a:p>
          <a:p>
            <a:pPr marL="680085" marR="5080">
              <a:lnSpc>
                <a:spcPts val="1970"/>
              </a:lnSpc>
              <a:spcBef>
                <a:spcPts val="8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latest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snapshot.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depending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on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failure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occurs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lose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hour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445"/>
              </a:spcBef>
            </a:pP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3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(NEW):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slow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you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Database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20" dirty="0"/>
              <a:t>Snapshots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204</a:t>
            </a:fld>
            <a:endParaRPr spc="-25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3228" y="1210490"/>
            <a:ext cx="3636800" cy="23607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21795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335684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962012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45504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70250" y="866705"/>
            <a:ext cx="5835650" cy="41706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9500"/>
              </a:lnSpc>
              <a:spcBef>
                <a:spcPts val="95"/>
              </a:spcBef>
            </a:pP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4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2350" spc="4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transaction</a:t>
            </a:r>
            <a:r>
              <a:rPr sz="2350" b="1" spc="3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5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r>
              <a:rPr sz="2350" b="1" spc="3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4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2350" spc="4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process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copy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it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over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second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endParaRPr sz="235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79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consider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challenges: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crashes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340"/>
              </a:spcBef>
              <a:tabLst>
                <a:tab pos="1535430" algn="l"/>
                <a:tab pos="1819275" algn="l"/>
                <a:tab pos="2969895" algn="l"/>
                <a:tab pos="3496310" algn="l"/>
                <a:tab pos="4011295" algn="l"/>
                <a:tab pos="4583430" algn="l"/>
                <a:tab pos="5200650" algn="l"/>
                <a:tab pos="5490845" algn="l"/>
              </a:tabLst>
            </a:pP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(SOLVED):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lose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crashes</a:t>
            </a:r>
            <a:endParaRPr sz="1900">
              <a:latin typeface="Yu Gothic"/>
              <a:cs typeface="Yu Gothic"/>
            </a:endParaRPr>
          </a:p>
          <a:p>
            <a:pPr marL="680085" marR="5080">
              <a:lnSpc>
                <a:spcPts val="1970"/>
              </a:lnSpc>
              <a:spcBef>
                <a:spcPts val="80"/>
              </a:spcBef>
              <a:tabLst>
                <a:tab pos="1101090" algn="l"/>
                <a:tab pos="1518285" algn="l"/>
                <a:tab pos="2094864" algn="l"/>
                <a:tab pos="2966720" algn="l"/>
                <a:tab pos="3479165" algn="l"/>
                <a:tab pos="4058920" algn="l"/>
                <a:tab pos="4932680" algn="l"/>
                <a:tab pos="5371465" algn="l"/>
              </a:tabLst>
            </a:pP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latest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snapshot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apply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transaction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445"/>
              </a:spcBef>
            </a:pP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spc="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3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slow</a:t>
            </a:r>
            <a:r>
              <a:rPr sz="19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take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Database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120" dirty="0"/>
              <a:t>Transaction</a:t>
            </a:r>
            <a:r>
              <a:rPr spc="-240" dirty="0"/>
              <a:t> </a:t>
            </a:r>
            <a:r>
              <a:rPr spc="-20" dirty="0"/>
              <a:t>Logs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205</a:t>
            </a:fld>
            <a:endParaRPr spc="-25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0331" y="1228332"/>
            <a:ext cx="4273752" cy="25375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876881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32149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90775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512925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830117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866705"/>
            <a:ext cx="4833620" cy="435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standby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second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replication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consider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challenges: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Challenge 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(SOLVED):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go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crashes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switch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standby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75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(SOLVED):</a:t>
            </a:r>
            <a:r>
              <a:rPr sz="19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lose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if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crashes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9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3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(SOLVED):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slow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30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snapshots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standby.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525"/>
              </a:spcBef>
            </a:pP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5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connecting</a:t>
            </a:r>
            <a:r>
              <a:rPr sz="15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master</a:t>
            </a:r>
            <a:r>
              <a:rPr sz="15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5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good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always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Database</a:t>
            </a:r>
            <a:r>
              <a:rPr spc="-270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120" dirty="0"/>
              <a:t>Add</a:t>
            </a:r>
            <a:r>
              <a:rPr spc="-265" dirty="0"/>
              <a:t> </a:t>
            </a:r>
            <a:r>
              <a:rPr spc="-40" dirty="0"/>
              <a:t>a</a:t>
            </a:r>
            <a:r>
              <a:rPr spc="-265" dirty="0"/>
              <a:t> </a:t>
            </a:r>
            <a:r>
              <a:rPr spc="-30" dirty="0"/>
              <a:t>Standby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9590" y="6572250"/>
            <a:ext cx="276225" cy="209550"/>
          </a:xfrm>
          <a:custGeom>
            <a:avLst/>
            <a:gdLst/>
            <a:ahLst/>
            <a:cxnLst/>
            <a:rect l="l" t="t" r="r" b="b"/>
            <a:pathLst>
              <a:path w="276225" h="209550">
                <a:moveTo>
                  <a:pt x="2762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76225" y="0"/>
                </a:lnTo>
                <a:lnTo>
                  <a:pt x="2762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206</a:t>
            </a:fld>
            <a:endParaRPr spc="-25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Availability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45" dirty="0"/>
              <a:t> </a:t>
            </a:r>
            <a:r>
              <a:rPr spc="-80" dirty="0"/>
              <a:t>Durability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997915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3484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149823"/>
            <a:ext cx="91818" cy="9181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600570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470747" y="856689"/>
            <a:ext cx="7568565" cy="395033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able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my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now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it?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Percentage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expected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Durability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after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10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100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1000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years?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Examples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measuring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durability: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4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9's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99.99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11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9's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99.999999999</a:t>
            </a:r>
            <a:endParaRPr sz="1900">
              <a:latin typeface="Yu Gothic"/>
              <a:cs typeface="Yu Gothic"/>
            </a:endParaRPr>
          </a:p>
          <a:p>
            <a:pPr marL="12700" marR="142875">
              <a:lnSpc>
                <a:spcPct val="125899"/>
              </a:lnSpc>
              <a:spcBef>
                <a:spcPts val="2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Typically,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four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9's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considered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good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Typically,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durability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eleven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9's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considered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good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207</a:t>
            </a:fld>
            <a:endParaRPr spc="-25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Availability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08821" y="1000733"/>
          <a:ext cx="8964294" cy="1724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12700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Availability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5"/>
                        </a:lnSpc>
                      </a:pP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Downtime</a:t>
                      </a:r>
                      <a:r>
                        <a:rPr sz="1650" b="1" spc="-1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(in</a:t>
                      </a:r>
                      <a:r>
                        <a:rPr sz="1650" b="1" spc="-1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650" b="1" spc="-1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month)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Comment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99.95%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22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minutes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99.99%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(4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9's)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4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1/2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minutes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Typically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online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apps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aim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for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99.99%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(4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9's)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availability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7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99.999%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(5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9's)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26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seconds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Achieving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5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9's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availability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is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tough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208</a:t>
            </a:fld>
            <a:endParaRPr spc="-25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0331" y="1228332"/>
            <a:ext cx="4273752" cy="25375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555515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8977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28171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0250" y="866705"/>
            <a:ext cx="4833620" cy="259270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867410" algn="l"/>
                <a:tab pos="1672589" algn="l"/>
                <a:tab pos="2026285" algn="l"/>
                <a:tab pos="3490595" algn="l"/>
                <a:tab pos="3950970" algn="l"/>
                <a:tab pos="4460240" algn="l"/>
              </a:tabLst>
            </a:pP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durability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11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9's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mean?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store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million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files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ten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million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years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,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expect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lose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file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Why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durability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high?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Because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we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hate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losing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Once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lose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data,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gone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5" dirty="0"/>
              <a:t>Durability</a:t>
            </a:r>
          </a:p>
        </p:txBody>
      </p:sp>
      <p:sp>
        <p:nvSpPr>
          <p:cNvPr id="10" name="object 1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209</a:t>
            </a:fld>
            <a:endParaRPr spc="-25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0331" y="1228332"/>
            <a:ext cx="4273752" cy="25375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0250" y="898425"/>
            <a:ext cx="294576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Increasing</a:t>
            </a:r>
            <a:r>
              <a:rPr sz="235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18992" y="1292411"/>
            <a:ext cx="148463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72210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endParaRPr sz="1900">
              <a:latin typeface="Yu Gothic"/>
              <a:cs typeface="Yu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33818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351010"/>
            <a:ext cx="66777" cy="6677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04136" y="1272044"/>
            <a:ext cx="2790825" cy="1217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100"/>
              </a:spcBef>
              <a:tabLst>
                <a:tab pos="772160" algn="l"/>
                <a:tab pos="1866900" algn="l"/>
              </a:tabLst>
            </a:pP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standbys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distribute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20"/>
              </a:spcBef>
            </a:pP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00"/>
              </a:spcBef>
            </a:pP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endParaRPr sz="1500">
              <a:latin typeface="Yu Gothic"/>
              <a:cs typeface="Yu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730806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0813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678209"/>
            <a:ext cx="66777" cy="66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995401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375196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511809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2509427"/>
            <a:ext cx="4833620" cy="278638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Increasing</a:t>
            </a:r>
            <a:r>
              <a:rPr sz="235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Durability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  <a:tabLst>
                <a:tab pos="1493520" algn="l"/>
                <a:tab pos="2466975" algn="l"/>
                <a:tab pos="2994025" algn="l"/>
                <a:tab pos="3776979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copies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(standbys, snapshots,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transaction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replicas)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endParaRPr sz="15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34"/>
              </a:spcBef>
            </a:pP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Replicating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comes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its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own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challenges!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talk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little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later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Increasing</a:t>
            </a:r>
            <a:r>
              <a:rPr spc="-245" dirty="0"/>
              <a:t> </a:t>
            </a:r>
            <a:r>
              <a:rPr spc="-110" dirty="0"/>
              <a:t>Availability</a:t>
            </a:r>
            <a:r>
              <a:rPr spc="-245" dirty="0"/>
              <a:t> </a:t>
            </a:r>
            <a:r>
              <a:rPr spc="-65" dirty="0"/>
              <a:t>and</a:t>
            </a:r>
            <a:r>
              <a:rPr spc="-240" dirty="0"/>
              <a:t> </a:t>
            </a:r>
            <a:r>
              <a:rPr spc="-105" dirty="0"/>
              <a:t>Durability</a:t>
            </a:r>
            <a:r>
              <a:rPr spc="-245" dirty="0"/>
              <a:t> </a:t>
            </a:r>
            <a:r>
              <a:rPr spc="-120" dirty="0"/>
              <a:t>of</a:t>
            </a:r>
            <a:r>
              <a:rPr spc="-240" dirty="0"/>
              <a:t> </a:t>
            </a:r>
            <a:r>
              <a:rPr spc="-20" dirty="0"/>
              <a:t>Databases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210</a:t>
            </a:fld>
            <a:endParaRPr spc="-25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7229" y="1295094"/>
            <a:ext cx="1068436" cy="138563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455349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298413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757507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45004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8760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5293384"/>
            <a:ext cx="91818" cy="9181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5752478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70250" y="799928"/>
            <a:ext cx="7838440" cy="515937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Imagine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financial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transaction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being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lost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Imagine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trade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being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lost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Imagine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stock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exchange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going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down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hour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90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Typically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businesses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fine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some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downtime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they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hate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losing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Durability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technical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measures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  <a:tabLst>
                <a:tab pos="756285" algn="l"/>
                <a:tab pos="1256030" algn="l"/>
                <a:tab pos="1790064" algn="l"/>
                <a:tab pos="3047365" algn="l"/>
                <a:tab pos="3773804" algn="l"/>
                <a:tab pos="4885055" algn="l"/>
                <a:tab pos="5431790" algn="l"/>
                <a:tab pos="6064250" algn="l"/>
                <a:tab pos="7202805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measure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how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quickly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we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recover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from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failure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RPO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(Recovery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Point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Objective)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Maximum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acceptable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period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loss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RTO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(Recovery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Objective)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Maximum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acceptable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downtime</a:t>
            </a:r>
            <a:endParaRPr sz="1900">
              <a:latin typeface="Yu Gothic"/>
              <a:cs typeface="Yu Gothic"/>
            </a:endParaRPr>
          </a:p>
          <a:p>
            <a:pPr marL="12700" marR="1893570">
              <a:lnSpc>
                <a:spcPts val="3610"/>
              </a:lnSpc>
              <a:spcBef>
                <a:spcPts val="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Achieving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minimum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RTO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RPO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expensive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Trade-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off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criticality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Database</a:t>
            </a:r>
            <a:r>
              <a:rPr spc="-254" dirty="0"/>
              <a:t> </a:t>
            </a:r>
            <a:r>
              <a:rPr spc="-120" dirty="0"/>
              <a:t>Terminology</a:t>
            </a:r>
            <a:r>
              <a:rPr spc="-250" dirty="0"/>
              <a:t> </a:t>
            </a:r>
            <a:r>
              <a:rPr spc="-285" dirty="0"/>
              <a:t>:</a:t>
            </a:r>
            <a:r>
              <a:rPr spc="-254" dirty="0"/>
              <a:t> </a:t>
            </a:r>
            <a:r>
              <a:rPr spc="-160" dirty="0"/>
              <a:t>RTO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25" dirty="0"/>
              <a:t>RPO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211</a:t>
            </a:fld>
            <a:endParaRPr spc="-25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Question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160" dirty="0"/>
              <a:t>RTO</a:t>
            </a:r>
            <a:r>
              <a:rPr spc="-265" dirty="0"/>
              <a:t> </a:t>
            </a:r>
            <a:r>
              <a:rPr spc="-65" dirty="0"/>
              <a:t>and</a:t>
            </a:r>
            <a:r>
              <a:rPr spc="-265" dirty="0"/>
              <a:t> </a:t>
            </a:r>
            <a:r>
              <a:rPr spc="-25" dirty="0"/>
              <a:t>RPO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25972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298122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70747" y="866705"/>
            <a:ext cx="9741535" cy="2292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9500"/>
              </a:lnSpc>
              <a:spcBef>
                <a:spcPts val="95"/>
              </a:spcBef>
            </a:pPr>
            <a:r>
              <a:rPr sz="2350" spc="-21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storing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its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data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storage.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1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taking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48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hours.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crashes,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you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manually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bring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back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in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45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minutes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snapshot.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RTO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0" dirty="0">
                <a:solidFill>
                  <a:srgbClr val="212121"/>
                </a:solidFill>
                <a:latin typeface="Yu Gothic"/>
                <a:cs typeface="Yu Gothic"/>
              </a:rPr>
              <a:t>RPO?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RTO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45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minutes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RPO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48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hours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212</a:t>
            </a:fld>
            <a:endParaRPr spc="-25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36770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336936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463813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536433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Achieving</a:t>
            </a:r>
            <a:r>
              <a:rPr spc="-270" dirty="0"/>
              <a:t> </a:t>
            </a:r>
            <a:r>
              <a:rPr spc="-160" dirty="0"/>
              <a:t>RTO</a:t>
            </a:r>
            <a:r>
              <a:rPr spc="-265" dirty="0"/>
              <a:t> </a:t>
            </a:r>
            <a:r>
              <a:rPr spc="-65" dirty="0"/>
              <a:t>and</a:t>
            </a:r>
            <a:r>
              <a:rPr spc="-265" dirty="0"/>
              <a:t> </a:t>
            </a:r>
            <a:r>
              <a:rPr spc="-45" dirty="0"/>
              <a:t>RPO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70" dirty="0"/>
              <a:t> </a:t>
            </a:r>
            <a:r>
              <a:rPr spc="-140" dirty="0"/>
              <a:t>Failover</a:t>
            </a:r>
            <a:r>
              <a:rPr spc="-265" dirty="0"/>
              <a:t> </a:t>
            </a:r>
            <a:r>
              <a:rPr spc="-60" dirty="0"/>
              <a:t>Examples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6370" y="980227"/>
            <a:ext cx="61556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374005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6370" y="1407936"/>
            <a:ext cx="352171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Very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small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loss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(RPO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minute) 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Very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small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downtime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(RTO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5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minutes)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7982" y="1407936"/>
            <a:ext cx="4099560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230">
              <a:lnSpc>
                <a:spcPct val="109500"/>
              </a:lnSpc>
              <a:spcBef>
                <a:spcPts val="100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Hot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standby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synchronize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0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standby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ready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pick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650" spc="-1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automatic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failover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master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standby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6370" y="2417942"/>
            <a:ext cx="4922520" cy="56007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Very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small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loss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(RPO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minute)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BUT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tolerate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some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downtimes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(RTO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15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minutes)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57982" y="2417942"/>
            <a:ext cx="4241800" cy="8356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65"/>
              </a:spcBef>
            </a:pP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Warm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standby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synchronize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0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standby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minimum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infrastructure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failure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happens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6370" y="3402907"/>
            <a:ext cx="441007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critical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(RPO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minute)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but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tolerate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downtime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few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hours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(RTO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few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hours)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57982" y="3402907"/>
            <a:ext cx="4380230" cy="1119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4950">
              <a:lnSpc>
                <a:spcPct val="109500"/>
              </a:lnSpc>
              <a:spcBef>
                <a:spcPts val="10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regular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snapshots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transaction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ts val="2170"/>
              </a:lnSpc>
              <a:spcBef>
                <a:spcPts val="3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transactions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failure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happens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6370" y="4671676"/>
            <a:ext cx="511873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lost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without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problem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(for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example: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cached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data)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57982" y="4694714"/>
            <a:ext cx="311721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Failover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completely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213</a:t>
            </a:fld>
            <a:endParaRPr spc="-25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7079" y="1150860"/>
            <a:ext cx="2468089" cy="208276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238323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089734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34403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81593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45087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866705"/>
            <a:ext cx="6837045" cy="4128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06120" algn="l"/>
                <a:tab pos="2014855" algn="l"/>
                <a:tab pos="2633345" algn="l"/>
                <a:tab pos="3893820" algn="l"/>
                <a:tab pos="5581015" algn="l"/>
                <a:tab pos="6118225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reporting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analytics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being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launched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These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7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  <a:tabLst>
                <a:tab pos="1052830" algn="l"/>
                <a:tab pos="1434465" algn="l"/>
                <a:tab pos="2113280" algn="l"/>
                <a:tab pos="2927985" algn="l"/>
                <a:tab pos="3620770" algn="l"/>
                <a:tab pos="4272280" algn="l"/>
                <a:tab pos="5020310" algn="l"/>
                <a:tab pos="566229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few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days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see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database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is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impacted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fix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problem?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Vertically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scale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increase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CPU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25"/>
              </a:spcBef>
            </a:pP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(Distribute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database)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Typically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clusters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expensive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read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replicas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against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read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5" dirty="0"/>
              <a:t>(New</a:t>
            </a:r>
            <a:r>
              <a:rPr spc="-235" dirty="0"/>
              <a:t> </a:t>
            </a:r>
            <a:r>
              <a:rPr spc="-105" dirty="0"/>
              <a:t>Scenario)</a:t>
            </a:r>
            <a:r>
              <a:rPr spc="-235" dirty="0"/>
              <a:t> </a:t>
            </a:r>
            <a:r>
              <a:rPr spc="-95" dirty="0"/>
              <a:t>Reporting</a:t>
            </a:r>
            <a:r>
              <a:rPr spc="-235" dirty="0"/>
              <a:t> </a:t>
            </a:r>
            <a:r>
              <a:rPr spc="-65" dirty="0"/>
              <a:t>and</a:t>
            </a:r>
            <a:r>
              <a:rPr spc="-229" dirty="0"/>
              <a:t> </a:t>
            </a:r>
            <a:r>
              <a:rPr spc="-110" dirty="0"/>
              <a:t>Analytics</a:t>
            </a:r>
            <a:r>
              <a:rPr spc="-235" dirty="0"/>
              <a:t> </a:t>
            </a:r>
            <a:r>
              <a:rPr spc="-60" dirty="0"/>
              <a:t>Applications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214</a:t>
            </a:fld>
            <a:endParaRPr spc="-25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8873" y="1219960"/>
            <a:ext cx="3096810" cy="25542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88572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839319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690729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149823"/>
            <a:ext cx="91818" cy="918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70250" y="799928"/>
            <a:ext cx="5835650" cy="355663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read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replica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reporting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analytics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applications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read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replica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Reduces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master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64"/>
              </a:spcBef>
              <a:tabLst>
                <a:tab pos="1291590" algn="l"/>
                <a:tab pos="2059305" algn="l"/>
                <a:tab pos="3115945" algn="l"/>
                <a:tab pos="3578860" algn="l"/>
                <a:tab pos="466026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Upgrade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replica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master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database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(supported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databases)</a:t>
            </a:r>
            <a:endParaRPr sz="2350">
              <a:latin typeface="Yu Gothic"/>
              <a:cs typeface="Yu Gothic"/>
            </a:endParaRPr>
          </a:p>
          <a:p>
            <a:pPr marL="12700" marR="848994">
              <a:lnSpc>
                <a:spcPct val="128200"/>
              </a:lnSpc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multiple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regions 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Take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snapshots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Database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05" dirty="0"/>
              <a:t>Read</a:t>
            </a:r>
            <a:r>
              <a:rPr spc="-254" dirty="0"/>
              <a:t> </a:t>
            </a:r>
            <a:r>
              <a:rPr spc="-65" dirty="0"/>
              <a:t>Replicas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215</a:t>
            </a:fld>
            <a:endParaRPr spc="-25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8227" y="1160021"/>
            <a:ext cx="1607951" cy="13312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697417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34403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81593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41915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866705"/>
            <a:ext cx="7838440" cy="3820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How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ensure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instances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(standbys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replicas)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updated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simultaneously?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Strong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consistency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Synchronous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replication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slow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standbys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Eventual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consistency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Asynchronous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replication.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little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lag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5" dirty="0">
                <a:solidFill>
                  <a:srgbClr val="212121"/>
                </a:solidFill>
                <a:latin typeface="Yu Gothic"/>
                <a:cs typeface="Yu Gothic"/>
              </a:rPr>
              <a:t>-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few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seconds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before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intermediate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period,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might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return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values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scalability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important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than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integrity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64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Examples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Social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Media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Posts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Facebook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status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messages,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Twitter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tweets,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Linked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posts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926109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403784" y="4746466"/>
            <a:ext cx="160528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immediately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08157" y="566900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0250" y="4714747"/>
            <a:ext cx="6012815" cy="1132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2395855" algn="l"/>
                <a:tab pos="4159250" algn="l"/>
                <a:tab pos="4498975" algn="l"/>
                <a:tab pos="5595620" algn="l"/>
              </a:tabLst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Read-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after-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Write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consistency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3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Inserts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are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However,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updates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eventual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consistency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Consistency</a:t>
            </a: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216</a:t>
            </a:fld>
            <a:endParaRPr spc="-25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077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55760" y="2104769"/>
            <a:ext cx="750043" cy="8654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13455" y="3114763"/>
            <a:ext cx="699559" cy="8654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06243" y="4124779"/>
            <a:ext cx="706771" cy="8149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1846007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25889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1259" y="2876881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2149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35989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39745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46673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04297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8740140" cy="436435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There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several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categories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databases: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Relational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9" dirty="0">
                <a:solidFill>
                  <a:srgbClr val="212121"/>
                </a:solidFill>
                <a:latin typeface="Yu Gothic"/>
                <a:cs typeface="Yu Gothic"/>
              </a:rPr>
              <a:t>(OLTP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OLAP),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Document,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Value,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Graph,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Memory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among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others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  <a:tabLst>
                <a:tab pos="1355090" algn="l"/>
                <a:tab pos="2075814" algn="l"/>
                <a:tab pos="2475865" algn="l"/>
                <a:tab pos="3808729" algn="l"/>
                <a:tab pos="4300855" algn="l"/>
                <a:tab pos="5011420" algn="l"/>
                <a:tab pos="5589905" algn="l"/>
                <a:tab pos="6292850" algn="l"/>
                <a:tab pos="6633209" algn="l"/>
                <a:tab pos="7202805" algn="l"/>
                <a:tab pos="7971790" algn="l"/>
                <a:tab pos="827595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Choosing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type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case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easy.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few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factors: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fixed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schema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flexibility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defining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changing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schema?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(schemaless)</a:t>
            </a:r>
            <a:endParaRPr sz="1500">
              <a:latin typeface="Yu Gothic"/>
              <a:cs typeface="Yu Gothic"/>
            </a:endParaRPr>
          </a:p>
          <a:p>
            <a:pPr marL="346075" marR="532765">
              <a:lnSpc>
                <a:spcPts val="3020"/>
              </a:lnSpc>
              <a:spcBef>
                <a:spcPts val="175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transaction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properties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need?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(atomicity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consistency)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kind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latency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want?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(seconds,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milliseconds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microseconds)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240"/>
              </a:spcBef>
            </a:pP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How</a:t>
            </a:r>
            <a:r>
              <a:rPr sz="1900" b="1" spc="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many</a:t>
            </a:r>
            <a:r>
              <a:rPr sz="1900" b="1" spc="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transactions</a:t>
            </a:r>
            <a:r>
              <a:rPr sz="1900" b="1" spc="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expect?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(hundreds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thousands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millions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of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transactions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per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second)</a:t>
            </a:r>
            <a:endParaRPr sz="1900">
              <a:latin typeface="Yu Gothic"/>
              <a:cs typeface="Yu Gothic"/>
            </a:endParaRPr>
          </a:p>
          <a:p>
            <a:pPr marL="346075" marR="2584450">
              <a:lnSpc>
                <a:spcPct val="129700"/>
              </a:lnSpc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How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much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stored?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(MBs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GBs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TBs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PBs)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lot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more...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Database</a:t>
            </a:r>
            <a:r>
              <a:rPr spc="-235" dirty="0"/>
              <a:t> </a:t>
            </a:r>
            <a:r>
              <a:rPr spc="-85" dirty="0"/>
              <a:t>Categories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217</a:t>
            </a:fld>
            <a:endParaRPr spc="-25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2403" y="1353512"/>
            <a:ext cx="4148541" cy="30884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772542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623952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083046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443362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511809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866705"/>
            <a:ext cx="4833620" cy="4746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40410" algn="l"/>
                <a:tab pos="1437005" algn="l"/>
                <a:tab pos="2055495" algn="l"/>
                <a:tab pos="2823845" algn="l"/>
                <a:tab pos="3882390" algn="l"/>
                <a:tab pos="4666615" algn="l"/>
              </a:tabLst>
            </a:pP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was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only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until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a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decade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back!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popular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(or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unpopular)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of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59"/>
              </a:spcBef>
              <a:tabLst>
                <a:tab pos="1581150" algn="l"/>
                <a:tab pos="2724150" algn="l"/>
                <a:tab pos="3423285" algn="l"/>
                <a:tab pos="433578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Predefined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schema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tables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relationships</a:t>
            </a:r>
            <a:endParaRPr sz="2350">
              <a:latin typeface="Yu Gothic"/>
              <a:cs typeface="Yu Gothic"/>
            </a:endParaRPr>
          </a:p>
          <a:p>
            <a:pPr marL="12700" marR="78105">
              <a:lnSpc>
                <a:spcPct val="128200"/>
              </a:lnSpc>
            </a:pP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strong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transactional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capabilities 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  <a:tabLst>
                <a:tab pos="992505" algn="l"/>
                <a:tab pos="1858645" algn="l"/>
                <a:tab pos="3175635" algn="l"/>
                <a:tab pos="4469765" algn="l"/>
              </a:tabLst>
            </a:pP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OLTP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(Online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Transaction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Processing)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use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cases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9"/>
              </a:spcBef>
              <a:tabLst>
                <a:tab pos="1085215" algn="l"/>
                <a:tab pos="2012314" algn="l"/>
                <a:tab pos="3114675" algn="l"/>
                <a:tab pos="4469765" algn="l"/>
              </a:tabLst>
            </a:pP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OLAP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(Online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Analytics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Processing)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use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cases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Relational</a:t>
            </a:r>
            <a:r>
              <a:rPr spc="-220" dirty="0"/>
              <a:t> </a:t>
            </a:r>
            <a:r>
              <a:rPr spc="-45" dirty="0"/>
              <a:t>Databases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218</a:t>
            </a:fld>
            <a:endParaRPr spc="-25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5751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7321" y="2246677"/>
            <a:ext cx="868104" cy="10016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238323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5889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323454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67403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091393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44197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51347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70250" y="866705"/>
            <a:ext cx="7838440" cy="4754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787525" algn="l"/>
                <a:tab pos="2778125" algn="l"/>
                <a:tab pos="3641725" algn="l"/>
                <a:tab pos="4876800" algn="l"/>
                <a:tab pos="5348605" algn="l"/>
                <a:tab pos="6248400" algn="l"/>
                <a:tab pos="717359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where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large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number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users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make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large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number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small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transactions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small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reads,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updates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deletes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cases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  <a:tabLst>
                <a:tab pos="1092200" algn="l"/>
                <a:tab pos="2411095" algn="l"/>
                <a:tab pos="3973195" algn="l"/>
                <a:tab pos="4669155" algn="l"/>
                <a:tab pos="5439410" algn="l"/>
                <a:tab pos="7010400" algn="l"/>
              </a:tabLst>
            </a:pP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traditional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applications,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ERP,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CRM,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e-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commerce,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banking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Popular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databases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MySQL,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Oracle,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Services: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900" b="1" spc="-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SQL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PostgreSQL,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MySQL,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regional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relational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(upto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few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TBs)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Spanner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Unlimited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(multiple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0" dirty="0">
                <a:solidFill>
                  <a:srgbClr val="212121"/>
                </a:solidFill>
                <a:latin typeface="Yu Gothic"/>
                <a:cs typeface="Yu Gothic"/>
              </a:rPr>
              <a:t>PBs)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99.999%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for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global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horizontal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994918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Relational</a:t>
            </a:r>
            <a:r>
              <a:rPr spc="-245" dirty="0"/>
              <a:t> </a:t>
            </a:r>
            <a:r>
              <a:rPr spc="-80" dirty="0"/>
              <a:t>Database</a:t>
            </a:r>
            <a:r>
              <a:rPr spc="-240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200" dirty="0"/>
              <a:t>OLTP</a:t>
            </a:r>
            <a:r>
              <a:rPr spc="-240" dirty="0"/>
              <a:t> </a:t>
            </a:r>
            <a:r>
              <a:rPr spc="-114" dirty="0"/>
              <a:t>(Online</a:t>
            </a:r>
            <a:r>
              <a:rPr spc="-240" dirty="0"/>
              <a:t> </a:t>
            </a:r>
            <a:r>
              <a:rPr spc="-120" dirty="0"/>
              <a:t>Transaction</a:t>
            </a:r>
            <a:r>
              <a:rPr spc="-245" dirty="0"/>
              <a:t> </a:t>
            </a:r>
            <a:r>
              <a:rPr spc="-45" dirty="0"/>
              <a:t>Processing)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219</a:t>
            </a:fld>
            <a:endParaRPr spc="-25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432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21214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81427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231635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58221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70250" y="856689"/>
            <a:ext cx="7838440" cy="29032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46075" marR="5080" indent="-334010">
              <a:lnSpc>
                <a:spcPct val="107900"/>
              </a:lnSpc>
              <a:spcBef>
                <a:spcPts val="220"/>
              </a:spcBef>
              <a:tabLst>
                <a:tab pos="1557655" algn="l"/>
                <a:tab pos="1832610" algn="l"/>
                <a:tab pos="3043555" algn="l"/>
                <a:tab pos="4560570" algn="l"/>
                <a:tab pos="5246370" algn="l"/>
                <a:tab pos="5954395" algn="l"/>
                <a:tab pos="6941184" algn="l"/>
              </a:tabLst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allowing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analyze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petabytes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data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Examples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Reporting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applications,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ware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houses,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Business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intelligence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applications,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Analytics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systems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Sample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: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Decide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insurance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premiums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analyzing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last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hundred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years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consolidated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(transactional)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Petabyte-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scale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distributed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ware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house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Relational</a:t>
            </a:r>
            <a:r>
              <a:rPr spc="-240" dirty="0"/>
              <a:t> </a:t>
            </a:r>
            <a:r>
              <a:rPr spc="-80" dirty="0"/>
              <a:t>Database</a:t>
            </a:r>
            <a:r>
              <a:rPr spc="-240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120" dirty="0"/>
              <a:t>OLAP</a:t>
            </a:r>
            <a:r>
              <a:rPr spc="-235" dirty="0"/>
              <a:t> </a:t>
            </a:r>
            <a:r>
              <a:rPr spc="-114" dirty="0"/>
              <a:t>(Online</a:t>
            </a:r>
            <a:r>
              <a:rPr spc="-240" dirty="0"/>
              <a:t> </a:t>
            </a:r>
            <a:r>
              <a:rPr spc="-110" dirty="0"/>
              <a:t>Analytics</a:t>
            </a:r>
            <a:r>
              <a:rPr spc="-240" dirty="0"/>
              <a:t> </a:t>
            </a:r>
            <a:r>
              <a:rPr spc="-45" dirty="0"/>
              <a:t>Processing)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220</a:t>
            </a:fld>
            <a:endParaRPr spc="-25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01929" y="1186581"/>
            <a:ext cx="3422329" cy="243737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3727" y="3924553"/>
            <a:ext cx="3088459" cy="19714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388572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11477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532133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8827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2583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6423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501792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0250" y="799928"/>
            <a:ext cx="5835015" cy="471297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OLAP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0" dirty="0">
                <a:solidFill>
                  <a:srgbClr val="212121"/>
                </a:solidFill>
                <a:latin typeface="Yu Gothic"/>
                <a:cs typeface="Yu Gothic"/>
              </a:rPr>
              <a:t>OLTP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similar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structures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very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different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approach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how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is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stored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OLTP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databases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row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table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row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stored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together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Efficient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processing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small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transactions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OLAP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databases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columnar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table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column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stored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together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High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compression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store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petabytes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efficiently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Distribute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table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64"/>
              </a:spcBef>
              <a:tabLst>
                <a:tab pos="1360170" algn="l"/>
                <a:tab pos="2175510" algn="l"/>
                <a:tab pos="2978785" algn="l"/>
                <a:tab pos="3843020" algn="l"/>
                <a:tab pos="4918710" algn="l"/>
                <a:tab pos="5747385" algn="l"/>
              </a:tabLst>
            </a:pP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Execute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single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query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across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multiple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nodes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275" dirty="0">
                <a:solidFill>
                  <a:srgbClr val="212121"/>
                </a:solidFill>
                <a:latin typeface="Yu Gothic"/>
                <a:cs typeface="Yu Gothic"/>
              </a:rPr>
              <a:t>-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Complex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queries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executed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efficiently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14426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Relational</a:t>
            </a:r>
            <a:r>
              <a:rPr spc="-254" dirty="0"/>
              <a:t> </a:t>
            </a:r>
            <a:r>
              <a:rPr spc="-70" dirty="0"/>
              <a:t>Databases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20" dirty="0"/>
              <a:t>OLAP</a:t>
            </a:r>
            <a:r>
              <a:rPr spc="-254" dirty="0"/>
              <a:t> </a:t>
            </a:r>
            <a:r>
              <a:rPr spc="-55" dirty="0"/>
              <a:t>vs</a:t>
            </a:r>
            <a:r>
              <a:rPr spc="-254" dirty="0"/>
              <a:t> </a:t>
            </a:r>
            <a:r>
              <a:rPr spc="-125" dirty="0"/>
              <a:t>OLTP</a:t>
            </a: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221</a:t>
            </a:fld>
            <a:endParaRPr spc="-25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3455" y="1094762"/>
            <a:ext cx="699559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00595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417787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7558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173205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5237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258336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60891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498453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0250" y="856689"/>
            <a:ext cx="8740140" cy="430593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New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approach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(actually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so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new!)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building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NoSQL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=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Flexible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schema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Structure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0" dirty="0">
                <a:solidFill>
                  <a:srgbClr val="212121"/>
                </a:solidFill>
                <a:latin typeface="Trebuchet MS"/>
                <a:cs typeface="Trebuchet MS"/>
              </a:rPr>
              <a:t>way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needs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it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Let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schema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evolve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Horizontally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scale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petabytes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millions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TPS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100%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accurate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generalization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great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starting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point: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  <a:tabLst>
                <a:tab pos="1195070" algn="l"/>
                <a:tab pos="2017395" algn="l"/>
                <a:tab pos="3179445" algn="l"/>
                <a:tab pos="4189729" algn="l"/>
                <a:tab pos="5097145" algn="l"/>
                <a:tab pos="6409055" algn="l"/>
                <a:tab pos="6928484" algn="l"/>
                <a:tab pos="7465059" algn="l"/>
                <a:tab pos="8517255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Typical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NoSQL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trade-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off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"Strong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consistency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features"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achieve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"scalability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high-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performance"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Services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Firestore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(Datastore)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BigTable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NoSQL</a:t>
            </a:r>
            <a:r>
              <a:rPr spc="-245" dirty="0"/>
              <a:t> </a:t>
            </a:r>
            <a:r>
              <a:rPr spc="-50" dirty="0"/>
              <a:t>Databases</a:t>
            </a: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222</a:t>
            </a:fld>
            <a:endParaRPr spc="-25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223</a:t>
            </a:fld>
            <a:endParaRPr spc="-25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3455" y="1094762"/>
            <a:ext cx="699559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1948" y="1729145"/>
            <a:ext cx="699559" cy="8654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056345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34069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694903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40329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329287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646479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98453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5401897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575247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70250" y="2834966"/>
            <a:ext cx="8309609" cy="30956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Datastore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serverless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NoSQL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document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ACID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transactions,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9" dirty="0">
                <a:solidFill>
                  <a:srgbClr val="212121"/>
                </a:solidFill>
                <a:latin typeface="Yu Gothic"/>
                <a:cs typeface="Yu Gothic"/>
              </a:rPr>
              <a:t>SQL-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like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queries,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indexes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Designed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transactional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mobile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web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Firestore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(next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Datastore)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adds: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Strong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consistency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Mobile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0" dirty="0">
                <a:solidFill>
                  <a:srgbClr val="212121"/>
                </a:solidFill>
                <a:latin typeface="Yu Gothic"/>
                <a:cs typeface="Yu Gothic"/>
              </a:rPr>
              <a:t>Web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client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libraries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small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medium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(0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few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Terabytes)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BigTable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Managed,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scalable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NoSQL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wide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column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serverless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(You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NoSQL</a:t>
            </a:r>
            <a:r>
              <a:rPr spc="-245" dirty="0"/>
              <a:t> </a:t>
            </a:r>
            <a:r>
              <a:rPr spc="-50" dirty="0"/>
              <a:t>Databases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70250" y="875053"/>
            <a:ext cx="759396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b="1" spc="-80" dirty="0">
                <a:solidFill>
                  <a:srgbClr val="A52929"/>
                </a:solidFill>
                <a:latin typeface="Trebuchet MS"/>
                <a:cs typeface="Trebuchet MS"/>
              </a:rPr>
              <a:t>Cloud</a:t>
            </a:r>
            <a:r>
              <a:rPr sz="3050" b="1" spc="-235" dirty="0">
                <a:solidFill>
                  <a:srgbClr val="A52929"/>
                </a:solidFill>
                <a:latin typeface="Trebuchet MS"/>
                <a:cs typeface="Trebuchet MS"/>
              </a:rPr>
              <a:t> </a:t>
            </a:r>
            <a:r>
              <a:rPr sz="3050" b="1" spc="-150" dirty="0">
                <a:solidFill>
                  <a:srgbClr val="A52929"/>
                </a:solidFill>
                <a:latin typeface="Trebuchet MS"/>
                <a:cs typeface="Trebuchet MS"/>
              </a:rPr>
              <a:t>Firestore</a:t>
            </a:r>
            <a:r>
              <a:rPr sz="3050" b="1" spc="-235" dirty="0">
                <a:solidFill>
                  <a:srgbClr val="A52929"/>
                </a:solidFill>
                <a:latin typeface="Trebuchet MS"/>
                <a:cs typeface="Trebuchet MS"/>
              </a:rPr>
              <a:t> </a:t>
            </a:r>
            <a:r>
              <a:rPr sz="3050" b="1" spc="-110" dirty="0">
                <a:solidFill>
                  <a:srgbClr val="A52929"/>
                </a:solidFill>
                <a:latin typeface="Trebuchet MS"/>
                <a:cs typeface="Trebuchet MS"/>
              </a:rPr>
              <a:t>(Datastore)</a:t>
            </a:r>
            <a:r>
              <a:rPr sz="3050" b="1" spc="-235" dirty="0">
                <a:solidFill>
                  <a:srgbClr val="A52929"/>
                </a:solidFill>
                <a:latin typeface="Trebuchet MS"/>
                <a:cs typeface="Trebuchet MS"/>
              </a:rPr>
              <a:t> </a:t>
            </a:r>
            <a:r>
              <a:rPr sz="3050" b="1" spc="-55" dirty="0">
                <a:solidFill>
                  <a:srgbClr val="A52929"/>
                </a:solidFill>
                <a:latin typeface="Trebuchet MS"/>
                <a:cs typeface="Trebuchet MS"/>
              </a:rPr>
              <a:t>vs</a:t>
            </a:r>
            <a:r>
              <a:rPr sz="3050" b="1" spc="-229" dirty="0">
                <a:solidFill>
                  <a:srgbClr val="A52929"/>
                </a:solidFill>
                <a:latin typeface="Trebuchet MS"/>
                <a:cs typeface="Trebuchet MS"/>
              </a:rPr>
              <a:t> </a:t>
            </a:r>
            <a:r>
              <a:rPr sz="3050" b="1" spc="-80" dirty="0">
                <a:solidFill>
                  <a:srgbClr val="A52929"/>
                </a:solidFill>
                <a:latin typeface="Trebuchet MS"/>
                <a:cs typeface="Trebuchet MS"/>
              </a:rPr>
              <a:t>Cloud</a:t>
            </a:r>
            <a:r>
              <a:rPr sz="3050" b="1" spc="-235" dirty="0">
                <a:solidFill>
                  <a:srgbClr val="A52929"/>
                </a:solidFill>
                <a:latin typeface="Trebuchet MS"/>
                <a:cs typeface="Trebuchet MS"/>
              </a:rPr>
              <a:t> </a:t>
            </a:r>
            <a:r>
              <a:rPr sz="3050" b="1" spc="-80" dirty="0">
                <a:solidFill>
                  <a:srgbClr val="A52929"/>
                </a:solidFill>
                <a:latin typeface="Trebuchet MS"/>
                <a:cs typeface="Trebuchet MS"/>
              </a:rPr>
              <a:t>BigTable</a:t>
            </a:r>
            <a:endParaRPr sz="305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224</a:t>
            </a:fld>
            <a:endParaRPr spc="-25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2"/>
            <a:ext cx="809674" cy="113521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772542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312312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548827"/>
            <a:ext cx="91818" cy="918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70250" y="866705"/>
            <a:ext cx="7838440" cy="3272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Retrieving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memory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much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faster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than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retrieving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disk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In-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like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Redis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deliver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microsecond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latency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storing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memory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Memory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Store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07200"/>
              </a:lnSpc>
              <a:spcBef>
                <a:spcPts val="550"/>
              </a:spcBef>
              <a:tabLst>
                <a:tab pos="639445" algn="l"/>
                <a:tab pos="1492885" algn="l"/>
                <a:tab pos="1717039" algn="l"/>
                <a:tab pos="2955925" algn="l"/>
                <a:tab pos="4032885" algn="l"/>
                <a:tab pos="5942330" algn="l"/>
                <a:tab pos="7030084" algn="l"/>
              </a:tabLst>
            </a:pP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cases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Caching,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session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management,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gaming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leader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boards,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geospatial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In-</a:t>
            </a:r>
            <a:r>
              <a:rPr spc="-105" dirty="0"/>
              <a:t>memory</a:t>
            </a:r>
            <a:r>
              <a:rPr spc="-220" dirty="0"/>
              <a:t> </a:t>
            </a:r>
            <a:r>
              <a:rPr spc="-45" dirty="0"/>
              <a:t>Databases</a:t>
            </a:r>
          </a:p>
        </p:txBody>
      </p:sp>
      <p:sp>
        <p:nvSpPr>
          <p:cNvPr id="10" name="object 1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225</a:t>
            </a:fld>
            <a:endParaRPr spc="-25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368935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Databases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25" dirty="0"/>
              <a:t>Summary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82950" y="1000733"/>
          <a:ext cx="10016490" cy="4807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2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0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Database</a:t>
                      </a:r>
                      <a:r>
                        <a:rPr sz="1650" b="1" spc="-9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Type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925"/>
                        </a:lnSpc>
                      </a:pP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GCP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Services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Description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Relational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OLTP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Cloud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SQL,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Cloud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Transactional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usecases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needing </a:t>
                      </a:r>
                      <a:r>
                        <a:rPr sz="1650" b="1" spc="-8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predefined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schema</a:t>
                      </a:r>
                      <a:r>
                        <a:rPr sz="1650" b="1" spc="-10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125730">
                        <a:lnSpc>
                          <a:spcPts val="190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databases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905"/>
                        </a:lnSpc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Spanner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1905"/>
                        </a:lnSpc>
                      </a:pP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very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b="1" spc="-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strong</a:t>
                      </a:r>
                      <a:r>
                        <a:rPr sz="1650" b="1" spc="-10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transactional</a:t>
                      </a:r>
                      <a:r>
                        <a:rPr sz="1650" b="1" spc="-10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capabilities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(Row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storage)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1905"/>
                        </a:lnSpc>
                      </a:pP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Cloud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SQL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: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MySQL,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PostgreSQL,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SQL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server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DBs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1870"/>
                        </a:lnSpc>
                      </a:pP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Cloud</a:t>
                      </a:r>
                      <a:r>
                        <a:rPr sz="1650" b="1" spc="-114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Spanner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: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Unlimited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scale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99.999%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availability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1895"/>
                        </a:lnSpc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for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global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applications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with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horizontal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scaling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Relational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OLAP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BigQuery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Columnar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storage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with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predefined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schema.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5730">
                        <a:lnSpc>
                          <a:spcPts val="190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databases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1905"/>
                        </a:lnSpc>
                      </a:pP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Datawarehousing </a:t>
                      </a:r>
                      <a:r>
                        <a:rPr sz="1650" spc="-1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&amp;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BigData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workloads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NoSQL</a:t>
                      </a:r>
                      <a:r>
                        <a:rPr sz="1650" b="1" spc="-1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Databases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Cloud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Firestore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Apps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needing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quickly</a:t>
                      </a:r>
                      <a:r>
                        <a:rPr sz="1650" b="1" spc="-10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evolving</a:t>
                      </a:r>
                      <a:r>
                        <a:rPr sz="1650" b="1" spc="-1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structure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</a:t>
                      </a:r>
                      <a:r>
                        <a:rPr sz="1650" b="1" spc="-7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schema-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less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)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870"/>
                        </a:lnSpc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(Datastore)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,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Cloud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1870"/>
                        </a:lnSpc>
                      </a:pP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Cloud</a:t>
                      </a:r>
                      <a:r>
                        <a:rPr sz="1650" b="1" spc="-10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Firestore</a:t>
                      </a:r>
                      <a:r>
                        <a:rPr sz="1650" b="1" spc="-10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spc="-20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-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Serverless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transactional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document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DB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895"/>
                        </a:lnSpc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BigTable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1895"/>
                        </a:lnSpc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supporting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mobile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&amp;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web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apps.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Small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to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medium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DBs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(0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-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1920"/>
                        </a:lnSpc>
                      </a:pP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few</a:t>
                      </a: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TBs)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1930"/>
                        </a:lnSpc>
                      </a:pP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Cloud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7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BigTable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spc="-20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-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Large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databases(10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TB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-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3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PBs).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Streaming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1860"/>
                        </a:lnSpc>
                      </a:pP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(IOT),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analytical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&amp;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operational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workloads.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NOT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serverless.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750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650" b="1" spc="-1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memory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Cloud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Memorystore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Applications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needing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b="1" spc="-7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microsecond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responses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226</a:t>
            </a:fld>
            <a:endParaRPr spc="-25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10059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255134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3269198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371994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82950" y="417069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82950" y="4621438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82950" y="507218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82950" y="552293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Databases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65" dirty="0"/>
              <a:t>Scenarios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96370" y="980227"/>
            <a:ext cx="81534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47717" y="980227"/>
            <a:ext cx="79375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6370" y="1430974"/>
            <a:ext cx="51155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4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start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up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quickly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evolving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schema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(table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structure)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47717" y="1407936"/>
            <a:ext cx="1734185" cy="57658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Datastore/Firestore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6370" y="2157177"/>
            <a:ext cx="385127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Non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relational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db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less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(10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GB)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47717" y="2157177"/>
            <a:ext cx="14452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Datastore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96370" y="2593232"/>
            <a:ext cx="7388225" cy="56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00"/>
              </a:spcBef>
            </a:pP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Transactional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global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predefined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schema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needing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process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million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transactions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per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second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47717" y="2607923"/>
            <a:ext cx="128524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CloudSpanner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96370" y="3325779"/>
            <a:ext cx="705421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Transactional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local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processing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thousands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transactions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per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second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947717" y="3325779"/>
            <a:ext cx="941069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96370" y="3776526"/>
            <a:ext cx="447548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Cache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(from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database)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web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47717" y="3776526"/>
            <a:ext cx="12166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MemoryStore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96370" y="4227272"/>
            <a:ext cx="489331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analytics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processing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petabytes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47717" y="4227272"/>
            <a:ext cx="84010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96370" y="4678019"/>
            <a:ext cx="58388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storing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huge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volumes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stream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IOT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devices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947717" y="4678019"/>
            <a:ext cx="78105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BigTable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96370" y="5128766"/>
            <a:ext cx="48228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storing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huge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streams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series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947717" y="5128766"/>
            <a:ext cx="78105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BigTable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227</a:t>
            </a:fld>
            <a:endParaRPr spc="-25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5638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94783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365190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7157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09139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47536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763339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080532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397724"/>
            <a:ext cx="66777" cy="6677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714916"/>
            <a:ext cx="66777" cy="6677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70250" y="856689"/>
            <a:ext cx="7665084" cy="49974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Fully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Relational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worry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managing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MySQL,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PostgreSQL,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endParaRPr sz="1900">
              <a:latin typeface="Yu Gothic"/>
              <a:cs typeface="Yu Gothic"/>
            </a:endParaRPr>
          </a:p>
          <a:p>
            <a:pPr marL="346075" marR="2041525">
              <a:lnSpc>
                <a:spcPct val="131200"/>
              </a:lnSpc>
              <a:spcBef>
                <a:spcPts val="3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providing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(99.95%)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SSDs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HDDs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(For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best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performance: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SSDs)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Upto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416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GB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65" dirty="0">
                <a:solidFill>
                  <a:srgbClr val="212121"/>
                </a:solidFill>
                <a:latin typeface="Yu Gothic"/>
                <a:cs typeface="Yu Gothic"/>
              </a:rPr>
              <a:t>RAM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30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TB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SQL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simple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relational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cases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migrate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local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MySQL,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PostgreSQL,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ts val="3020"/>
              </a:lnSpc>
              <a:spcBef>
                <a:spcPts val="16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reduce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maintenance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simple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relational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database </a:t>
            </a:r>
            <a:r>
              <a:rPr sz="1900" spc="-229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Spanner(Expensive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$$$$)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instead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if: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ts val="1735"/>
              </a:lnSpc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huge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volumes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relational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(TBs)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infinite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growing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(to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TBs)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endParaRPr sz="1500">
              <a:latin typeface="Yu Gothic"/>
              <a:cs typeface="Yu Gothic"/>
            </a:endParaRPr>
          </a:p>
          <a:p>
            <a:pPr marL="680085" marR="1525270">
              <a:lnSpc>
                <a:spcPct val="138800"/>
              </a:lnSpc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need a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Global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(distributed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regions)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need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higher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(99.999%)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76022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25" dirty="0"/>
              <a:t>SQL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228</a:t>
            </a:fld>
            <a:endParaRPr spc="-25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077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00595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417787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7558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043824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361016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6990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07469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445866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48342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130615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308157" y="546867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756652"/>
            <a:ext cx="66777" cy="6677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170250" y="856689"/>
            <a:ext cx="7025005" cy="50393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Important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SQL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Features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Automatic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encryption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(tables/backups),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maintenance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updates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failover: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Standby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automatic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failover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Pre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requisites: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Automated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backups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Binary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Read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workloads: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Options: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Cross-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zone,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Cross-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(NON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DB)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Pre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requisites: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Automated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backups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Binary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29700"/>
              </a:lnSpc>
              <a:spcBef>
                <a:spcPts val="15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Automatic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 increase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without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downtime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(for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newer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versions)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Point-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in-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recovery: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Enable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binary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endParaRPr sz="1900">
              <a:latin typeface="Yu Gothic"/>
              <a:cs typeface="Yu Gothic"/>
            </a:endParaRPr>
          </a:p>
          <a:p>
            <a:pPr marL="346075" marR="1946910">
              <a:lnSpc>
                <a:spcPct val="129700"/>
              </a:lnSpc>
              <a:spcBef>
                <a:spcPts val="6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Backups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(Automated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demand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backups)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migration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sources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Migration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(DMS)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UI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(console)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formats: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(Recommended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import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into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databases)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CSV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70" dirty="0"/>
              <a:t> </a:t>
            </a:r>
            <a:r>
              <a:rPr spc="-60" dirty="0"/>
              <a:t>SQL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70" dirty="0"/>
              <a:t> </a:t>
            </a:r>
            <a:r>
              <a:rPr spc="-125" dirty="0"/>
              <a:t>Features</a:t>
            </a:r>
          </a:p>
        </p:txBody>
      </p:sp>
      <p:sp>
        <p:nvSpPr>
          <p:cNvPr id="20" name="object 2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229</a:t>
            </a:fld>
            <a:endParaRPr spc="-25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2027" y="1143472"/>
            <a:ext cx="3611116" cy="29720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06862" y="4237289"/>
            <a:ext cx="317944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source:cloud.google.com</a:t>
            </a:r>
            <a:endParaRPr sz="2350">
              <a:latin typeface="Yu Gothic"/>
              <a:cs typeface="Yu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538821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390231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41247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859332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856689"/>
            <a:ext cx="5835650" cy="460184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5" dirty="0">
                <a:solidFill>
                  <a:srgbClr val="212121"/>
                </a:solidFill>
                <a:latin typeface="Yu Gothic"/>
                <a:cs typeface="Yu Gothic"/>
              </a:rPr>
              <a:t>(HA)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Choose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Primary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Secondary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8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Primary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1900" b="1" spc="-35" dirty="0">
                <a:solidFill>
                  <a:srgbClr val="212121"/>
                </a:solidFill>
                <a:latin typeface="Trebuchet MS"/>
                <a:cs typeface="Trebuchet MS"/>
              </a:rPr>
              <a:t>Secondary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19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1452880" algn="l"/>
                <a:tab pos="2419985" algn="l"/>
                <a:tab pos="3783329" algn="l"/>
                <a:tab pos="455295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Changes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primary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replicated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synchronously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secondary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case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Zonal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failure,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automatic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failover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secondary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Primary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zone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becomes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available,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failover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does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not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revert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29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High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CANNOT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Read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Replica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75" dirty="0"/>
              <a:t> </a:t>
            </a:r>
            <a:r>
              <a:rPr spc="-60" dirty="0"/>
              <a:t>SQL</a:t>
            </a:r>
            <a:r>
              <a:rPr spc="-275" dirty="0"/>
              <a:t> </a:t>
            </a:r>
            <a:r>
              <a:rPr spc="-155" dirty="0"/>
              <a:t>-</a:t>
            </a:r>
            <a:r>
              <a:rPr spc="-270" dirty="0"/>
              <a:t> </a:t>
            </a:r>
            <a:r>
              <a:rPr spc="-55" dirty="0"/>
              <a:t>High</a:t>
            </a:r>
            <a:r>
              <a:rPr spc="-275" dirty="0"/>
              <a:t> </a:t>
            </a:r>
            <a:r>
              <a:rPr spc="-90" dirty="0"/>
              <a:t>Availability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230</a:t>
            </a:fld>
            <a:endParaRPr spc="-25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5760" y="1094762"/>
            <a:ext cx="750043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847651" y="898425"/>
            <a:ext cx="106235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globally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22293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3484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636473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016269"/>
            <a:ext cx="91818" cy="9181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475362"/>
            <a:ext cx="91818" cy="918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934456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28503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6606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66705"/>
            <a:ext cx="7606665" cy="4972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6695">
              <a:lnSpc>
                <a:spcPct val="109500"/>
              </a:lnSpc>
              <a:spcBef>
                <a:spcPts val="95"/>
              </a:spcBef>
              <a:tabLst>
                <a:tab pos="984885" algn="l"/>
                <a:tab pos="2622550" algn="l"/>
                <a:tab pos="3970654" algn="l"/>
                <a:tab pos="529082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Fully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managed,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mission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critical,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relational(SQL),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distributed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95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(99.999%)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Strong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transactional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consistency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global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scale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Scales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PBs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automatic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sharding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Spanner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scales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horizontally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reads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writes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229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comparison,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replicas: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horizontally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scale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write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SQL!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Multi-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configurations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Expensive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(compared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SQL):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Pay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Export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Console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use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flow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automate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No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65" dirty="0"/>
              <a:t>Spanner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231</a:t>
            </a:fld>
            <a:endParaRPr spc="-25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3455" y="1094762"/>
            <a:ext cx="699559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00595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43865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726632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0646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361016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6990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07469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362676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742472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509305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08157" y="547702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70250" y="856689"/>
            <a:ext cx="8322945" cy="47980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Datastore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Highly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scalable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NoSQL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Document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scales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partitions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grows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upto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few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TBs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bigger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volumes,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BigTable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is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Transactions,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Indexes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like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queries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(GQL)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support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Joins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Aggregate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(sum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count)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cases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needing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flexible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schema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transactions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Examples: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Profile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Product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Catalogs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Structure: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Kind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Entity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(Use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namespaces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entities)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7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(NOT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console)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contains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metadata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folder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Firestore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30" dirty="0">
                <a:solidFill>
                  <a:srgbClr val="212121"/>
                </a:solidFill>
                <a:latin typeface="Yu Gothic"/>
                <a:cs typeface="Yu Gothic"/>
              </a:rPr>
              <a:t>=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Datastore++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Optimized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multi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device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Offline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mode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synchronization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across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devices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mobile,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IOT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client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side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libraries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Web,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iOS,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Android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08157" y="5852644"/>
            <a:ext cx="75565" cy="43815"/>
          </a:xfrm>
          <a:custGeom>
            <a:avLst/>
            <a:gdLst/>
            <a:ahLst/>
            <a:cxnLst/>
            <a:rect l="l" t="t" r="r" b="b"/>
            <a:pathLst>
              <a:path w="75565" h="43814">
                <a:moveTo>
                  <a:pt x="75124" y="43315"/>
                </a:moveTo>
                <a:lnTo>
                  <a:pt x="0" y="43315"/>
                </a:lnTo>
                <a:lnTo>
                  <a:pt x="0" y="0"/>
                </a:lnTo>
                <a:lnTo>
                  <a:pt x="75124" y="0"/>
                </a:lnTo>
                <a:lnTo>
                  <a:pt x="75124" y="43315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00" dirty="0"/>
              <a:t>Datastore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45" dirty="0"/>
              <a:t> </a:t>
            </a:r>
            <a:r>
              <a:rPr spc="-120" dirty="0"/>
              <a:t>Firestore</a:t>
            </a:r>
          </a:p>
        </p:txBody>
      </p:sp>
      <p:sp>
        <p:nvSpPr>
          <p:cNvPr id="20" name="object 2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232</a:t>
            </a:fld>
            <a:endParaRPr spc="-25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0546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43865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856013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5989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016269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3668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74247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5168177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51875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856689"/>
            <a:ext cx="8740140" cy="483997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Petabyte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scale,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wide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column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NoSQL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70" dirty="0">
                <a:solidFill>
                  <a:srgbClr val="212121"/>
                </a:solidFill>
                <a:latin typeface="Yu Gothic"/>
                <a:cs typeface="Yu Gothic"/>
              </a:rPr>
              <a:t>DB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(HBase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compatible)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Designed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huge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volumes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analytical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operational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IOT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Streams,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Analytics,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Time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Series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Handle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millions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read/write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TPS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low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row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transactions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(multi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row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transactions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supported)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serverless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(Use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SSD</a:t>
            </a:r>
            <a:r>
              <a:rPr sz="2350" spc="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2350" spc="-285" dirty="0">
                <a:solidFill>
                  <a:srgbClr val="212121"/>
                </a:solidFill>
                <a:latin typeface="Yu Gothic"/>
                <a:cs typeface="Yu Gothic"/>
              </a:rPr>
              <a:t>HDD)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horizontally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(No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downtime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resizing)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CANNOT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export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using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console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or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Either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Java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(java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jar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JAR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export\import)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HBase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cbt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command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line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tool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work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BigTable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9" dirty="0">
                <a:solidFill>
                  <a:srgbClr val="212121"/>
                </a:solidFill>
                <a:latin typeface="Yu Gothic"/>
                <a:cs typeface="Yu Gothic"/>
              </a:rPr>
              <a:t>(NOT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gcloud)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Ex: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cbt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createtable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table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00" dirty="0"/>
              <a:t>BigTable</a:t>
            </a: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233</a:t>
            </a:fld>
            <a:endParaRPr spc="-25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114" dirty="0"/>
              <a:t>BigTable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55" dirty="0"/>
              <a:t>Wide</a:t>
            </a:r>
            <a:r>
              <a:rPr spc="-254" dirty="0"/>
              <a:t> </a:t>
            </a:r>
            <a:r>
              <a:rPr spc="-80" dirty="0"/>
              <a:t>Column</a:t>
            </a:r>
            <a:r>
              <a:rPr spc="-260" dirty="0"/>
              <a:t> </a:t>
            </a:r>
            <a:r>
              <a:rPr spc="-45" dirty="0"/>
              <a:t>Database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1888" y="994597"/>
            <a:ext cx="5275417" cy="12687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755847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310642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348205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3778375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158170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45004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4926109"/>
            <a:ext cx="91818" cy="91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5769173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29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pc="-165" dirty="0"/>
              <a:t>At</a:t>
            </a:r>
            <a:r>
              <a:rPr spc="-170" dirty="0"/>
              <a:t> </a:t>
            </a:r>
            <a:r>
              <a:rPr spc="-90" dirty="0"/>
              <a:t>the</a:t>
            </a:r>
            <a:r>
              <a:rPr spc="-165" dirty="0"/>
              <a:t> </a:t>
            </a:r>
            <a:r>
              <a:rPr spc="-100" dirty="0"/>
              <a:t>most</a:t>
            </a:r>
            <a:r>
              <a:rPr spc="-165" dirty="0"/>
              <a:t> </a:t>
            </a:r>
            <a:r>
              <a:rPr spc="-120" dirty="0"/>
              <a:t>basic</a:t>
            </a:r>
            <a:r>
              <a:rPr spc="-165" dirty="0"/>
              <a:t> </a:t>
            </a:r>
            <a:r>
              <a:rPr spc="-70" dirty="0"/>
              <a:t>level,</a:t>
            </a:r>
            <a:r>
              <a:rPr spc="-170" dirty="0"/>
              <a:t> </a:t>
            </a:r>
            <a:r>
              <a:rPr spc="-140" dirty="0"/>
              <a:t>each</a:t>
            </a:r>
            <a:r>
              <a:rPr spc="-165" dirty="0"/>
              <a:t> </a:t>
            </a:r>
            <a:r>
              <a:rPr spc="-80" dirty="0"/>
              <a:t>table</a:t>
            </a:r>
            <a:r>
              <a:rPr spc="-165" dirty="0"/>
              <a:t> </a:t>
            </a:r>
            <a:r>
              <a:rPr spc="-135" dirty="0"/>
              <a:t>is</a:t>
            </a:r>
            <a:r>
              <a:rPr spc="-165" dirty="0"/>
              <a:t> </a:t>
            </a:r>
            <a:r>
              <a:rPr spc="-105" dirty="0"/>
              <a:t>a</a:t>
            </a:r>
            <a:r>
              <a:rPr spc="-165" dirty="0"/>
              <a:t> </a:t>
            </a:r>
            <a:r>
              <a:rPr spc="-105" dirty="0"/>
              <a:t>sorted</a:t>
            </a:r>
            <a:r>
              <a:rPr spc="-170" dirty="0"/>
              <a:t> </a:t>
            </a:r>
            <a:r>
              <a:rPr spc="-135" dirty="0"/>
              <a:t>key/value</a:t>
            </a:r>
            <a:r>
              <a:rPr spc="-165" dirty="0"/>
              <a:t> </a:t>
            </a:r>
            <a:r>
              <a:rPr spc="-25" dirty="0"/>
              <a:t>map</a:t>
            </a: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5" dirty="0"/>
              <a:t>Each</a:t>
            </a:r>
            <a:r>
              <a:rPr sz="1900" spc="-150" dirty="0"/>
              <a:t> </a:t>
            </a:r>
            <a:r>
              <a:rPr sz="1900" spc="-90" dirty="0"/>
              <a:t>value</a:t>
            </a:r>
            <a:r>
              <a:rPr sz="1900" spc="-145" dirty="0"/>
              <a:t> </a:t>
            </a:r>
            <a:r>
              <a:rPr sz="1900" spc="-60" dirty="0"/>
              <a:t>in</a:t>
            </a:r>
            <a:r>
              <a:rPr sz="1900" spc="-145" dirty="0"/>
              <a:t> </a:t>
            </a:r>
            <a:r>
              <a:rPr sz="1900" spc="-105" dirty="0"/>
              <a:t>a</a:t>
            </a:r>
            <a:r>
              <a:rPr sz="1900" spc="-145" dirty="0"/>
              <a:t> </a:t>
            </a:r>
            <a:r>
              <a:rPr sz="1900" spc="-75" dirty="0"/>
              <a:t>row</a:t>
            </a:r>
            <a:r>
              <a:rPr sz="1900" spc="-145" dirty="0"/>
              <a:t> </a:t>
            </a:r>
            <a:r>
              <a:rPr sz="1900" spc="-114" dirty="0"/>
              <a:t>is</a:t>
            </a:r>
            <a:r>
              <a:rPr sz="1900" spc="-145" dirty="0"/>
              <a:t> </a:t>
            </a:r>
            <a:r>
              <a:rPr sz="1900" spc="-95" dirty="0"/>
              <a:t>indexed</a:t>
            </a:r>
            <a:r>
              <a:rPr sz="1900" spc="-145" dirty="0"/>
              <a:t> </a:t>
            </a:r>
            <a:r>
              <a:rPr sz="1900" spc="-95" dirty="0"/>
              <a:t>using</a:t>
            </a:r>
            <a:r>
              <a:rPr sz="1900" spc="-150" dirty="0"/>
              <a:t> </a:t>
            </a:r>
            <a:r>
              <a:rPr sz="1900" spc="-105" dirty="0"/>
              <a:t>a</a:t>
            </a:r>
            <a:r>
              <a:rPr sz="1900" spc="-145" dirty="0"/>
              <a:t> </a:t>
            </a:r>
            <a:r>
              <a:rPr sz="1900" spc="-105" dirty="0"/>
              <a:t>key</a:t>
            </a:r>
            <a:r>
              <a:rPr sz="1900" spc="-145" dirty="0"/>
              <a:t> </a:t>
            </a:r>
            <a:r>
              <a:rPr sz="1900" spc="-245" dirty="0"/>
              <a:t>-</a:t>
            </a:r>
            <a:r>
              <a:rPr sz="1900" spc="-140" dirty="0"/>
              <a:t> </a:t>
            </a:r>
            <a:r>
              <a:rPr sz="1900" b="1" spc="-95" dirty="0">
                <a:latin typeface="Trebuchet MS"/>
                <a:cs typeface="Trebuchet MS"/>
              </a:rPr>
              <a:t>row</a:t>
            </a:r>
            <a:r>
              <a:rPr sz="1900" b="1" spc="-170" dirty="0">
                <a:latin typeface="Trebuchet MS"/>
                <a:cs typeface="Trebuchet MS"/>
              </a:rPr>
              <a:t> </a:t>
            </a:r>
            <a:r>
              <a:rPr sz="1900" b="1" spc="-25" dirty="0">
                <a:latin typeface="Trebuchet MS"/>
                <a:cs typeface="Trebuchet MS"/>
              </a:rPr>
              <a:t>key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10" dirty="0"/>
              <a:t>Related</a:t>
            </a:r>
            <a:r>
              <a:rPr sz="1900" spc="-125" dirty="0"/>
              <a:t> </a:t>
            </a:r>
            <a:r>
              <a:rPr sz="1900" spc="-95" dirty="0"/>
              <a:t>columns</a:t>
            </a:r>
            <a:r>
              <a:rPr sz="1900" spc="-125" dirty="0"/>
              <a:t> </a:t>
            </a:r>
            <a:r>
              <a:rPr sz="1900" spc="-100" dirty="0"/>
              <a:t>are</a:t>
            </a:r>
            <a:r>
              <a:rPr sz="1900" spc="-125" dirty="0"/>
              <a:t> </a:t>
            </a:r>
            <a:r>
              <a:rPr sz="1900" spc="-80" dirty="0"/>
              <a:t>grouped</a:t>
            </a:r>
            <a:r>
              <a:rPr sz="1900" spc="-125" dirty="0"/>
              <a:t> </a:t>
            </a:r>
            <a:r>
              <a:rPr sz="1900" spc="-60" dirty="0"/>
              <a:t>into</a:t>
            </a:r>
            <a:r>
              <a:rPr sz="1900" spc="-120" dirty="0"/>
              <a:t> </a:t>
            </a:r>
            <a:r>
              <a:rPr sz="1900" spc="-80" dirty="0"/>
              <a:t>column</a:t>
            </a:r>
            <a:r>
              <a:rPr sz="1900" spc="-125" dirty="0"/>
              <a:t> </a:t>
            </a:r>
            <a:r>
              <a:rPr sz="1900" spc="-10" dirty="0"/>
              <a:t>families</a:t>
            </a:r>
            <a:endParaRPr sz="1900"/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90" dirty="0"/>
              <a:t>Each</a:t>
            </a:r>
            <a:r>
              <a:rPr sz="1500" spc="-65" dirty="0"/>
              <a:t> </a:t>
            </a:r>
            <a:r>
              <a:rPr sz="1500" spc="-55" dirty="0"/>
              <a:t>column</a:t>
            </a:r>
            <a:r>
              <a:rPr sz="1500" spc="-65" dirty="0"/>
              <a:t> </a:t>
            </a:r>
            <a:r>
              <a:rPr sz="1500" spc="-80" dirty="0"/>
              <a:t>is</a:t>
            </a:r>
            <a:r>
              <a:rPr sz="1500" spc="-60" dirty="0"/>
              <a:t> </a:t>
            </a:r>
            <a:r>
              <a:rPr sz="1500" spc="-50" dirty="0"/>
              <a:t>identified</a:t>
            </a:r>
            <a:r>
              <a:rPr sz="1500" spc="-65" dirty="0"/>
              <a:t> </a:t>
            </a:r>
            <a:r>
              <a:rPr sz="1500" spc="-55" dirty="0"/>
              <a:t>by</a:t>
            </a:r>
            <a:r>
              <a:rPr sz="1500" spc="-65" dirty="0"/>
              <a:t> </a:t>
            </a:r>
            <a:r>
              <a:rPr sz="1500" spc="-70" dirty="0"/>
              <a:t>using</a:t>
            </a:r>
            <a:r>
              <a:rPr sz="1500" spc="-60" dirty="0"/>
              <a:t> </a:t>
            </a:r>
            <a:r>
              <a:rPr sz="1500" spc="-75" dirty="0"/>
              <a:t>column-</a:t>
            </a:r>
            <a:r>
              <a:rPr sz="1500" spc="-65" dirty="0"/>
              <a:t>family:column-</a:t>
            </a:r>
            <a:r>
              <a:rPr sz="1500" spc="-55" dirty="0"/>
              <a:t>qualifer(or</a:t>
            </a:r>
            <a:r>
              <a:rPr sz="1500" spc="-65" dirty="0"/>
              <a:t> </a:t>
            </a:r>
            <a:r>
              <a:rPr sz="1500" spc="-10" dirty="0"/>
              <a:t>name)</a:t>
            </a:r>
            <a:endParaRPr sz="1500"/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pc="-145" dirty="0"/>
              <a:t>This</a:t>
            </a:r>
            <a:r>
              <a:rPr spc="-165" dirty="0"/>
              <a:t> </a:t>
            </a:r>
            <a:r>
              <a:rPr spc="-95" dirty="0"/>
              <a:t>structure</a:t>
            </a:r>
            <a:r>
              <a:rPr spc="-160" dirty="0"/>
              <a:t> </a:t>
            </a:r>
            <a:r>
              <a:rPr spc="-100" dirty="0"/>
              <a:t>supports</a:t>
            </a:r>
            <a:r>
              <a:rPr spc="-160" dirty="0"/>
              <a:t> </a:t>
            </a:r>
            <a:r>
              <a:rPr spc="-75" dirty="0"/>
              <a:t>high</a:t>
            </a:r>
            <a:r>
              <a:rPr spc="-160" dirty="0"/>
              <a:t> </a:t>
            </a:r>
            <a:r>
              <a:rPr spc="-105" dirty="0"/>
              <a:t>read</a:t>
            </a:r>
            <a:r>
              <a:rPr spc="-160" dirty="0"/>
              <a:t> </a:t>
            </a:r>
            <a:r>
              <a:rPr spc="-90" dirty="0"/>
              <a:t>and</a:t>
            </a:r>
            <a:r>
              <a:rPr spc="-160" dirty="0"/>
              <a:t> </a:t>
            </a:r>
            <a:r>
              <a:rPr spc="-90" dirty="0"/>
              <a:t>write</a:t>
            </a:r>
            <a:r>
              <a:rPr spc="-160" dirty="0"/>
              <a:t> </a:t>
            </a:r>
            <a:r>
              <a:rPr spc="-70" dirty="0"/>
              <a:t>throughput</a:t>
            </a:r>
            <a:r>
              <a:rPr spc="-160" dirty="0"/>
              <a:t> </a:t>
            </a:r>
            <a:r>
              <a:rPr spc="-70" dirty="0"/>
              <a:t>at</a:t>
            </a:r>
            <a:r>
              <a:rPr spc="-160" dirty="0"/>
              <a:t> </a:t>
            </a:r>
            <a:r>
              <a:rPr spc="-75" dirty="0"/>
              <a:t>low</a:t>
            </a:r>
            <a:r>
              <a:rPr spc="-160" dirty="0"/>
              <a:t> </a:t>
            </a:r>
            <a:r>
              <a:rPr spc="-10" dirty="0"/>
              <a:t>latency</a:t>
            </a: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b="1" spc="-75" dirty="0">
                <a:latin typeface="Trebuchet MS"/>
                <a:cs typeface="Trebuchet MS"/>
              </a:rPr>
              <a:t>Advantages</a:t>
            </a:r>
            <a:r>
              <a:rPr sz="1900" b="1" spc="-150" dirty="0">
                <a:latin typeface="Trebuchet MS"/>
                <a:cs typeface="Trebuchet MS"/>
              </a:rPr>
              <a:t> </a:t>
            </a:r>
            <a:r>
              <a:rPr sz="1900" spc="-75" dirty="0"/>
              <a:t>:</a:t>
            </a:r>
            <a:r>
              <a:rPr sz="1900" spc="-120" dirty="0"/>
              <a:t> </a:t>
            </a:r>
            <a:r>
              <a:rPr sz="1900" spc="-100" dirty="0"/>
              <a:t>Scalable</a:t>
            </a:r>
            <a:r>
              <a:rPr sz="1900" spc="-120" dirty="0"/>
              <a:t> </a:t>
            </a:r>
            <a:r>
              <a:rPr sz="1900" spc="-60" dirty="0"/>
              <a:t>to</a:t>
            </a:r>
            <a:r>
              <a:rPr sz="1900" spc="-125" dirty="0"/>
              <a:t> </a:t>
            </a:r>
            <a:r>
              <a:rPr sz="1900" b="1" spc="-85" dirty="0">
                <a:latin typeface="Trebuchet MS"/>
                <a:cs typeface="Trebuchet MS"/>
              </a:rPr>
              <a:t>petabytes</a:t>
            </a:r>
            <a:r>
              <a:rPr sz="1900" b="1" spc="-140" dirty="0">
                <a:latin typeface="Trebuchet MS"/>
                <a:cs typeface="Trebuchet MS"/>
              </a:rPr>
              <a:t> </a:t>
            </a:r>
            <a:r>
              <a:rPr sz="1900" b="1" spc="-85" dirty="0">
                <a:latin typeface="Trebuchet MS"/>
                <a:cs typeface="Trebuchet MS"/>
              </a:rPr>
              <a:t>of</a:t>
            </a:r>
            <a:r>
              <a:rPr sz="1900" b="1" spc="-145" dirty="0">
                <a:latin typeface="Trebuchet MS"/>
                <a:cs typeface="Trebuchet MS"/>
              </a:rPr>
              <a:t> </a:t>
            </a:r>
            <a:r>
              <a:rPr sz="1900" b="1" spc="-55" dirty="0">
                <a:latin typeface="Trebuchet MS"/>
                <a:cs typeface="Trebuchet MS"/>
              </a:rPr>
              <a:t>data</a:t>
            </a:r>
            <a:r>
              <a:rPr sz="1900" b="1" spc="-150" dirty="0">
                <a:latin typeface="Trebuchet MS"/>
                <a:cs typeface="Trebuchet MS"/>
              </a:rPr>
              <a:t> </a:t>
            </a:r>
            <a:r>
              <a:rPr sz="1900" spc="-75" dirty="0"/>
              <a:t>with</a:t>
            </a:r>
            <a:r>
              <a:rPr sz="1900" spc="-114" dirty="0"/>
              <a:t> </a:t>
            </a:r>
            <a:r>
              <a:rPr sz="1900" b="1" spc="-75" dirty="0">
                <a:latin typeface="Trebuchet MS"/>
                <a:cs typeface="Trebuchet MS"/>
              </a:rPr>
              <a:t>millisecond</a:t>
            </a:r>
            <a:r>
              <a:rPr sz="1900" b="1" spc="-145" dirty="0">
                <a:latin typeface="Trebuchet MS"/>
                <a:cs typeface="Trebuchet MS"/>
              </a:rPr>
              <a:t> </a:t>
            </a:r>
            <a:r>
              <a:rPr sz="1900" b="1" spc="-70" dirty="0">
                <a:latin typeface="Trebuchet MS"/>
                <a:cs typeface="Trebuchet MS"/>
              </a:rPr>
              <a:t>responses</a:t>
            </a:r>
            <a:r>
              <a:rPr sz="1900" b="1" spc="-140" dirty="0">
                <a:latin typeface="Trebuchet MS"/>
                <a:cs typeface="Trebuchet MS"/>
              </a:rPr>
              <a:t> </a:t>
            </a:r>
            <a:r>
              <a:rPr sz="1900" spc="-65" dirty="0"/>
              <a:t>upto</a:t>
            </a:r>
            <a:r>
              <a:rPr sz="1900" spc="-114" dirty="0"/>
              <a:t> </a:t>
            </a:r>
            <a:r>
              <a:rPr sz="1900" b="1" spc="-55" dirty="0">
                <a:latin typeface="Trebuchet MS"/>
                <a:cs typeface="Trebuchet MS"/>
              </a:rPr>
              <a:t>millions</a:t>
            </a:r>
            <a:r>
              <a:rPr sz="1900" b="1" spc="-145" dirty="0">
                <a:latin typeface="Trebuchet MS"/>
                <a:cs typeface="Trebuchet MS"/>
              </a:rPr>
              <a:t> </a:t>
            </a:r>
            <a:r>
              <a:rPr sz="1900" b="1" spc="-85" dirty="0">
                <a:latin typeface="Trebuchet MS"/>
                <a:cs typeface="Trebuchet MS"/>
              </a:rPr>
              <a:t>of</a:t>
            </a:r>
            <a:r>
              <a:rPr sz="1900" b="1" spc="-145" dirty="0">
                <a:latin typeface="Trebuchet MS"/>
                <a:cs typeface="Trebuchet MS"/>
              </a:rPr>
              <a:t> </a:t>
            </a:r>
            <a:r>
              <a:rPr sz="1900" b="1" spc="-25" dirty="0">
                <a:latin typeface="Trebuchet MS"/>
                <a:cs typeface="Trebuchet MS"/>
              </a:rPr>
              <a:t>TPS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484"/>
              </a:spcBef>
            </a:pPr>
            <a:r>
              <a:rPr b="1" spc="-85" dirty="0">
                <a:latin typeface="Trebuchet MS"/>
                <a:cs typeface="Trebuchet MS"/>
              </a:rPr>
              <a:t>Use</a:t>
            </a:r>
            <a:r>
              <a:rPr b="1" spc="-114" dirty="0">
                <a:latin typeface="Trebuchet MS"/>
                <a:cs typeface="Trebuchet MS"/>
              </a:rPr>
              <a:t> </a:t>
            </a:r>
            <a:r>
              <a:rPr b="1" spc="-65" dirty="0">
                <a:latin typeface="Trebuchet MS"/>
                <a:cs typeface="Trebuchet MS"/>
              </a:rPr>
              <a:t>cases</a:t>
            </a:r>
            <a:r>
              <a:rPr b="1" spc="-114" dirty="0">
                <a:latin typeface="Trebuchet MS"/>
                <a:cs typeface="Trebuchet MS"/>
              </a:rPr>
              <a:t> </a:t>
            </a:r>
            <a:r>
              <a:rPr spc="-85" dirty="0"/>
              <a:t>:</a:t>
            </a:r>
            <a:r>
              <a:rPr spc="-75" dirty="0"/>
              <a:t> </a:t>
            </a:r>
            <a:r>
              <a:rPr spc="-180" dirty="0"/>
              <a:t>IOT</a:t>
            </a:r>
            <a:r>
              <a:rPr spc="-75" dirty="0"/>
              <a:t> </a:t>
            </a:r>
            <a:r>
              <a:rPr spc="-114" dirty="0"/>
              <a:t>streams,</a:t>
            </a:r>
            <a:r>
              <a:rPr spc="-75" dirty="0"/>
              <a:t> </a:t>
            </a:r>
            <a:r>
              <a:rPr spc="-95" dirty="0"/>
              <a:t>graph</a:t>
            </a:r>
            <a:r>
              <a:rPr spc="-80" dirty="0"/>
              <a:t> </a:t>
            </a:r>
            <a:r>
              <a:rPr spc="-90" dirty="0"/>
              <a:t>data</a:t>
            </a:r>
            <a:r>
              <a:rPr spc="-75" dirty="0"/>
              <a:t> </a:t>
            </a:r>
            <a:r>
              <a:rPr spc="-90" dirty="0"/>
              <a:t>and</a:t>
            </a:r>
            <a:r>
              <a:rPr spc="-75" dirty="0"/>
              <a:t> </a:t>
            </a:r>
            <a:r>
              <a:rPr spc="-95" dirty="0"/>
              <a:t>real</a:t>
            </a:r>
            <a:r>
              <a:rPr spc="-75" dirty="0"/>
              <a:t> </a:t>
            </a:r>
            <a:r>
              <a:rPr spc="-80" dirty="0"/>
              <a:t>time </a:t>
            </a:r>
            <a:r>
              <a:rPr spc="-95" dirty="0"/>
              <a:t>analytics</a:t>
            </a:r>
            <a:r>
              <a:rPr spc="-75" dirty="0"/>
              <a:t> </a:t>
            </a:r>
            <a:r>
              <a:rPr spc="-114" dirty="0"/>
              <a:t>(time-</a:t>
            </a:r>
            <a:r>
              <a:rPr spc="-160" dirty="0"/>
              <a:t>series</a:t>
            </a:r>
            <a:r>
              <a:rPr spc="-80" dirty="0"/>
              <a:t> </a:t>
            </a:r>
            <a:r>
              <a:rPr spc="-10" dirty="0"/>
              <a:t>data, </a:t>
            </a:r>
            <a:r>
              <a:rPr spc="-90" dirty="0"/>
              <a:t>financial</a:t>
            </a:r>
            <a:r>
              <a:rPr spc="-150" dirty="0"/>
              <a:t> </a:t>
            </a:r>
            <a:r>
              <a:rPr spc="-90" dirty="0"/>
              <a:t>data</a:t>
            </a:r>
            <a:r>
              <a:rPr spc="-150" dirty="0"/>
              <a:t> </a:t>
            </a:r>
            <a:r>
              <a:rPr spc="-300" dirty="0"/>
              <a:t>-</a:t>
            </a:r>
            <a:r>
              <a:rPr spc="-150" dirty="0"/>
              <a:t> </a:t>
            </a:r>
            <a:r>
              <a:rPr spc="-95" dirty="0"/>
              <a:t>transaction</a:t>
            </a:r>
            <a:r>
              <a:rPr spc="-145" dirty="0"/>
              <a:t> </a:t>
            </a:r>
            <a:r>
              <a:rPr spc="-95" dirty="0"/>
              <a:t>histories,</a:t>
            </a:r>
            <a:r>
              <a:rPr spc="-150" dirty="0"/>
              <a:t> </a:t>
            </a:r>
            <a:r>
              <a:rPr spc="-114" dirty="0"/>
              <a:t>stock</a:t>
            </a:r>
            <a:r>
              <a:rPr spc="-150" dirty="0"/>
              <a:t> </a:t>
            </a:r>
            <a:r>
              <a:rPr spc="-120" dirty="0"/>
              <a:t>prices</a:t>
            </a:r>
            <a:r>
              <a:rPr spc="-145" dirty="0"/>
              <a:t> </a:t>
            </a:r>
            <a:r>
              <a:rPr spc="-20" dirty="0"/>
              <a:t>etc)</a:t>
            </a: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b="1" spc="-70" dirty="0">
                <a:latin typeface="Trebuchet MS"/>
                <a:cs typeface="Trebuchet MS"/>
              </a:rPr>
              <a:t>Cloud</a:t>
            </a:r>
            <a:r>
              <a:rPr b="1" spc="-195" dirty="0">
                <a:latin typeface="Trebuchet MS"/>
                <a:cs typeface="Trebuchet MS"/>
              </a:rPr>
              <a:t> </a:t>
            </a:r>
            <a:r>
              <a:rPr b="1" spc="-70" dirty="0">
                <a:latin typeface="Trebuchet MS"/>
                <a:cs typeface="Trebuchet MS"/>
              </a:rPr>
              <a:t>Dataflow</a:t>
            </a:r>
            <a:r>
              <a:rPr b="1" spc="-204" dirty="0">
                <a:latin typeface="Trebuchet MS"/>
                <a:cs typeface="Trebuchet MS"/>
              </a:rPr>
              <a:t> </a:t>
            </a:r>
            <a:r>
              <a:rPr spc="-85" dirty="0"/>
              <a:t>:</a:t>
            </a:r>
            <a:r>
              <a:rPr spc="-165" dirty="0"/>
              <a:t> </a:t>
            </a:r>
            <a:r>
              <a:rPr spc="-175" dirty="0"/>
              <a:t>Used</a:t>
            </a:r>
            <a:r>
              <a:rPr spc="-165" dirty="0"/>
              <a:t> </a:t>
            </a:r>
            <a:r>
              <a:rPr spc="-55" dirty="0"/>
              <a:t>to</a:t>
            </a:r>
            <a:r>
              <a:rPr spc="-165" dirty="0"/>
              <a:t> </a:t>
            </a:r>
            <a:r>
              <a:rPr spc="-80" dirty="0"/>
              <a:t>export</a:t>
            </a:r>
            <a:r>
              <a:rPr spc="-160" dirty="0"/>
              <a:t> </a:t>
            </a:r>
            <a:r>
              <a:rPr spc="-90" dirty="0"/>
              <a:t>data</a:t>
            </a:r>
            <a:r>
              <a:rPr spc="-165" dirty="0"/>
              <a:t> </a:t>
            </a:r>
            <a:r>
              <a:rPr spc="-80" dirty="0"/>
              <a:t>from</a:t>
            </a:r>
            <a:r>
              <a:rPr spc="-165" dirty="0"/>
              <a:t> </a:t>
            </a:r>
            <a:r>
              <a:rPr spc="-150" dirty="0"/>
              <a:t>BigTable</a:t>
            </a:r>
            <a:r>
              <a:rPr spc="-165" dirty="0"/>
              <a:t> </a:t>
            </a:r>
            <a:r>
              <a:rPr spc="-55" dirty="0"/>
              <a:t>to</a:t>
            </a:r>
            <a:r>
              <a:rPr spc="-165" dirty="0"/>
              <a:t> </a:t>
            </a:r>
            <a:r>
              <a:rPr spc="-10" dirty="0"/>
              <a:t>CloudStorage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234</a:t>
            </a:fld>
            <a:endParaRPr spc="-25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2"/>
            <a:ext cx="809674" cy="113521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073039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42362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719945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05800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345982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799928"/>
            <a:ext cx="7838440" cy="3684904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In-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memory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datastore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Reduce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times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891540" algn="l"/>
                <a:tab pos="2352675" algn="l"/>
                <a:tab pos="4337050" algn="l"/>
                <a:tab pos="6092190" algn="l"/>
                <a:tab pos="734060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Fully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(Provisioning,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Replication,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Failover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Patching)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Highly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99.9%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SLA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easily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Support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Redis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Memcached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Memcached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Caching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Reference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data,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query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caching,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session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store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Redis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low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persistence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Gaming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Leader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Boards,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Player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Profiles,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Stream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Processing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5" dirty="0"/>
              <a:t>Memorystore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235</a:t>
            </a:fld>
            <a:endParaRPr spc="-25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432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0546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480391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2149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511265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84932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137302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517098"/>
            <a:ext cx="91818" cy="918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976192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3267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70239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7838440" cy="50234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Exabyte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scale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modern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Datawarehousing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solution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Relational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(SQL,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schema,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consistency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SQL-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like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commands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query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massive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datasets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Traditional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(Storage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Compute)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Modern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(Realtime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Serverless)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84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talking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Datawarehouse,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importing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and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exporting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(and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formats)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becomes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very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important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variety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sources,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incl.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streaming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Variety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of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import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formats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0" dirty="0">
                <a:solidFill>
                  <a:srgbClr val="212121"/>
                </a:solidFill>
                <a:latin typeface="Yu Gothic"/>
                <a:cs typeface="Yu Gothic"/>
              </a:rPr>
              <a:t>CSV/JSON/Avro/Parquet/ORC/Datastore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backup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(long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term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storage)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Studio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(visualization)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Formats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CSV/JSON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(with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Gzip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compression),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Avro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(with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deflate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snappy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compression)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expire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Configurable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Table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Expiration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Query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external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sources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without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storing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Storage,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SQL,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BigTable,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Drive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Permanent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or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Temporary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tables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BigQuery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85" dirty="0"/>
              <a:t>Datawarehouse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236</a:t>
            </a:fld>
            <a:endParaRPr spc="-25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432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5638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989568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832631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1832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55883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856689"/>
            <a:ext cx="7838440" cy="38798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databases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using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Console</a:t>
            </a:r>
            <a:endParaRPr sz="1900">
              <a:latin typeface="Yu Gothic"/>
              <a:cs typeface="Yu Gothic"/>
            </a:endParaRPr>
          </a:p>
          <a:p>
            <a:pPr marL="346075" marR="3889375">
              <a:lnSpc>
                <a:spcPts val="3020"/>
              </a:lnSpc>
              <a:spcBef>
                <a:spcPts val="165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bq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command-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line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tool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(NOT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gcloud)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Rest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5"/>
              </a:spcBef>
            </a:pP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HBase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libraries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(Java,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.NET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Python)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50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queries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expensive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235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are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large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sets!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(BEST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9" dirty="0">
                <a:solidFill>
                  <a:srgbClr val="212121"/>
                </a:solidFill>
                <a:latin typeface="Yu Gothic"/>
                <a:cs typeface="Yu Gothic"/>
              </a:rPr>
              <a:t>PRACTICE)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Estimate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queries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before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running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1: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UI(console)/bq(-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dry-run)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scanned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volume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(estimate)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2: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Pricing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Calculator: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Find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price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scanning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1 </a:t>
            </a:r>
            <a:r>
              <a:rPr sz="1900" spc="-285" dirty="0">
                <a:solidFill>
                  <a:srgbClr val="212121"/>
                </a:solidFill>
                <a:latin typeface="Yu Gothic"/>
                <a:cs typeface="Yu Gothic"/>
              </a:rPr>
              <a:t>MB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data.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Calculate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cost.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BigQuery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20" dirty="0"/>
              <a:t>Accessing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105" dirty="0"/>
              <a:t>Querying</a:t>
            </a:r>
            <a:r>
              <a:rPr spc="-250" dirty="0"/>
              <a:t> </a:t>
            </a:r>
            <a:r>
              <a:rPr spc="-20" dirty="0"/>
              <a:t>Data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237</a:t>
            </a:fld>
            <a:endParaRPr spc="-25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077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55760" y="2104769"/>
            <a:ext cx="750043" cy="8654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06243" y="3114763"/>
            <a:ext cx="706771" cy="8149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0546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2351010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730806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0813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3498744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384932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4137302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447536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4771687"/>
            <a:ext cx="66777" cy="66777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2026013" y="4992887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5280864"/>
            <a:ext cx="66777" cy="6677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5598055"/>
            <a:ext cx="66777" cy="6677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170250" y="856689"/>
            <a:ext cx="8626475" cy="488061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SQL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to/from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b="1" i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sql</a:t>
            </a:r>
            <a:r>
              <a:rPr sz="2350" b="1" i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export/import</a:t>
            </a:r>
            <a:r>
              <a:rPr sz="2350" b="1" i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csv/sql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Console/gcloud/REST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80" dirty="0">
                <a:solidFill>
                  <a:srgbClr val="212121"/>
                </a:solidFill>
                <a:latin typeface="Yu Gothic"/>
                <a:cs typeface="Yu Gothic"/>
              </a:rPr>
              <a:t>CSV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formats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large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databases,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serverless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mode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Reduces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impact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live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Spanner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to/from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Console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(uses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Flow)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to/from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Others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bq</a:t>
            </a:r>
            <a:r>
              <a:rPr sz="2350" b="1" i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extract/load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Console/bq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Formats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CSV/JSON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(with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Gzip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compression),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Avro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(with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deflate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snappy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compression)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Variety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options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import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145"/>
              </a:spcBef>
            </a:pP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Example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1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Case: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Store </a:t>
            </a:r>
            <a:r>
              <a:rPr sz="1200" spc="-28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8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Big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Query</a:t>
            </a:r>
            <a:endParaRPr sz="1200">
              <a:latin typeface="Yu Gothic"/>
              <a:cs typeface="Yu Gothic"/>
            </a:endParaRPr>
          </a:p>
          <a:p>
            <a:pPr marL="680085" marR="3874770">
              <a:lnSpc>
                <a:spcPts val="2500"/>
              </a:lnSpc>
              <a:spcBef>
                <a:spcPts val="25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Batch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Loading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Transfer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Service </a:t>
            </a: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Dataflow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streaming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pipeline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Relational</a:t>
            </a:r>
            <a:r>
              <a:rPr spc="-254" dirty="0"/>
              <a:t> </a:t>
            </a:r>
            <a:r>
              <a:rPr spc="-80" dirty="0"/>
              <a:t>Database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75" dirty="0"/>
              <a:t>Import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60" dirty="0"/>
              <a:t>Export</a:t>
            </a:r>
          </a:p>
        </p:txBody>
      </p:sp>
      <p:sp>
        <p:nvSpPr>
          <p:cNvPr id="22" name="object 2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238</a:t>
            </a:fld>
            <a:endParaRPr spc="-25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3455" y="1094762"/>
            <a:ext cx="699559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06243" y="2104769"/>
            <a:ext cx="591380" cy="8654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06243" y="3114763"/>
            <a:ext cx="706771" cy="8654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18126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2238323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25889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381884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1331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45087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0250" y="856689"/>
            <a:ext cx="8740140" cy="38303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Datastore/Firestore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to/from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Console/gcloud/REST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datastore/firestore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export/import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kinds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namespaces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BigTable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to/from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Dataflow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jobs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Formats: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Avro/Parquet/SequenceFiles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  <a:tabLst>
                <a:tab pos="1791335" algn="l"/>
                <a:tab pos="2813050" algn="l"/>
                <a:tab pos="3493135" algn="l"/>
                <a:tab pos="4531360" algn="l"/>
                <a:tab pos="5824220" algn="l"/>
                <a:tab pos="6588759" algn="l"/>
                <a:tab pos="7564120" algn="l"/>
                <a:tab pos="7985759" algn="l"/>
              </a:tabLst>
            </a:pPr>
            <a:r>
              <a:rPr sz="2350" spc="-27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Ensure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Cloud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Buckets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ACL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acl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95" dirty="0">
                <a:solidFill>
                  <a:srgbClr val="212121"/>
                </a:solidFill>
                <a:latin typeface="Trebuchet MS"/>
                <a:cs typeface="Trebuchet MS"/>
              </a:rPr>
              <a:t>ch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9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U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SERVICE_ACCOUNT </a:t>
            </a:r>
            <a:r>
              <a:rPr sz="1900" b="1" i="1" spc="-254" dirty="0">
                <a:solidFill>
                  <a:srgbClr val="212121"/>
                </a:solidFill>
                <a:latin typeface="Trebuchet MS"/>
                <a:cs typeface="Trebuchet MS"/>
              </a:rPr>
              <a:t>:W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Creator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NoSQL</a:t>
            </a:r>
            <a:r>
              <a:rPr spc="-260" dirty="0"/>
              <a:t> </a:t>
            </a:r>
            <a:r>
              <a:rPr spc="-70" dirty="0"/>
              <a:t>Databases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5" dirty="0"/>
              <a:t>Import</a:t>
            </a:r>
            <a:r>
              <a:rPr spc="-260" dirty="0"/>
              <a:t> </a:t>
            </a:r>
            <a:r>
              <a:rPr spc="-65" dirty="0"/>
              <a:t>and</a:t>
            </a:r>
            <a:r>
              <a:rPr spc="-260" dirty="0"/>
              <a:t> </a:t>
            </a:r>
            <a:r>
              <a:rPr spc="-60" dirty="0"/>
              <a:t>Export</a:t>
            </a: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239</a:t>
            </a:fld>
            <a:endParaRPr spc="-25" dirty="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33320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58859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40526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709938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05634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43196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736639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846255"/>
            <a:ext cx="6809740" cy="30295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b="1" i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25" dirty="0">
                <a:solidFill>
                  <a:srgbClr val="212121"/>
                </a:solidFill>
                <a:latin typeface="Trebuchet MS"/>
                <a:cs typeface="Trebuchet MS"/>
              </a:rPr>
              <a:t>sql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80" dirty="0">
                <a:solidFill>
                  <a:srgbClr val="212121"/>
                </a:solidFill>
                <a:latin typeface="Trebuchet MS"/>
                <a:cs typeface="Trebuchet MS"/>
              </a:rPr>
              <a:t>sql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create/clone/delete/describe/patch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sql</a:t>
            </a:r>
            <a:r>
              <a:rPr sz="1500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500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500" b="1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60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sql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patch</a:t>
            </a:r>
            <a:r>
              <a:rPr sz="1500" b="1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i="1" spc="-70" dirty="0">
                <a:solidFill>
                  <a:srgbClr val="212121"/>
                </a:solidFill>
                <a:latin typeface="Trebuchet MS"/>
                <a:cs typeface="Trebuchet MS"/>
              </a:rPr>
              <a:t>backup-</a:t>
            </a:r>
            <a:r>
              <a:rPr sz="15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start-</a:t>
            </a:r>
            <a:r>
              <a:rPr sz="15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endParaRPr sz="15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80" dirty="0">
                <a:solidFill>
                  <a:srgbClr val="212121"/>
                </a:solidFill>
                <a:latin typeface="Trebuchet MS"/>
                <a:cs typeface="Trebuchet MS"/>
              </a:rPr>
              <a:t>sql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databases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create/delete/describe/list/patch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sql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databases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500" b="1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15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i="1" spc="-35" dirty="0">
                <a:solidFill>
                  <a:srgbClr val="212121"/>
                </a:solidFill>
                <a:latin typeface="Trebuchet MS"/>
                <a:cs typeface="Trebuchet MS"/>
              </a:rPr>
              <a:t>instance=INSTANCE</a:t>
            </a:r>
            <a:endParaRPr sz="15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5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80" dirty="0">
                <a:solidFill>
                  <a:srgbClr val="212121"/>
                </a:solidFill>
                <a:latin typeface="Trebuchet MS"/>
                <a:cs typeface="Trebuchet MS"/>
              </a:rPr>
              <a:t>sql</a:t>
            </a:r>
            <a:r>
              <a:rPr sz="1900" i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connect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240" dirty="0">
                <a:solidFill>
                  <a:srgbClr val="212121"/>
                </a:solidFill>
                <a:latin typeface="Trebuchet MS"/>
                <a:cs typeface="Trebuchet MS"/>
              </a:rPr>
              <a:t>[-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90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database=DATABASE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i="1" spc="-130" dirty="0">
                <a:solidFill>
                  <a:srgbClr val="212121"/>
                </a:solidFill>
                <a:latin typeface="Trebuchet MS"/>
                <a:cs typeface="Trebuchet MS"/>
              </a:rPr>
              <a:t>user=root]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backups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35" dirty="0">
                <a:solidFill>
                  <a:srgbClr val="212121"/>
                </a:solidFill>
                <a:latin typeface="Trebuchet MS"/>
                <a:cs typeface="Trebuchet MS"/>
              </a:rPr>
              <a:t>create/describe/list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sql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backups</a:t>
            </a:r>
            <a:r>
              <a:rPr sz="15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create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async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90" dirty="0">
                <a:solidFill>
                  <a:srgbClr val="212121"/>
                </a:solidFill>
                <a:latin typeface="Trebuchet MS"/>
                <a:cs typeface="Trebuchet MS"/>
              </a:rPr>
              <a:t>[INSTANCE]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(one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backup)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70" dirty="0"/>
              <a:t> </a:t>
            </a:r>
            <a:r>
              <a:rPr spc="-60" dirty="0"/>
              <a:t>SQL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70" dirty="0"/>
              <a:t> </a:t>
            </a:r>
            <a:r>
              <a:rPr spc="-75" dirty="0"/>
              <a:t>CommandLine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240</a:t>
            </a:fld>
            <a:endParaRPr spc="-25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149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17289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46369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84766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273371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61560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846255"/>
            <a:ext cx="6536055" cy="294703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bq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bq</a:t>
            </a:r>
            <a:r>
              <a:rPr sz="19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show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bigquery-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public-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data:samples.shakespeare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bq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query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'QUERY-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STRING'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dry-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run</a:t>
            </a:r>
            <a:r>
              <a:rPr sz="15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estimate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bytes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scanned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query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bq</a:t>
            </a:r>
            <a:r>
              <a:rPr sz="1900" i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70" dirty="0">
                <a:solidFill>
                  <a:srgbClr val="212121"/>
                </a:solidFill>
                <a:latin typeface="Trebuchet MS"/>
                <a:cs typeface="Trebuchet MS"/>
              </a:rPr>
              <a:t>extract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(export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bq</a:t>
            </a:r>
            <a:r>
              <a:rPr sz="1900" i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load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(load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standard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way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config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30" dirty="0">
                <a:solidFill>
                  <a:srgbClr val="212121"/>
                </a:solidFill>
                <a:latin typeface="Trebuchet MS"/>
                <a:cs typeface="Trebuchet MS"/>
              </a:rPr>
              <a:t>set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3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440690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BigQuery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70" dirty="0"/>
              <a:t>Command</a:t>
            </a:r>
            <a:r>
              <a:rPr spc="-245" dirty="0"/>
              <a:t> </a:t>
            </a:r>
            <a:r>
              <a:rPr spc="-90" dirty="0"/>
              <a:t>Line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241</a:t>
            </a:fld>
            <a:endParaRPr spc="-25" dirty="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484565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026013" y="271411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02295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319281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636473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945318"/>
            <a:ext cx="66777" cy="66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262510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579702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967845"/>
            <a:ext cx="91818" cy="9181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70250" y="856689"/>
            <a:ext cx="8517255" cy="43180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cbt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CLI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Bigtable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9" dirty="0">
                <a:solidFill>
                  <a:srgbClr val="212121"/>
                </a:solidFill>
                <a:latin typeface="Yu Gothic"/>
                <a:cs typeface="Yu Gothic"/>
              </a:rPr>
              <a:t>(NOT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gcloud)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Installing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80" dirty="0">
                <a:solidFill>
                  <a:srgbClr val="212121"/>
                </a:solidFill>
                <a:latin typeface="Trebuchet MS"/>
                <a:cs typeface="Trebuchet MS"/>
              </a:rPr>
              <a:t>components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install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25" dirty="0">
                <a:solidFill>
                  <a:srgbClr val="212121"/>
                </a:solidFill>
                <a:latin typeface="Trebuchet MS"/>
                <a:cs typeface="Trebuchet MS"/>
              </a:rPr>
              <a:t>cbt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Verify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Installation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cbt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listinstances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.cbtrc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file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echo</a:t>
            </a:r>
            <a:r>
              <a:rPr sz="1500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5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=</a:t>
            </a:r>
            <a:r>
              <a:rPr sz="15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project-</a:t>
            </a:r>
            <a:r>
              <a:rPr sz="1500" i="1" spc="-75" dirty="0">
                <a:solidFill>
                  <a:srgbClr val="212121"/>
                </a:solidFill>
                <a:latin typeface="Trebuchet MS"/>
                <a:cs typeface="Trebuchet MS"/>
              </a:rPr>
              <a:t>id</a:t>
            </a:r>
            <a:r>
              <a:rPr sz="15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&gt;</a:t>
            </a:r>
            <a:r>
              <a:rPr sz="15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~/.cbtrc</a:t>
            </a:r>
            <a:endParaRPr sz="1500">
              <a:latin typeface="Trebuchet MS"/>
              <a:cs typeface="Trebuchet MS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i="1" spc="-50" dirty="0">
                <a:solidFill>
                  <a:srgbClr val="212121"/>
                </a:solidFill>
                <a:latin typeface="Trebuchet MS"/>
                <a:cs typeface="Trebuchet MS"/>
              </a:rPr>
              <a:t>echo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50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1200" i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50" dirty="0">
                <a:solidFill>
                  <a:srgbClr val="212121"/>
                </a:solidFill>
                <a:latin typeface="Trebuchet MS"/>
                <a:cs typeface="Trebuchet MS"/>
              </a:rPr>
              <a:t>=</a:t>
            </a:r>
            <a:r>
              <a:rPr sz="1200" i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quickstart-</a:t>
            </a:r>
            <a:r>
              <a:rPr sz="1200" i="1" spc="-50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1200" i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50" dirty="0">
                <a:solidFill>
                  <a:srgbClr val="212121"/>
                </a:solidFill>
                <a:latin typeface="Trebuchet MS"/>
                <a:cs typeface="Trebuchet MS"/>
              </a:rPr>
              <a:t>&gt;&gt;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10" dirty="0">
                <a:solidFill>
                  <a:srgbClr val="212121"/>
                </a:solidFill>
                <a:latin typeface="Trebuchet MS"/>
                <a:cs typeface="Trebuchet MS"/>
              </a:rPr>
              <a:t>~/.cbtrc</a:t>
            </a:r>
            <a:endParaRPr sz="12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2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cbt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):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cbt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createinstance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500">
              <a:latin typeface="Yu Gothic"/>
              <a:cs typeface="Yu Gothic"/>
            </a:endParaRPr>
          </a:p>
          <a:p>
            <a:pPr marL="680085" marR="2839085">
              <a:lnSpc>
                <a:spcPct val="135100"/>
              </a:lnSpc>
              <a:spcBef>
                <a:spcPts val="6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cbt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createcluster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a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configured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instance! cbt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createtable/deleteinstance/deletecluster/deletetable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cbt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listinstances/listclusters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cbt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ls</a:t>
            </a:r>
            <a:r>
              <a:rPr sz="15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tables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column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families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configure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cbt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.cbtrc</a:t>
            </a:r>
            <a:r>
              <a:rPr sz="2350" spc="-9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cbt</a:t>
            </a:r>
            <a:r>
              <a:rPr spc="-265" dirty="0"/>
              <a:t> </a:t>
            </a:r>
            <a:r>
              <a:rPr spc="-85" dirty="0"/>
              <a:t>tool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80" dirty="0"/>
              <a:t>Cloud</a:t>
            </a:r>
            <a:r>
              <a:rPr spc="-260" dirty="0"/>
              <a:t> </a:t>
            </a:r>
            <a:r>
              <a:rPr spc="-75" dirty="0"/>
              <a:t>Bigtable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65" dirty="0"/>
              <a:t>CommandLine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242</a:t>
            </a:fld>
            <a:endParaRPr spc="-25" dirty="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Databases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00" dirty="0"/>
              <a:t>Remember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8655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3373537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41080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70747" y="856689"/>
            <a:ext cx="9513570" cy="342963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BigQuery,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Datastore,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Firebase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whereas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BigTable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Relational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Databases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Small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Local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endParaRPr sz="1900">
              <a:latin typeface="Yu Gothic"/>
              <a:cs typeface="Yu Gothic"/>
            </a:endParaRPr>
          </a:p>
          <a:p>
            <a:pPr marL="346075" marR="4227195">
              <a:lnSpc>
                <a:spcPct val="129700"/>
              </a:lnSpc>
              <a:spcBef>
                <a:spcPts val="65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Highly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scalable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global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Spanner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Datawarehouse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NoSQL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Databases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Transactional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few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Terabytes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Datastore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Huge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volumes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IOT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streaming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analytics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BigTable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243</a:t>
            </a:fld>
            <a:endParaRPr spc="-25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8427" y="1966861"/>
            <a:ext cx="7846059" cy="182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4025" marR="5080" indent="-1711960">
              <a:lnSpc>
                <a:spcPct val="100299"/>
              </a:lnSpc>
              <a:spcBef>
                <a:spcPts val="95"/>
              </a:spcBef>
            </a:pPr>
            <a:r>
              <a:rPr sz="5900" spc="-195" dirty="0">
                <a:solidFill>
                  <a:srgbClr val="1BA74A"/>
                </a:solidFill>
              </a:rPr>
              <a:t>Decoupling</a:t>
            </a:r>
            <a:r>
              <a:rPr sz="5900" spc="-515" dirty="0">
                <a:solidFill>
                  <a:srgbClr val="1BA74A"/>
                </a:solidFill>
              </a:rPr>
              <a:t> </a:t>
            </a:r>
            <a:r>
              <a:rPr sz="5900" spc="-165" dirty="0">
                <a:solidFill>
                  <a:srgbClr val="1BA74A"/>
                </a:solidFill>
              </a:rPr>
              <a:t>Applications </a:t>
            </a:r>
            <a:r>
              <a:rPr sz="5900" spc="-220" dirty="0">
                <a:solidFill>
                  <a:srgbClr val="1BA74A"/>
                </a:solidFill>
              </a:rPr>
              <a:t>with</a:t>
            </a:r>
            <a:r>
              <a:rPr sz="5900" spc="-550" dirty="0">
                <a:solidFill>
                  <a:srgbClr val="1BA74A"/>
                </a:solidFill>
              </a:rPr>
              <a:t> </a:t>
            </a:r>
            <a:r>
              <a:rPr sz="5900" spc="-10" dirty="0">
                <a:solidFill>
                  <a:srgbClr val="1BA74A"/>
                </a:solidFill>
              </a:rPr>
              <a:t>Pub/Sub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244</a:t>
            </a:fld>
            <a:endParaRPr spc="-25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5" dirty="0"/>
              <a:t>Need</a:t>
            </a:r>
            <a:r>
              <a:rPr spc="-254" dirty="0"/>
              <a:t> </a:t>
            </a:r>
            <a:r>
              <a:rPr spc="-140" dirty="0"/>
              <a:t>for</a:t>
            </a:r>
            <a:r>
              <a:rPr spc="-250" dirty="0"/>
              <a:t> </a:t>
            </a:r>
            <a:r>
              <a:rPr spc="-105" dirty="0"/>
              <a:t>Asynchronous</a:t>
            </a:r>
            <a:r>
              <a:rPr spc="-250" dirty="0"/>
              <a:t> </a:t>
            </a:r>
            <a:r>
              <a:rPr spc="-65" dirty="0"/>
              <a:t>Communication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70747" y="898425"/>
            <a:ext cx="606488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Why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asynchronous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communication?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245</a:t>
            </a:fld>
            <a:endParaRPr spc="-25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Synchronous</a:t>
            </a:r>
            <a:r>
              <a:rPr spc="-204" dirty="0"/>
              <a:t> </a:t>
            </a:r>
            <a:r>
              <a:rPr spc="-70" dirty="0"/>
              <a:t>Communication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4039" y="1053027"/>
            <a:ext cx="4691115" cy="9515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513780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365190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37074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133129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44837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16402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722755" algn="l"/>
                <a:tab pos="2196465" algn="l"/>
                <a:tab pos="2912745" algn="l"/>
                <a:tab pos="3589654" algn="l"/>
                <a:tab pos="4513580" algn="l"/>
                <a:tab pos="5355590" algn="l"/>
                <a:tab pos="7113905" algn="l"/>
                <a:tab pos="7827645" algn="l"/>
                <a:tab pos="8235950" algn="l"/>
                <a:tab pos="8796655" algn="l"/>
              </a:tabLst>
            </a:pPr>
            <a:r>
              <a:rPr spc="-10" dirty="0"/>
              <a:t>Applications</a:t>
            </a:r>
            <a:r>
              <a:rPr dirty="0"/>
              <a:t>	</a:t>
            </a:r>
            <a:r>
              <a:rPr spc="-25" dirty="0"/>
              <a:t>on</a:t>
            </a:r>
            <a:r>
              <a:rPr dirty="0"/>
              <a:t>	</a:t>
            </a:r>
            <a:r>
              <a:rPr spc="-20" dirty="0"/>
              <a:t>your</a:t>
            </a:r>
            <a:r>
              <a:rPr dirty="0"/>
              <a:t>	</a:t>
            </a:r>
            <a:r>
              <a:rPr spc="-25" dirty="0"/>
              <a:t>web</a:t>
            </a:r>
            <a:r>
              <a:rPr dirty="0"/>
              <a:t>	</a:t>
            </a:r>
            <a:r>
              <a:rPr spc="-10" dirty="0"/>
              <a:t>server</a:t>
            </a:r>
            <a:r>
              <a:rPr dirty="0"/>
              <a:t>	</a:t>
            </a:r>
            <a:r>
              <a:rPr spc="-20" dirty="0"/>
              <a:t>make</a:t>
            </a:r>
            <a:r>
              <a:rPr dirty="0"/>
              <a:t>	</a:t>
            </a:r>
            <a:r>
              <a:rPr spc="-10" dirty="0"/>
              <a:t>synchronous</a:t>
            </a:r>
            <a:r>
              <a:rPr dirty="0"/>
              <a:t>	</a:t>
            </a:r>
            <a:r>
              <a:rPr spc="-10" dirty="0"/>
              <a:t>calls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75" dirty="0"/>
              <a:t>logging </a:t>
            </a:r>
            <a:r>
              <a:rPr spc="-10" dirty="0"/>
              <a:t>service</a:t>
            </a: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pc="-150" dirty="0"/>
              <a:t>What</a:t>
            </a:r>
            <a:r>
              <a:rPr spc="-160" dirty="0"/>
              <a:t> </a:t>
            </a:r>
            <a:r>
              <a:rPr spc="-85" dirty="0"/>
              <a:t>if</a:t>
            </a:r>
            <a:r>
              <a:rPr spc="-160" dirty="0"/>
              <a:t> </a:t>
            </a:r>
            <a:r>
              <a:rPr spc="-60" dirty="0"/>
              <a:t>your</a:t>
            </a:r>
            <a:r>
              <a:rPr spc="-155" dirty="0"/>
              <a:t> </a:t>
            </a:r>
            <a:r>
              <a:rPr spc="-75" dirty="0"/>
              <a:t>logging</a:t>
            </a:r>
            <a:r>
              <a:rPr spc="-160" dirty="0"/>
              <a:t> </a:t>
            </a:r>
            <a:r>
              <a:rPr spc="-120" dirty="0"/>
              <a:t>service</a:t>
            </a:r>
            <a:r>
              <a:rPr spc="-155" dirty="0"/>
              <a:t> </a:t>
            </a:r>
            <a:r>
              <a:rPr spc="-140" dirty="0"/>
              <a:t>goes</a:t>
            </a:r>
            <a:r>
              <a:rPr spc="-160" dirty="0"/>
              <a:t> </a:t>
            </a:r>
            <a:r>
              <a:rPr spc="-10" dirty="0"/>
              <a:t>down?</a:t>
            </a: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00" dirty="0"/>
              <a:t>Will</a:t>
            </a:r>
            <a:r>
              <a:rPr sz="1900" spc="-130" dirty="0"/>
              <a:t> </a:t>
            </a:r>
            <a:r>
              <a:rPr sz="1900" spc="-65" dirty="0"/>
              <a:t>you</a:t>
            </a:r>
            <a:r>
              <a:rPr sz="1900" spc="-125" dirty="0"/>
              <a:t> </a:t>
            </a:r>
            <a:r>
              <a:rPr sz="1900" spc="-80" dirty="0"/>
              <a:t>applications</a:t>
            </a:r>
            <a:r>
              <a:rPr sz="1900" spc="-125" dirty="0"/>
              <a:t> </a:t>
            </a:r>
            <a:r>
              <a:rPr sz="1900" spc="-90" dirty="0"/>
              <a:t>go</a:t>
            </a:r>
            <a:r>
              <a:rPr sz="1900" spc="-125" dirty="0"/>
              <a:t> </a:t>
            </a:r>
            <a:r>
              <a:rPr sz="1900" spc="-85" dirty="0"/>
              <a:t>down</a:t>
            </a:r>
            <a:r>
              <a:rPr sz="1900" spc="-125" dirty="0"/>
              <a:t> </a:t>
            </a:r>
            <a:r>
              <a:rPr sz="1900" spc="-20" dirty="0"/>
              <a:t>too?</a:t>
            </a:r>
            <a:endParaRPr sz="1900"/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pc="-150" dirty="0"/>
              <a:t>What</a:t>
            </a:r>
            <a:r>
              <a:rPr spc="-175" dirty="0"/>
              <a:t> </a:t>
            </a:r>
            <a:r>
              <a:rPr spc="-85" dirty="0"/>
              <a:t>if</a:t>
            </a:r>
            <a:r>
              <a:rPr spc="-170" dirty="0"/>
              <a:t> </a:t>
            </a:r>
            <a:r>
              <a:rPr spc="-50" dirty="0"/>
              <a:t>all</a:t>
            </a:r>
            <a:r>
              <a:rPr spc="-170" dirty="0"/>
              <a:t> </a:t>
            </a:r>
            <a:r>
              <a:rPr spc="-85" dirty="0"/>
              <a:t>of</a:t>
            </a:r>
            <a:r>
              <a:rPr spc="-170" dirty="0"/>
              <a:t> </a:t>
            </a:r>
            <a:r>
              <a:rPr spc="-105" dirty="0"/>
              <a:t>sudden,</a:t>
            </a:r>
            <a:r>
              <a:rPr spc="-175" dirty="0"/>
              <a:t> </a:t>
            </a:r>
            <a:r>
              <a:rPr spc="-100" dirty="0"/>
              <a:t>there</a:t>
            </a:r>
            <a:r>
              <a:rPr spc="-170" dirty="0"/>
              <a:t> </a:t>
            </a:r>
            <a:r>
              <a:rPr spc="-135" dirty="0"/>
              <a:t>is</a:t>
            </a:r>
            <a:r>
              <a:rPr spc="-170" dirty="0"/>
              <a:t> </a:t>
            </a:r>
            <a:r>
              <a:rPr spc="-75" dirty="0"/>
              <a:t>high</a:t>
            </a:r>
            <a:r>
              <a:rPr spc="-170" dirty="0"/>
              <a:t> </a:t>
            </a:r>
            <a:r>
              <a:rPr spc="-70" dirty="0"/>
              <a:t>load</a:t>
            </a:r>
            <a:r>
              <a:rPr spc="-175" dirty="0"/>
              <a:t> </a:t>
            </a:r>
            <a:r>
              <a:rPr spc="-90" dirty="0"/>
              <a:t>and</a:t>
            </a:r>
            <a:r>
              <a:rPr spc="-170" dirty="0"/>
              <a:t> </a:t>
            </a:r>
            <a:r>
              <a:rPr spc="-100" dirty="0"/>
              <a:t>there</a:t>
            </a:r>
            <a:r>
              <a:rPr spc="-170" dirty="0"/>
              <a:t> </a:t>
            </a:r>
            <a:r>
              <a:rPr spc="-114" dirty="0"/>
              <a:t>are</a:t>
            </a:r>
            <a:r>
              <a:rPr spc="-170" dirty="0"/>
              <a:t> </a:t>
            </a:r>
            <a:r>
              <a:rPr spc="-35" dirty="0"/>
              <a:t>lot</a:t>
            </a:r>
            <a:r>
              <a:rPr spc="-175" dirty="0"/>
              <a:t> </a:t>
            </a:r>
            <a:r>
              <a:rPr spc="-85" dirty="0"/>
              <a:t>of</a:t>
            </a:r>
            <a:r>
              <a:rPr spc="-170" dirty="0"/>
              <a:t> </a:t>
            </a:r>
            <a:r>
              <a:rPr spc="-95" dirty="0"/>
              <a:t>logs</a:t>
            </a:r>
            <a:r>
              <a:rPr spc="-170" dirty="0"/>
              <a:t> </a:t>
            </a:r>
            <a:r>
              <a:rPr spc="-95" dirty="0"/>
              <a:t>coming</a:t>
            </a:r>
            <a:r>
              <a:rPr spc="-170" dirty="0"/>
              <a:t> </a:t>
            </a:r>
            <a:r>
              <a:rPr spc="-25" dirty="0"/>
              <a:t>in?</a:t>
            </a: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35" dirty="0"/>
              <a:t>Log </a:t>
            </a:r>
            <a:r>
              <a:rPr sz="1900" spc="-105" dirty="0"/>
              <a:t>Service</a:t>
            </a:r>
            <a:r>
              <a:rPr sz="1900" spc="-135" dirty="0"/>
              <a:t> </a:t>
            </a:r>
            <a:r>
              <a:rPr sz="1900" spc="-114" dirty="0"/>
              <a:t>is</a:t>
            </a:r>
            <a:r>
              <a:rPr sz="1900" spc="-135" dirty="0"/>
              <a:t> </a:t>
            </a:r>
            <a:r>
              <a:rPr sz="1900" spc="-55" dirty="0"/>
              <a:t>not</a:t>
            </a:r>
            <a:r>
              <a:rPr sz="1900" spc="-135" dirty="0"/>
              <a:t> </a:t>
            </a:r>
            <a:r>
              <a:rPr sz="1900" spc="-80" dirty="0"/>
              <a:t>able</a:t>
            </a:r>
            <a:r>
              <a:rPr sz="1900" spc="-130" dirty="0"/>
              <a:t> </a:t>
            </a:r>
            <a:r>
              <a:rPr sz="1900" spc="-60" dirty="0"/>
              <a:t>to</a:t>
            </a:r>
            <a:r>
              <a:rPr sz="1900" spc="-135" dirty="0"/>
              <a:t> </a:t>
            </a:r>
            <a:r>
              <a:rPr sz="1900" spc="-85" dirty="0"/>
              <a:t>handle</a:t>
            </a:r>
            <a:r>
              <a:rPr sz="1900" spc="-135" dirty="0"/>
              <a:t> </a:t>
            </a:r>
            <a:r>
              <a:rPr sz="1900" spc="-90" dirty="0"/>
              <a:t>the</a:t>
            </a:r>
            <a:r>
              <a:rPr sz="1900" spc="-135" dirty="0"/>
              <a:t> </a:t>
            </a:r>
            <a:r>
              <a:rPr sz="1900" spc="-70" dirty="0"/>
              <a:t>load</a:t>
            </a:r>
            <a:r>
              <a:rPr sz="1900" spc="-130" dirty="0"/>
              <a:t> </a:t>
            </a:r>
            <a:r>
              <a:rPr sz="1900" spc="-85" dirty="0"/>
              <a:t>and</a:t>
            </a:r>
            <a:r>
              <a:rPr sz="1900" spc="-135" dirty="0"/>
              <a:t> </a:t>
            </a:r>
            <a:r>
              <a:rPr sz="1900" spc="-125" dirty="0"/>
              <a:t>goes</a:t>
            </a:r>
            <a:r>
              <a:rPr sz="1900" spc="-135" dirty="0"/>
              <a:t> </a:t>
            </a:r>
            <a:r>
              <a:rPr sz="1900" spc="-85" dirty="0"/>
              <a:t>down</a:t>
            </a:r>
            <a:r>
              <a:rPr sz="1900" spc="-135" dirty="0"/>
              <a:t> </a:t>
            </a:r>
            <a:r>
              <a:rPr sz="1900" spc="-65" dirty="0"/>
              <a:t>very</a:t>
            </a:r>
            <a:r>
              <a:rPr sz="1900" spc="-135" dirty="0"/>
              <a:t> </a:t>
            </a:r>
            <a:r>
              <a:rPr sz="1900" spc="-10" dirty="0"/>
              <a:t>often</a:t>
            </a:r>
            <a:endParaRPr sz="1900"/>
          </a:p>
        </p:txBody>
      </p:sp>
      <p:sp>
        <p:nvSpPr>
          <p:cNvPr id="10" name="object 1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246</a:t>
            </a:fld>
            <a:endParaRPr spc="-25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Asynchronous</a:t>
            </a:r>
            <a:r>
              <a:rPr spc="-235" dirty="0"/>
              <a:t> </a:t>
            </a:r>
            <a:r>
              <a:rPr spc="-95" dirty="0"/>
              <a:t>Communication</a:t>
            </a:r>
            <a:r>
              <a:rPr spc="-229" dirty="0"/>
              <a:t> </a:t>
            </a:r>
            <a:r>
              <a:rPr spc="-155" dirty="0"/>
              <a:t>-</a:t>
            </a:r>
            <a:r>
              <a:rPr spc="-229" dirty="0"/>
              <a:t> </a:t>
            </a:r>
            <a:r>
              <a:rPr spc="-70" dirty="0"/>
              <a:t>Decoupled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552" y="927820"/>
            <a:ext cx="4457395" cy="7512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104769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2563863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02295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33651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37491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41247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45087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70747" y="1826629"/>
            <a:ext cx="9005570" cy="2860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8200"/>
              </a:lnSpc>
              <a:spcBef>
                <a:spcPts val="9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topic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put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messages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topic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picks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processing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ready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Advantages: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Decoupling: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Publisher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(Apps)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don't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care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who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listening</a:t>
            </a:r>
            <a:endParaRPr sz="1900">
              <a:latin typeface="Yu Gothic"/>
              <a:cs typeface="Yu Gothic"/>
            </a:endParaRPr>
          </a:p>
          <a:p>
            <a:pPr marL="346075" marR="897890">
              <a:lnSpc>
                <a:spcPct val="131200"/>
              </a:lnSpc>
              <a:spcBef>
                <a:spcPts val="30"/>
              </a:spcBef>
            </a:pP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Availability: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Publisher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(Apps)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even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subscriber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(Logging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Service)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down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Scalability: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consumer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(Logging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Service)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under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load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Durability: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lost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even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subscriber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(Logging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Service)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247</a:t>
            </a:fld>
            <a:endParaRPr spc="-25" dirty="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56996" y="898425"/>
            <a:ext cx="395033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171700" algn="l"/>
              </a:tabLst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fully-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asynchronous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0250" y="866705"/>
            <a:ext cx="2570480" cy="810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44589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Reliable,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scalable,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messaging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endParaRPr sz="2350">
              <a:latin typeface="Yu Gothic"/>
              <a:cs typeface="Yu Gothic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04799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465356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316766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1718116"/>
            <a:ext cx="6837045" cy="280543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399540" algn="l"/>
                <a:tab pos="1879600" algn="l"/>
                <a:tab pos="476440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Backbone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Highly</a:t>
            </a:r>
            <a:r>
              <a:rPr sz="2350" b="1" spc="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Available</a:t>
            </a:r>
            <a:r>
              <a:rPr sz="2350" b="1" spc="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Highly</a:t>
            </a:r>
            <a:r>
              <a:rPr sz="2350" b="1" spc="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Scalable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Solutions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process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billions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messages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day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Low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(Pay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use)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Usecases: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Event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ingestion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delivery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streaming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analytics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pipelines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push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pull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deliveries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5" dirty="0"/>
              <a:t>Pub/Sub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248</a:t>
            </a:fld>
            <a:endParaRPr spc="-25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4216" y="1197709"/>
            <a:ext cx="4403310" cy="25323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163199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51378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801757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39023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678209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245816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876026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856689"/>
            <a:ext cx="4833620" cy="50107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46075" marR="5080" indent="-334010">
              <a:lnSpc>
                <a:spcPct val="107900"/>
              </a:lnSpc>
              <a:spcBef>
                <a:spcPts val="220"/>
              </a:spcBef>
            </a:pP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Publisher</a:t>
            </a:r>
            <a:r>
              <a:rPr sz="2350" b="1" spc="-2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Sender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message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Publishers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send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messages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making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HTTPS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pubsub.googleapis.com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Subscriber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Receiver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endParaRPr sz="2350">
              <a:latin typeface="Yu Gothic"/>
              <a:cs typeface="Yu Gothic"/>
            </a:endParaRPr>
          </a:p>
          <a:p>
            <a:pPr marL="680085" marR="5080" indent="-334010" algn="just">
              <a:lnSpc>
                <a:spcPct val="108200"/>
              </a:lnSpc>
              <a:spcBef>
                <a:spcPts val="70"/>
              </a:spcBef>
            </a:pP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Pull</a:t>
            </a:r>
            <a:r>
              <a:rPr sz="190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Subscriber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pulls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messages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ready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Subscriber</a:t>
            </a:r>
            <a:r>
              <a:rPr sz="1500" spc="2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makes</a:t>
            </a:r>
            <a:r>
              <a:rPr sz="1500" spc="2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HTTPS</a:t>
            </a:r>
            <a:r>
              <a:rPr sz="1500" spc="2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r>
              <a:rPr sz="1500" spc="2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pubsub.googleapis.com</a:t>
            </a:r>
            <a:endParaRPr sz="1500">
              <a:latin typeface="Yu Gothic"/>
              <a:cs typeface="Yu Gothic"/>
            </a:endParaRPr>
          </a:p>
          <a:p>
            <a:pPr marL="680085" marR="5080" indent="-334010">
              <a:lnSpc>
                <a:spcPct val="108200"/>
              </a:lnSpc>
              <a:spcBef>
                <a:spcPts val="505"/>
              </a:spcBef>
            </a:pP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Push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0" dirty="0">
                <a:solidFill>
                  <a:srgbClr val="212121"/>
                </a:solidFill>
                <a:latin typeface="Yu Gothic"/>
                <a:cs typeface="Yu Gothic"/>
              </a:rPr>
              <a:t>Messages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sent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subscribers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Subscribers</a:t>
            </a:r>
            <a:r>
              <a:rPr sz="15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15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web</a:t>
            </a:r>
            <a:r>
              <a:rPr sz="15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hook</a:t>
            </a:r>
            <a:r>
              <a:rPr sz="15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endpoint</a:t>
            </a:r>
            <a:r>
              <a:rPr sz="15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5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registration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530"/>
              </a:spcBef>
            </a:pP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5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received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topic,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HTTPS </a:t>
            </a: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POST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request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sent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web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hook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endpoints</a:t>
            </a:r>
            <a:endParaRPr sz="150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430"/>
              </a:spcBef>
            </a:pP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Very</a:t>
            </a:r>
            <a:r>
              <a:rPr sz="2350" b="1" spc="434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Flexible</a:t>
            </a:r>
            <a:r>
              <a:rPr sz="2350" b="1" spc="430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Publisher(s)</a:t>
            </a:r>
            <a:r>
              <a:rPr sz="2350" spc="46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Subscriber(s)</a:t>
            </a:r>
            <a:r>
              <a:rPr sz="235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Relationships:</a:t>
            </a:r>
            <a:r>
              <a:rPr sz="2350" spc="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Many,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Many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One,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Many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Many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482981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Pub/Sub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85" dirty="0"/>
              <a:t>How</a:t>
            </a:r>
            <a:r>
              <a:rPr spc="-265" dirty="0"/>
              <a:t> </a:t>
            </a:r>
            <a:r>
              <a:rPr spc="-80" dirty="0"/>
              <a:t>does</a:t>
            </a:r>
            <a:r>
              <a:rPr spc="-260" dirty="0"/>
              <a:t> </a:t>
            </a:r>
            <a:r>
              <a:rPr spc="-114" dirty="0"/>
              <a:t>it</a:t>
            </a:r>
            <a:r>
              <a:rPr spc="-265" dirty="0"/>
              <a:t> </a:t>
            </a:r>
            <a:r>
              <a:rPr spc="-50" dirty="0"/>
              <a:t>work?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249</a:t>
            </a:fld>
            <a:endParaRPr spc="-25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6847" y="1218989"/>
            <a:ext cx="5320669" cy="30562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569696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137302"/>
            <a:ext cx="66777" cy="6677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70250" y="799928"/>
            <a:ext cx="3832225" cy="397764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Step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Topic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760730" algn="l"/>
                <a:tab pos="1083945" algn="l"/>
                <a:tab pos="1332230" algn="l"/>
                <a:tab pos="3414395" algn="l"/>
              </a:tabLst>
            </a:pP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Step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Subscription(s)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endParaRPr sz="235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26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Subscribers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register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topic</a:t>
            </a:r>
            <a:endParaRPr sz="1900">
              <a:latin typeface="Yu Gothic"/>
              <a:cs typeface="Yu Gothic"/>
            </a:endParaRPr>
          </a:p>
          <a:p>
            <a:pPr marL="346075" marR="5080" algn="just">
              <a:lnSpc>
                <a:spcPct val="108100"/>
              </a:lnSpc>
              <a:spcBef>
                <a:spcPts val="495"/>
              </a:spcBef>
            </a:pP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35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Subscription</a:t>
            </a:r>
            <a:r>
              <a:rPr sz="1900" spc="35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represents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discrete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pull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messages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a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topic:</a:t>
            </a:r>
            <a:endParaRPr sz="1900">
              <a:latin typeface="Yu Gothic"/>
              <a:cs typeface="Yu Gothic"/>
            </a:endParaRPr>
          </a:p>
          <a:p>
            <a:pPr marL="680085" algn="just">
              <a:lnSpc>
                <a:spcPct val="100000"/>
              </a:lnSpc>
              <a:spcBef>
                <a:spcPts val="15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clients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pull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subscription</a:t>
            </a:r>
            <a:endParaRPr sz="1500">
              <a:latin typeface="Yu Gothic"/>
              <a:cs typeface="Yu Gothic"/>
            </a:endParaRPr>
          </a:p>
          <a:p>
            <a:pPr marL="680085" algn="just">
              <a:lnSpc>
                <a:spcPct val="100000"/>
              </a:lnSpc>
              <a:spcBef>
                <a:spcPts val="175"/>
              </a:spcBef>
            </a:pP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messages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split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between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clients</a:t>
            </a:r>
            <a:endParaRPr sz="1500">
              <a:latin typeface="Yu Gothic"/>
              <a:cs typeface="Yu Gothic"/>
            </a:endParaRPr>
          </a:p>
          <a:p>
            <a:pPr marL="680085" marR="5080" algn="just">
              <a:lnSpc>
                <a:spcPct val="109500"/>
              </a:lnSpc>
              <a:spcBef>
                <a:spcPts val="525"/>
              </a:spcBef>
            </a:pP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clients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 a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subscription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500" spc="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500" spc="3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500" spc="3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client</a:t>
            </a:r>
            <a:r>
              <a:rPr sz="1500" spc="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500" spc="3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500" spc="3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every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Pub/Sub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10" dirty="0"/>
              <a:t>Getting</a:t>
            </a:r>
            <a:r>
              <a:rPr spc="-250" dirty="0"/>
              <a:t> </a:t>
            </a:r>
            <a:r>
              <a:rPr spc="-110" dirty="0"/>
              <a:t>Ready</a:t>
            </a:r>
            <a:r>
              <a:rPr spc="-250" dirty="0"/>
              <a:t> </a:t>
            </a:r>
            <a:r>
              <a:rPr spc="-114" dirty="0"/>
              <a:t>with</a:t>
            </a:r>
            <a:r>
              <a:rPr spc="-250" dirty="0"/>
              <a:t> </a:t>
            </a:r>
            <a:r>
              <a:rPr spc="-165" dirty="0"/>
              <a:t>Topic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40" dirty="0"/>
              <a:t>Subscriptions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250</a:t>
            </a:fld>
            <a:endParaRPr spc="-25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0826" y="1186195"/>
            <a:ext cx="3708714" cy="19626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568036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885228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265024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724118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45866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799928"/>
            <a:ext cx="5835015" cy="415417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Publisher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sends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Topic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1220470" algn="l"/>
                <a:tab pos="2887345" algn="l"/>
                <a:tab pos="4197985" algn="l"/>
                <a:tab pos="4598670" algn="l"/>
                <a:tab pos="5337175" algn="l"/>
              </a:tabLst>
            </a:pP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individually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delivered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subscription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Subscribers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receive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either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by: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Push: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Pub/Sub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sends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Subscriber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Pull: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Subscribers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poll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messages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Subscribers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send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acknowledgement(s)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90"/>
              </a:spcBef>
              <a:tabLst>
                <a:tab pos="1544320" algn="l"/>
                <a:tab pos="2103120" algn="l"/>
                <a:tab pos="3373754" algn="l"/>
                <a:tab pos="4130040" algn="l"/>
              </a:tabLst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Message(s)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removed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subscriptions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queue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"/>
              </a:spcBef>
              <a:tabLst>
                <a:tab pos="1434465" algn="l"/>
                <a:tab pos="2426970" algn="l"/>
                <a:tab pos="2967355" algn="l"/>
                <a:tab pos="4056379" algn="l"/>
                <a:tab pos="4425950" algn="l"/>
                <a:tab pos="5474970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Pub/Sub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ensures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retained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per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subscription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until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acknowledged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34568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Pub/Sub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60" dirty="0"/>
              <a:t>Sending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4" dirty="0"/>
              <a:t> </a:t>
            </a:r>
            <a:r>
              <a:rPr spc="-120" dirty="0"/>
              <a:t>Receiving</a:t>
            </a:r>
            <a:r>
              <a:rPr spc="-254" dirty="0"/>
              <a:t> </a:t>
            </a:r>
            <a:r>
              <a:rPr spc="-40" dirty="0"/>
              <a:t>a</a:t>
            </a:r>
            <a:r>
              <a:rPr spc="-254" dirty="0"/>
              <a:t> </a:t>
            </a:r>
            <a:r>
              <a:rPr spc="-10" dirty="0"/>
              <a:t>Message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251</a:t>
            </a:fld>
            <a:endParaRPr spc="-25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17289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434482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751674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0980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394405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7408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1247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429453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754992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080532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70250" y="846255"/>
            <a:ext cx="7357109" cy="43732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Pub/Sub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topics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topic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subscriptions</a:t>
            </a:r>
            <a:r>
              <a:rPr sz="1900" b="1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subscription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 --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topic=my-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topic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enable-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message-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ordering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ordered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delivery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spc="-80" dirty="0">
                <a:solidFill>
                  <a:srgbClr val="212121"/>
                </a:solidFill>
                <a:latin typeface="Trebuchet MS"/>
                <a:cs typeface="Trebuchet MS"/>
              </a:rPr>
              <a:t>ack-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deadline</a:t>
            </a:r>
            <a:r>
              <a:rPr sz="15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long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wait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acknowledgment?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message-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filter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criteria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filter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messages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subscriptions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pull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subscription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60" dirty="0">
                <a:solidFill>
                  <a:srgbClr val="212121"/>
                </a:solidFill>
                <a:latin typeface="Trebuchet MS"/>
                <a:cs typeface="Trebuchet MS"/>
              </a:rPr>
              <a:t>auto-</a:t>
            </a:r>
            <a:r>
              <a:rPr sz="1500" i="1" spc="-25" dirty="0">
                <a:solidFill>
                  <a:srgbClr val="212121"/>
                </a:solidFill>
                <a:latin typeface="Trebuchet MS"/>
                <a:cs typeface="Trebuchet MS"/>
              </a:rPr>
              <a:t>ack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20" dirty="0">
                <a:solidFill>
                  <a:srgbClr val="212121"/>
                </a:solidFill>
                <a:latin typeface="Trebuchet MS"/>
                <a:cs typeface="Trebuchet MS"/>
              </a:rPr>
              <a:t>limit</a:t>
            </a:r>
            <a:endParaRPr sz="15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5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r>
              <a:rPr sz="1900" i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subscriptions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ack</a:t>
            </a:r>
            <a:r>
              <a:rPr sz="190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subscription</a:t>
            </a:r>
            <a:r>
              <a:rPr sz="1900" i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ack-</a:t>
            </a:r>
            <a:r>
              <a:rPr sz="1900" i="1" spc="-55" dirty="0">
                <a:solidFill>
                  <a:srgbClr val="212121"/>
                </a:solidFill>
                <a:latin typeface="Trebuchet MS"/>
                <a:cs typeface="Trebuchet MS"/>
              </a:rPr>
              <a:t>ids=[ACK_ID,…]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Topic: </a:t>
            </a:r>
            <a:r>
              <a:rPr sz="19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95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topics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topics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delete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500" i="1" spc="-20" dirty="0">
                <a:solidFill>
                  <a:srgbClr val="212121"/>
                </a:solidFill>
                <a:latin typeface="Trebuchet MS"/>
                <a:cs typeface="Trebuchet MS"/>
              </a:rPr>
              <a:t>topic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60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topics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list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65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r>
              <a:rPr sz="1500" i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topics</a:t>
            </a:r>
            <a:r>
              <a:rPr sz="1500" i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list-</a:t>
            </a:r>
            <a:r>
              <a:rPr sz="15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subscriptions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topic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320357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5" dirty="0"/>
              <a:t>Managing</a:t>
            </a:r>
            <a:r>
              <a:rPr spc="-250" dirty="0"/>
              <a:t> </a:t>
            </a:r>
            <a:r>
              <a:rPr spc="-20" dirty="0"/>
              <a:t>Pub/Sub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252</a:t>
            </a:fld>
            <a:endParaRPr spc="-25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7915" y="2417608"/>
            <a:ext cx="380682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85" dirty="0">
                <a:solidFill>
                  <a:srgbClr val="1BA74A"/>
                </a:solidFill>
              </a:rPr>
              <a:t>Networking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253</a:t>
            </a:fld>
            <a:endParaRPr spc="-25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20104" y="1094753"/>
            <a:ext cx="2679438" cy="234555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33818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37187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659855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977047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607258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842638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558553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856689"/>
            <a:ext cx="6837045" cy="490664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46075" marR="5080" indent="-334010">
              <a:lnSpc>
                <a:spcPct val="107900"/>
              </a:lnSpc>
              <a:spcBef>
                <a:spcPts val="220"/>
              </a:spcBef>
            </a:pP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corporate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premises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center: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anyone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see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exchange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between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database?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No</a:t>
            </a:r>
            <a:endParaRPr sz="15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anyone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directly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connect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Typically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NO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.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525"/>
              </a:spcBef>
            </a:pP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corporate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then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your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databases.</a:t>
            </a:r>
            <a:endParaRPr sz="150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434"/>
              </a:spcBef>
            </a:pP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Corporate</a:t>
            </a:r>
            <a:r>
              <a:rPr sz="2350" spc="13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14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14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14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secure</a:t>
            </a:r>
            <a:r>
              <a:rPr sz="2350" b="1" spc="114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internal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network</a:t>
            </a:r>
            <a:r>
              <a:rPr sz="2350" b="1" spc="160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protecting</a:t>
            </a:r>
            <a:r>
              <a:rPr sz="2350" spc="21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21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resources,</a:t>
            </a:r>
            <a:r>
              <a:rPr sz="2350" spc="21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21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communication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endParaRPr sz="235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459"/>
              </a:spcBef>
            </a:pP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own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private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network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in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Enter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Virtual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Private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(VPC)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452628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5" dirty="0"/>
              <a:t>Need</a:t>
            </a:r>
            <a:r>
              <a:rPr spc="-260" dirty="0"/>
              <a:t> </a:t>
            </a:r>
            <a:r>
              <a:rPr spc="-140" dirty="0"/>
              <a:t>for</a:t>
            </a:r>
            <a:r>
              <a:rPr spc="-254" dirty="0"/>
              <a:t> </a:t>
            </a:r>
            <a:r>
              <a:rPr spc="-80" dirty="0"/>
              <a:t>Google</a:t>
            </a:r>
            <a:r>
              <a:rPr spc="-254" dirty="0"/>
              <a:t> </a:t>
            </a:r>
            <a:r>
              <a:rPr spc="-80" dirty="0"/>
              <a:t>Cloud</a:t>
            </a:r>
            <a:r>
              <a:rPr spc="-254" dirty="0"/>
              <a:t> </a:t>
            </a:r>
            <a:r>
              <a:rPr spc="-55" dirty="0"/>
              <a:t>VPC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254</a:t>
            </a:fld>
            <a:endParaRPr spc="-25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2926" y="1094765"/>
            <a:ext cx="801326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163199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22293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335684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7408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158170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90106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856689"/>
            <a:ext cx="7838440" cy="45313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Your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own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isolated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network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isolated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(not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visible)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Google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VPCs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control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traffic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coming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going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outside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90"/>
              </a:spcBef>
              <a:tabLst>
                <a:tab pos="862965" algn="l"/>
                <a:tab pos="2191385" algn="l"/>
                <a:tab pos="3192780" algn="l"/>
                <a:tab pos="3683000" algn="l"/>
                <a:tab pos="4434840" algn="l"/>
                <a:tab pos="5147945" algn="l"/>
                <a:tab pos="653923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(Best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Practice)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(compute,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storage,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within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VPC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Secure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unauthorized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Enable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secure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communication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between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2350" spc="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global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resource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35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contains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subnets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 in one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more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</a:pPr>
            <a:r>
              <a:rPr sz="1900" spc="-229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tied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zone.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any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zone!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81672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Google</a:t>
            </a:r>
            <a:r>
              <a:rPr spc="-240" dirty="0"/>
              <a:t> </a:t>
            </a:r>
            <a:r>
              <a:rPr spc="-80" dirty="0"/>
              <a:t>Cloud</a:t>
            </a:r>
            <a:r>
              <a:rPr spc="-240" dirty="0"/>
              <a:t> </a:t>
            </a:r>
            <a:r>
              <a:rPr spc="-120" dirty="0"/>
              <a:t>VPC</a:t>
            </a:r>
            <a:r>
              <a:rPr spc="-240" dirty="0"/>
              <a:t> </a:t>
            </a:r>
            <a:r>
              <a:rPr spc="-135" dirty="0"/>
              <a:t>(Virtual</a:t>
            </a:r>
            <a:r>
              <a:rPr spc="-240" dirty="0"/>
              <a:t> </a:t>
            </a:r>
            <a:r>
              <a:rPr spc="-120" dirty="0"/>
              <a:t>Private</a:t>
            </a:r>
            <a:r>
              <a:rPr spc="-240" dirty="0"/>
              <a:t> </a:t>
            </a:r>
            <a:r>
              <a:rPr spc="-40" dirty="0"/>
              <a:t>Cloud)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255</a:t>
            </a:fld>
            <a:endParaRPr spc="-25" dirty="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0441" y="1192323"/>
            <a:ext cx="341106" cy="7317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5409" y="2154853"/>
            <a:ext cx="83471" cy="1752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06243" y="2447013"/>
            <a:ext cx="706771" cy="8665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5409" y="3557177"/>
            <a:ext cx="83471" cy="1752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06243" y="3857680"/>
            <a:ext cx="706771" cy="86433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5409" y="4951149"/>
            <a:ext cx="83471" cy="1752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50483" y="5359044"/>
            <a:ext cx="360597" cy="42953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1259" y="2868534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0882" y="3248330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399122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0882" y="4408585"/>
            <a:ext cx="91818" cy="9181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70250" y="866705"/>
            <a:ext cx="8740140" cy="4140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287145" algn="l"/>
                <a:tab pos="2152015" algn="l"/>
                <a:tab pos="2584450" algn="l"/>
                <a:tab pos="3975100" algn="l"/>
                <a:tab pos="4560570" algn="l"/>
                <a:tab pos="5692775" algn="l"/>
                <a:tab pos="6201410" algn="l"/>
                <a:tab pos="7089775" algn="l"/>
                <a:tab pos="736473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3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databases,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resource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its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own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needs</a:t>
            </a:r>
            <a:endParaRPr sz="1900">
              <a:latin typeface="Trebuchet MS"/>
              <a:cs typeface="Trebuchet MS"/>
            </a:endParaRPr>
          </a:p>
          <a:p>
            <a:pPr marL="346075" marR="1760855">
              <a:lnSpc>
                <a:spcPts val="3020"/>
              </a:lnSpc>
              <a:spcBef>
                <a:spcPts val="1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Load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Balancers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accessible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public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resources)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accessible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ts val="1735"/>
              </a:lnSpc>
            </a:pPr>
            <a:r>
              <a:rPr sz="1500" spc="-204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(VPC)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able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them(</a:t>
            </a: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private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resources)</a:t>
            </a:r>
            <a:endParaRPr sz="15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34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separate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public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resources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private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resources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inside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75" dirty="0">
                <a:solidFill>
                  <a:srgbClr val="212121"/>
                </a:solidFill>
                <a:latin typeface="Yu Gothic"/>
                <a:cs typeface="Yu Gothic"/>
              </a:rPr>
              <a:t>VPC?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separate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Subnets!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(Additional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Reason)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distribute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multiple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5" dirty="0"/>
              <a:t>Need</a:t>
            </a:r>
            <a:r>
              <a:rPr spc="-270" dirty="0"/>
              <a:t> </a:t>
            </a:r>
            <a:r>
              <a:rPr spc="-140" dirty="0"/>
              <a:t>for</a:t>
            </a:r>
            <a:r>
              <a:rPr spc="-270" dirty="0"/>
              <a:t> </a:t>
            </a:r>
            <a:r>
              <a:rPr spc="-120" dirty="0"/>
              <a:t>VPC</a:t>
            </a:r>
            <a:r>
              <a:rPr spc="-270" dirty="0"/>
              <a:t> </a:t>
            </a:r>
            <a:r>
              <a:rPr spc="-50" dirty="0"/>
              <a:t>Subnets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256</a:t>
            </a:fld>
            <a:endParaRPr spc="-25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3228" y="1094768"/>
            <a:ext cx="3806311" cy="23121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251378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31982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932797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391891"/>
            <a:ext cx="91818" cy="918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70250" y="866705"/>
            <a:ext cx="5835650" cy="412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(Solution)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different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subnets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public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subnet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1900" b="1" spc="-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accessed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from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19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subnet</a:t>
            </a:r>
            <a:r>
              <a:rPr sz="19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CANNOT</a:t>
            </a:r>
            <a:r>
              <a:rPr sz="1900" b="1" spc="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accessed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9"/>
              </a:spcBef>
            </a:pP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subnet can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talk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in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subnet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Subnet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Example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demo-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3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Subnets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region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us-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central1,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europe-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west1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us-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west1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..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VPC</a:t>
            </a:r>
            <a:r>
              <a:rPr spc="-275" dirty="0"/>
              <a:t> </a:t>
            </a:r>
            <a:r>
              <a:rPr spc="-60" dirty="0"/>
              <a:t>Subnets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257</a:t>
            </a:fld>
            <a:endParaRPr spc="-25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3228" y="1094768"/>
            <a:ext cx="3806311" cy="23121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175720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492912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0813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369364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686556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003748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383544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7341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42693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799928"/>
            <a:ext cx="5835650" cy="5113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36575">
              <a:lnSpc>
                <a:spcPct val="128200"/>
              </a:lnSpc>
              <a:spcBef>
                <a:spcPts val="95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default,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VPC 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own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VPCs: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mode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network: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Subnets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each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530"/>
              </a:spcBef>
            </a:pP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5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uses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auto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mode!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190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mode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network: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subnets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endParaRPr sz="1500">
              <a:latin typeface="Yu Gothic"/>
              <a:cs typeface="Yu Gothic"/>
            </a:endParaRPr>
          </a:p>
          <a:p>
            <a:pPr marL="680085" marR="412115">
              <a:lnSpc>
                <a:spcPct val="138800"/>
              </a:lnSpc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complete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over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subnets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their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IP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ranges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Recommended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Options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subnet: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Enable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Private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Allows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VM's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connect 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API's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IP's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25"/>
              </a:spcBef>
            </a:pP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Enable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35" dirty="0">
                <a:solidFill>
                  <a:srgbClr val="212121"/>
                </a:solidFill>
                <a:latin typeface="Trebuchet MS"/>
                <a:cs typeface="Trebuchet MS"/>
              </a:rPr>
              <a:t>FlowLogs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troubleshoot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related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issues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Creating</a:t>
            </a:r>
            <a:r>
              <a:rPr spc="-254" dirty="0"/>
              <a:t> </a:t>
            </a:r>
            <a:r>
              <a:rPr spc="-95" dirty="0"/>
              <a:t>VPCs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4" dirty="0"/>
              <a:t> </a:t>
            </a:r>
            <a:r>
              <a:rPr spc="-45" dirty="0"/>
              <a:t>Subnets</a:t>
            </a: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258</a:t>
            </a:fld>
            <a:endParaRPr spc="-25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0" dirty="0"/>
              <a:t>CIDR</a:t>
            </a:r>
            <a:r>
              <a:rPr spc="-229" dirty="0"/>
              <a:t> </a:t>
            </a:r>
            <a:r>
              <a:rPr spc="-65" dirty="0"/>
              <a:t>(Classless</a:t>
            </a:r>
            <a:r>
              <a:rPr spc="-229" dirty="0"/>
              <a:t> </a:t>
            </a:r>
            <a:r>
              <a:rPr spc="-140" dirty="0"/>
              <a:t>Inter-</a:t>
            </a:r>
            <a:r>
              <a:rPr spc="-75" dirty="0"/>
              <a:t>Domain</a:t>
            </a:r>
            <a:r>
              <a:rPr spc="-225" dirty="0"/>
              <a:t> </a:t>
            </a:r>
            <a:r>
              <a:rPr spc="-80" dirty="0"/>
              <a:t>Routing)</a:t>
            </a:r>
            <a:r>
              <a:rPr spc="-229" dirty="0"/>
              <a:t> </a:t>
            </a:r>
            <a:r>
              <a:rPr spc="-10" dirty="0"/>
              <a:t>Blocks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163199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8977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323454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367403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400238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475081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70747" y="856689"/>
            <a:ext cx="9741535" cy="407225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46075" marR="5080" indent="-334010">
              <a:lnSpc>
                <a:spcPct val="107900"/>
              </a:lnSpc>
              <a:spcBef>
                <a:spcPts val="220"/>
              </a:spcBef>
            </a:pP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continuous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make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routing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easy: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inside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9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69.208.0.0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69.208.0.15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84"/>
              </a:spcBef>
            </a:pP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express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range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addresses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can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have?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CIDR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block</a:t>
            </a:r>
            <a:endParaRPr sz="1900">
              <a:latin typeface="Trebuchet MS"/>
              <a:cs typeface="Trebuchet MS"/>
            </a:endParaRPr>
          </a:p>
          <a:p>
            <a:pPr marL="346075" marR="5080" indent="-334010">
              <a:lnSpc>
                <a:spcPct val="107900"/>
              </a:lnSpc>
              <a:spcBef>
                <a:spcPts val="530"/>
              </a:spcBef>
            </a:pP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CIDR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block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consists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starting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IP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40" dirty="0">
                <a:solidFill>
                  <a:srgbClr val="212121"/>
                </a:solidFill>
                <a:latin typeface="Trebuchet MS"/>
                <a:cs typeface="Trebuchet MS"/>
              </a:rPr>
              <a:t>address(69.208.0.0)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range(/28)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CIDR</a:t>
            </a:r>
            <a:r>
              <a:rPr sz="19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block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69.208.0.0/28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represents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from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69.208.0.0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69.208.0.15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-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a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total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16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Quick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Tip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69.208.0.0/28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indicates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first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28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bits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(out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32)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fixed.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Last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4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bits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power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4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=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16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259</a:t>
            </a:fld>
            <a:endParaRPr spc="-25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0" dirty="0"/>
              <a:t>CIDR</a:t>
            </a:r>
            <a:r>
              <a:rPr spc="-254" dirty="0"/>
              <a:t> </a:t>
            </a:r>
            <a:r>
              <a:rPr spc="-125" dirty="0"/>
              <a:t>Exercises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6445" y="927829"/>
            <a:ext cx="5809640" cy="22036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60725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395783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37519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472577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5143135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549371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443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pc="-140" dirty="0"/>
              <a:t>Exercise</a:t>
            </a:r>
            <a:r>
              <a:rPr spc="-155" dirty="0"/>
              <a:t> </a:t>
            </a:r>
            <a:r>
              <a:rPr spc="-85" dirty="0"/>
              <a:t>:</a:t>
            </a:r>
            <a:r>
              <a:rPr spc="-150" dirty="0"/>
              <a:t> </a:t>
            </a:r>
            <a:r>
              <a:rPr spc="-135" dirty="0"/>
              <a:t>How</a:t>
            </a:r>
            <a:r>
              <a:rPr spc="-150" dirty="0"/>
              <a:t> </a:t>
            </a:r>
            <a:r>
              <a:rPr spc="-80" dirty="0"/>
              <a:t>many</a:t>
            </a:r>
            <a:r>
              <a:rPr spc="-150" dirty="0"/>
              <a:t> </a:t>
            </a:r>
            <a:r>
              <a:rPr spc="-140" dirty="0"/>
              <a:t>addresses</a:t>
            </a:r>
            <a:r>
              <a:rPr spc="-155" dirty="0"/>
              <a:t> </a:t>
            </a:r>
            <a:r>
              <a:rPr spc="-125" dirty="0"/>
              <a:t>does</a:t>
            </a:r>
            <a:r>
              <a:rPr spc="-150" dirty="0"/>
              <a:t> </a:t>
            </a:r>
            <a:r>
              <a:rPr b="1" spc="-180" dirty="0">
                <a:latin typeface="Trebuchet MS"/>
                <a:cs typeface="Trebuchet MS"/>
              </a:rPr>
              <a:t>69.208.0.0/26</a:t>
            </a:r>
            <a:r>
              <a:rPr b="1" spc="-190" dirty="0">
                <a:latin typeface="Trebuchet MS"/>
                <a:cs typeface="Trebuchet MS"/>
              </a:rPr>
              <a:t> </a:t>
            </a:r>
            <a:r>
              <a:rPr spc="-10" dirty="0"/>
              <a:t>represent?</a:t>
            </a: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35" dirty="0"/>
              <a:t>2</a:t>
            </a:r>
            <a:r>
              <a:rPr sz="1900" spc="-140" dirty="0"/>
              <a:t> </a:t>
            </a:r>
            <a:r>
              <a:rPr sz="1900" spc="-60" dirty="0"/>
              <a:t>to</a:t>
            </a:r>
            <a:r>
              <a:rPr sz="1900" spc="-140" dirty="0"/>
              <a:t> </a:t>
            </a:r>
            <a:r>
              <a:rPr sz="1900" spc="-90" dirty="0"/>
              <a:t>the</a:t>
            </a:r>
            <a:r>
              <a:rPr sz="1900" spc="-135" dirty="0"/>
              <a:t> </a:t>
            </a:r>
            <a:r>
              <a:rPr sz="1900" spc="-85" dirty="0"/>
              <a:t>power</a:t>
            </a:r>
            <a:r>
              <a:rPr sz="1900" spc="-140" dirty="0"/>
              <a:t> </a:t>
            </a:r>
            <a:r>
              <a:rPr sz="1900" spc="-170" dirty="0"/>
              <a:t>(32-</a:t>
            </a:r>
            <a:r>
              <a:rPr sz="1900" spc="-135" dirty="0"/>
              <a:t>26</a:t>
            </a:r>
            <a:r>
              <a:rPr sz="1900" spc="-140" dirty="0"/>
              <a:t> </a:t>
            </a:r>
            <a:r>
              <a:rPr sz="1900" spc="-440" dirty="0"/>
              <a:t>=</a:t>
            </a:r>
            <a:r>
              <a:rPr sz="1900" spc="-135" dirty="0"/>
              <a:t> </a:t>
            </a:r>
            <a:r>
              <a:rPr sz="1900" spc="-155" dirty="0"/>
              <a:t>6)</a:t>
            </a:r>
            <a:r>
              <a:rPr sz="1900" spc="-140" dirty="0"/>
              <a:t> </a:t>
            </a:r>
            <a:r>
              <a:rPr sz="1900" spc="-440" dirty="0"/>
              <a:t>=</a:t>
            </a:r>
            <a:r>
              <a:rPr sz="1900" spc="-135" dirty="0"/>
              <a:t> 64</a:t>
            </a:r>
            <a:r>
              <a:rPr sz="1900" spc="-140" dirty="0"/>
              <a:t> </a:t>
            </a:r>
            <a:r>
              <a:rPr sz="1900" spc="-125" dirty="0"/>
              <a:t>addresses</a:t>
            </a:r>
            <a:r>
              <a:rPr sz="1900" spc="-140" dirty="0"/>
              <a:t> </a:t>
            </a:r>
            <a:r>
              <a:rPr sz="1900" spc="-65" dirty="0"/>
              <a:t>from</a:t>
            </a:r>
            <a:r>
              <a:rPr sz="1900" spc="-135" dirty="0"/>
              <a:t> </a:t>
            </a:r>
            <a:r>
              <a:rPr sz="1900" spc="-105" dirty="0"/>
              <a:t>69.208.0.0</a:t>
            </a:r>
            <a:r>
              <a:rPr sz="1900" spc="-140" dirty="0"/>
              <a:t> </a:t>
            </a:r>
            <a:r>
              <a:rPr sz="1900" spc="-60" dirty="0"/>
              <a:t>to</a:t>
            </a:r>
            <a:r>
              <a:rPr sz="1900" spc="-135" dirty="0"/>
              <a:t> </a:t>
            </a:r>
            <a:r>
              <a:rPr sz="1900" spc="-10" dirty="0"/>
              <a:t>69.208.0.63</a:t>
            </a:r>
            <a:endParaRPr sz="1900"/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pc="-140" dirty="0"/>
              <a:t>Exercise</a:t>
            </a:r>
            <a:r>
              <a:rPr spc="-155" dirty="0"/>
              <a:t> </a:t>
            </a:r>
            <a:r>
              <a:rPr spc="-85" dirty="0"/>
              <a:t>:</a:t>
            </a:r>
            <a:r>
              <a:rPr spc="-150" dirty="0"/>
              <a:t> </a:t>
            </a:r>
            <a:r>
              <a:rPr spc="-135" dirty="0"/>
              <a:t>How</a:t>
            </a:r>
            <a:r>
              <a:rPr spc="-150" dirty="0"/>
              <a:t> </a:t>
            </a:r>
            <a:r>
              <a:rPr spc="-80" dirty="0"/>
              <a:t>many</a:t>
            </a:r>
            <a:r>
              <a:rPr spc="-150" dirty="0"/>
              <a:t> </a:t>
            </a:r>
            <a:r>
              <a:rPr spc="-140" dirty="0"/>
              <a:t>addresses</a:t>
            </a:r>
            <a:r>
              <a:rPr spc="-155" dirty="0"/>
              <a:t> </a:t>
            </a:r>
            <a:r>
              <a:rPr spc="-125" dirty="0"/>
              <a:t>does</a:t>
            </a:r>
            <a:r>
              <a:rPr spc="-150" dirty="0"/>
              <a:t> </a:t>
            </a:r>
            <a:r>
              <a:rPr b="1" spc="-180" dirty="0">
                <a:latin typeface="Trebuchet MS"/>
                <a:cs typeface="Trebuchet MS"/>
              </a:rPr>
              <a:t>69.208.0.0/30</a:t>
            </a:r>
            <a:r>
              <a:rPr b="1" spc="-190" dirty="0">
                <a:latin typeface="Trebuchet MS"/>
                <a:cs typeface="Trebuchet MS"/>
              </a:rPr>
              <a:t> </a:t>
            </a:r>
            <a:r>
              <a:rPr spc="-10" dirty="0"/>
              <a:t>represent?</a:t>
            </a: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5" dirty="0"/>
              <a:t>2</a:t>
            </a:r>
            <a:r>
              <a:rPr sz="1900" spc="-140" dirty="0"/>
              <a:t> </a:t>
            </a:r>
            <a:r>
              <a:rPr sz="1900" spc="-60" dirty="0"/>
              <a:t>to</a:t>
            </a:r>
            <a:r>
              <a:rPr sz="1900" spc="-140" dirty="0"/>
              <a:t> </a:t>
            </a:r>
            <a:r>
              <a:rPr sz="1900" spc="-90" dirty="0"/>
              <a:t>the</a:t>
            </a:r>
            <a:r>
              <a:rPr sz="1900" spc="-140" dirty="0"/>
              <a:t> </a:t>
            </a:r>
            <a:r>
              <a:rPr sz="1900" spc="-85" dirty="0"/>
              <a:t>power</a:t>
            </a:r>
            <a:r>
              <a:rPr sz="1900" spc="-135" dirty="0"/>
              <a:t> </a:t>
            </a:r>
            <a:r>
              <a:rPr sz="1900" spc="-170" dirty="0"/>
              <a:t>(32-</a:t>
            </a:r>
            <a:r>
              <a:rPr sz="1900" spc="-135" dirty="0"/>
              <a:t>30</a:t>
            </a:r>
            <a:r>
              <a:rPr sz="1900" spc="-140" dirty="0"/>
              <a:t> </a:t>
            </a:r>
            <a:r>
              <a:rPr sz="1900" spc="-440" dirty="0"/>
              <a:t>=</a:t>
            </a:r>
            <a:r>
              <a:rPr sz="1900" spc="-140" dirty="0"/>
              <a:t> </a:t>
            </a:r>
            <a:r>
              <a:rPr sz="1900" spc="-155" dirty="0"/>
              <a:t>2)</a:t>
            </a:r>
            <a:r>
              <a:rPr sz="1900" spc="-140" dirty="0"/>
              <a:t> </a:t>
            </a:r>
            <a:r>
              <a:rPr sz="1900" spc="-440" dirty="0"/>
              <a:t>=</a:t>
            </a:r>
            <a:r>
              <a:rPr sz="1900" spc="-135" dirty="0"/>
              <a:t> 4</a:t>
            </a:r>
            <a:r>
              <a:rPr sz="1900" spc="-140" dirty="0"/>
              <a:t> </a:t>
            </a:r>
            <a:r>
              <a:rPr sz="1900" spc="-125" dirty="0"/>
              <a:t>addresses</a:t>
            </a:r>
            <a:r>
              <a:rPr sz="1900" spc="-140" dirty="0"/>
              <a:t> </a:t>
            </a:r>
            <a:r>
              <a:rPr sz="1900" spc="-65" dirty="0"/>
              <a:t>from</a:t>
            </a:r>
            <a:r>
              <a:rPr sz="1900" spc="-140" dirty="0"/>
              <a:t> </a:t>
            </a:r>
            <a:r>
              <a:rPr sz="1900" spc="-105" dirty="0"/>
              <a:t>69.208.0.0</a:t>
            </a:r>
            <a:r>
              <a:rPr sz="1900" spc="-135" dirty="0"/>
              <a:t> </a:t>
            </a:r>
            <a:r>
              <a:rPr sz="1900" spc="-60" dirty="0"/>
              <a:t>to</a:t>
            </a:r>
            <a:r>
              <a:rPr sz="1900" spc="-140" dirty="0"/>
              <a:t> </a:t>
            </a:r>
            <a:r>
              <a:rPr sz="1900" spc="-10" dirty="0"/>
              <a:t>69.208.0.3</a:t>
            </a:r>
            <a:endParaRPr sz="1900"/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pc="-140" dirty="0"/>
              <a:t>Exercise</a:t>
            </a:r>
            <a:r>
              <a:rPr spc="-160" dirty="0"/>
              <a:t> </a:t>
            </a:r>
            <a:r>
              <a:rPr spc="-85" dirty="0"/>
              <a:t>:</a:t>
            </a:r>
            <a:r>
              <a:rPr spc="-160" dirty="0"/>
              <a:t> </a:t>
            </a:r>
            <a:r>
              <a:rPr spc="-150" dirty="0"/>
              <a:t>What</a:t>
            </a:r>
            <a:r>
              <a:rPr spc="-155" dirty="0"/>
              <a:t> </a:t>
            </a:r>
            <a:r>
              <a:rPr spc="-135" dirty="0"/>
              <a:t>is</a:t>
            </a:r>
            <a:r>
              <a:rPr spc="-160" dirty="0"/>
              <a:t> </a:t>
            </a:r>
            <a:r>
              <a:rPr spc="-90" dirty="0"/>
              <a:t>the</a:t>
            </a:r>
            <a:r>
              <a:rPr spc="-155" dirty="0"/>
              <a:t> </a:t>
            </a:r>
            <a:r>
              <a:rPr spc="-120" dirty="0"/>
              <a:t>difference</a:t>
            </a:r>
            <a:r>
              <a:rPr spc="-160" dirty="0"/>
              <a:t> </a:t>
            </a:r>
            <a:r>
              <a:rPr spc="-120" dirty="0"/>
              <a:t>between</a:t>
            </a:r>
            <a:r>
              <a:rPr spc="-155" dirty="0"/>
              <a:t> </a:t>
            </a:r>
            <a:r>
              <a:rPr b="1" spc="-180" dirty="0">
                <a:latin typeface="Trebuchet MS"/>
                <a:cs typeface="Trebuchet MS"/>
              </a:rPr>
              <a:t>0.0.0.0/0</a:t>
            </a:r>
            <a:r>
              <a:rPr b="1" spc="-200" dirty="0">
                <a:latin typeface="Trebuchet MS"/>
                <a:cs typeface="Trebuchet MS"/>
              </a:rPr>
              <a:t> </a:t>
            </a:r>
            <a:r>
              <a:rPr spc="-90" dirty="0"/>
              <a:t>and</a:t>
            </a:r>
            <a:r>
              <a:rPr spc="-160" dirty="0"/>
              <a:t> </a:t>
            </a:r>
            <a:r>
              <a:rPr b="1" spc="-80" dirty="0">
                <a:latin typeface="Trebuchet MS"/>
                <a:cs typeface="Trebuchet MS"/>
              </a:rPr>
              <a:t>0.0.0.0/32</a:t>
            </a:r>
            <a:r>
              <a:rPr spc="-80" dirty="0"/>
              <a:t>?</a:t>
            </a: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4" dirty="0"/>
              <a:t>0.0.0.0/0</a:t>
            </a:r>
            <a:r>
              <a:rPr sz="1900" spc="-120" dirty="0"/>
              <a:t> </a:t>
            </a:r>
            <a:r>
              <a:rPr sz="1900" spc="-100" dirty="0"/>
              <a:t>represent</a:t>
            </a:r>
            <a:r>
              <a:rPr sz="1900" spc="-114" dirty="0"/>
              <a:t> </a:t>
            </a:r>
            <a:r>
              <a:rPr sz="1900" spc="-55" dirty="0"/>
              <a:t>all</a:t>
            </a:r>
            <a:r>
              <a:rPr sz="1900" spc="-120" dirty="0"/>
              <a:t> </a:t>
            </a:r>
            <a:r>
              <a:rPr sz="1900" spc="-114" dirty="0"/>
              <a:t>IP addresses. 0.0.0.0/32</a:t>
            </a:r>
            <a:r>
              <a:rPr sz="1900" spc="-120" dirty="0"/>
              <a:t> </a:t>
            </a:r>
            <a:r>
              <a:rPr sz="1900" spc="-110" dirty="0"/>
              <a:t>represents</a:t>
            </a:r>
            <a:r>
              <a:rPr sz="1900" spc="-114" dirty="0"/>
              <a:t> </a:t>
            </a:r>
            <a:r>
              <a:rPr sz="1900" spc="-95" dirty="0"/>
              <a:t>just</a:t>
            </a:r>
            <a:r>
              <a:rPr sz="1900" spc="-120" dirty="0"/>
              <a:t> </a:t>
            </a:r>
            <a:r>
              <a:rPr sz="1900" spc="-85" dirty="0"/>
              <a:t>one</a:t>
            </a:r>
            <a:r>
              <a:rPr sz="1900" spc="-114" dirty="0"/>
              <a:t> IP address</a:t>
            </a:r>
            <a:r>
              <a:rPr sz="1900" spc="-120" dirty="0"/>
              <a:t> </a:t>
            </a:r>
            <a:r>
              <a:rPr sz="1900" spc="-25" dirty="0"/>
              <a:t>0.0.0.0.</a:t>
            </a:r>
            <a:endParaRPr sz="1900"/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260</a:t>
            </a:fld>
            <a:endParaRPr spc="-25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5760" y="1094762"/>
            <a:ext cx="692347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05598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244156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561348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878540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258336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70250" y="856689"/>
            <a:ext cx="8740140" cy="40005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Recommended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CIDR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Blocks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RFC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1918: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10.0.0.0/8,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172.16.0.0/12,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192.168.0.0/16</a:t>
            </a:r>
            <a:endParaRPr sz="1900">
              <a:latin typeface="Yu Gothic"/>
              <a:cs typeface="Yu Gothic"/>
            </a:endParaRPr>
          </a:p>
          <a:p>
            <a:pPr marL="346075" marR="3439160">
              <a:lnSpc>
                <a:spcPts val="3020"/>
              </a:lnSpc>
              <a:spcBef>
                <a:spcPts val="165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space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RFC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6598: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100.64.0.0/10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IETF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protocol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assignments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RFC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6890: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192.0.0.0/24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Restricted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Range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Examples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these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as 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CIDR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Subnets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Access-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addresses: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199.36.153.4/30,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199.36.153.8/30</a:t>
            </a:r>
            <a:endParaRPr sz="1500">
              <a:latin typeface="Yu Gothic"/>
              <a:cs typeface="Yu Gothic"/>
            </a:endParaRPr>
          </a:p>
          <a:p>
            <a:pPr marL="680085" marR="4646930">
              <a:lnSpc>
                <a:spcPct val="138800"/>
              </a:lnSpc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Current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(local)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RFC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1122: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0.0.0.0/8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Local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RFC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1122: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127.0.0.0/8</a:t>
            </a:r>
            <a:endParaRPr sz="15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30"/>
              </a:spcBef>
            </a:pP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2350" b="1" spc="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EXTEND</a:t>
            </a:r>
            <a:r>
              <a:rPr sz="2350" b="1" spc="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CIDR</a:t>
            </a:r>
            <a:r>
              <a:rPr sz="2350" spc="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Block</a:t>
            </a:r>
            <a:r>
              <a:rPr sz="235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Range</a:t>
            </a:r>
            <a:r>
              <a:rPr sz="2350" spc="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Subnet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(Secondary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CIDR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Block)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Examples</a:t>
            </a:r>
            <a:r>
              <a:rPr spc="-254" dirty="0"/>
              <a:t> </a:t>
            </a:r>
            <a:r>
              <a:rPr spc="-120" dirty="0"/>
              <a:t>of</a:t>
            </a:r>
            <a:r>
              <a:rPr spc="-250" dirty="0"/>
              <a:t> </a:t>
            </a:r>
            <a:r>
              <a:rPr spc="-120" dirty="0"/>
              <a:t>Recommended</a:t>
            </a:r>
            <a:r>
              <a:rPr spc="-250" dirty="0"/>
              <a:t> </a:t>
            </a:r>
            <a:r>
              <a:rPr spc="-50" dirty="0"/>
              <a:t>CIDR</a:t>
            </a:r>
            <a:r>
              <a:rPr spc="-250" dirty="0"/>
              <a:t> </a:t>
            </a:r>
            <a:r>
              <a:rPr spc="-60" dirty="0"/>
              <a:t>Blocks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20" dirty="0"/>
              <a:t>VPC</a:t>
            </a:r>
            <a:r>
              <a:rPr spc="-250" dirty="0"/>
              <a:t> </a:t>
            </a:r>
            <a:r>
              <a:rPr spc="-20" dirty="0"/>
              <a:t>Subnets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261</a:t>
            </a:fld>
            <a:endParaRPr spc="-25" dirty="0"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2926" y="1094765"/>
            <a:ext cx="801326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244156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561348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878540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195733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53379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830117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147309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464501"/>
            <a:ext cx="66777" cy="6677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781693"/>
            <a:ext cx="66777" cy="6677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70250" y="866705"/>
            <a:ext cx="7838440" cy="5053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Firewall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going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out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network: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Stateful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firewall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has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priority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(0-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65535)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assigned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endParaRPr sz="1900">
              <a:latin typeface="Yu Gothic"/>
              <a:cs typeface="Yu Gothic"/>
            </a:endParaRPr>
          </a:p>
          <a:p>
            <a:pPr marL="346075" marR="2713990">
              <a:lnSpc>
                <a:spcPct val="129700"/>
              </a:lnSpc>
              <a:spcBef>
                <a:spcPts val="65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0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has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highest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priority.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65535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has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least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priority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implied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lowest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priority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(65535)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egress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Deny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ingress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can't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deleted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override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defining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priority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0-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65534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has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4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additional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priority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65534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incoming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4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500" b="1" spc="-80" dirty="0">
                <a:solidFill>
                  <a:srgbClr val="212121"/>
                </a:solidFill>
                <a:latin typeface="Trebuchet MS"/>
                <a:cs typeface="Trebuchet MS"/>
              </a:rPr>
              <a:t>default-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allow-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internal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Incoming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0" dirty="0">
                <a:solidFill>
                  <a:srgbClr val="212121"/>
                </a:solidFill>
                <a:latin typeface="Yu Gothic"/>
                <a:cs typeface="Yu Gothic"/>
              </a:rPr>
              <a:t>TCP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port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22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(SSH)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default-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allow-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ssh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Incoming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0" dirty="0">
                <a:solidFill>
                  <a:srgbClr val="212121"/>
                </a:solidFill>
                <a:latin typeface="Yu Gothic"/>
                <a:cs typeface="Yu Gothic"/>
              </a:rPr>
              <a:t>TCP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port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3389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(RDP)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default-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allow-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rdp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Incoming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0" dirty="0">
                <a:solidFill>
                  <a:srgbClr val="212121"/>
                </a:solidFill>
                <a:latin typeface="Yu Gothic"/>
                <a:cs typeface="Yu Gothic"/>
              </a:rPr>
              <a:t>ICMP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source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default-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allow-</a:t>
            </a:r>
            <a:r>
              <a:rPr sz="1500" b="1" spc="-20" dirty="0">
                <a:solidFill>
                  <a:srgbClr val="212121"/>
                </a:solidFill>
                <a:latin typeface="Trebuchet MS"/>
                <a:cs typeface="Trebuchet MS"/>
              </a:rPr>
              <a:t>icmp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37426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Firewall</a:t>
            </a:r>
            <a:r>
              <a:rPr spc="-215" dirty="0"/>
              <a:t> </a:t>
            </a:r>
            <a:r>
              <a:rPr spc="-60" dirty="0"/>
              <a:t>Rules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262</a:t>
            </a:fld>
            <a:endParaRPr spc="-25" dirty="0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2926" y="1094765"/>
            <a:ext cx="801326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538821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8894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2650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690729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0413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41693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8009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51765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55214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856689"/>
            <a:ext cx="7838440" cy="48736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Ingress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Rules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Incoming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outside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targets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Target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(defines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destination)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TAG/SA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64"/>
              </a:spcBef>
            </a:pP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Source</a:t>
            </a: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(defines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where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traffic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coming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from)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0" dirty="0">
                <a:solidFill>
                  <a:srgbClr val="212121"/>
                </a:solidFill>
                <a:latin typeface="Yu Gothic"/>
                <a:cs typeface="Yu Gothic"/>
              </a:rPr>
              <a:t>CIDR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TAG/SA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Egress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Rules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Outgoing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destination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targets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Target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(defines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source)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TAG/SA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Destination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CIDR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Block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Along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each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rule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,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define: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Priority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Lower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number,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higher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priority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Action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match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Deny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Protocol</a:t>
            </a:r>
            <a:r>
              <a:rPr sz="190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ex.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5" dirty="0">
                <a:solidFill>
                  <a:srgbClr val="212121"/>
                </a:solidFill>
                <a:latin typeface="Yu Gothic"/>
                <a:cs typeface="Yu Gothic"/>
              </a:rPr>
              <a:t>TCP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UDP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ICMP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Port</a:t>
            </a:r>
            <a:r>
              <a:rPr sz="190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port?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Enforcement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status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Enable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Disable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rule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76275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Firewall</a:t>
            </a:r>
            <a:r>
              <a:rPr spc="-250" dirty="0"/>
              <a:t> </a:t>
            </a:r>
            <a:r>
              <a:rPr spc="-90" dirty="0"/>
              <a:t>Rules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65" dirty="0"/>
              <a:t>Ingress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45" dirty="0"/>
              <a:t> </a:t>
            </a:r>
            <a:r>
              <a:rPr spc="-75" dirty="0"/>
              <a:t>Egress</a:t>
            </a:r>
            <a:r>
              <a:rPr spc="-250" dirty="0"/>
              <a:t> </a:t>
            </a:r>
            <a:r>
              <a:rPr spc="-25" dirty="0"/>
              <a:t>Rules</a:t>
            </a: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263</a:t>
            </a:fld>
            <a:endParaRPr spc="-25" dirty="0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2926" y="1094765"/>
            <a:ext cx="801326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555515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8977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5905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9745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262510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579702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959498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531007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70250" y="866705"/>
            <a:ext cx="7838440" cy="4930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Scenario: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organization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multiple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projects.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want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talk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other?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9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talk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internal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IPs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securely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efficiently?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Enter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Shared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VPC</a:t>
            </a:r>
            <a:endParaRPr sz="2350">
              <a:latin typeface="Trebuchet MS"/>
              <a:cs typeface="Trebuchet MS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at organization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folder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(Access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Needed: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VPC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Admin)</a:t>
            </a:r>
            <a:endParaRPr sz="1900">
              <a:latin typeface="Yu Gothic"/>
              <a:cs typeface="Yu Gothic"/>
            </a:endParaRPr>
          </a:p>
          <a:p>
            <a:pPr marL="346075" marR="278765">
              <a:lnSpc>
                <a:spcPts val="3020"/>
              </a:lnSpc>
              <a:spcBef>
                <a:spcPts val="4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Allows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between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organization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contains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ts val="1735"/>
              </a:lnSpc>
            </a:pP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Host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Contains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5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Projects</a:t>
            </a:r>
            <a:r>
              <a:rPr sz="15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Attached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Helps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achieve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separation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concerns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administrators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responsible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Resource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users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96596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Shared</a:t>
            </a:r>
            <a:r>
              <a:rPr spc="-245" dirty="0"/>
              <a:t> </a:t>
            </a:r>
            <a:r>
              <a:rPr spc="-80" dirty="0"/>
              <a:t>VPC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264</a:t>
            </a:fld>
            <a:endParaRPr spc="-25" dirty="0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2926" y="1094765"/>
            <a:ext cx="801326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260850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578043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895235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23329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4521272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866705"/>
            <a:ext cx="7838440" cy="3793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363980" algn="l"/>
                <a:tab pos="2115820" algn="l"/>
                <a:tab pos="2555240" algn="l"/>
                <a:tab pos="3743325" algn="l"/>
                <a:tab pos="4420235" algn="l"/>
                <a:tab pos="5765165" algn="l"/>
                <a:tab pos="675005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Scenario: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networks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different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organizations?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Enter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VPC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Peering</a:t>
            </a:r>
            <a:endParaRPr sz="2350">
              <a:latin typeface="Trebuchet MS"/>
              <a:cs typeface="Trebuchet MS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  <a:tabLst>
                <a:tab pos="1447800" algn="l"/>
                <a:tab pos="1783080" algn="l"/>
                <a:tab pos="2469515" algn="l"/>
                <a:tab pos="3390900" algn="l"/>
                <a:tab pos="4394835" algn="l"/>
                <a:tab pos="5353685" algn="l"/>
                <a:tab pos="5886450" algn="l"/>
                <a:tab pos="6675755" algn="l"/>
                <a:tab pos="7634605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Networks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organizations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peered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communication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happens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internal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Highly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efficient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because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communication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happens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inside</a:t>
            </a:r>
            <a:r>
              <a:rPr sz="15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15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network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Highly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secure because </a:t>
            </a:r>
            <a:r>
              <a:rPr sz="1500" b="1" spc="-5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accessible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Internet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No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transfer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charges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transfer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between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229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Network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administration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changed: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peered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VPC</a:t>
            </a:r>
            <a:r>
              <a:rPr spc="-275" dirty="0"/>
              <a:t> </a:t>
            </a:r>
            <a:r>
              <a:rPr spc="-95" dirty="0"/>
              <a:t>Peering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265</a:t>
            </a:fld>
            <a:endParaRPr spc="-25" dirty="0"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0321" y="2417608"/>
            <a:ext cx="4262120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90" dirty="0">
                <a:solidFill>
                  <a:srgbClr val="1BA74A"/>
                </a:solidFill>
              </a:rPr>
              <a:t>Hybrid</a:t>
            </a:r>
            <a:r>
              <a:rPr sz="5900" spc="-530" dirty="0">
                <a:solidFill>
                  <a:srgbClr val="1BA74A"/>
                </a:solidFill>
              </a:rPr>
              <a:t> </a:t>
            </a:r>
            <a:r>
              <a:rPr sz="5900" spc="-130" dirty="0">
                <a:solidFill>
                  <a:srgbClr val="1BA74A"/>
                </a:solidFill>
              </a:rPr>
              <a:t>Cloud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266</a:t>
            </a:fld>
            <a:endParaRPr spc="-25" dirty="0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9703" y="1094765"/>
            <a:ext cx="676119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05598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244156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58221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878540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856689"/>
            <a:ext cx="7727950" cy="316103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VPN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premise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Implemented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IPSec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VPN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Tunnel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through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(public)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encrypted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Internet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Exchange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protocol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VPN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solutions: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HA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(SLA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99.99%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addresses)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dynamic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routing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(BGP)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Classic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(SLA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99.9%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availability,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address)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Static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routing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(policy-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based,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route-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based)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dynamic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routing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using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BGP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78498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60" dirty="0"/>
              <a:t>VPN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267</a:t>
            </a:fld>
            <a:endParaRPr spc="-25" dirty="0"/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492912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810104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189900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5321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91610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204080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583876"/>
            <a:ext cx="91818" cy="918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5435286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77752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866705"/>
            <a:ext cx="8740140" cy="5088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99465" algn="l"/>
                <a:tab pos="1759585" algn="l"/>
                <a:tab pos="2996565" algn="l"/>
                <a:tab pos="4610100" algn="l"/>
                <a:tab pos="5902325" algn="l"/>
                <a:tab pos="7539990" algn="l"/>
                <a:tab pos="8227695" algn="l"/>
              </a:tabLst>
            </a:pP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speed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physical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connection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between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premise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VPC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networks: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Highly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throughput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connections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possible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Dedicated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Interconnect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10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Gbps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100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Gpbs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configurations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Partner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Interconnect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50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0" dirty="0">
                <a:solidFill>
                  <a:srgbClr val="212121"/>
                </a:solidFill>
                <a:latin typeface="Yu Gothic"/>
                <a:cs typeface="Yu Gothic"/>
              </a:rPr>
              <a:t>Mbps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10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Gbps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configurations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exchange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happens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through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network: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Communicate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network's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internal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IP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premise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Reduces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egress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costs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5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endParaRPr sz="15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34"/>
              </a:spcBef>
              <a:tabLst>
                <a:tab pos="1323340" algn="l"/>
                <a:tab pos="2835275" algn="l"/>
                <a:tab pos="3896360" algn="l"/>
                <a:tab pos="4679950" algn="l"/>
                <a:tab pos="5337810" algn="l"/>
                <a:tab pos="6515100" algn="l"/>
                <a:tab pos="7140575" algn="l"/>
                <a:tab pos="762952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(Feature)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API's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privately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accessed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premise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bandwidth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needs: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bandwidth,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20" dirty="0"/>
              <a:t>Interconnect</a:t>
            </a: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268</a:t>
            </a:fld>
            <a:endParaRPr spc="-25" dirty="0"/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40093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45" dirty="0"/>
              <a:t>Direct</a:t>
            </a:r>
            <a:r>
              <a:rPr spc="-240" dirty="0"/>
              <a:t> </a:t>
            </a:r>
            <a:r>
              <a:rPr spc="-90" dirty="0"/>
              <a:t>Peering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622293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70747" y="856689"/>
            <a:ext cx="8621395" cy="22860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customer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peering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Direct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path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on-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premises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GCP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Lower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connection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outside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75" dirty="0">
                <a:solidFill>
                  <a:srgbClr val="212121"/>
                </a:solidFill>
                <a:latin typeface="Yu Gothic"/>
                <a:cs typeface="Yu Gothic"/>
              </a:rPr>
              <a:t>RECOMMENDED: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Interconnect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VPN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269</a:t>
            </a:fld>
            <a:endParaRPr spc="-25" dirty="0"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3333" y="2417608"/>
            <a:ext cx="565594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65" dirty="0">
                <a:solidFill>
                  <a:srgbClr val="1BA74A"/>
                </a:solidFill>
              </a:rPr>
              <a:t>Cloud</a:t>
            </a:r>
            <a:r>
              <a:rPr sz="5900" spc="-525" dirty="0">
                <a:solidFill>
                  <a:srgbClr val="1BA74A"/>
                </a:solidFill>
              </a:rPr>
              <a:t> </a:t>
            </a:r>
            <a:r>
              <a:rPr sz="5900" spc="-180" dirty="0">
                <a:solidFill>
                  <a:srgbClr val="1BA74A"/>
                </a:solidFill>
              </a:rPr>
              <a:t>Operations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270</a:t>
            </a:fld>
            <a:endParaRPr spc="-25" dirty="0"/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432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5638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989568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3318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7157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09139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387717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026013" y="4617264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26013" y="488437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26013" y="515148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71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7428865" cy="4413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operate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effectively,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know: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healthy?</a:t>
            </a:r>
            <a:endParaRPr sz="1900">
              <a:latin typeface="Yu Gothic"/>
              <a:cs typeface="Yu Gothic"/>
            </a:endParaRPr>
          </a:p>
          <a:p>
            <a:pPr marL="346075" marR="3268345">
              <a:lnSpc>
                <a:spcPts val="3020"/>
              </a:lnSpc>
              <a:spcBef>
                <a:spcPts val="165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experiencing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issues?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enough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space?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5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servers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optimum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capacity?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Monitoring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Tools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monitor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Measures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aspects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services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(Metrics)</a:t>
            </a:r>
            <a:endParaRPr sz="1900">
              <a:latin typeface="Yu Gothic"/>
              <a:cs typeface="Yu Gothic"/>
            </a:endParaRPr>
          </a:p>
          <a:p>
            <a:pPr marL="346075" marR="2260600">
              <a:lnSpc>
                <a:spcPct val="129700"/>
              </a:lnSpc>
              <a:spcBef>
                <a:spcPts val="6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visualizations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(Graphs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Dashboard)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Alerts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(when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metrics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healthy)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Define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Alerting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Policies: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Condition</a:t>
            </a:r>
            <a:endParaRPr sz="1200">
              <a:latin typeface="Yu Gothic"/>
              <a:cs typeface="Yu Gothic"/>
            </a:endParaRPr>
          </a:p>
          <a:p>
            <a:pPr marL="1014094" marR="4335145">
              <a:lnSpc>
                <a:spcPct val="146100"/>
              </a:lnSpc>
            </a:pP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Notifications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channels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Documentation</a:t>
            </a:r>
            <a:endParaRPr sz="12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65" dirty="0"/>
              <a:t>Monitoring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271</a:t>
            </a:fld>
            <a:endParaRPr spc="-25" dirty="0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432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772542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231635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358221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427503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465065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866705"/>
            <a:ext cx="7838440" cy="3961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monitor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95" dirty="0">
                <a:solidFill>
                  <a:srgbClr val="212121"/>
                </a:solidFill>
                <a:latin typeface="Yu Gothic"/>
                <a:cs typeface="Yu Gothic"/>
              </a:rPr>
              <a:t>GCP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0" dirty="0">
                <a:solidFill>
                  <a:srgbClr val="212121"/>
                </a:solidFill>
                <a:latin typeface="Yu Gothic"/>
                <a:cs typeface="Yu Gothic"/>
              </a:rPr>
              <a:t>AWS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  <a:tabLst>
                <a:tab pos="729615" algn="l"/>
                <a:tab pos="1203325" algn="l"/>
                <a:tab pos="1812289" algn="l"/>
                <a:tab pos="2701925" algn="l"/>
                <a:tab pos="3152775" algn="l"/>
                <a:tab pos="3710940" algn="l"/>
                <a:tab pos="5349875" algn="l"/>
                <a:tab pos="6094730" algn="l"/>
                <a:tab pos="7295515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information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0" dirty="0">
                <a:solidFill>
                  <a:srgbClr val="212121"/>
                </a:solidFill>
                <a:latin typeface="Yu Gothic"/>
                <a:cs typeface="Yu Gothic"/>
              </a:rPr>
              <a:t>AWS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Accounts?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Workspace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Workspaces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needed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organize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information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workspace</a:t>
            </a:r>
            <a:r>
              <a:rPr sz="19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allows</a:t>
            </a:r>
            <a:r>
              <a:rPr sz="19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see</a:t>
            </a:r>
            <a:r>
              <a:rPr sz="19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r>
              <a:rPr sz="1900" spc="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information</a:t>
            </a:r>
            <a:r>
              <a:rPr sz="19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multiple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Step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workspace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(Host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Step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II: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AWS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accounts)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workspace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80" dirty="0"/>
              <a:t>Monitoring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00" dirty="0"/>
              <a:t>Workspace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272</a:t>
            </a:fld>
            <a:endParaRPr spc="-25" dirty="0"/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80" dirty="0"/>
              <a:t>Monitoring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30" dirty="0"/>
              <a:t>Virtual</a:t>
            </a:r>
            <a:r>
              <a:rPr spc="-245" dirty="0"/>
              <a:t> </a:t>
            </a:r>
            <a:r>
              <a:rPr spc="-55" dirty="0"/>
              <a:t>Machines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4860" y="936168"/>
            <a:ext cx="1602655" cy="6009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1079" y="1203276"/>
            <a:ext cx="567608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33824" y="927820"/>
            <a:ext cx="1268770" cy="60099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199625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3468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27224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310642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48205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3899408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608655" y="46423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8655" y="501792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70747" y="1774876"/>
            <a:ext cx="9741535" cy="342074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Default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metrics</a:t>
            </a:r>
            <a:r>
              <a:rPr sz="235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monitored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include: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CPU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utilization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Some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metrics</a:t>
            </a:r>
            <a:endParaRPr sz="1900">
              <a:latin typeface="Yu Gothic"/>
              <a:cs typeface="Yu Gothic"/>
            </a:endParaRPr>
          </a:p>
          <a:p>
            <a:pPr marL="346075" marR="7395209">
              <a:lnSpc>
                <a:spcPct val="129700"/>
              </a:lnSpc>
              <a:spcBef>
                <a:spcPts val="6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Network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traffic,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Uptime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information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Install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Monitoring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agent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disk,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CPU,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network,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process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metrics: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collectd-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daemon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Gathers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metrics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sends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273</a:t>
            </a:fld>
            <a:endParaRPr spc="-25" dirty="0"/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88572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156511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615605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95783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34180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71743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510139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70250" y="799928"/>
            <a:ext cx="7838440" cy="447929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Real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management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analysis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tool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Allows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store,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search,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analyze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alert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massive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volume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Exabyte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scale,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fully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provisioning,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patching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  <a:p>
            <a:pPr marL="12700" marR="3828415">
              <a:lnSpc>
                <a:spcPts val="3610"/>
              </a:lnSpc>
              <a:spcBef>
                <a:spcPts val="21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Ingest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source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Features: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ts val="2225"/>
              </a:lnSpc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Explorer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Search,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sort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analyze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flexible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queries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Dashboard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Rich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visualization</a:t>
            </a:r>
            <a:endParaRPr sz="1900">
              <a:latin typeface="Yu Gothic"/>
              <a:cs typeface="Yu Gothic"/>
            </a:endParaRPr>
          </a:p>
          <a:p>
            <a:pPr marL="346075" marR="187325">
              <a:lnSpc>
                <a:spcPts val="3020"/>
              </a:lnSpc>
              <a:spcBef>
                <a:spcPts val="40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Metrics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Capture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metrics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(using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queries/matching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strings)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Router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Route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entries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destinations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25" dirty="0"/>
              <a:t>Logging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274</a:t>
            </a:fld>
            <a:endParaRPr spc="-25" dirty="0"/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45" dirty="0"/>
              <a:t>Logging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85" dirty="0"/>
              <a:t>Collection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3290" y="944514"/>
            <a:ext cx="1602655" cy="6009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49509" y="1211621"/>
            <a:ext cx="567608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92254" y="994594"/>
            <a:ext cx="1135215" cy="58430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2004603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35518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311477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3532133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38827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42583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4684041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08655" y="502627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8655" y="541024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70747" y="1783224"/>
            <a:ext cx="8963660" cy="38049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GCP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services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automatically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send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Logging: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GKE</a:t>
            </a:r>
            <a:endParaRPr sz="1900">
              <a:latin typeface="Yu Gothic"/>
              <a:cs typeface="Yu Gothic"/>
            </a:endParaRPr>
          </a:p>
          <a:p>
            <a:pPr marL="346075" marR="7473950">
              <a:lnSpc>
                <a:spcPts val="3020"/>
              </a:lnSpc>
              <a:spcBef>
                <a:spcPts val="165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Engine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Ingest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45" dirty="0">
                <a:solidFill>
                  <a:srgbClr val="212121"/>
                </a:solidFill>
                <a:latin typeface="Yu Gothic"/>
                <a:cs typeface="Yu Gothic"/>
              </a:rPr>
              <a:t>GCE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5" dirty="0">
                <a:solidFill>
                  <a:srgbClr val="212121"/>
                </a:solidFill>
                <a:latin typeface="Yu Gothic"/>
                <a:cs typeface="Yu Gothic"/>
              </a:rPr>
              <a:t>VMs: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Install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Logging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Agent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(based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fluentd)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Agent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Ingest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premises: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BindPlane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tool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Blue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Medora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275</a:t>
            </a:fld>
            <a:endParaRPr spc="-25" dirty="0"/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238323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5889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3484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866705"/>
            <a:ext cx="7838440" cy="3035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Transparency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Log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Captures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performed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GCP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team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content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9" dirty="0">
                <a:solidFill>
                  <a:srgbClr val="212121"/>
                </a:solidFill>
                <a:latin typeface="Yu Gothic"/>
                <a:cs typeface="Yu Gothic"/>
              </a:rPr>
              <a:t>(NOT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services):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27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organizations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Gold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support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above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Audit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Answers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who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did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what,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where: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activity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900">
              <a:latin typeface="Yu Gothic"/>
              <a:cs typeface="Yu Gothic"/>
            </a:endParaRPr>
          </a:p>
          <a:p>
            <a:pPr marL="346075" marR="5022215">
              <a:lnSpc>
                <a:spcPct val="129700"/>
              </a:lnSpc>
              <a:spcBef>
                <a:spcPts val="6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System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Event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Logs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Denied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45" dirty="0"/>
              <a:t>Logging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35" dirty="0"/>
              <a:t>Audit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4" dirty="0"/>
              <a:t> </a:t>
            </a:r>
            <a:r>
              <a:rPr spc="-110" dirty="0"/>
              <a:t>Security</a:t>
            </a:r>
            <a:r>
              <a:rPr spc="-254" dirty="0"/>
              <a:t> </a:t>
            </a:r>
            <a:r>
              <a:rPr spc="-20" dirty="0"/>
              <a:t>Logs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276</a:t>
            </a:fld>
            <a:endParaRPr spc="-25" dirty="0"/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7278" y="1094748"/>
            <a:ext cx="4382261" cy="480121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22293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390231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7408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856689"/>
            <a:ext cx="3873500" cy="306197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protoPayload.serviceName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operation?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30" dirty="0">
                <a:solidFill>
                  <a:srgbClr val="212121"/>
                </a:solidFill>
                <a:latin typeface="Trebuchet MS"/>
                <a:cs typeface="Trebuchet MS"/>
              </a:rPr>
              <a:t>protoPayload.methodName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resource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audited?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resource.Type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Who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making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call?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authenticationInfo.principalEmail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45" dirty="0"/>
              <a:t>Logging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35" dirty="0"/>
              <a:t>Audit</a:t>
            </a:r>
            <a:r>
              <a:rPr spc="-254" dirty="0"/>
              <a:t> </a:t>
            </a:r>
            <a:r>
              <a:rPr spc="-20" dirty="0"/>
              <a:t>Logs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277</a:t>
            </a:fld>
            <a:endParaRPr spc="-25" dirty="0"/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35" dirty="0"/>
              <a:t>Audit</a:t>
            </a:r>
            <a:r>
              <a:rPr spc="-245" dirty="0"/>
              <a:t> </a:t>
            </a:r>
            <a:r>
              <a:rPr spc="-20" dirty="0"/>
              <a:t>Logs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82950" y="1000733"/>
          <a:ext cx="10093325" cy="499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1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0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7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1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5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8970"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Feature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925"/>
                        </a:lnSpc>
                      </a:pP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Admin</a:t>
                      </a:r>
                      <a:r>
                        <a:rPr sz="1650" b="1" spc="-114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Activity</a:t>
                      </a:r>
                      <a:r>
                        <a:rPr sz="1650" b="1" spc="-1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Logs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1925"/>
                        </a:lnSpc>
                      </a:pPr>
                      <a:r>
                        <a:rPr sz="1650" b="1" spc="-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Access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Logs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925"/>
                        </a:lnSpc>
                      </a:pPr>
                      <a:r>
                        <a:rPr sz="1650" b="1" spc="-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System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7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Event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Logs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925"/>
                        </a:lnSpc>
                      </a:pP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Policy</a:t>
                      </a:r>
                      <a:r>
                        <a:rPr sz="1650" b="1" spc="-1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Denied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  <a:p>
                      <a:pPr marL="13271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Logs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Logs</a:t>
                      </a:r>
                      <a:r>
                        <a:rPr sz="1650" b="1" spc="-1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3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API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calls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other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Reading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Google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Cloud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3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When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user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895"/>
                        </a:lnSpc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actions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that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modify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1895"/>
                        </a:lnSpc>
                      </a:pP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configuration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of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895"/>
                        </a:lnSpc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administrative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895"/>
                        </a:lnSpc>
                      </a:pP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service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account </a:t>
                      </a:r>
                      <a:r>
                        <a:rPr sz="1650" spc="-3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885"/>
                        </a:lnSpc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the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configuration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of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1885"/>
                        </a:lnSpc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resources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885"/>
                        </a:lnSpc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actions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885"/>
                        </a:lnSpc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denied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access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920"/>
                        </a:lnSpc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resources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Default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6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✓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X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6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✓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6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✓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5730">
                        <a:lnSpc>
                          <a:spcPts val="190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Enabled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VM</a:t>
                      </a:r>
                      <a:r>
                        <a:rPr sz="1650" b="1" spc="-1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Examples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VM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Creation,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Patching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Listing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resources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</a:t>
                      </a:r>
                      <a:r>
                        <a:rPr sz="1650" spc="-13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host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Security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policy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860"/>
                        </a:lnSpc>
                      </a:pP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resources,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Change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1860"/>
                        </a:lnSpc>
                      </a:pP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(vms,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images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etc)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860"/>
                        </a:lnSpc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maintenance,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860"/>
                        </a:lnSpc>
                      </a:pP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violation</a:t>
                      </a:r>
                      <a:r>
                        <a:rPr sz="1650" spc="-1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logs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920"/>
                        </a:lnSpc>
                      </a:pPr>
                      <a:r>
                        <a:rPr sz="1650" spc="-1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IAM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permissions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920"/>
                        </a:lnSpc>
                      </a:pP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Instance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preemption,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920"/>
                        </a:lnSpc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Automatic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restart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Cloud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Storage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Modify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bucket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Modify/Read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bucket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895"/>
                        </a:lnSpc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object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1895"/>
                        </a:lnSpc>
                      </a:pP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object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Recommended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Logging/Logs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Viewer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Logging/Private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Logging/Logs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Viewer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Logging/Logs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278</a:t>
            </a:fld>
            <a:endParaRPr spc="-25" dirty="0"/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3228" y="1094750"/>
            <a:ext cx="3806311" cy="3397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00595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417787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797583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14816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744986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062178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379370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71743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013754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330947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2026013" y="556049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5432" y="5852644"/>
            <a:ext cx="59055" cy="43815"/>
          </a:xfrm>
          <a:custGeom>
            <a:avLst/>
            <a:gdLst/>
            <a:ahLst/>
            <a:cxnLst/>
            <a:rect l="l" t="t" r="r" b="b"/>
            <a:pathLst>
              <a:path w="59055" h="43814">
                <a:moveTo>
                  <a:pt x="3433" y="43315"/>
                </a:moveTo>
                <a:lnTo>
                  <a:pt x="2223" y="40391"/>
                </a:lnTo>
                <a:lnTo>
                  <a:pt x="741" y="36819"/>
                </a:lnTo>
                <a:lnTo>
                  <a:pt x="0" y="33088"/>
                </a:lnTo>
                <a:lnTo>
                  <a:pt x="0" y="29215"/>
                </a:lnTo>
                <a:lnTo>
                  <a:pt x="0" y="25341"/>
                </a:lnTo>
                <a:lnTo>
                  <a:pt x="741" y="21610"/>
                </a:lnTo>
                <a:lnTo>
                  <a:pt x="2223" y="18029"/>
                </a:lnTo>
                <a:lnTo>
                  <a:pt x="3706" y="14457"/>
                </a:lnTo>
                <a:lnTo>
                  <a:pt x="5817" y="11293"/>
                </a:lnTo>
                <a:lnTo>
                  <a:pt x="8556" y="8555"/>
                </a:lnTo>
                <a:lnTo>
                  <a:pt x="11296" y="5817"/>
                </a:lnTo>
                <a:lnTo>
                  <a:pt x="14455" y="3706"/>
                </a:lnTo>
                <a:lnTo>
                  <a:pt x="18034" y="2220"/>
                </a:lnTo>
                <a:lnTo>
                  <a:pt x="21614" y="742"/>
                </a:lnTo>
                <a:lnTo>
                  <a:pt x="25341" y="0"/>
                </a:lnTo>
                <a:lnTo>
                  <a:pt x="29215" y="0"/>
                </a:lnTo>
                <a:lnTo>
                  <a:pt x="33088" y="0"/>
                </a:lnTo>
                <a:lnTo>
                  <a:pt x="49873" y="8555"/>
                </a:lnTo>
                <a:lnTo>
                  <a:pt x="52612" y="11293"/>
                </a:lnTo>
                <a:lnTo>
                  <a:pt x="54723" y="14457"/>
                </a:lnTo>
                <a:lnTo>
                  <a:pt x="56206" y="18029"/>
                </a:lnTo>
                <a:lnTo>
                  <a:pt x="57688" y="21610"/>
                </a:lnTo>
                <a:lnTo>
                  <a:pt x="58430" y="25341"/>
                </a:lnTo>
                <a:lnTo>
                  <a:pt x="58430" y="29215"/>
                </a:lnTo>
                <a:lnTo>
                  <a:pt x="58430" y="33088"/>
                </a:lnTo>
                <a:lnTo>
                  <a:pt x="57688" y="36819"/>
                </a:lnTo>
                <a:lnTo>
                  <a:pt x="56206" y="40391"/>
                </a:lnTo>
                <a:lnTo>
                  <a:pt x="54996" y="43315"/>
                </a:lnTo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70250" y="856689"/>
            <a:ext cx="5835015" cy="51308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logs?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various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sources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reaches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Log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Router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Router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checks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against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configured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ingest?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discard?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Where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route?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Two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Logs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buckets: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  <a:tabLst>
                <a:tab pos="1595120" algn="l"/>
                <a:tab pos="2306320" algn="l"/>
                <a:tab pos="3089910" algn="l"/>
                <a:tab pos="4008120" algn="l"/>
                <a:tab pos="4875530" algn="l"/>
                <a:tab pos="5675630" algn="l"/>
              </a:tabLst>
            </a:pP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_Required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Holds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activity,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System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Events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4" dirty="0">
                <a:solidFill>
                  <a:srgbClr val="212121"/>
                </a:solidFill>
                <a:latin typeface="Yu Gothic"/>
                <a:cs typeface="Yu Gothic"/>
              </a:rPr>
              <a:t>&amp;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Transparency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(retained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400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days)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ZERO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charge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change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retention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period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_Default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(retained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30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days)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billed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pricing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bucket: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09"/>
              </a:spcBef>
            </a:pP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can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disable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b="1" spc="-60" dirty="0">
                <a:solidFill>
                  <a:srgbClr val="212121"/>
                </a:solidFill>
                <a:latin typeface="Trebuchet MS"/>
                <a:cs typeface="Trebuchet MS"/>
              </a:rPr>
              <a:t>_Default</a:t>
            </a:r>
            <a:r>
              <a:rPr sz="12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sink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route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disable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ingestion!</a:t>
            </a:r>
            <a:endParaRPr sz="12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25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edit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retention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settings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(1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3650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days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(10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years))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33476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45" dirty="0"/>
              <a:t>Logging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85" dirty="0"/>
              <a:t>Controlling</a:t>
            </a:r>
            <a:r>
              <a:rPr spc="-254" dirty="0"/>
              <a:t> </a:t>
            </a:r>
            <a:r>
              <a:rPr spc="-200" dirty="0"/>
              <a:t>&amp;</a:t>
            </a:r>
            <a:r>
              <a:rPr spc="-250" dirty="0"/>
              <a:t> </a:t>
            </a:r>
            <a:r>
              <a:rPr spc="-30" dirty="0"/>
              <a:t>Routing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757988" y="4571176"/>
            <a:ext cx="307721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source: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400" b="1" i="1" spc="-85" dirty="0">
                <a:solidFill>
                  <a:srgbClr val="A52929"/>
                </a:solidFill>
                <a:latin typeface="Trebuchet MS"/>
                <a:cs typeface="Trebuchet MS"/>
                <a:hlinkClick r:id="rId6"/>
              </a:rPr>
              <a:t>https://cloud.google.com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279</a:t>
            </a:fld>
            <a:endParaRPr spc="-25" dirty="0"/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24973"/>
            <a:ext cx="66777" cy="6677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0250" y="856689"/>
            <a:ext cx="7233284" cy="100711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ideally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stored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limited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period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long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term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retention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(Compliance,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Audit)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exported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to: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Storage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(ex: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bucket/syslog/2025/05/05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500">
              <a:latin typeface="Yu Gothic"/>
              <a:cs typeface="Yu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50512"/>
            <a:ext cx="66777" cy="6677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851822" y="1933139"/>
            <a:ext cx="2157095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columns</a:t>
            </a:r>
            <a:r>
              <a:rPr sz="1500" spc="44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timestamp,</a:t>
            </a:r>
            <a:endParaRPr sz="150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626466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006262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35684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644820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70250" y="1905159"/>
            <a:ext cx="5544185" cy="18789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0085" marR="5080">
              <a:lnSpc>
                <a:spcPct val="113199"/>
              </a:lnSpc>
              <a:spcBef>
                <a:spcPts val="95"/>
              </a:spcBef>
            </a:pP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Big</a:t>
            </a:r>
            <a:r>
              <a:rPr sz="15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Query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dataset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(ex: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tables</a:t>
            </a:r>
            <a:r>
              <a:rPr sz="1500" spc="22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syslog_20250505</a:t>
            </a:r>
            <a:r>
              <a:rPr sz="1500" spc="2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Courier New"/>
                <a:cs typeface="Courier New"/>
              </a:rPr>
              <a:t>&gt; </a:t>
            </a:r>
            <a:r>
              <a:rPr sz="1500" spc="-20" dirty="0">
                <a:solidFill>
                  <a:srgbClr val="212121"/>
                </a:solidFill>
                <a:latin typeface="Courier New"/>
                <a:cs typeface="Courier New"/>
              </a:rPr>
              <a:t>log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Pub/Sub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topic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(base64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encoded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entries)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logs?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sinks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these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destinations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Router: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include</a:t>
            </a:r>
            <a:r>
              <a:rPr sz="15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exclude</a:t>
            </a:r>
            <a:r>
              <a:rPr sz="15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filters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limit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3827779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45" dirty="0"/>
              <a:t>Logging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85" dirty="0"/>
              <a:t>Export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280</a:t>
            </a:fld>
            <a:endParaRPr spc="-25" dirty="0"/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77659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45" dirty="0"/>
              <a:t>Logging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20" dirty="0"/>
              <a:t>Export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00" dirty="0"/>
              <a:t>Use</a:t>
            </a:r>
            <a:r>
              <a:rPr spc="-254" dirty="0"/>
              <a:t> </a:t>
            </a:r>
            <a:r>
              <a:rPr spc="-20" dirty="0"/>
              <a:t>Cases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33318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757507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4920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48760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8655" y="525164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70747" y="856689"/>
            <a:ext cx="9741535" cy="457263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Case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1: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Troubleshoot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Logs: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Install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agent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5" dirty="0">
                <a:solidFill>
                  <a:srgbClr val="212121"/>
                </a:solidFill>
                <a:latin typeface="Yu Gothic"/>
                <a:cs typeface="Yu Gothic"/>
              </a:rPr>
              <a:t>VM's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Search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Case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2: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querying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like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queries: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Install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agent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5" dirty="0">
                <a:solidFill>
                  <a:srgbClr val="212121"/>
                </a:solidFill>
                <a:latin typeface="Yu Gothic"/>
                <a:cs typeface="Yu Gothic"/>
              </a:rPr>
              <a:t>VM's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dataset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storing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sink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dataset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sink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destination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84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Case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3: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retain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auditors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minimum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sink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sink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destination</a:t>
            </a:r>
            <a:endParaRPr sz="1900">
              <a:latin typeface="Yu Gothic"/>
              <a:cs typeface="Yu Gothic"/>
            </a:endParaRPr>
          </a:p>
          <a:p>
            <a:pPr marL="346075" marR="3114675">
              <a:lnSpc>
                <a:spcPct val="129700"/>
              </a:lnSpc>
              <a:spcBef>
                <a:spcPts val="7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auditors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bucket 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use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Studio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(for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visualization)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281</a:t>
            </a:fld>
            <a:endParaRPr spc="-25" dirty="0"/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432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3318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757507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1080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525445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8760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0250" y="856689"/>
            <a:ext cx="7684134" cy="41973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Distributed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tracing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system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0" dirty="0">
                <a:solidFill>
                  <a:srgbClr val="212121"/>
                </a:solidFill>
                <a:latin typeface="Yu Gothic"/>
                <a:cs typeface="Yu Gothic"/>
              </a:rPr>
              <a:t>GCP: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Collect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from: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Instrumented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(using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tracing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libraries)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Trace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API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Find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out: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long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handle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requests?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average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requests?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doing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over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time?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(increasing/decreasing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trend)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for: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Engine,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GKE,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(Flexible/Standard)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Trace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client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libraries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for: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C#,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Go,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Java,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Node.js,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PHP,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Python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&amp;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Ruby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99263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85" dirty="0"/>
              <a:t>Trace</a:t>
            </a: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282</a:t>
            </a:fld>
            <a:endParaRPr spc="-25" dirty="0"/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432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4152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79089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087219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866705"/>
            <a:ext cx="7838440" cy="3359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47395" algn="l"/>
                <a:tab pos="1170305" algn="l"/>
                <a:tab pos="2128520" algn="l"/>
                <a:tab pos="3054350" algn="l"/>
                <a:tab pos="3735704" algn="l"/>
                <a:tab pos="4301490" algn="l"/>
                <a:tab pos="5816600" algn="l"/>
                <a:tab pos="6522084" algn="l"/>
                <a:tab pos="6921500" algn="l"/>
                <a:tab pos="7558405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debug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issues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happening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test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environments?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Debugger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Capture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state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Inspect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state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directly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environment</a:t>
            </a:r>
            <a:endParaRPr sz="1900">
              <a:latin typeface="Yu Gothic"/>
              <a:cs typeface="Yu Gothic"/>
            </a:endParaRPr>
          </a:p>
          <a:p>
            <a:pPr marL="346075" marR="3312160">
              <a:lnSpc>
                <a:spcPct val="129700"/>
              </a:lnSpc>
            </a:pP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variables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call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stack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statements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redeploy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lightweight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little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impact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used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environment: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Test,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Acceptance,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75" dirty="0"/>
              <a:t>Debugger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283</a:t>
            </a:fld>
            <a:endParaRPr spc="-25" dirty="0"/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560" y="1219970"/>
            <a:ext cx="550912" cy="8764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633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559689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8977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185726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502918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799928"/>
            <a:ext cx="7640320" cy="284226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identify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bottlenecks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production?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Profiler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Statistical,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low-overhead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profiler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Continuously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gathers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CPU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usage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systems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profiling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source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code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Easily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identify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bottlenecks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major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components: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Profiling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agent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(collects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profiling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information)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Profiler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interface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(visualization)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05" dirty="0"/>
              <a:t>Profiler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284</a:t>
            </a:fld>
            <a:endParaRPr spc="-25" dirty="0"/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868534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20659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89940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316766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6673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504297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5468675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81925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799928"/>
            <a:ext cx="7838440" cy="5197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95680">
              <a:lnSpc>
                <a:spcPct val="128200"/>
              </a:lnSpc>
              <a:spcBef>
                <a:spcPts val="9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identify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problems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real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time?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Real-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exception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monitoring: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Aggregates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and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displays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errors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reported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(using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stack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traces)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Centralized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Error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Management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console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Identify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top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errors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recent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errors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40"/>
              </a:spcBef>
              <a:tabLst>
                <a:tab pos="859790" algn="l"/>
                <a:tab pos="1878964" algn="l"/>
                <a:tab pos="2604135" algn="l"/>
                <a:tab pos="3773804" algn="l"/>
                <a:tab pos="4195445" algn="l"/>
                <a:tab pos="4930775" algn="l"/>
                <a:tab pos="5551170" algn="l"/>
                <a:tab pos="6490335" algn="l"/>
                <a:tab pos="6776720" algn="l"/>
                <a:tab pos="7263765" algn="l"/>
              </a:tabLst>
            </a:pP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Firebase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Crash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Reporting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errors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Android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iOS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client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Go,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Java,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.NET,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Node.js,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PHP,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Python,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Ruby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Errors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reported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by: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Sending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calling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Error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Reporting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Error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Reporting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accessed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desktop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Console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mobile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iOS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Android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Error</a:t>
            </a:r>
            <a:r>
              <a:rPr spc="-254" dirty="0"/>
              <a:t> </a:t>
            </a:r>
            <a:r>
              <a:rPr spc="-75" dirty="0"/>
              <a:t>Reporting</a:t>
            </a: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285</a:t>
            </a:fld>
            <a:endParaRPr spc="-25" dirty="0"/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210059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55134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3269198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399540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4446147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35" dirty="0"/>
              <a:t> </a:t>
            </a:r>
            <a:r>
              <a:rPr spc="-105" dirty="0"/>
              <a:t>Operations</a:t>
            </a:r>
            <a:r>
              <a:rPr spc="-229" dirty="0"/>
              <a:t> </a:t>
            </a:r>
            <a:r>
              <a:rPr spc="-65" dirty="0"/>
              <a:t>Scenarios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6370" y="980227"/>
            <a:ext cx="5993765" cy="3349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endParaRPr sz="1650">
              <a:latin typeface="Trebuchet MS"/>
              <a:cs typeface="Trebuchet MS"/>
            </a:endParaRPr>
          </a:p>
          <a:p>
            <a:pPr marL="12700" marR="53975">
              <a:lnSpc>
                <a:spcPct val="109500"/>
              </a:lnSpc>
              <a:spcBef>
                <a:spcPts val="138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would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like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record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operations/requests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objects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(for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auditing)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trace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request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across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multiple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microservices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06200"/>
              </a:lnSpc>
              <a:spcBef>
                <a:spcPts val="144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identify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prominent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exceptions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(or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errors)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specific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microservice</a:t>
            </a:r>
            <a:endParaRPr sz="1650">
              <a:latin typeface="Trebuchet MS"/>
              <a:cs typeface="Trebuchet MS"/>
            </a:endParaRPr>
          </a:p>
          <a:p>
            <a:pPr marL="12700" marR="182245">
              <a:lnSpc>
                <a:spcPct val="109500"/>
              </a:lnSpc>
              <a:spcBef>
                <a:spcPts val="138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debug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problem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production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by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executing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step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by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step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look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at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specific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request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59549" y="980227"/>
            <a:ext cx="3244850" cy="3349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138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Turn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for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Trace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Error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Reporting</a:t>
            </a:r>
            <a:endParaRPr sz="1650">
              <a:latin typeface="Yu Gothic"/>
              <a:cs typeface="Yu Gothic"/>
            </a:endParaRPr>
          </a:p>
          <a:p>
            <a:pPr marL="12700" marR="1811655">
              <a:lnSpc>
                <a:spcPts val="5720"/>
              </a:lnSpc>
              <a:spcBef>
                <a:spcPts val="545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Debugger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286</a:t>
            </a:fld>
            <a:endParaRPr spc="-25" dirty="0"/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6578" y="2417608"/>
            <a:ext cx="8469630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210" dirty="0">
                <a:solidFill>
                  <a:srgbClr val="1BA74A"/>
                </a:solidFill>
              </a:rPr>
              <a:t>Organizing</a:t>
            </a:r>
            <a:r>
              <a:rPr sz="5900" spc="-515" dirty="0">
                <a:solidFill>
                  <a:srgbClr val="1BA74A"/>
                </a:solidFill>
              </a:rPr>
              <a:t> </a:t>
            </a:r>
            <a:r>
              <a:rPr sz="5900" spc="-155" dirty="0">
                <a:solidFill>
                  <a:srgbClr val="1BA74A"/>
                </a:solidFill>
              </a:rPr>
              <a:t>GCP</a:t>
            </a:r>
            <a:r>
              <a:rPr sz="5900" spc="-509" dirty="0">
                <a:solidFill>
                  <a:srgbClr val="1BA74A"/>
                </a:solidFill>
              </a:rPr>
              <a:t> </a:t>
            </a:r>
            <a:r>
              <a:rPr sz="5900" spc="-190" dirty="0">
                <a:solidFill>
                  <a:srgbClr val="1BA74A"/>
                </a:solidFill>
              </a:rPr>
              <a:t>Resources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287</a:t>
            </a:fld>
            <a:endParaRPr spc="-25" dirty="0"/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9930" y="1094777"/>
            <a:ext cx="5809640" cy="30300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163199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006262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857673"/>
            <a:ext cx="91818" cy="918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70250" y="856689"/>
            <a:ext cx="3832225" cy="359981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46075" marR="5080" indent="-334010">
              <a:lnSpc>
                <a:spcPct val="107900"/>
              </a:lnSpc>
              <a:spcBef>
                <a:spcPts val="220"/>
              </a:spcBef>
            </a:pP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Well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defined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hierarchy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Organization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900" spc="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Folder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900" spc="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9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Resources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84"/>
              </a:spcBef>
              <a:tabLst>
                <a:tab pos="1625600" algn="l"/>
                <a:tab pos="2329815" algn="l"/>
                <a:tab pos="358076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Resources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in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59"/>
              </a:spcBef>
            </a:pP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Folder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contain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multiple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  <a:tabLst>
                <a:tab pos="2052320" algn="l"/>
                <a:tab pos="287274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Organization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contain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Folders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Resource</a:t>
            </a:r>
            <a:r>
              <a:rPr spc="-254" dirty="0"/>
              <a:t> </a:t>
            </a:r>
            <a:r>
              <a:rPr spc="-140" dirty="0"/>
              <a:t>Hierarchy</a:t>
            </a:r>
            <a:r>
              <a:rPr spc="-250" dirty="0"/>
              <a:t> </a:t>
            </a:r>
            <a:r>
              <a:rPr spc="-105" dirty="0"/>
              <a:t>in</a:t>
            </a:r>
            <a:r>
              <a:rPr spc="-250" dirty="0"/>
              <a:t> </a:t>
            </a:r>
            <a:r>
              <a:rPr spc="-25" dirty="0"/>
              <a:t>GCP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56329" y="4203901"/>
            <a:ext cx="307721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source: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400" b="1" i="1" spc="-85" dirty="0">
                <a:solidFill>
                  <a:srgbClr val="A52929"/>
                </a:solidFill>
                <a:latin typeface="Trebuchet MS"/>
                <a:cs typeface="Trebuchet MS"/>
                <a:hlinkClick r:id="rId7"/>
              </a:rPr>
              <a:t>https://cloud.google.com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288</a:t>
            </a:fld>
            <a:endParaRPr spc="-25" dirty="0"/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Resource</a:t>
            </a:r>
            <a:r>
              <a:rPr spc="-235" dirty="0"/>
              <a:t> </a:t>
            </a:r>
            <a:r>
              <a:rPr spc="-140" dirty="0"/>
              <a:t>Hierarchy</a:t>
            </a:r>
            <a:r>
              <a:rPr spc="-235" dirty="0"/>
              <a:t> </a:t>
            </a:r>
            <a:r>
              <a:rPr spc="-155" dirty="0"/>
              <a:t>-</a:t>
            </a:r>
            <a:r>
              <a:rPr spc="-235" dirty="0"/>
              <a:t> </a:t>
            </a:r>
            <a:r>
              <a:rPr spc="-100" dirty="0"/>
              <a:t>Recommendations</a:t>
            </a:r>
            <a:r>
              <a:rPr spc="-229" dirty="0"/>
              <a:t> </a:t>
            </a:r>
            <a:r>
              <a:rPr spc="-140" dirty="0"/>
              <a:t>for</a:t>
            </a:r>
            <a:r>
              <a:rPr spc="-235" dirty="0"/>
              <a:t> </a:t>
            </a:r>
            <a:r>
              <a:rPr spc="-75" dirty="0"/>
              <a:t>Enterprises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8655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997915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3484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41080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396065"/>
            <a:ext cx="66777" cy="66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713256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5030449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5347641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470747" y="856689"/>
            <a:ext cx="8653145" cy="46297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separate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projects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different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environments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Complete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isolation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between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test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environments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separate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folders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each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department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Isolate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department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folder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per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per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environment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consider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apps: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"A1"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"A2"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assume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environments: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"DEV"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"PROD"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ideal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projects: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A1-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DEV,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A1-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PROD,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A2-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DEV,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A2-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PROD: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Isolates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environments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80" dirty="0">
                <a:solidFill>
                  <a:srgbClr val="212121"/>
                </a:solidFill>
                <a:latin typeface="Yu Gothic"/>
                <a:cs typeface="Yu Gothic"/>
              </a:rPr>
              <a:t>DEV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changes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break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PROD</a:t>
            </a:r>
            <a:endParaRPr sz="1500">
              <a:latin typeface="Yu Gothic"/>
              <a:cs typeface="Yu Gothic"/>
            </a:endParaRPr>
          </a:p>
          <a:p>
            <a:pPr marL="680085" marR="1859280">
              <a:lnSpc>
                <a:spcPct val="138800"/>
              </a:lnSpc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Grant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developers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complete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(create,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delete,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deploy)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80" dirty="0">
                <a:solidFill>
                  <a:srgbClr val="212121"/>
                </a:solidFill>
                <a:latin typeface="Yu Gothic"/>
                <a:cs typeface="Yu Gothic"/>
              </a:rPr>
              <a:t>DEV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Projects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teams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only!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289</a:t>
            </a:fld>
            <a:endParaRPr spc="-25" dirty="0"/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Billing</a:t>
            </a:r>
            <a:r>
              <a:rPr spc="-235" dirty="0"/>
              <a:t> </a:t>
            </a:r>
            <a:r>
              <a:rPr spc="-114" dirty="0"/>
              <a:t>Accounts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229976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689070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3139817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8827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42583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684041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608655" y="503462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8655" y="541024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70747" y="856689"/>
            <a:ext cx="9741535" cy="47313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Billing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mandatory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project: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contains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payment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details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associated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900">
              <a:latin typeface="Yu Gothic"/>
              <a:cs typeface="Yu Gothic"/>
            </a:endParaRPr>
          </a:p>
          <a:p>
            <a:pPr marL="12700" marR="2272665">
              <a:lnSpc>
                <a:spcPts val="3610"/>
              </a:lnSpc>
              <a:spcBef>
                <a:spcPts val="215"/>
              </a:spcBef>
            </a:pP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associated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projects </a:t>
            </a: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Organization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215"/>
              </a:spcBef>
            </a:pP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(RECOMMENDATION)</a:t>
            </a:r>
            <a:r>
              <a:rPr sz="2350" spc="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representing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organization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structure: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startup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just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large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enterprise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separate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department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Two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Types: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Self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Serve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Billed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directly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Credit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Card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Bank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Invoiced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Generate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invoices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(Used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large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enterprises)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290</a:t>
            </a:fld>
            <a:endParaRPr spc="-25" dirty="0"/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5" dirty="0"/>
              <a:t>Managing</a:t>
            </a:r>
            <a:r>
              <a:rPr spc="-254" dirty="0"/>
              <a:t> </a:t>
            </a:r>
            <a:r>
              <a:rPr spc="-60" dirty="0"/>
              <a:t>Billing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14" dirty="0"/>
              <a:t>Budget,</a:t>
            </a:r>
            <a:r>
              <a:rPr spc="-254" dirty="0"/>
              <a:t> </a:t>
            </a:r>
            <a:r>
              <a:rPr spc="-135" dirty="0"/>
              <a:t>Alerts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50" dirty="0"/>
              <a:t>Exports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100595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417787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797583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14816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5237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70747" y="856689"/>
            <a:ext cx="6164580" cy="28448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Billing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Budget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avoid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surprises: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Alerts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alert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thresholds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50%,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90%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100%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Send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alerts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Pub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Sub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(Optional)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admins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Account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alerted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e-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mail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exported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(on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schedule)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Big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Query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(if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query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information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visualize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it)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(for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history/archiving)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291</a:t>
            </a:fld>
            <a:endParaRPr spc="-25" dirty="0"/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65" dirty="0"/>
              <a:t> </a:t>
            </a:r>
            <a:r>
              <a:rPr spc="-80" dirty="0"/>
              <a:t>Best</a:t>
            </a:r>
            <a:r>
              <a:rPr spc="-265" dirty="0"/>
              <a:t> </a:t>
            </a:r>
            <a:r>
              <a:rPr spc="-105" dirty="0"/>
              <a:t>Practices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171662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0546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351010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730806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0813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3369364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326511" y="359891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26511" y="386602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4216600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08655" y="49511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5376856"/>
            <a:ext cx="91818" cy="91818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608655" y="572743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70747" y="856689"/>
            <a:ext cx="9741535" cy="5048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Principle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Least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Privilege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Give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least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possible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privilege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needed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role!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Basic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Prefer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predefined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when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possible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minimum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privileges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apps/purposes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Separation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Duties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Involve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atleast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people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sensitive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tasks: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separate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deployer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migrator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AppEngine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Deployer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Service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04"/>
              </a:spcBef>
            </a:pP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Deployer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shift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Engine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Admin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shift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traffic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version!</a:t>
            </a:r>
            <a:endParaRPr sz="12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365"/>
              </a:spcBef>
              <a:tabLst>
                <a:tab pos="1333500" algn="l"/>
                <a:tab pos="2975610" algn="l"/>
                <a:tab pos="4024629" algn="l"/>
                <a:tab pos="4912995" algn="l"/>
                <a:tab pos="5727065" algn="l"/>
                <a:tab pos="6456680" algn="l"/>
                <a:tab pos="6865620" algn="l"/>
                <a:tab pos="7671434" algn="l"/>
                <a:tab pos="8858885" algn="l"/>
                <a:tab pos="926782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Constant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Monitoring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Review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changes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90" dirty="0">
                <a:solidFill>
                  <a:srgbClr val="212121"/>
                </a:solidFill>
                <a:latin typeface="Yu Gothic"/>
                <a:cs typeface="Yu Gothic"/>
              </a:rPr>
              <a:t>IAM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policies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keys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Archive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buckets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long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term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retention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Groups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possible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Makes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easy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users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292</a:t>
            </a:fld>
            <a:endParaRPr spc="-25" dirty="0"/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229976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89070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4152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832631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1832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856689"/>
            <a:ext cx="7630159" cy="35045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Email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free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trial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3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"Super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Admin"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everything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organization,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folders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users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using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their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Gmail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accounts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However,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recommended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enterprises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Enterprise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Workspace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Workspace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(groups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Link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Organization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Workspace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Enterprise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uses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Identity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Provider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its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own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Federate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Identity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Provider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19899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User</a:t>
            </a:r>
            <a:r>
              <a:rPr spc="-250" dirty="0"/>
              <a:t> </a:t>
            </a:r>
            <a:r>
              <a:rPr spc="-105" dirty="0"/>
              <a:t>Identity</a:t>
            </a:r>
            <a:r>
              <a:rPr spc="-245" dirty="0"/>
              <a:t> </a:t>
            </a:r>
            <a:r>
              <a:rPr spc="-85" dirty="0"/>
              <a:t>Management</a:t>
            </a:r>
            <a:r>
              <a:rPr spc="-245" dirty="0"/>
              <a:t> </a:t>
            </a:r>
            <a:r>
              <a:rPr spc="-105" dirty="0"/>
              <a:t>in</a:t>
            </a:r>
            <a:r>
              <a:rPr spc="-245" dirty="0"/>
              <a:t> </a:t>
            </a:r>
            <a:r>
              <a:rPr spc="-80" dirty="0"/>
              <a:t>Google</a:t>
            </a:r>
            <a:r>
              <a:rPr spc="-245" dirty="0"/>
              <a:t> </a:t>
            </a:r>
            <a:r>
              <a:rPr spc="-10" dirty="0"/>
              <a:t>Cloud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293</a:t>
            </a:fld>
            <a:endParaRPr spc="-25" dirty="0"/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21795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304799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465356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81593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45087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866705"/>
            <a:ext cx="7838440" cy="3820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9500"/>
              </a:lnSpc>
              <a:spcBef>
                <a:spcPts val="95"/>
              </a:spcBef>
            </a:pP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Federate</a:t>
            </a:r>
            <a:r>
              <a:rPr sz="2350" b="1" spc="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Identity</a:t>
            </a:r>
            <a:r>
              <a:rPr sz="235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Workspace</a:t>
            </a:r>
            <a:r>
              <a:rPr sz="235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2350" b="1" spc="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your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external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identity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provider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(IdP)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such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Directory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Azure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Directory.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Enable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Single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Sign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1: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redirected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IdP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authenticate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2: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authenticated,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4" dirty="0">
                <a:solidFill>
                  <a:srgbClr val="212121"/>
                </a:solidFill>
                <a:latin typeface="Yu Gothic"/>
                <a:cs typeface="Yu Gothic"/>
              </a:rPr>
              <a:t>SAML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assertion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Sign-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Examples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  <a:tabLst>
                <a:tab pos="1358900" algn="l"/>
                <a:tab pos="2097405" algn="l"/>
                <a:tab pos="3150870" algn="l"/>
                <a:tab pos="3722370" algn="l"/>
                <a:tab pos="4443095" algn="l"/>
                <a:tab pos="5351145" algn="l"/>
                <a:tab pos="5723255" algn="l"/>
                <a:tab pos="6394450" algn="l"/>
                <a:tab pos="7232015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Federate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Directory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Identity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Cloud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Directory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Sync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(GCDS)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Directory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Federation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Services </a:t>
            </a:r>
            <a:r>
              <a:rPr sz="1900" spc="-215" dirty="0">
                <a:solidFill>
                  <a:srgbClr val="212121"/>
                </a:solidFill>
                <a:latin typeface="Yu Gothic"/>
                <a:cs typeface="Yu Gothic"/>
              </a:rPr>
              <a:t>(AD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Federating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Azure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0" dirty="0">
                <a:solidFill>
                  <a:srgbClr val="212121"/>
                </a:solidFill>
                <a:latin typeface="Yu Gothic"/>
                <a:cs typeface="Yu Gothic"/>
              </a:rPr>
              <a:t>AD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Identity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Corporate</a:t>
            </a:r>
            <a:r>
              <a:rPr spc="-215" dirty="0"/>
              <a:t> </a:t>
            </a:r>
            <a:r>
              <a:rPr spc="-135" dirty="0"/>
              <a:t>Directory</a:t>
            </a:r>
            <a:r>
              <a:rPr spc="-215" dirty="0"/>
              <a:t> </a:t>
            </a:r>
            <a:r>
              <a:rPr spc="-114" dirty="0"/>
              <a:t>Federation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294</a:t>
            </a:fld>
            <a:endParaRPr spc="-25" dirty="0"/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077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3468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7224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139817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8827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2583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992887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57357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70250" y="799928"/>
            <a:ext cx="8740140" cy="511365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Represents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person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email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address)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Represents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(Not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person)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group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Collection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unique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email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Helps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apply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  <a:tabLst>
                <a:tab pos="1061720" algn="l"/>
                <a:tab pos="2613660" algn="l"/>
                <a:tab pos="3820795" algn="l"/>
                <a:tab pos="4848860" algn="l"/>
                <a:tab pos="6362700" algn="l"/>
                <a:tab pos="7665084" algn="l"/>
                <a:tab pos="799084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Workspace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domain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Workspace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(formerly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310" dirty="0">
                <a:solidFill>
                  <a:srgbClr val="212121"/>
                </a:solidFill>
                <a:latin typeface="Yu Gothic"/>
                <a:cs typeface="Yu Gothic"/>
              </a:rPr>
              <a:t>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Suite)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collaboration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enterprises: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Tools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like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Gmail,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Calendar,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Meet,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Chat,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Drive,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Docs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included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9"/>
              </a:spcBef>
            </a:pP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enterprise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using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Workspace,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using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Workspace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domain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Identity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domain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Identity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Identity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Service 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(IDaaS)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solution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centrally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manages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users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groups.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Identity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75" dirty="0"/>
              <a:t> </a:t>
            </a:r>
            <a:r>
              <a:rPr spc="-95" dirty="0"/>
              <a:t>Members/Identities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295</a:t>
            </a:fld>
            <a:endParaRPr spc="-25" dirty="0"/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36770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3644820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463813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563144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95376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50" dirty="0"/>
              <a:t> </a:t>
            </a:r>
            <a:r>
              <a:rPr spc="-105" dirty="0"/>
              <a:t>Members/Identities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00" dirty="0"/>
              <a:t>Use</a:t>
            </a:r>
            <a:r>
              <a:rPr spc="-245" dirty="0"/>
              <a:t> </a:t>
            </a:r>
            <a:r>
              <a:rPr spc="-10" dirty="0"/>
              <a:t>Cases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6370" y="980227"/>
            <a:ext cx="584962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67935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6370" y="1407936"/>
            <a:ext cx="4780915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members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team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have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Suite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accounts.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creating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new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production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would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provide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operations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team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52142" y="1407936"/>
            <a:ext cx="472376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team.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Provide </a:t>
            </a: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Group.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6370" y="2417942"/>
            <a:ext cx="4780915" cy="8356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65"/>
              </a:spcBef>
            </a:pP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members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team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have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Suite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accounts.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setting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up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new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project.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You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provide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quick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team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member.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52142" y="2417942"/>
            <a:ext cx="4652010" cy="111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4165">
              <a:lnSpc>
                <a:spcPct val="106200"/>
              </a:lnSpc>
              <a:spcBef>
                <a:spcPts val="100"/>
              </a:spcBef>
            </a:pP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necessary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directly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80" dirty="0">
                <a:solidFill>
                  <a:srgbClr val="212121"/>
                </a:solidFill>
                <a:latin typeface="Yu Gothic"/>
                <a:cs typeface="Yu Gothic"/>
              </a:rPr>
              <a:t>G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Suite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0" dirty="0">
                <a:solidFill>
                  <a:srgbClr val="212121"/>
                </a:solidFill>
                <a:latin typeface="Yu Gothic"/>
                <a:cs typeface="Yu Gothic"/>
              </a:rPr>
              <a:t>email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team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member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</a:pP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quick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access,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recommended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approach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6370" y="3686710"/>
            <a:ext cx="4771390" cy="8356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6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provide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external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auditor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to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view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resources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BUT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he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should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NOT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able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make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any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changes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52142" y="3686710"/>
            <a:ext cx="4667250" cy="8356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65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Give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roles/viewer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(Generally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basic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are </a:t>
            </a:r>
            <a:r>
              <a:rPr sz="1650" spc="-17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65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simplest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way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view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resources!)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6370" y="4671676"/>
            <a:ext cx="4808220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deployed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GCE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(Project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A)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needs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different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(Project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B)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52142" y="4671676"/>
            <a:ext cx="445008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B,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80" dirty="0">
                <a:solidFill>
                  <a:srgbClr val="212121"/>
                </a:solidFill>
                <a:latin typeface="Yu Gothic"/>
                <a:cs typeface="Yu Gothic"/>
              </a:rPr>
              <a:t>GCE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7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service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Project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296</a:t>
            </a:fld>
            <a:endParaRPr spc="-25" dirty="0"/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997915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457009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8075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224947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57552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866705"/>
            <a:ext cx="7838440" cy="3886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84860" algn="l"/>
                <a:tab pos="1245235" algn="l"/>
                <a:tab pos="2303145" algn="l"/>
                <a:tab pos="3937000" algn="l"/>
                <a:tab pos="5584190" algn="l"/>
                <a:tab pos="6109970" algn="l"/>
                <a:tab pos="6616065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enable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centralized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constraints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resources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Organization?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Organization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Disable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creation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endParaRPr sz="1900">
              <a:latin typeface="Yu Gothic"/>
              <a:cs typeface="Yu Gothic"/>
            </a:endParaRPr>
          </a:p>
          <a:p>
            <a:pPr marL="12700" marR="1378585" indent="333375">
              <a:lnSpc>
                <a:spcPct val="129200"/>
              </a:lnSpc>
              <a:spcBef>
                <a:spcPts val="75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Allow/Deny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creation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regions 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Organization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Administrator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IAM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focuses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Who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Who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resources?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(Remember)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Organization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focuses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What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done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resources?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Organization</a:t>
            </a:r>
            <a:r>
              <a:rPr spc="-210" dirty="0"/>
              <a:t> </a:t>
            </a:r>
            <a:r>
              <a:rPr spc="-100" dirty="0"/>
              <a:t>Policy</a:t>
            </a:r>
            <a:r>
              <a:rPr spc="-210" dirty="0"/>
              <a:t> </a:t>
            </a:r>
            <a:r>
              <a:rPr spc="-90" dirty="0"/>
              <a:t>Service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297</a:t>
            </a:fld>
            <a:endParaRPr spc="-25" dirty="0"/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8076" y="1200817"/>
            <a:ext cx="4582050" cy="31183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772542"/>
            <a:ext cx="91818" cy="918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0250" y="866705"/>
            <a:ext cx="4833620" cy="2112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of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hierarchy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  <a:tabLst>
                <a:tab pos="1439545" algn="l"/>
                <a:tab pos="2416810" algn="l"/>
                <a:tab pos="2978150" algn="l"/>
                <a:tab pos="4091304" algn="l"/>
                <a:tab pos="4490085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inherit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policies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All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parents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effective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resource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57903" y="2985215"/>
            <a:ext cx="54610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endParaRPr sz="2350">
              <a:latin typeface="Yu Gothic"/>
              <a:cs typeface="Yu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016269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43668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2953496"/>
            <a:ext cx="4833620" cy="1899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57555">
              <a:lnSpc>
                <a:spcPct val="109500"/>
              </a:lnSpc>
              <a:spcBef>
                <a:spcPts val="95"/>
              </a:spcBef>
              <a:tabLst>
                <a:tab pos="658495" algn="l"/>
                <a:tab pos="1619885" algn="l"/>
                <a:tab pos="2103120" algn="l"/>
                <a:tab pos="2748915" algn="l"/>
                <a:tab pos="3740150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union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on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resource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its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parents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inheritance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transitive: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  <a:tabLst>
                <a:tab pos="884555" algn="l"/>
                <a:tab pos="2012314" algn="l"/>
                <a:tab pos="3515360" algn="l"/>
                <a:tab pos="4497070" algn="l"/>
              </a:tabLst>
            </a:pP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Organization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policies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are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applied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resource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endParaRPr sz="1900">
              <a:latin typeface="Yu Gothic"/>
              <a:cs typeface="Yu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5093052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4881690"/>
            <a:ext cx="4833620" cy="810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339725" algn="l"/>
                <a:tab pos="1901189" algn="l"/>
                <a:tab pos="2266315" algn="l"/>
                <a:tab pos="3110230" algn="l"/>
                <a:tab pos="3531235" algn="l"/>
                <a:tab pos="4015104" algn="l"/>
              </a:tabLst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can't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restrict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lower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level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permission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given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higher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40385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Resource</a:t>
            </a:r>
            <a:r>
              <a:rPr spc="-260" dirty="0"/>
              <a:t> </a:t>
            </a:r>
            <a:r>
              <a:rPr spc="-140" dirty="0"/>
              <a:t>Hierarchy</a:t>
            </a:r>
            <a:r>
              <a:rPr spc="-254" dirty="0"/>
              <a:t> </a:t>
            </a:r>
            <a:r>
              <a:rPr spc="-200" dirty="0"/>
              <a:t>&amp;</a:t>
            </a:r>
            <a:r>
              <a:rPr spc="-260" dirty="0"/>
              <a:t> </a:t>
            </a:r>
            <a:r>
              <a:rPr spc="-80" dirty="0"/>
              <a:t>IAM</a:t>
            </a:r>
            <a:r>
              <a:rPr spc="-254" dirty="0"/>
              <a:t> </a:t>
            </a:r>
            <a:r>
              <a:rPr spc="-50" dirty="0"/>
              <a:t>Policy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298</a:t>
            </a:fld>
            <a:endParaRPr spc="-25" dirty="0"/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46493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Organization,</a:t>
            </a:r>
            <a:r>
              <a:rPr spc="-260" dirty="0"/>
              <a:t> </a:t>
            </a:r>
            <a:r>
              <a:rPr spc="-60" dirty="0"/>
              <a:t>Billing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4" dirty="0"/>
              <a:t> </a:t>
            </a:r>
            <a:r>
              <a:rPr spc="-150" dirty="0"/>
              <a:t>Project</a:t>
            </a:r>
            <a:r>
              <a:rPr spc="-254" dirty="0"/>
              <a:t> </a:t>
            </a:r>
            <a:r>
              <a:rPr spc="-10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605598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064692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41915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617264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96784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534346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5760825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470747" y="856689"/>
            <a:ext cx="9742170" cy="511111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45"/>
              </a:spcBef>
            </a:pP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Organization</a:t>
            </a:r>
            <a:r>
              <a:rPr sz="2350" b="1" spc="-2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Administrator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Define Resource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Hierarchy</a:t>
            </a:r>
            <a:endParaRPr sz="1900">
              <a:latin typeface="Yu Gothic"/>
              <a:cs typeface="Yu Gothic"/>
            </a:endParaRPr>
          </a:p>
          <a:p>
            <a:pPr marL="346075" marR="5842635">
              <a:lnSpc>
                <a:spcPts val="3020"/>
              </a:lnSpc>
              <a:spcBef>
                <a:spcPts val="16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Define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Management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Policies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190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465"/>
              </a:spcBef>
            </a:pP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Billing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Creator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endParaRPr sz="235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530"/>
              </a:spcBef>
            </a:pP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Billing</a:t>
            </a:r>
            <a:r>
              <a:rPr sz="2350" b="1" spc="-15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Administrator</a:t>
            </a:r>
            <a:r>
              <a:rPr sz="2350" b="1" spc="-15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(payment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instruments,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exports,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link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unlink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projects,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billing account)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90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755"/>
              </a:spcBef>
            </a:pP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Billing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User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Associate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Typically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used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combination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Creator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These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link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90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690"/>
              </a:spcBef>
            </a:pP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Billing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Viewer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See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details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299</a:t>
            </a:fld>
            <a:endParaRPr spc="-25" dirty="0"/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Billing</a:t>
            </a:r>
            <a:r>
              <a:rPr spc="-260" dirty="0"/>
              <a:t> </a:t>
            </a:r>
            <a:r>
              <a:rPr spc="-85" dirty="0"/>
              <a:t>Roles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14" dirty="0"/>
              <a:t>Quick</a:t>
            </a:r>
            <a:r>
              <a:rPr spc="-254" dirty="0"/>
              <a:t> </a:t>
            </a:r>
            <a:r>
              <a:rPr spc="-100" dirty="0"/>
              <a:t>Review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42375" y="1000733"/>
          <a:ext cx="8696959" cy="2174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3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12446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Roles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Description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25"/>
                        </a:lnSpc>
                      </a:pP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Use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Case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Billing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Account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Creator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Permissions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to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create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new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billing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accounts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Finance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Team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Billing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Account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Administrator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Manages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billing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account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but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can't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create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them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Finance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Team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Billing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Account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User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Assigns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projects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to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billing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accounts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Project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Owner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Billing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Account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Viewer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View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only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3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access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to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billing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account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Auditor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300</a:t>
            </a:fld>
            <a:endParaRPr spc="-25" dirty="0"/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Organization,</a:t>
            </a:r>
            <a:r>
              <a:rPr spc="-260" dirty="0"/>
              <a:t> </a:t>
            </a:r>
            <a:r>
              <a:rPr spc="-60" dirty="0"/>
              <a:t>Billing</a:t>
            </a:r>
            <a:r>
              <a:rPr spc="-260" dirty="0"/>
              <a:t> </a:t>
            </a:r>
            <a:r>
              <a:rPr spc="-65" dirty="0"/>
              <a:t>and</a:t>
            </a:r>
            <a:r>
              <a:rPr spc="-260" dirty="0"/>
              <a:t> </a:t>
            </a:r>
            <a:r>
              <a:rPr spc="-150" dirty="0"/>
              <a:t>Project</a:t>
            </a:r>
            <a:r>
              <a:rPr spc="-260" dirty="0"/>
              <a:t> </a:t>
            </a:r>
            <a:r>
              <a:rPr spc="-85" dirty="0"/>
              <a:t>Roles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45" dirty="0"/>
              <a:t>Scenarios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238323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5889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70747" y="866705"/>
            <a:ext cx="9741535" cy="1899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I'm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project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associate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existing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billing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Creator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(link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I'm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auditor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301</a:t>
            </a:fld>
            <a:endParaRPr spc="-25" dirty="0"/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379349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45" dirty="0"/>
              <a:t> </a:t>
            </a:r>
            <a:r>
              <a:rPr spc="-90" dirty="0"/>
              <a:t>Engine</a:t>
            </a:r>
            <a:r>
              <a:rPr spc="-240" dirty="0"/>
              <a:t> </a:t>
            </a:r>
            <a:r>
              <a:rPr spc="-45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21214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249708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8655" y="349874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38827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42583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46423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501792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70747" y="856689"/>
            <a:ext cx="9741535" cy="433895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2350">
              <a:latin typeface="Yu Gothic"/>
              <a:cs typeface="Yu Gothic"/>
            </a:endParaRPr>
          </a:p>
          <a:p>
            <a:pPr marL="346075" marR="5080" algn="just">
              <a:lnSpc>
                <a:spcPct val="106700"/>
              </a:lnSpc>
              <a:spcBef>
                <a:spcPts val="105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Complete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Instances,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Images,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Balancers,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Network,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Firewalls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etc...</a:t>
            </a:r>
            <a:endParaRPr sz="190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745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Create,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modify,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endParaRPr sz="1900">
              <a:latin typeface="Yu Gothic"/>
              <a:cs typeface="Yu Gothic"/>
            </a:endParaRPr>
          </a:p>
          <a:p>
            <a:pPr marL="346075" marR="5080" algn="just">
              <a:lnSpc>
                <a:spcPct val="108100"/>
              </a:lnSpc>
              <a:spcBef>
                <a:spcPts val="490"/>
              </a:spcBef>
            </a:pP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Network</a:t>
            </a:r>
            <a:r>
              <a:rPr sz="1900" b="1" spc="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Complete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networking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(routes,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networks,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health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checks,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VPN,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Gateways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7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900" spc="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(firewall</a:t>
            </a:r>
            <a:r>
              <a:rPr sz="1900" spc="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1900" spc="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SSL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certificates)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Security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Complete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firewall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SSL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certificates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Complete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disks,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images,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Viewer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7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everything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OS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Login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administrator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OS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Login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standard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302</a:t>
            </a:fld>
            <a:endParaRPr spc="-25" dirty="0"/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91084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App</a:t>
            </a:r>
            <a:r>
              <a:rPr spc="-265" dirty="0"/>
              <a:t> </a:t>
            </a:r>
            <a:r>
              <a:rPr spc="-90" dirty="0"/>
              <a:t>Engine</a:t>
            </a:r>
            <a:r>
              <a:rPr spc="-265" dirty="0"/>
              <a:t> </a:t>
            </a:r>
            <a:r>
              <a:rPr spc="-50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8655" y="25638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294783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3235809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357386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308419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608655" y="465900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8655" y="503462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08655" y="54185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8655" y="57942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70747" y="856689"/>
            <a:ext cx="9741535" cy="51155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(CRUD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Create,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(get/list),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Update,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Delete)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Creator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applications(CD)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(Responsible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applications(RU),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services/instances/versions(CRUD),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Viewer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applications/services/instances/versions(R),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Code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Viewer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appengine.versions.getFileContents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4" dirty="0">
                <a:solidFill>
                  <a:srgbClr val="212121"/>
                </a:solidFill>
                <a:latin typeface="Yu Gothic"/>
                <a:cs typeface="Yu Gothic"/>
              </a:rPr>
              <a:t>(ONLY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view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code)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Deployer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versions(CRD),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applications/services/versions(R)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(if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grant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role)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40"/>
              </a:spcBef>
              <a:tabLst>
                <a:tab pos="905510" algn="l"/>
                <a:tab pos="1767839" algn="l"/>
                <a:tab pos="2675890" algn="l"/>
                <a:tab pos="3499485" algn="l"/>
                <a:tab pos="3727450" algn="l"/>
                <a:tab pos="5361940" algn="l"/>
                <a:tab pos="7103109" algn="l"/>
              </a:tabLst>
            </a:pP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versions(RUD),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applications(R),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services/instances(CRUD),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operations: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Split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migrate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traffic,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stop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View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download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900">
              <a:latin typeface="Yu Gothic"/>
              <a:cs typeface="Yu Gothic"/>
            </a:endParaRPr>
          </a:p>
          <a:p>
            <a:pPr marL="346075" marR="4968240">
              <a:lnSpc>
                <a:spcPts val="3020"/>
              </a:lnSpc>
              <a:spcBef>
                <a:spcPts val="160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View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charts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Console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Enable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Disable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5"/>
              </a:spcBef>
            </a:pP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stored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303</a:t>
            </a:fld>
            <a:endParaRPr spc="-25" dirty="0"/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65" dirty="0"/>
              <a:t> </a:t>
            </a:r>
            <a:r>
              <a:rPr spc="-90" dirty="0"/>
              <a:t>Engine</a:t>
            </a:r>
            <a:r>
              <a:rPr spc="-260" dirty="0"/>
              <a:t> </a:t>
            </a:r>
            <a:r>
              <a:rPr spc="-65" dirty="0"/>
              <a:t>and</a:t>
            </a:r>
            <a:r>
              <a:rPr spc="-260" dirty="0"/>
              <a:t> </a:t>
            </a:r>
            <a:r>
              <a:rPr spc="-120" dirty="0"/>
              <a:t>App</a:t>
            </a:r>
            <a:r>
              <a:rPr spc="-260" dirty="0"/>
              <a:t> </a:t>
            </a:r>
            <a:r>
              <a:rPr spc="-90" dirty="0"/>
              <a:t>Engine</a:t>
            </a:r>
            <a:r>
              <a:rPr spc="-260" dirty="0"/>
              <a:t> </a:t>
            </a:r>
            <a:r>
              <a:rPr spc="-85" dirty="0"/>
              <a:t>Roles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90" dirty="0"/>
              <a:t>Few</a:t>
            </a:r>
            <a:r>
              <a:rPr spc="-260" dirty="0"/>
              <a:t> </a:t>
            </a:r>
            <a:r>
              <a:rPr spc="-50" dirty="0"/>
              <a:t>Scenarios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555515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8977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3194073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3511265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84932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137302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454495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70747" y="866705"/>
            <a:ext cx="9741535" cy="3726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305560" algn="l"/>
                <a:tab pos="1698625" algn="l"/>
                <a:tab pos="2517775" algn="l"/>
                <a:tab pos="2881630" algn="l"/>
                <a:tab pos="3459479" algn="l"/>
                <a:tab pos="4876800" algn="l"/>
                <a:tab pos="6130290" algn="l"/>
                <a:tab pos="7455534" algn="l"/>
                <a:tab pos="8481060" algn="l"/>
                <a:tab pos="946213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difference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between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vs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Admin?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everything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4" dirty="0">
                <a:solidFill>
                  <a:srgbClr val="212121"/>
                </a:solidFill>
                <a:latin typeface="Yu Gothic"/>
                <a:cs typeface="Yu Gothic"/>
              </a:rPr>
              <a:t>ONLY.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Engine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everything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instances,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disks,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images,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network,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firewalls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etc.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secure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way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setting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deployment?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Deployer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Roles: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Deployer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Limited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deploying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new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versions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deleting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old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versions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serving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able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Operations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Role: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between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versions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304</a:t>
            </a:fld>
            <a:endParaRPr spc="-25" dirty="0"/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Google</a:t>
            </a:r>
            <a:r>
              <a:rPr spc="-250" dirty="0"/>
              <a:t> </a:t>
            </a:r>
            <a:r>
              <a:rPr spc="-135" dirty="0"/>
              <a:t>Kubernetes</a:t>
            </a:r>
            <a:r>
              <a:rPr spc="-245" dirty="0"/>
              <a:t> </a:t>
            </a:r>
            <a:r>
              <a:rPr spc="-90" dirty="0"/>
              <a:t>Engine</a:t>
            </a:r>
            <a:r>
              <a:rPr spc="-250" dirty="0"/>
              <a:t> </a:t>
            </a:r>
            <a:r>
              <a:rPr spc="-114" dirty="0"/>
              <a:t>(GKE)</a:t>
            </a:r>
            <a:r>
              <a:rPr spc="-245" dirty="0"/>
              <a:t> </a:t>
            </a:r>
            <a:r>
              <a:rPr spc="-80" dirty="0"/>
              <a:t>IAM</a:t>
            </a:r>
            <a:r>
              <a:rPr spc="-250" dirty="0"/>
              <a:t> </a:t>
            </a:r>
            <a:r>
              <a:rPr spc="-25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929478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772542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623952"/>
            <a:ext cx="91818" cy="9181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70747" y="866705"/>
            <a:ext cx="9742170" cy="2964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644014" algn="l"/>
                <a:tab pos="2681605" algn="l"/>
                <a:tab pos="3670935" algn="l"/>
                <a:tab pos="6874509" algn="l"/>
                <a:tab pos="7119620" algn="l"/>
                <a:tab pos="8489950" algn="l"/>
                <a:tab pos="946658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(roles/container.admin)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3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Complete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Clusters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  <a:tabLst>
                <a:tab pos="1647825" algn="l"/>
                <a:tab pos="2688590" algn="l"/>
                <a:tab pos="3765550" algn="l"/>
                <a:tab pos="4758055" algn="l"/>
                <a:tab pos="5006975" algn="l"/>
                <a:tab pos="6253480" algn="l"/>
                <a:tab pos="7225030" algn="l"/>
                <a:tab pos="7641590" algn="l"/>
                <a:tab pos="947801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3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management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of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clusters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(Cannot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Deployments,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Pods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59"/>
              </a:spcBef>
            </a:pP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Developer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(and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read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info)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Viewer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get/list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305</a:t>
            </a:fld>
            <a:endParaRPr spc="-25" dirty="0"/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358838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85" dirty="0"/>
              <a:t>Storage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45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86415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545509"/>
            <a:ext cx="91818" cy="918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518601" y="1365866"/>
            <a:ext cx="69405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28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0747" y="808275"/>
            <a:ext cx="8667750" cy="134429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325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-2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2350" b="1" spc="-2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storage.buckets.*,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storage.objects.*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25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2350" b="1" spc="25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2350" b="1" spc="25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25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storage.objects.*</a:t>
            </a:r>
            <a:r>
              <a:rPr sz="2350" spc="25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(DOES</a:t>
            </a:r>
            <a:r>
              <a:rPr sz="2350" spc="25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" dirty="0">
                <a:solidFill>
                  <a:srgbClr val="212121"/>
                </a:solidFill>
                <a:latin typeface="Courier New"/>
                <a:cs typeface="Courier New"/>
              </a:rPr>
              <a:t>storage.buckets.*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405266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856013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315107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405800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4475362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608655" y="482594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8655" y="52015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70747" y="2135474"/>
            <a:ext cx="9741535" cy="324421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Creator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storage.objects.create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Viewer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storage.objects.get,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storage.objects.list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1760220" algn="l"/>
                <a:tab pos="3128645" algn="l"/>
                <a:tab pos="4277360" algn="l"/>
                <a:tab pos="5168900" algn="l"/>
                <a:tab pos="6496685" algn="l"/>
                <a:tab pos="7523480" algn="l"/>
                <a:tab pos="7890509" algn="l"/>
                <a:tab pos="8759825" algn="l"/>
              </a:tabLst>
            </a:pPr>
            <a:r>
              <a:rPr sz="2350" spc="-27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Container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Registry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container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buckets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Container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Registry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permissions!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vs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buckets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play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buckets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play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bucket!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39590" y="6572250"/>
            <a:ext cx="276225" cy="209550"/>
          </a:xfrm>
          <a:custGeom>
            <a:avLst/>
            <a:gdLst/>
            <a:ahLst/>
            <a:cxnLst/>
            <a:rect l="l" t="t" r="r" b="b"/>
            <a:pathLst>
              <a:path w="276225" h="209550">
                <a:moveTo>
                  <a:pt x="2762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76225" y="0"/>
                </a:lnTo>
                <a:lnTo>
                  <a:pt x="2762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306</a:t>
            </a:fld>
            <a:endParaRPr spc="-25" dirty="0"/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40" dirty="0"/>
              <a:t> </a:t>
            </a:r>
            <a:r>
              <a:rPr spc="-90" dirty="0"/>
              <a:t>BigQuery</a:t>
            </a:r>
            <a:r>
              <a:rPr spc="-240" dirty="0"/>
              <a:t> </a:t>
            </a:r>
            <a:r>
              <a:rPr spc="-50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70747" y="856689"/>
            <a:ext cx="3258820" cy="11252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bigquery.*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  <a:tabLst>
                <a:tab pos="1532255" algn="l"/>
                <a:tab pos="2243455" algn="l"/>
                <a:tab pos="3155950" algn="l"/>
              </a:tabLst>
            </a:pP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Owner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14581" y="1668033"/>
            <a:ext cx="629793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220595" algn="l"/>
                <a:tab pos="4320540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bigquery.datasets.*,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bigquery.models.*,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bigquery.routines.*,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08655" y="249708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349874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8827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42583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4992887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08655" y="534346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5760825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470747" y="1898081"/>
            <a:ext cx="9741535" cy="406971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6075" algn="just">
              <a:lnSpc>
                <a:spcPct val="100000"/>
              </a:lnSpc>
              <a:spcBef>
                <a:spcPts val="78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bigquery.tables.*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Does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have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Jobs!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900">
              <a:latin typeface="Yu Gothic"/>
              <a:cs typeface="Yu Gothic"/>
            </a:endParaRPr>
          </a:p>
          <a:p>
            <a:pPr marL="346075" marR="5080" algn="just">
              <a:lnSpc>
                <a:spcPct val="108100"/>
              </a:lnSpc>
              <a:spcBef>
                <a:spcPts val="490"/>
              </a:spcBef>
              <a:tabLst>
                <a:tab pos="4945380" algn="l"/>
                <a:tab pos="7764145" algn="l"/>
              </a:tabLst>
            </a:pP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5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Editor</a:t>
            </a:r>
            <a:r>
              <a:rPr sz="1900" b="1" spc="-5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bigquery.tables.(create/delete/export/get/getData/getIamPolicy/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list/update/updateData/updateTag),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bigquery.models.*,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bigquery.routines.*,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bigquery.datasets.(create/get/getIamPolicy/updateTag)</a:t>
            </a:r>
            <a:endParaRPr sz="190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680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Viewer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get/list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bigquery.(datasets/models/routines/tables)</a:t>
            </a:r>
            <a:endParaRPr sz="190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740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Job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User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bigquery.jobs.create</a:t>
            </a:r>
            <a:endParaRPr sz="1900">
              <a:latin typeface="Yu Gothic"/>
              <a:cs typeface="Yu Gothic"/>
            </a:endParaRPr>
          </a:p>
          <a:p>
            <a:pPr marL="346075" marR="5080" algn="just">
              <a:lnSpc>
                <a:spcPct val="109500"/>
              </a:lnSpc>
              <a:spcBef>
                <a:spcPts val="464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1900" b="1" spc="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User</a:t>
            </a:r>
            <a:r>
              <a:rPr sz="1900" b="1" spc="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19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r>
              <a:rPr sz="19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get/list</a:t>
            </a:r>
            <a:r>
              <a:rPr sz="19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(jobs,</a:t>
            </a:r>
            <a:r>
              <a:rPr sz="19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capacityCommitments,</a:t>
            </a:r>
            <a:r>
              <a:rPr sz="19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reservations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see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data,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either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235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26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see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Job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Owner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jobs!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307</a:t>
            </a:fld>
            <a:endParaRPr spc="-25" dirty="0"/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5" dirty="0"/>
              <a:t>Logging</a:t>
            </a:r>
            <a:r>
              <a:rPr spc="-254" dirty="0"/>
              <a:t> </a:t>
            </a:r>
            <a:r>
              <a:rPr spc="-80" dirty="0"/>
              <a:t>IAM</a:t>
            </a:r>
            <a:r>
              <a:rPr spc="-250" dirty="0"/>
              <a:t> </a:t>
            </a:r>
            <a:r>
              <a:rPr spc="-85" dirty="0"/>
              <a:t>Roles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125" dirty="0"/>
              <a:t>Service</a:t>
            </a:r>
            <a:r>
              <a:rPr spc="-254" dirty="0"/>
              <a:t> </a:t>
            </a:r>
            <a:r>
              <a:rPr spc="-160" dirty="0"/>
              <a:t>Account</a:t>
            </a:r>
            <a:r>
              <a:rPr spc="-250" dirty="0"/>
              <a:t> </a:t>
            </a:r>
            <a:r>
              <a:rPr spc="-10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21214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281427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231635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358221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395783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254163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84263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552710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70747" y="856689"/>
            <a:ext cx="9741535" cy="48482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Logging: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roles/logging.viewer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(Logs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Viewer)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except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Transparency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logs.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  <a:tabLst>
                <a:tab pos="3782695" algn="l"/>
                <a:tab pos="4798695" algn="l"/>
                <a:tab pos="5473700" algn="l"/>
                <a:tab pos="6510655" algn="l"/>
                <a:tab pos="7173595" algn="l"/>
                <a:tab pos="8046720" algn="l"/>
                <a:tab pos="8362315" algn="l"/>
                <a:tab pos="9067800" algn="l"/>
              </a:tabLst>
            </a:pP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roles/logging.privateLogViewer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(Private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Viewer)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49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Transparency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roles/logging.admin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(Logging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Admin)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permissions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related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Accounts: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roles/iam.serviceAccountAdmin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endParaRPr sz="1900">
              <a:latin typeface="Yu Gothic"/>
              <a:cs typeface="Yu Gothic"/>
            </a:endParaRPr>
          </a:p>
          <a:p>
            <a:pPr marL="680085" marR="5080" indent="-334010">
              <a:lnSpc>
                <a:spcPct val="109700"/>
              </a:lnSpc>
              <a:spcBef>
                <a:spcPts val="455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roles/iam.serviceAccountUser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the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roles/iam.serviceAccountUser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500" spc="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5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account.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15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be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added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attach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instances.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40"/>
              </a:spcBef>
              <a:tabLst>
                <a:tab pos="4513580" algn="l"/>
                <a:tab pos="4748530" algn="l"/>
                <a:tab pos="6188710" algn="l"/>
                <a:tab pos="7051675" algn="l"/>
                <a:tab pos="8119109" algn="l"/>
                <a:tab pos="8979535" algn="l"/>
              </a:tabLst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roles/iam.serviceAccountTokenCreator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Impersonate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(create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OAuth2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tokens,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sign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blobs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JWTs,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etc).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roles/iam.serviceAccountKeyAdmin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(and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rotate)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account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keys.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308</a:t>
            </a:fld>
            <a:endParaRPr spc="-25" dirty="0"/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448500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40" dirty="0"/>
              <a:t>Other</a:t>
            </a:r>
            <a:r>
              <a:rPr spc="-250" dirty="0"/>
              <a:t> </a:t>
            </a:r>
            <a:r>
              <a:rPr spc="-85" dirty="0"/>
              <a:t>Important</a:t>
            </a:r>
            <a:r>
              <a:rPr spc="-250" dirty="0"/>
              <a:t> </a:t>
            </a:r>
            <a:r>
              <a:rPr spc="-80" dirty="0"/>
              <a:t>IAM</a:t>
            </a:r>
            <a:r>
              <a:rPr spc="-245" dirty="0"/>
              <a:t> </a:t>
            </a:r>
            <a:r>
              <a:rPr spc="-30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996256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839319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690729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149823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608917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534346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70747" y="799928"/>
            <a:ext cx="9741535" cy="472122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roles/iam.securityAdmin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roles/iam.securityReviewer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List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resources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policies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4567555" algn="l"/>
                <a:tab pos="4855210" algn="l"/>
                <a:tab pos="6417310" algn="l"/>
                <a:tab pos="6918325" algn="l"/>
                <a:tab pos="8049259" algn="l"/>
                <a:tab pos="8858250" algn="l"/>
                <a:tab pos="9300210" algn="l"/>
              </a:tabLst>
            </a:pPr>
            <a:r>
              <a:rPr sz="2350" b="1" spc="-30" dirty="0">
                <a:solidFill>
                  <a:srgbClr val="212121"/>
                </a:solidFill>
                <a:latin typeface="Trebuchet MS"/>
                <a:cs typeface="Trebuchet MS"/>
              </a:rPr>
              <a:t>roles/iam.organizationRoleAdmin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3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Administer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organization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projects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below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it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464"/>
              </a:spcBef>
              <a:tabLst>
                <a:tab pos="4702810" algn="l"/>
                <a:tab pos="5089525" algn="l"/>
                <a:tab pos="6019800" algn="l"/>
                <a:tab pos="6619875" algn="l"/>
                <a:tab pos="7849870" algn="l"/>
                <a:tab pos="8759190" algn="l"/>
                <a:tab pos="9300210" algn="l"/>
              </a:tabLst>
            </a:pP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roles/iam.organizationRoleViewer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3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organization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projects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below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it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28200"/>
              </a:lnSpc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roles/iam.roleAdmin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project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roles/iam.roleViewer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7200"/>
              </a:lnSpc>
              <a:spcBef>
                <a:spcPts val="590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roles/browser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browse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hierarchy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project,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including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folder,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organization,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doesn't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include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permission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view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309</a:t>
            </a:fld>
            <a:endParaRPr spc="-25" dirty="0"/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633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559689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876881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194073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026013" y="341527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703250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4020442"/>
            <a:ext cx="66777" cy="66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400238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14313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799928"/>
            <a:ext cx="8740140" cy="452120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Linux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VMs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uses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key-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based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SSH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authentication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Two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Options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Metadata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Manually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individual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keys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OS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Login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without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managing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individual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keys!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managing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across instances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1500">
              <a:latin typeface="Yu Gothic"/>
              <a:cs typeface="Yu Gothic"/>
            </a:endParaRPr>
          </a:p>
          <a:p>
            <a:pPr marL="680085" marR="3570604">
              <a:lnSpc>
                <a:spcPct val="138800"/>
              </a:lnSpc>
            </a:pP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Linux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linked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identity </a:t>
            </a:r>
            <a:r>
              <a:rPr sz="1500" spc="-1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enable: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enable-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oslogin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true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metadata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140"/>
              </a:spcBef>
            </a:pPr>
            <a:r>
              <a:rPr sz="1200" i="1" spc="-3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200" i="1" spc="-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200" i="1" spc="-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i="1" spc="-100" dirty="0">
                <a:solidFill>
                  <a:srgbClr val="212121"/>
                </a:solidFill>
                <a:latin typeface="Trebuchet MS"/>
                <a:cs typeface="Trebuchet MS"/>
              </a:rPr>
              <a:t>project-</a:t>
            </a:r>
            <a:r>
              <a:rPr sz="12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info/instances</a:t>
            </a:r>
            <a:r>
              <a:rPr sz="12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i="1" spc="-70" dirty="0">
                <a:solidFill>
                  <a:srgbClr val="212121"/>
                </a:solidFill>
                <a:latin typeface="Trebuchet MS"/>
                <a:cs typeface="Trebuchet MS"/>
              </a:rPr>
              <a:t>add-</a:t>
            </a:r>
            <a:r>
              <a:rPr sz="12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metadata</a:t>
            </a:r>
            <a:r>
              <a:rPr sz="1200" b="1" i="1" spc="-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metadata</a:t>
            </a:r>
            <a:r>
              <a:rPr sz="12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i="1" spc="-70" dirty="0">
                <a:solidFill>
                  <a:srgbClr val="212121"/>
                </a:solidFill>
                <a:latin typeface="Trebuchet MS"/>
                <a:cs typeface="Trebuchet MS"/>
              </a:rPr>
              <a:t>enable-</a:t>
            </a:r>
            <a:r>
              <a:rPr sz="12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oslogin=TRUE</a:t>
            </a:r>
            <a:endParaRPr sz="1200">
              <a:latin typeface="Trebuchet MS"/>
              <a:cs typeface="Trebuchet MS"/>
            </a:endParaRPr>
          </a:p>
          <a:p>
            <a:pPr marL="680085" marR="1327785">
              <a:lnSpc>
                <a:spcPts val="2500"/>
              </a:lnSpc>
              <a:spcBef>
                <a:spcPts val="130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(Advantage)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Ability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import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existing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Linux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premises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80" dirty="0">
                <a:solidFill>
                  <a:srgbClr val="212121"/>
                </a:solidFill>
                <a:latin typeface="Yu Gothic"/>
                <a:cs typeface="Yu Gothic"/>
              </a:rPr>
              <a:t>AD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LDAP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roles/compute.osLogin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roles/compute.osAdminLogin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2174875" algn="l"/>
                <a:tab pos="4184650" algn="l"/>
                <a:tab pos="6203950" algn="l"/>
                <a:tab pos="747839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(Windows)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Windows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password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authentication(username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password)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Generate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console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(gcloud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reset-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windows-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password)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SSHing</a:t>
            </a:r>
            <a:r>
              <a:rPr spc="-265" dirty="0"/>
              <a:t> </a:t>
            </a:r>
            <a:r>
              <a:rPr spc="-105" dirty="0"/>
              <a:t>into</a:t>
            </a:r>
            <a:r>
              <a:rPr spc="-265" dirty="0"/>
              <a:t> </a:t>
            </a:r>
            <a:r>
              <a:rPr spc="-145" dirty="0"/>
              <a:t>Linux</a:t>
            </a:r>
            <a:r>
              <a:rPr spc="-265" dirty="0"/>
              <a:t> </a:t>
            </a:r>
            <a:r>
              <a:rPr spc="-95" dirty="0"/>
              <a:t>VMs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40" dirty="0"/>
              <a:t>Options</a:t>
            </a: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310</a:t>
            </a:fld>
            <a:endParaRPr spc="-25" dirty="0"/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997915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3484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028789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345982"/>
            <a:ext cx="66777" cy="66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725777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07635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SSHing</a:t>
            </a:r>
            <a:r>
              <a:rPr spc="-265" dirty="0"/>
              <a:t> </a:t>
            </a:r>
            <a:r>
              <a:rPr spc="-105" dirty="0"/>
              <a:t>into</a:t>
            </a:r>
            <a:r>
              <a:rPr spc="-265" dirty="0"/>
              <a:t> </a:t>
            </a:r>
            <a:r>
              <a:rPr spc="-145" dirty="0"/>
              <a:t>Linux</a:t>
            </a:r>
            <a:r>
              <a:rPr spc="-265" dirty="0"/>
              <a:t> </a:t>
            </a:r>
            <a:r>
              <a:rPr spc="-95" dirty="0"/>
              <a:t>VMs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65" dirty="0"/>
              <a:t>Details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8740140" cy="472313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Console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45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Button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Ephemeral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pair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i="1" spc="-6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i="1" spc="-2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11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2350" i="1" spc="-2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25" dirty="0">
                <a:solidFill>
                  <a:srgbClr val="212121"/>
                </a:solidFill>
                <a:latin typeface="Trebuchet MS"/>
                <a:cs typeface="Trebuchet MS"/>
              </a:rPr>
              <a:t>ssh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username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pair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pair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reused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future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interactions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3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customized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45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keys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(Metadata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managed):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Upload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metadata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(OS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Login):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Upload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Login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profile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os-login</a:t>
            </a:r>
            <a:r>
              <a:rPr sz="1500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ssh-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keys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20" dirty="0">
                <a:solidFill>
                  <a:srgbClr val="212121"/>
                </a:solidFill>
                <a:latin typeface="Trebuchet MS"/>
                <a:cs typeface="Trebuchet MS"/>
              </a:rPr>
              <a:t>add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Login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POST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b="1" i="1" spc="-70" dirty="0">
                <a:latin typeface="Trebuchet MS"/>
                <a:cs typeface="Trebuchet MS"/>
              </a:rPr>
              <a:t>https://oslogin.googleapis.com/v1/users/ACCOUNT_EMAIL:importSshPublicKey</a:t>
            </a:r>
            <a:endParaRPr sz="1350">
              <a:latin typeface="Trebuchet MS"/>
              <a:cs typeface="Trebuchet MS"/>
            </a:endParaRPr>
          </a:p>
          <a:p>
            <a:pPr marL="346075" marR="5080" indent="-334010" algn="just">
              <a:lnSpc>
                <a:spcPct val="110800"/>
              </a:lnSpc>
              <a:spcBef>
                <a:spcPts val="395"/>
              </a:spcBef>
            </a:pPr>
            <a:r>
              <a:rPr sz="2350" spc="-21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disable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wide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4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keys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i="1" spc="-5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5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i="1" spc="5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19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add-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metadata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[INSTANCE_NAME]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metadata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block-</a:t>
            </a:r>
            <a:r>
              <a:rPr sz="1900" b="1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project-</a:t>
            </a:r>
            <a:r>
              <a:rPr sz="1900" b="1" i="1" spc="-95" dirty="0">
                <a:solidFill>
                  <a:srgbClr val="212121"/>
                </a:solidFill>
                <a:latin typeface="Trebuchet MS"/>
                <a:cs typeface="Trebuchet MS"/>
              </a:rPr>
              <a:t>ssh-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keys=TRUE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311</a:t>
            </a:fld>
            <a:endParaRPr spc="-25" dirty="0"/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210059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81845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354465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4270857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472160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82950" y="5172350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82950" y="5614750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80" dirty="0"/>
              <a:t> </a:t>
            </a:r>
            <a:r>
              <a:rPr spc="-155" dirty="0"/>
              <a:t>-</a:t>
            </a:r>
            <a:r>
              <a:rPr spc="-280" dirty="0"/>
              <a:t> </a:t>
            </a:r>
            <a:r>
              <a:rPr spc="-75" dirty="0"/>
              <a:t>Scenarios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963348" y="980227"/>
            <a:ext cx="106743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Description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63348" y="1430974"/>
            <a:ext cx="81788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65" dirty="0">
                <a:solidFill>
                  <a:srgbClr val="212121"/>
                </a:solidFill>
                <a:latin typeface="Yu Gothic"/>
                <a:cs typeface="Yu Gothic"/>
              </a:rPr>
              <a:t>ACLs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3348" y="2157177"/>
            <a:ext cx="71755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3348" y="2875033"/>
            <a:ext cx="1799589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Signed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URL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63348" y="3578197"/>
            <a:ext cx="498602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development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team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member.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Bind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Predefined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Roles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Group.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63348" y="4327438"/>
            <a:ext cx="202374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Object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Creator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63348" y="4778185"/>
            <a:ext cx="261556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 Developer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63348" y="5228932"/>
            <a:ext cx="203327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96370" y="980227"/>
            <a:ext cx="4337685" cy="4969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endParaRPr sz="1650">
              <a:latin typeface="Trebuchet MS"/>
              <a:cs typeface="Trebuchet MS"/>
            </a:endParaRPr>
          </a:p>
          <a:p>
            <a:pPr marL="12700" marR="93980">
              <a:lnSpc>
                <a:spcPct val="109500"/>
              </a:lnSpc>
              <a:spcBef>
                <a:spcPts val="138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give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permanent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sub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set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objects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138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give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permanent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entire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endParaRPr sz="1650">
              <a:latin typeface="Trebuchet MS"/>
              <a:cs typeface="Trebuchet MS"/>
            </a:endParaRPr>
          </a:p>
          <a:p>
            <a:pPr marL="12700" marR="363220">
              <a:lnSpc>
                <a:spcPct val="109500"/>
              </a:lnSpc>
              <a:spcBef>
                <a:spcPts val="131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provide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limited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specific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endParaRPr sz="1650">
              <a:latin typeface="Trebuchet MS"/>
              <a:cs typeface="Trebuchet MS"/>
            </a:endParaRPr>
          </a:p>
          <a:p>
            <a:pPr marL="12700" marR="143510">
              <a:lnSpc>
                <a:spcPct val="109500"/>
              </a:lnSpc>
              <a:spcBef>
                <a:spcPts val="138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give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set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resources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to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development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team</a:t>
            </a:r>
            <a:endParaRPr sz="1650">
              <a:latin typeface="Trebuchet MS"/>
              <a:cs typeface="Trebuchet MS"/>
            </a:endParaRPr>
          </a:p>
          <a:p>
            <a:pPr marL="12700" marR="277495">
              <a:lnSpc>
                <a:spcPct val="179300"/>
              </a:lnSpc>
            </a:pP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Which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Role?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Upload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objects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Storage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Which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Role?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Manage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API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objects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Which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Role?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Manage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accounts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Which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Role?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View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63348" y="5671332"/>
            <a:ext cx="192913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BigQuery 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312</a:t>
            </a:fld>
            <a:endParaRPr spc="-25" dirty="0"/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5180" y="1966861"/>
            <a:ext cx="9371965" cy="182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45179" marR="5080" indent="-3333115">
              <a:lnSpc>
                <a:spcPct val="100299"/>
              </a:lnSpc>
              <a:spcBef>
                <a:spcPts val="95"/>
              </a:spcBef>
            </a:pPr>
            <a:r>
              <a:rPr sz="5900" spc="-290" dirty="0">
                <a:solidFill>
                  <a:srgbClr val="1BA74A"/>
                </a:solidFill>
              </a:rPr>
              <a:t>Other</a:t>
            </a:r>
            <a:r>
              <a:rPr sz="5900" spc="-535" dirty="0">
                <a:solidFill>
                  <a:srgbClr val="1BA74A"/>
                </a:solidFill>
              </a:rPr>
              <a:t> </a:t>
            </a:r>
            <a:r>
              <a:rPr sz="5900" spc="-165" dirty="0">
                <a:solidFill>
                  <a:srgbClr val="1BA74A"/>
                </a:solidFill>
              </a:rPr>
              <a:t>Google</a:t>
            </a:r>
            <a:r>
              <a:rPr sz="5900" spc="-530" dirty="0">
                <a:solidFill>
                  <a:srgbClr val="1BA74A"/>
                </a:solidFill>
              </a:rPr>
              <a:t> </a:t>
            </a:r>
            <a:r>
              <a:rPr sz="5900" spc="-165" dirty="0">
                <a:solidFill>
                  <a:srgbClr val="1BA74A"/>
                </a:solidFill>
              </a:rPr>
              <a:t>Cloud</a:t>
            </a:r>
            <a:r>
              <a:rPr sz="5900" spc="-530" dirty="0">
                <a:solidFill>
                  <a:srgbClr val="1BA74A"/>
                </a:solidFill>
              </a:rPr>
              <a:t> </a:t>
            </a:r>
            <a:r>
              <a:rPr sz="5900" spc="-125" dirty="0">
                <a:solidFill>
                  <a:srgbClr val="1BA74A"/>
                </a:solidFill>
              </a:rPr>
              <a:t>Platform </a:t>
            </a:r>
            <a:r>
              <a:rPr sz="5900" spc="-95" dirty="0">
                <a:solidFill>
                  <a:srgbClr val="1BA74A"/>
                </a:solidFill>
              </a:rPr>
              <a:t>Services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313</a:t>
            </a:fld>
            <a:endParaRPr spc="-25" dirty="0"/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Pricing</a:t>
            </a:r>
            <a:r>
              <a:rPr spc="-240" dirty="0"/>
              <a:t> </a:t>
            </a:r>
            <a:r>
              <a:rPr spc="-80" dirty="0"/>
              <a:t>Calculator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996256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3468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764194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311477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349039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87436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424998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462561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8655" y="50095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5426939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470747" y="799928"/>
            <a:ext cx="7382509" cy="4833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8200"/>
              </a:lnSpc>
              <a:spcBef>
                <a:spcPts val="9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Estimating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solution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easy </a:t>
            </a: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number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factors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into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account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estimate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solution?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Pricing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Calculator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Estimates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40+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Services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endParaRPr sz="1900">
              <a:latin typeface="Yu Gothic"/>
              <a:cs typeface="Yu Gothic"/>
            </a:endParaRPr>
          </a:p>
          <a:p>
            <a:pPr marL="346075" marR="4383405">
              <a:lnSpc>
                <a:spcPts val="3020"/>
              </a:lnSpc>
              <a:spcBef>
                <a:spcPts val="16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Engine 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9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endParaRPr sz="1900">
              <a:latin typeface="Yu Gothic"/>
              <a:cs typeface="Yu Gothic"/>
            </a:endParaRPr>
          </a:p>
          <a:p>
            <a:pPr marL="346075" marR="5611495">
              <a:lnSpc>
                <a:spcPts val="3020"/>
              </a:lnSpc>
              <a:spcBef>
                <a:spcPts val="1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Storage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These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Estimates!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(NOT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binding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GCP)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314</a:t>
            </a:fld>
            <a:endParaRPr spc="-25" dirty="0"/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49708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922790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2650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690729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856689"/>
            <a:ext cx="7838440" cy="343281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Lets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consider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subnet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64"/>
              </a:spcBef>
            </a:pP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19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9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provision</a:t>
            </a:r>
            <a:r>
              <a:rPr sz="19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9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balancer,</a:t>
            </a:r>
            <a:r>
              <a:rPr sz="19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groups</a:t>
            </a:r>
            <a:r>
              <a:rPr sz="1900" spc="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5</a:t>
            </a:r>
            <a:r>
              <a:rPr sz="19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Compute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subnet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Firewall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27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4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environments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Dev, QA,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Stage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Production!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84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Deployment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Manager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help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these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with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simple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(actually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so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simple)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script!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Google</a:t>
            </a:r>
            <a:r>
              <a:rPr spc="-245" dirty="0"/>
              <a:t> </a:t>
            </a:r>
            <a:r>
              <a:rPr spc="-80" dirty="0"/>
              <a:t>Cloud</a:t>
            </a:r>
            <a:r>
              <a:rPr spc="-240" dirty="0"/>
              <a:t> </a:t>
            </a:r>
            <a:r>
              <a:rPr spc="-110" dirty="0"/>
              <a:t>Deployment</a:t>
            </a:r>
            <a:r>
              <a:rPr spc="-240" dirty="0"/>
              <a:t> </a:t>
            </a:r>
            <a:r>
              <a:rPr spc="-80" dirty="0"/>
              <a:t>Manager</a:t>
            </a:r>
            <a:r>
              <a:rPr spc="-240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65" dirty="0"/>
              <a:t>Introduction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315</a:t>
            </a:fld>
            <a:endParaRPr spc="-25" dirty="0"/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238323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697417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156511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615605"/>
            <a:ext cx="91818" cy="918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70250" y="866705"/>
            <a:ext cx="7838440" cy="3339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429385" algn="l"/>
                <a:tab pos="3134995" algn="l"/>
                <a:tab pos="3799840" algn="l"/>
                <a:tab pos="5584825" algn="l"/>
                <a:tab pos="6015355" algn="l"/>
                <a:tab pos="7084059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Automate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deployment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modification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Cloud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controlled,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predictable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way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environments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easily!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Avoid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drift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Avoid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mistakes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manual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Think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as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environments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90"/>
              </a:spcBef>
              <a:tabLst>
                <a:tab pos="1478280" algn="l"/>
                <a:tab pos="2240915" algn="l"/>
                <a:tab pos="2477135" algn="l"/>
                <a:tab pos="3493135" algn="l"/>
                <a:tab pos="4516755" algn="l"/>
                <a:tab pos="5073650" algn="l"/>
                <a:tab pos="6425565" algn="l"/>
                <a:tab pos="751967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Important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Note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3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Always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modify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by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Deployment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Manager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Deployment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Manager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Google</a:t>
            </a:r>
            <a:r>
              <a:rPr spc="-245" dirty="0"/>
              <a:t> </a:t>
            </a:r>
            <a:r>
              <a:rPr spc="-80" dirty="0"/>
              <a:t>Cloud</a:t>
            </a:r>
            <a:r>
              <a:rPr spc="-240" dirty="0"/>
              <a:t> </a:t>
            </a:r>
            <a:r>
              <a:rPr spc="-110" dirty="0"/>
              <a:t>Deployment</a:t>
            </a:r>
            <a:r>
              <a:rPr spc="-240" dirty="0"/>
              <a:t> </a:t>
            </a:r>
            <a:r>
              <a:rPr spc="-80" dirty="0"/>
              <a:t>Manager</a:t>
            </a:r>
            <a:r>
              <a:rPr spc="-240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60" dirty="0"/>
              <a:t>Advantages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316</a:t>
            </a:fld>
            <a:endParaRPr spc="-25" dirty="0"/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22293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390231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233295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5838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856689"/>
            <a:ext cx="7838440" cy="39052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defined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simple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text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75" dirty="0">
                <a:solidFill>
                  <a:srgbClr val="212121"/>
                </a:solidFill>
                <a:latin typeface="Yu Gothic"/>
                <a:cs typeface="Yu Gothic"/>
              </a:rPr>
              <a:t>YAML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VPC,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subnet,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...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Deployment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Manager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understands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dependencies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Creates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5" dirty="0">
                <a:solidFill>
                  <a:srgbClr val="212121"/>
                </a:solidFill>
                <a:latin typeface="Yu Gothic"/>
                <a:cs typeface="Yu Gothic"/>
              </a:rPr>
              <a:t>VPCs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first,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then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subnets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then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(Default)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Automatic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rollbacks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errors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(Easier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retry)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creation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fails,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automatic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subnet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84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make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changes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it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over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Free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Pay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provisioned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automated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estimate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Google</a:t>
            </a:r>
            <a:r>
              <a:rPr spc="-235" dirty="0"/>
              <a:t> </a:t>
            </a:r>
            <a:r>
              <a:rPr spc="-80" dirty="0"/>
              <a:t>Cloud</a:t>
            </a:r>
            <a:r>
              <a:rPr spc="-229" dirty="0"/>
              <a:t> </a:t>
            </a:r>
            <a:r>
              <a:rPr spc="-110" dirty="0"/>
              <a:t>Deployment</a:t>
            </a:r>
            <a:r>
              <a:rPr spc="-229" dirty="0"/>
              <a:t> </a:t>
            </a:r>
            <a:r>
              <a:rPr spc="-35" dirty="0"/>
              <a:t>Manager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317</a:t>
            </a:fld>
            <a:endParaRPr spc="-25" dirty="0"/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45" dirty="0"/>
              <a:t> </a:t>
            </a:r>
            <a:r>
              <a:rPr spc="-110" dirty="0"/>
              <a:t>Deployment</a:t>
            </a:r>
            <a:r>
              <a:rPr spc="-240" dirty="0"/>
              <a:t> </a:t>
            </a:r>
            <a:r>
              <a:rPr spc="-80" dirty="0"/>
              <a:t>Manager</a:t>
            </a:r>
            <a:r>
              <a:rPr spc="-240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6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9609" y="894080"/>
            <a:ext cx="9083040" cy="3723004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272415" marR="6313170" indent="-197485">
              <a:lnSpc>
                <a:spcPct val="101099"/>
              </a:lnSpc>
              <a:spcBef>
                <a:spcPts val="459"/>
              </a:spcBef>
              <a:buChar char="-"/>
              <a:tabLst>
                <a:tab pos="274320" algn="l"/>
              </a:tabLst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type: </a:t>
            </a:r>
            <a:r>
              <a:rPr sz="1300" spc="-10" dirty="0">
                <a:latin typeface="Courier New"/>
                <a:cs typeface="Courier New"/>
              </a:rPr>
              <a:t>compute.v1.instance 	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name: </a:t>
            </a:r>
            <a:r>
              <a:rPr sz="1300" dirty="0">
                <a:latin typeface="Courier New"/>
                <a:cs typeface="Courier New"/>
              </a:rPr>
              <a:t>my-first-</a:t>
            </a:r>
            <a:r>
              <a:rPr sz="1300" spc="-25" dirty="0">
                <a:latin typeface="Courier New"/>
                <a:cs typeface="Courier New"/>
              </a:rPr>
              <a:t>vm 	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properties: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ts val="151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zone: </a:t>
            </a:r>
            <a:r>
              <a:rPr sz="1300" dirty="0">
                <a:latin typeface="Courier New"/>
                <a:cs typeface="Courier New"/>
              </a:rPr>
              <a:t>us-central1-</a:t>
            </a:r>
            <a:r>
              <a:rPr sz="1300" spc="-50" dirty="0">
                <a:latin typeface="Courier New"/>
                <a:cs typeface="Courier New"/>
              </a:rPr>
              <a:t>a</a:t>
            </a:r>
            <a:endParaRPr sz="1300">
              <a:latin typeface="Courier New"/>
              <a:cs typeface="Courier New"/>
            </a:endParaRPr>
          </a:p>
          <a:p>
            <a:pPr marL="473709" marR="5716905">
              <a:lnSpc>
                <a:spcPct val="101099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machineType: </a:t>
            </a:r>
            <a:r>
              <a:rPr sz="1300" spc="-10" dirty="0">
                <a:latin typeface="Courier New"/>
                <a:cs typeface="Courier New"/>
              </a:rPr>
              <a:t>&lt;&lt;MACHINE_TYPE&gt;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&gt;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disks:</a:t>
            </a:r>
            <a:endParaRPr sz="1300">
              <a:latin typeface="Courier New"/>
              <a:cs typeface="Courier New"/>
            </a:endParaRPr>
          </a:p>
          <a:p>
            <a:pPr marL="670560" marR="6810375" lvl="1" indent="-197485">
              <a:lnSpc>
                <a:spcPts val="1510"/>
              </a:lnSpc>
              <a:spcBef>
                <a:spcPts val="110"/>
              </a:spcBef>
              <a:buChar char="-"/>
              <a:tabLst>
                <a:tab pos="672465" algn="l"/>
              </a:tabLst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deviceName: </a:t>
            </a:r>
            <a:r>
              <a:rPr sz="1300" spc="-20" dirty="0">
                <a:latin typeface="Courier New"/>
                <a:cs typeface="Courier New"/>
              </a:rPr>
              <a:t>boot 	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type: </a:t>
            </a:r>
            <a:r>
              <a:rPr sz="1300" spc="-10" dirty="0">
                <a:latin typeface="Courier New"/>
                <a:cs typeface="Courier New"/>
              </a:rPr>
              <a:t>PERSISTENT</a:t>
            </a:r>
            <a:endParaRPr sz="1300">
              <a:latin typeface="Courier New"/>
              <a:cs typeface="Courier New"/>
            </a:endParaRPr>
          </a:p>
          <a:p>
            <a:pPr marL="672465" marR="6711315">
              <a:lnSpc>
                <a:spcPts val="1580"/>
              </a:lnSpc>
              <a:spcBef>
                <a:spcPts val="10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boot: </a:t>
            </a:r>
            <a:r>
              <a:rPr sz="1300" spc="-20" dirty="0">
                <a:solidFill>
                  <a:srgbClr val="A21515"/>
                </a:solidFill>
                <a:latin typeface="Courier New"/>
                <a:cs typeface="Courier New"/>
              </a:rPr>
              <a:t>true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autoDelete: </a:t>
            </a:r>
            <a:r>
              <a:rPr sz="1300" spc="-20" dirty="0">
                <a:solidFill>
                  <a:srgbClr val="A21515"/>
                </a:solidFill>
                <a:latin typeface="Courier New"/>
                <a:cs typeface="Courier New"/>
              </a:rPr>
              <a:t>true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initializeParams:</a:t>
            </a:r>
            <a:endParaRPr sz="1300">
              <a:latin typeface="Courier New"/>
              <a:cs typeface="Courier New"/>
            </a:endParaRPr>
          </a:p>
          <a:p>
            <a:pPr marL="871219">
              <a:lnSpc>
                <a:spcPts val="145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sourceImage: </a:t>
            </a:r>
            <a:r>
              <a:rPr sz="1300" spc="-10" dirty="0">
                <a:latin typeface="Courier New"/>
                <a:cs typeface="Courier New"/>
              </a:rPr>
              <a:t>&lt;&lt;SOURCE_IMAGE&gt;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&gt;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ct val="100000"/>
              </a:lnSpc>
              <a:spcBef>
                <a:spcPts val="20"/>
              </a:spcBef>
            </a:pP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networkInterfaces:</a:t>
            </a:r>
            <a:endParaRPr sz="1300">
              <a:latin typeface="Courier New"/>
              <a:cs typeface="Courier New"/>
            </a:endParaRPr>
          </a:p>
          <a:p>
            <a:pPr marL="671195" lvl="1" indent="-197485">
              <a:lnSpc>
                <a:spcPct val="100000"/>
              </a:lnSpc>
              <a:spcBef>
                <a:spcPts val="15"/>
              </a:spcBef>
              <a:buChar char="-"/>
              <a:tabLst>
                <a:tab pos="671195" algn="l"/>
              </a:tabLst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network: </a:t>
            </a:r>
            <a:r>
              <a:rPr sz="1300" spc="-10" dirty="0">
                <a:latin typeface="Courier New"/>
                <a:cs typeface="Courier New"/>
              </a:rPr>
              <a:t>&lt;&lt;NETWORK&gt;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&gt;</a:t>
            </a:r>
            <a:endParaRPr sz="1300">
              <a:latin typeface="Courier New"/>
              <a:cs typeface="Courier New"/>
            </a:endParaRPr>
          </a:p>
          <a:p>
            <a:pPr marL="672465" marR="4921250">
              <a:lnSpc>
                <a:spcPts val="1510"/>
              </a:lnSpc>
              <a:spcBef>
                <a:spcPts val="110"/>
              </a:spcBef>
            </a:pP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# Give instance a public IP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Address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accessConfigs:</a:t>
            </a:r>
            <a:endParaRPr sz="1300">
              <a:latin typeface="Courier New"/>
              <a:cs typeface="Courier New"/>
            </a:endParaRPr>
          </a:p>
          <a:p>
            <a:pPr marL="871219" marR="6214110" indent="-199390">
              <a:lnSpc>
                <a:spcPts val="1580"/>
              </a:lnSpc>
              <a:spcBef>
                <a:spcPts val="15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- name: </a:t>
            </a:r>
            <a:r>
              <a:rPr sz="1300" dirty="0">
                <a:latin typeface="Courier New"/>
                <a:cs typeface="Courier New"/>
              </a:rPr>
              <a:t>External </a:t>
            </a:r>
            <a:r>
              <a:rPr sz="1300" spc="-25" dirty="0">
                <a:latin typeface="Courier New"/>
                <a:cs typeface="Courier New"/>
              </a:rPr>
              <a:t>NAT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type: </a:t>
            </a:r>
            <a:r>
              <a:rPr sz="1300" spc="-10" dirty="0">
                <a:latin typeface="Courier New"/>
                <a:cs typeface="Courier New"/>
              </a:rPr>
              <a:t>ONE_TO_ONE_NAT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318</a:t>
            </a:fld>
            <a:endParaRPr spc="-25" dirty="0"/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45" dirty="0"/>
              <a:t> </a:t>
            </a:r>
            <a:r>
              <a:rPr spc="-110" dirty="0"/>
              <a:t>Deployment</a:t>
            </a:r>
            <a:r>
              <a:rPr spc="-240" dirty="0"/>
              <a:t> </a:t>
            </a:r>
            <a:r>
              <a:rPr spc="-80" dirty="0"/>
              <a:t>Manager</a:t>
            </a:r>
            <a:r>
              <a:rPr spc="-240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90" dirty="0"/>
              <a:t>Terminology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2568036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2885228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265024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108088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485098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522660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56105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70747" y="799928"/>
            <a:ext cx="9741535" cy="498856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algn="just">
              <a:lnSpc>
                <a:spcPct val="118900"/>
              </a:lnSpc>
              <a:spcBef>
                <a:spcPts val="35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Configuration</a:t>
            </a:r>
            <a:r>
              <a:rPr sz="2350" b="1" spc="-2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file: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5" dirty="0">
                <a:solidFill>
                  <a:srgbClr val="212121"/>
                </a:solidFill>
                <a:latin typeface="Yu Gothic"/>
                <a:cs typeface="Yu Gothic"/>
              </a:rPr>
              <a:t>YAML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resource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definitions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deployment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Templates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5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Reusable</a:t>
            </a:r>
            <a:r>
              <a:rPr sz="2350" b="1" spc="5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resource</a:t>
            </a:r>
            <a:r>
              <a:rPr sz="2350" b="1" spc="5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definitions</a:t>
            </a:r>
            <a:r>
              <a:rPr sz="2350" b="1" spc="5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spc="5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5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5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5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5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Can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defined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using: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Python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(preferred)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JinJa2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(recommended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simple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scripts)</a:t>
            </a:r>
            <a:endParaRPr sz="150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434"/>
              </a:spcBef>
            </a:pP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Deployment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3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Collection</a:t>
            </a:r>
            <a:r>
              <a:rPr sz="2350" spc="3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spc="3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spc="3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3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deployed</a:t>
            </a:r>
            <a:r>
              <a:rPr sz="2350" spc="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3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managed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together</a:t>
            </a:r>
            <a:endParaRPr sz="235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459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Manifests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Read-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containing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original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deployment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configuration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(including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imported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templates)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Generated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Deployment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Manager</a:t>
            </a:r>
            <a:endParaRPr sz="1900">
              <a:latin typeface="Yu Gothic"/>
              <a:cs typeface="Yu Gothic"/>
            </a:endParaRPr>
          </a:p>
          <a:p>
            <a:pPr marL="346075" marR="5721985">
              <a:lnSpc>
                <a:spcPts val="3020"/>
              </a:lnSpc>
              <a:spcBef>
                <a:spcPts val="4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Includes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fully-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expanded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resource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list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Helpful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troubleshooting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319</a:t>
            </a:fld>
            <a:endParaRPr spc="-25" dirty="0"/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2412" y="1144847"/>
            <a:ext cx="2287124" cy="153587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1128151"/>
            <a:ext cx="108513" cy="10851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91463" y="1962867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91463" y="2714112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91463" y="3123122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91463" y="4224947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4564" y="4529619"/>
            <a:ext cx="75124" cy="7512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291463" y="5184871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5840" y="5618924"/>
            <a:ext cx="108513" cy="10851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914434"/>
            <a:ext cx="5835650" cy="4942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100"/>
              </a:spcBef>
              <a:tabLst>
                <a:tab pos="1010919" algn="l"/>
                <a:tab pos="2259965" algn="l"/>
                <a:tab pos="2761615" algn="l"/>
                <a:tab pos="3952875" algn="l"/>
                <a:tab pos="5064760" algn="l"/>
              </a:tabLst>
            </a:pPr>
            <a:r>
              <a:rPr sz="2600" spc="-2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moving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Cloud,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600" spc="-100" dirty="0">
                <a:solidFill>
                  <a:srgbClr val="212121"/>
                </a:solidFill>
                <a:latin typeface="Yu Gothic"/>
                <a:cs typeface="Yu Gothic"/>
              </a:rPr>
              <a:t>every </a:t>
            </a:r>
            <a:r>
              <a:rPr sz="2600" spc="-125" dirty="0">
                <a:solidFill>
                  <a:srgbClr val="212121"/>
                </a:solidFill>
                <a:latin typeface="Yu Gothic"/>
                <a:cs typeface="Yu Gothic"/>
              </a:rPr>
              <a:t>enterprise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b="1" spc="-140" dirty="0">
                <a:solidFill>
                  <a:srgbClr val="212121"/>
                </a:solidFill>
                <a:latin typeface="Trebuchet MS"/>
                <a:cs typeface="Trebuchet MS"/>
              </a:rPr>
              <a:t>need</a:t>
            </a:r>
            <a:r>
              <a:rPr sz="260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00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60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0" dirty="0">
                <a:solidFill>
                  <a:srgbClr val="212121"/>
                </a:solidFill>
                <a:latin typeface="Trebuchet MS"/>
                <a:cs typeface="Trebuchet MS"/>
              </a:rPr>
              <a:t>decide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600">
              <a:latin typeface="Yu Gothic"/>
              <a:cs typeface="Yu Gothic"/>
            </a:endParaRPr>
          </a:p>
          <a:p>
            <a:pPr marL="346075" marR="5080" algn="just">
              <a:lnSpc>
                <a:spcPct val="109500"/>
              </a:lnSpc>
              <a:spcBef>
                <a:spcPts val="155"/>
              </a:spcBef>
            </a:pP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050" spc="9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050" spc="11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050" spc="10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2050" spc="11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my</a:t>
            </a:r>
            <a:r>
              <a:rPr sz="2050" spc="10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050" spc="11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2050" spc="10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per</a:t>
            </a:r>
            <a:r>
              <a:rPr sz="2050" spc="11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050" b="1" spc="-40" dirty="0">
                <a:solidFill>
                  <a:srgbClr val="212121"/>
                </a:solidFill>
                <a:latin typeface="Trebuchet MS"/>
                <a:cs typeface="Trebuchet MS"/>
              </a:rPr>
              <a:t>Google </a:t>
            </a:r>
            <a:r>
              <a:rPr sz="2050" b="1" spc="-80" dirty="0">
                <a:solidFill>
                  <a:srgbClr val="212121"/>
                </a:solidFill>
                <a:latin typeface="Trebuchet MS"/>
                <a:cs typeface="Trebuchet MS"/>
              </a:rPr>
              <a:t>recommended</a:t>
            </a:r>
            <a:r>
              <a:rPr sz="20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practices?</a:t>
            </a:r>
            <a:endParaRPr sz="205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760"/>
              </a:spcBef>
            </a:pPr>
            <a:r>
              <a:rPr sz="2050" b="1" spc="-50" dirty="0">
                <a:solidFill>
                  <a:srgbClr val="212121"/>
                </a:solidFill>
                <a:latin typeface="Trebuchet MS"/>
                <a:cs typeface="Trebuchet MS"/>
              </a:rPr>
              <a:t>How</a:t>
            </a:r>
            <a:r>
              <a:rPr sz="20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0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75" dirty="0">
                <a:solidFill>
                  <a:srgbClr val="212121"/>
                </a:solidFill>
                <a:latin typeface="Trebuchet MS"/>
                <a:cs typeface="Trebuchet MS"/>
              </a:rPr>
              <a:t>setup</a:t>
            </a:r>
            <a:r>
              <a:rPr sz="20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65" dirty="0">
                <a:solidFill>
                  <a:srgbClr val="212121"/>
                </a:solidFill>
                <a:latin typeface="Trebuchet MS"/>
                <a:cs typeface="Trebuchet MS"/>
              </a:rPr>
              <a:t>Organization</a:t>
            </a:r>
            <a:r>
              <a:rPr sz="20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40" dirty="0">
                <a:solidFill>
                  <a:srgbClr val="212121"/>
                </a:solidFill>
                <a:latin typeface="Trebuchet MS"/>
                <a:cs typeface="Trebuchet MS"/>
              </a:rPr>
              <a:t>&amp;</a:t>
            </a:r>
            <a:r>
              <a:rPr sz="20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90" dirty="0">
                <a:solidFill>
                  <a:srgbClr val="212121"/>
                </a:solidFill>
                <a:latin typeface="Trebuchet MS"/>
                <a:cs typeface="Trebuchet MS"/>
              </a:rPr>
              <a:t>Folder</a:t>
            </a:r>
            <a:r>
              <a:rPr sz="20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structure?</a:t>
            </a:r>
            <a:endParaRPr sz="2050">
              <a:latin typeface="Yu Gothic"/>
              <a:cs typeface="Yu Gothic"/>
            </a:endParaRPr>
          </a:p>
          <a:p>
            <a:pPr marL="346075" marR="5080" algn="just">
              <a:lnSpc>
                <a:spcPct val="110900"/>
              </a:lnSpc>
              <a:spcBef>
                <a:spcPts val="490"/>
              </a:spcBef>
            </a:pP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050" spc="17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050" spc="18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050" spc="18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2050" spc="18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050" b="1" dirty="0">
                <a:solidFill>
                  <a:srgbClr val="212121"/>
                </a:solidFill>
                <a:latin typeface="Trebuchet MS"/>
                <a:cs typeface="Trebuchet MS"/>
              </a:rPr>
              <a:t>my</a:t>
            </a:r>
            <a:r>
              <a:rPr sz="2050" b="1" spc="150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050" b="1" dirty="0">
                <a:solidFill>
                  <a:srgbClr val="212121"/>
                </a:solidFill>
                <a:latin typeface="Trebuchet MS"/>
                <a:cs typeface="Trebuchet MS"/>
              </a:rPr>
              <a:t>projects</a:t>
            </a:r>
            <a:r>
              <a:rPr sz="2050" b="1" spc="150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050" spc="18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050" spc="-60" dirty="0">
                <a:solidFill>
                  <a:srgbClr val="212121"/>
                </a:solidFill>
                <a:latin typeface="Yu Gothic"/>
                <a:cs typeface="Yu Gothic"/>
              </a:rPr>
              <a:t>various 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departments</a:t>
            </a:r>
            <a:r>
              <a:rPr sz="2050" spc="2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b="1" dirty="0">
                <a:solidFill>
                  <a:srgbClr val="212121"/>
                </a:solidFill>
                <a:latin typeface="Trebuchet MS"/>
                <a:cs typeface="Trebuchet MS"/>
              </a:rPr>
              <a:t>consistently</a:t>
            </a:r>
            <a:r>
              <a:rPr sz="2050" b="1" spc="229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2050" b="1" spc="2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dirty="0">
                <a:solidFill>
                  <a:srgbClr val="212121"/>
                </a:solidFill>
                <a:latin typeface="Trebuchet MS"/>
                <a:cs typeface="Trebuchet MS"/>
              </a:rPr>
              <a:t>only</a:t>
            </a:r>
            <a:r>
              <a:rPr sz="2050" b="1" spc="229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65" dirty="0">
                <a:solidFill>
                  <a:srgbClr val="212121"/>
                </a:solidFill>
                <a:latin typeface="Trebuchet MS"/>
                <a:cs typeface="Trebuchet MS"/>
              </a:rPr>
              <a:t>required </a:t>
            </a:r>
            <a:r>
              <a:rPr sz="2050" b="1" spc="-10" dirty="0">
                <a:solidFill>
                  <a:srgbClr val="212121"/>
                </a:solidFill>
                <a:latin typeface="Trebuchet MS"/>
                <a:cs typeface="Trebuchet MS"/>
              </a:rPr>
              <a:t>privileges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205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760"/>
              </a:spcBef>
            </a:pP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0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b="1" spc="-65" dirty="0">
                <a:solidFill>
                  <a:srgbClr val="212121"/>
                </a:solidFill>
                <a:latin typeface="Trebuchet MS"/>
                <a:cs typeface="Trebuchet MS"/>
              </a:rPr>
              <a:t>constraints</a:t>
            </a:r>
            <a:r>
              <a:rPr sz="20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spc="-60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0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want?</a:t>
            </a:r>
            <a:endParaRPr sz="2050">
              <a:latin typeface="Yu Gothic"/>
              <a:cs typeface="Yu Gothic"/>
            </a:endParaRPr>
          </a:p>
          <a:p>
            <a:pPr marL="680085" marR="5080">
              <a:lnSpc>
                <a:spcPts val="2170"/>
              </a:lnSpc>
              <a:spcBef>
                <a:spcPts val="90"/>
              </a:spcBef>
              <a:tabLst>
                <a:tab pos="1426845" algn="l"/>
                <a:tab pos="1964055" algn="l"/>
                <a:tab pos="2386965" algn="l"/>
                <a:tab pos="3369945" algn="l"/>
                <a:tab pos="3853179" algn="l"/>
                <a:tab pos="4390390" algn="l"/>
                <a:tab pos="4954270" algn="l"/>
                <a:tab pos="5644515" algn="l"/>
              </a:tabLst>
            </a:pP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(Which</a:t>
            </a:r>
            <a:r>
              <a:rPr sz="16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VM's</a:t>
            </a:r>
            <a:r>
              <a:rPr sz="16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6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allowed?,</a:t>
            </a:r>
            <a:r>
              <a:rPr sz="16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6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VM's</a:t>
            </a:r>
            <a:r>
              <a:rPr sz="16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6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16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IP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addresses?)</a:t>
            </a:r>
            <a:endParaRPr sz="165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670"/>
              </a:spcBef>
            </a:pPr>
            <a:r>
              <a:rPr sz="2050" spc="-10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b="1" spc="-95" dirty="0">
                <a:solidFill>
                  <a:srgbClr val="212121"/>
                </a:solidFill>
                <a:latin typeface="Trebuchet MS"/>
                <a:cs typeface="Trebuchet MS"/>
              </a:rPr>
              <a:t>Security,</a:t>
            </a:r>
            <a:r>
              <a:rPr sz="20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25" dirty="0">
                <a:solidFill>
                  <a:srgbClr val="212121"/>
                </a:solidFill>
                <a:latin typeface="Trebuchet MS"/>
                <a:cs typeface="Trebuchet MS"/>
              </a:rPr>
              <a:t>Logging</a:t>
            </a:r>
            <a:r>
              <a:rPr sz="20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3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0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0" dirty="0">
                <a:solidFill>
                  <a:srgbClr val="212121"/>
                </a:solidFill>
                <a:latin typeface="Trebuchet MS"/>
                <a:cs typeface="Trebuchet MS"/>
              </a:rPr>
              <a:t>Monitoring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20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600" spc="-95" dirty="0">
                <a:solidFill>
                  <a:srgbClr val="212121"/>
                </a:solidFill>
                <a:latin typeface="Yu Gothic"/>
                <a:cs typeface="Yu Gothic"/>
              </a:rPr>
              <a:t>Solution:</a:t>
            </a:r>
            <a:r>
              <a:rPr sz="26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b="1" spc="-8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60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00" dirty="0">
                <a:solidFill>
                  <a:srgbClr val="212121"/>
                </a:solidFill>
                <a:latin typeface="Trebuchet MS"/>
                <a:cs typeface="Trebuchet MS"/>
              </a:rPr>
              <a:t>Foundation</a:t>
            </a:r>
            <a:r>
              <a:rPr sz="260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0" dirty="0">
                <a:solidFill>
                  <a:srgbClr val="212121"/>
                </a:solidFill>
                <a:latin typeface="Trebuchet MS"/>
                <a:cs typeface="Trebuchet MS"/>
              </a:rPr>
              <a:t>Toolkit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50" spc="-120" dirty="0"/>
              <a:t>Getting</a:t>
            </a:r>
            <a:r>
              <a:rPr sz="3350" spc="-275" dirty="0"/>
              <a:t> </a:t>
            </a:r>
            <a:r>
              <a:rPr sz="3350" spc="-105" dirty="0"/>
              <a:t>Started</a:t>
            </a:r>
            <a:r>
              <a:rPr sz="3350" spc="-270" dirty="0"/>
              <a:t> </a:t>
            </a:r>
            <a:r>
              <a:rPr sz="3350" spc="-120" dirty="0"/>
              <a:t>with</a:t>
            </a:r>
            <a:r>
              <a:rPr sz="3350" spc="-270" dirty="0"/>
              <a:t> </a:t>
            </a:r>
            <a:r>
              <a:rPr sz="3350" spc="-85" dirty="0"/>
              <a:t>Cloud</a:t>
            </a:r>
            <a:r>
              <a:rPr sz="3350" spc="-270" dirty="0"/>
              <a:t> </a:t>
            </a:r>
            <a:r>
              <a:rPr sz="3350" spc="-110" dirty="0"/>
              <a:t>Foundation</a:t>
            </a:r>
            <a:r>
              <a:rPr sz="3350" spc="-270" dirty="0"/>
              <a:t> </a:t>
            </a:r>
            <a:r>
              <a:rPr sz="3350" spc="-80" dirty="0"/>
              <a:t>Toolkit</a:t>
            </a:r>
            <a:endParaRPr sz="3350"/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320</a:t>
            </a:fld>
            <a:endParaRPr spc="-25" dirty="0"/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3327628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377837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4496230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5222433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Exploring</a:t>
            </a:r>
            <a:r>
              <a:rPr spc="-235" dirty="0"/>
              <a:t> </a:t>
            </a:r>
            <a:r>
              <a:rPr spc="-80" dirty="0"/>
              <a:t>Cloud</a:t>
            </a:r>
            <a:r>
              <a:rPr spc="-235" dirty="0"/>
              <a:t> </a:t>
            </a:r>
            <a:r>
              <a:rPr spc="-100" dirty="0"/>
              <a:t>Foundation</a:t>
            </a:r>
            <a:r>
              <a:rPr spc="-235" dirty="0"/>
              <a:t> </a:t>
            </a:r>
            <a:r>
              <a:rPr spc="-135" dirty="0"/>
              <a:t>Toolkit</a:t>
            </a:r>
            <a:r>
              <a:rPr spc="-229" dirty="0"/>
              <a:t> </a:t>
            </a:r>
            <a:r>
              <a:rPr spc="-50" dirty="0"/>
              <a:t>Components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3619" y="927820"/>
            <a:ext cx="5183581" cy="167778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6370" y="2933463"/>
            <a:ext cx="81534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13014" y="2933463"/>
            <a:ext cx="79375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6370" y="3384209"/>
            <a:ext cx="499173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need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provision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resources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using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best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practices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05021" y="3384209"/>
            <a:ext cx="32099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ready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made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terraform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modules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6370" y="3811918"/>
            <a:ext cx="518858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need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setup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my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end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end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infrastructure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including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Org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Projects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32395" y="3811918"/>
            <a:ext cx="3954779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4425" marR="5080" indent="-1102360">
              <a:lnSpc>
                <a:spcPct val="109500"/>
              </a:lnSpc>
              <a:spcBef>
                <a:spcPts val="100"/>
              </a:spcBef>
            </a:pPr>
            <a:r>
              <a:rPr sz="1650" spc="-1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end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end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samples</a:t>
            </a:r>
            <a:r>
              <a:rPr sz="16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provided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adjust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6370" y="4546468"/>
            <a:ext cx="4397375" cy="56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00"/>
              </a:spcBef>
            </a:pP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We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don't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know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Terraform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but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have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experience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in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Kubernetes.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setup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infrastructure?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13974" y="4546468"/>
            <a:ext cx="4191635" cy="56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2965" marR="5080" indent="-850900">
              <a:lnSpc>
                <a:spcPct val="106200"/>
              </a:lnSpc>
              <a:spcBef>
                <a:spcPts val="10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No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problem.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Config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Connector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provision your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Infra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Kubernetes.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6370" y="5255977"/>
            <a:ext cx="481520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How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enforce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compliance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my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existing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new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resources?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39367" y="5255977"/>
            <a:ext cx="434086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7630" marR="5080" indent="-1345565">
              <a:lnSpc>
                <a:spcPct val="109500"/>
              </a:lnSpc>
              <a:spcBef>
                <a:spcPts val="100"/>
              </a:spcBef>
            </a:pPr>
            <a:r>
              <a:rPr sz="1650" spc="-1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Library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compliance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321</a:t>
            </a:fld>
            <a:endParaRPr spc="-25" dirty="0"/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9625" y="1283726"/>
            <a:ext cx="3659915" cy="147514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772542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623952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39745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46673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53518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57357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866705"/>
            <a:ext cx="5835650" cy="5046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11835" algn="l"/>
                <a:tab pos="1620520" algn="l"/>
                <a:tab pos="2407285" algn="l"/>
                <a:tab pos="4505960" algn="l"/>
              </a:tabLst>
            </a:pP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ready-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made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reference-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templates/blue-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prints</a:t>
            </a:r>
            <a:r>
              <a:rPr sz="235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Terraform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modules.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  <a:tabLst>
                <a:tab pos="652145" algn="l"/>
                <a:tab pos="1117600" algn="l"/>
                <a:tab pos="1872614" algn="l"/>
                <a:tab pos="2284095" algn="l"/>
                <a:tab pos="3081020" algn="l"/>
                <a:tab pos="4630420" algn="l"/>
                <a:tab pos="5629910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build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compliant,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secure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&amp;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repeatable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enterprise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ready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foundation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  <a:tabLst>
                <a:tab pos="648335" algn="l"/>
                <a:tab pos="1938655" algn="l"/>
                <a:tab pos="2463165" algn="l"/>
                <a:tab pos="3554729" algn="l"/>
                <a:tab pos="4257040" algn="l"/>
                <a:tab pos="5638800" algn="l"/>
              </a:tabLst>
            </a:pP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40+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modules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various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30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Infrastructure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as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code</a:t>
            </a:r>
            <a:r>
              <a:rPr sz="2350" b="1" spc="-2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easy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updates</a:t>
            </a:r>
            <a:endParaRPr sz="2350">
              <a:latin typeface="Yu Gothic"/>
              <a:cs typeface="Yu Gothic"/>
            </a:endParaRPr>
          </a:p>
          <a:p>
            <a:pPr marL="346075" marR="5080" indent="-334010">
              <a:lnSpc>
                <a:spcPct val="107900"/>
              </a:lnSpc>
              <a:spcBef>
                <a:spcPts val="575"/>
              </a:spcBef>
              <a:tabLst>
                <a:tab pos="1515745" algn="l"/>
                <a:tab pos="1739264" algn="l"/>
                <a:tab pos="2886710" algn="l"/>
                <a:tab pos="4032250" algn="l"/>
                <a:tab pos="4772025" algn="l"/>
                <a:tab pos="5111750" algn="l"/>
              </a:tabLst>
            </a:pP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Blueprint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Terraform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Module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Examples: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bootstrap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Bootstrap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Terraform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usage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Google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  <a:tabLst>
                <a:tab pos="1587500" algn="l"/>
                <a:tab pos="1856105" algn="l"/>
                <a:tab pos="2838450" algn="l"/>
                <a:tab pos="3742690" algn="l"/>
                <a:tab pos="4528820" algn="l"/>
              </a:tabLst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org-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Organization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Policies</a:t>
            </a:r>
            <a:endParaRPr sz="1900">
              <a:latin typeface="Yu Gothic"/>
              <a:cs typeface="Yu Gothic"/>
            </a:endParaRPr>
          </a:p>
          <a:p>
            <a:pPr marL="346075" marR="1279525">
              <a:lnSpc>
                <a:spcPts val="3020"/>
              </a:lnSpc>
              <a:spcBef>
                <a:spcPts val="4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network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Easily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network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935863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45" dirty="0"/>
              <a:t> </a:t>
            </a:r>
            <a:r>
              <a:rPr spc="-100" dirty="0"/>
              <a:t>Foundation</a:t>
            </a:r>
            <a:r>
              <a:rPr spc="-245" dirty="0"/>
              <a:t> </a:t>
            </a:r>
            <a:r>
              <a:rPr spc="-135" dirty="0"/>
              <a:t>Toolkit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95" dirty="0"/>
              <a:t>Reusable</a:t>
            </a:r>
            <a:r>
              <a:rPr spc="-245" dirty="0"/>
              <a:t> </a:t>
            </a:r>
            <a:r>
              <a:rPr spc="-170" dirty="0"/>
              <a:t>Terraform</a:t>
            </a:r>
            <a:r>
              <a:rPr spc="-245" dirty="0"/>
              <a:t> </a:t>
            </a:r>
            <a:r>
              <a:rPr spc="-10" dirty="0"/>
              <a:t>Modules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322</a:t>
            </a:fld>
            <a:endParaRPr spc="-25" dirty="0"/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0826" y="1167963"/>
            <a:ext cx="3513518" cy="17811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6926" y="3155182"/>
            <a:ext cx="3605016" cy="26881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388572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3335975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3653167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4032963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799928"/>
            <a:ext cx="5835015" cy="383222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repository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end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end</a:t>
            </a:r>
            <a:r>
              <a:rPr sz="2350" b="1" spc="-2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examples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1447165" algn="l"/>
                <a:tab pos="2813685" algn="l"/>
                <a:tab pos="4205605" algn="l"/>
                <a:tab pos="508063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Combine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multiple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modules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Cloud Foundation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Toolkit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Example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Foundation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modules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combined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build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secure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cloud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foundation?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3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boot-strap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module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creates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a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Terraform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module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creates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various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structures</a:t>
            </a:r>
            <a:endParaRPr sz="15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30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CFT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Fabric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Advanced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example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designed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for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prototyping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100" dirty="0"/>
              <a:t>Foundation</a:t>
            </a:r>
            <a:r>
              <a:rPr spc="-254" dirty="0"/>
              <a:t> </a:t>
            </a:r>
            <a:r>
              <a:rPr spc="-135" dirty="0"/>
              <a:t>Toolkit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85" dirty="0"/>
              <a:t>End</a:t>
            </a:r>
            <a:r>
              <a:rPr spc="-254" dirty="0"/>
              <a:t> </a:t>
            </a:r>
            <a:r>
              <a:rPr spc="-105" dirty="0"/>
              <a:t>to</a:t>
            </a:r>
            <a:r>
              <a:rPr spc="-254" dirty="0"/>
              <a:t> </a:t>
            </a:r>
            <a:r>
              <a:rPr spc="-85" dirty="0"/>
              <a:t>End</a:t>
            </a:r>
            <a:r>
              <a:rPr spc="-260" dirty="0"/>
              <a:t> </a:t>
            </a:r>
            <a:r>
              <a:rPr spc="-10" dirty="0"/>
              <a:t>Samples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323</a:t>
            </a:fld>
            <a:endParaRPr spc="-25" dirty="0"/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3228" y="1094777"/>
            <a:ext cx="3806311" cy="262100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70250" y="799928"/>
            <a:ext cx="5835650" cy="133604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Open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source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add-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788035" algn="l"/>
                <a:tab pos="2406650" algn="l"/>
                <a:tab pos="3608070" algn="l"/>
                <a:tab pos="4041140" algn="l"/>
                <a:tab pos="5560695" algn="l"/>
              </a:tabLst>
            </a:pP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Uses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(instead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Terraform)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endParaRPr sz="2350">
              <a:latin typeface="Yu Gothic"/>
              <a:cs typeface="Yu Gothic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88572"/>
            <a:ext cx="91818" cy="9181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569885" y="2185557"/>
            <a:ext cx="1435735" cy="79375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experience</a:t>
            </a:r>
            <a:endParaRPr sz="2350">
              <a:latin typeface="Trebuchet MS"/>
              <a:cs typeface="Trebuchet MS"/>
            </a:endParaRPr>
          </a:p>
          <a:p>
            <a:pPr marL="106680">
              <a:lnSpc>
                <a:spcPct val="100000"/>
              </a:lnSpc>
              <a:spcBef>
                <a:spcPts val="200"/>
              </a:spcBef>
              <a:tabLst>
                <a:tab pos="889000" algn="l"/>
              </a:tabLst>
            </a:pP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tool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(like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0250" y="2185557"/>
            <a:ext cx="4238625" cy="118618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  <a:tabLst>
                <a:tab pos="1564005" algn="l"/>
                <a:tab pos="254381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Leverage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ts val="3090"/>
              </a:lnSpc>
              <a:spcBef>
                <a:spcPts val="35"/>
              </a:spcBef>
              <a:tabLst>
                <a:tab pos="1221105" algn="l"/>
                <a:tab pos="1753235" algn="l"/>
                <a:tab pos="3067685" algn="l"/>
                <a:tab pos="366712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instead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learning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IaaC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Terraform)</a:t>
            </a:r>
            <a:endParaRPr sz="2350">
              <a:latin typeface="Yu Gothic"/>
              <a:cs typeface="Yu Gothic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623952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475362"/>
            <a:ext cx="91818" cy="91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5318426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3412590"/>
            <a:ext cx="5835015" cy="2505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800100" algn="l"/>
                <a:tab pos="2600325" algn="l"/>
                <a:tab pos="4191000" algn="l"/>
                <a:tab pos="4782820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manifests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manage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resources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like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VM,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pre-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built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collection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Custom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Resource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Definitions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(CRDs)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949325" algn="l"/>
                <a:tab pos="1912620" algn="l"/>
                <a:tab pos="3378835" algn="l"/>
                <a:tab pos="3792220" algn="l"/>
                <a:tab pos="4260215" algn="l"/>
                <a:tab pos="549465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Config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Connector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installed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on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00" dirty="0"/>
              <a:t>Foundation</a:t>
            </a:r>
            <a:r>
              <a:rPr spc="-250" dirty="0"/>
              <a:t> </a:t>
            </a:r>
            <a:r>
              <a:rPr spc="-135" dirty="0"/>
              <a:t>Toolkit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80" dirty="0"/>
              <a:t>Config</a:t>
            </a:r>
            <a:r>
              <a:rPr spc="-250" dirty="0"/>
              <a:t> </a:t>
            </a:r>
            <a:r>
              <a:rPr spc="-80" dirty="0"/>
              <a:t>Connector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324</a:t>
            </a:fld>
            <a:endParaRPr spc="-25" dirty="0"/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05802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Config</a:t>
            </a:r>
            <a:r>
              <a:rPr spc="-250" dirty="0"/>
              <a:t> </a:t>
            </a:r>
            <a:r>
              <a:rPr spc="-120" dirty="0"/>
              <a:t>Connector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110" dirty="0"/>
              <a:t>Example</a:t>
            </a:r>
            <a:r>
              <a:rPr spc="-245" dirty="0"/>
              <a:t> </a:t>
            </a:r>
            <a:r>
              <a:rPr spc="-100" dirty="0"/>
              <a:t>Manifest</a:t>
            </a:r>
            <a:r>
              <a:rPr spc="-250" dirty="0"/>
              <a:t> </a:t>
            </a:r>
            <a:r>
              <a:rPr spc="-60" dirty="0"/>
              <a:t>Files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5093052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5552146"/>
            <a:ext cx="91818" cy="918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70747" y="4814913"/>
            <a:ext cx="8582025" cy="9436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Easy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creation: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kubectl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apply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-f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file.yaml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Easy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updates: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manifest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kubectl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apply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command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9609" y="894080"/>
            <a:ext cx="9083040" cy="3916045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75565" marR="4523105">
              <a:lnSpc>
                <a:spcPct val="101099"/>
              </a:lnSpc>
              <a:spcBef>
                <a:spcPts val="459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apiVersion: </a:t>
            </a:r>
            <a:r>
              <a:rPr sz="1300" spc="-10" dirty="0">
                <a:latin typeface="Courier New"/>
                <a:cs typeface="Courier New"/>
              </a:rPr>
              <a:t>sql.cnrm.cloud.google.com/v1beta1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kind: </a:t>
            </a:r>
            <a:r>
              <a:rPr sz="1300" spc="-10" dirty="0">
                <a:latin typeface="Courier New"/>
                <a:cs typeface="Courier New"/>
              </a:rPr>
              <a:t>SQLInstance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35"/>
              </a:lnSpc>
              <a:spcBef>
                <a:spcPts val="15"/>
              </a:spcBef>
            </a:pP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metadata:</a:t>
            </a:r>
            <a:endParaRPr sz="1300">
              <a:latin typeface="Courier New"/>
              <a:cs typeface="Courier New"/>
            </a:endParaRPr>
          </a:p>
          <a:p>
            <a:pPr marL="75565" marR="6512559" indent="397510">
              <a:lnSpc>
                <a:spcPts val="1580"/>
              </a:lnSpc>
              <a:spcBef>
                <a:spcPts val="15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name: </a:t>
            </a:r>
            <a:r>
              <a:rPr sz="1300" dirty="0">
                <a:latin typeface="Courier New"/>
                <a:cs typeface="Courier New"/>
              </a:rPr>
              <a:t>my-sql-</a:t>
            </a:r>
            <a:r>
              <a:rPr sz="1300" spc="-10" dirty="0">
                <a:latin typeface="Courier New"/>
                <a:cs typeface="Courier New"/>
              </a:rPr>
              <a:t>instance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spec: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ts val="152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region: </a:t>
            </a:r>
            <a:r>
              <a:rPr sz="1300" dirty="0">
                <a:latin typeface="Courier New"/>
                <a:cs typeface="Courier New"/>
              </a:rPr>
              <a:t>us-</a:t>
            </a:r>
            <a:r>
              <a:rPr sz="1300" spc="-10" dirty="0">
                <a:latin typeface="Courier New"/>
                <a:cs typeface="Courier New"/>
              </a:rPr>
              <a:t>central1</a:t>
            </a:r>
            <a:endParaRPr sz="1300">
              <a:latin typeface="Courier New"/>
              <a:cs typeface="Courier New"/>
            </a:endParaRPr>
          </a:p>
          <a:p>
            <a:pPr marL="473709" marR="6015355">
              <a:lnSpc>
                <a:spcPts val="1510"/>
              </a:lnSpc>
              <a:spcBef>
                <a:spcPts val="105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databaseVersion: </a:t>
            </a:r>
            <a:r>
              <a:rPr sz="1300" spc="-10" dirty="0">
                <a:latin typeface="Courier New"/>
                <a:cs typeface="Courier New"/>
              </a:rPr>
              <a:t>MYSQL_5_7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settings:</a:t>
            </a:r>
            <a:endParaRPr sz="1300">
              <a:latin typeface="Courier New"/>
              <a:cs typeface="Courier New"/>
            </a:endParaRPr>
          </a:p>
          <a:p>
            <a:pPr marL="473709" marR="6412865">
              <a:lnSpc>
                <a:spcPts val="1580"/>
              </a:lnSpc>
              <a:spcBef>
                <a:spcPts val="15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tier: </a:t>
            </a:r>
            <a:r>
              <a:rPr sz="1300" dirty="0">
                <a:latin typeface="Courier New"/>
                <a:cs typeface="Courier New"/>
              </a:rPr>
              <a:t>db-n1-standard</a:t>
            </a:r>
            <a:r>
              <a:rPr sz="1300" dirty="0">
                <a:solidFill>
                  <a:srgbClr val="00B0E7"/>
                </a:solidFill>
                <a:latin typeface="Courier New"/>
                <a:cs typeface="Courier New"/>
              </a:rPr>
              <a:t>-</a:t>
            </a:r>
            <a:r>
              <a:rPr sz="1300" spc="-50" dirty="0">
                <a:solidFill>
                  <a:srgbClr val="00B0E7"/>
                </a:solidFill>
                <a:latin typeface="Courier New"/>
                <a:cs typeface="Courier New"/>
              </a:rPr>
              <a:t>1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backupConfiguration:</a:t>
            </a:r>
            <a:endParaRPr sz="1300">
              <a:latin typeface="Courier New"/>
              <a:cs typeface="Courier New"/>
            </a:endParaRPr>
          </a:p>
          <a:p>
            <a:pPr marL="871219">
              <a:lnSpc>
                <a:spcPts val="152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enabled: </a:t>
            </a:r>
            <a:r>
              <a:rPr sz="1300" spc="-20" dirty="0">
                <a:solidFill>
                  <a:srgbClr val="A21515"/>
                </a:solidFill>
                <a:latin typeface="Courier New"/>
                <a:cs typeface="Courier New"/>
              </a:rPr>
              <a:t>true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Courier New"/>
              <a:cs typeface="Courier New"/>
            </a:endParaRPr>
          </a:p>
          <a:p>
            <a:pPr marL="75565" marR="4125595">
              <a:lnSpc>
                <a:spcPct val="101099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apiVersion: </a:t>
            </a:r>
            <a:r>
              <a:rPr sz="1300" spc="-10" dirty="0">
                <a:latin typeface="Courier New"/>
                <a:cs typeface="Courier New"/>
              </a:rPr>
              <a:t>storage.cnrm.cloud.google.com/v1beta1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kind: </a:t>
            </a:r>
            <a:r>
              <a:rPr sz="1300" spc="-10" dirty="0">
                <a:latin typeface="Courier New"/>
                <a:cs typeface="Courier New"/>
              </a:rPr>
              <a:t>Bucket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35"/>
              </a:lnSpc>
              <a:spcBef>
                <a:spcPts val="15"/>
              </a:spcBef>
            </a:pP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metadata:</a:t>
            </a:r>
            <a:endParaRPr sz="1300">
              <a:latin typeface="Courier New"/>
              <a:cs typeface="Courier New"/>
            </a:endParaRPr>
          </a:p>
          <a:p>
            <a:pPr marL="75565" marR="6313170" indent="397510">
              <a:lnSpc>
                <a:spcPts val="1580"/>
              </a:lnSpc>
              <a:spcBef>
                <a:spcPts val="15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name: </a:t>
            </a:r>
            <a:r>
              <a:rPr sz="1300" dirty="0">
                <a:latin typeface="Courier New"/>
                <a:cs typeface="Courier New"/>
              </a:rPr>
              <a:t>my-storage-</a:t>
            </a:r>
            <a:r>
              <a:rPr sz="1300" spc="-10" dirty="0">
                <a:latin typeface="Courier New"/>
                <a:cs typeface="Courier New"/>
              </a:rPr>
              <a:t>bucket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spec: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ts val="152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location: </a:t>
            </a:r>
            <a:r>
              <a:rPr sz="1300" spc="-25" dirty="0">
                <a:latin typeface="Courier New"/>
                <a:cs typeface="Courier New"/>
              </a:rPr>
              <a:t>US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ct val="100000"/>
              </a:lnSpc>
              <a:spcBef>
                <a:spcPts val="15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storageClass: </a:t>
            </a:r>
            <a:r>
              <a:rPr sz="1300" spc="-10" dirty="0">
                <a:latin typeface="Courier New"/>
                <a:cs typeface="Courier New"/>
              </a:rPr>
              <a:t>MULTI_REGIONAL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325</a:t>
            </a:fld>
            <a:endParaRPr spc="-25" dirty="0"/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1595" y="1144831"/>
            <a:ext cx="4783601" cy="195226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1128151"/>
            <a:ext cx="108513" cy="1085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2480391"/>
            <a:ext cx="108513" cy="1085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5840" y="3406926"/>
            <a:ext cx="108513" cy="10851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291463" y="3815937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91463" y="4567181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48262" y="4415251"/>
            <a:ext cx="855344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b="1" spc="-30" dirty="0">
                <a:solidFill>
                  <a:srgbClr val="212121"/>
                </a:solidFill>
                <a:latin typeface="Trebuchet MS"/>
                <a:cs typeface="Trebuchet MS"/>
              </a:rPr>
              <a:t>sample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04136" y="3914554"/>
            <a:ext cx="3566795" cy="118618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050" b="1" spc="-100" dirty="0">
                <a:solidFill>
                  <a:srgbClr val="212121"/>
                </a:solidFill>
                <a:latin typeface="Trebuchet MS"/>
                <a:cs typeface="Trebuchet MS"/>
              </a:rPr>
              <a:t>verify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40" dirty="0">
                <a:solidFill>
                  <a:srgbClr val="212121"/>
                </a:solidFill>
                <a:latin typeface="Trebuchet MS"/>
                <a:cs typeface="Trebuchet MS"/>
              </a:rPr>
              <a:t>guard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60" dirty="0">
                <a:solidFill>
                  <a:srgbClr val="212121"/>
                </a:solidFill>
                <a:latin typeface="Trebuchet MS"/>
                <a:cs typeface="Trebuchet MS"/>
              </a:rPr>
              <a:t>rails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35" dirty="0">
                <a:solidFill>
                  <a:srgbClr val="212121"/>
                </a:solidFill>
                <a:latin typeface="Trebuchet MS"/>
                <a:cs typeface="Trebuchet MS"/>
              </a:rPr>
              <a:t>automatically</a:t>
            </a:r>
            <a:endParaRPr sz="2050">
              <a:latin typeface="Trebuchet MS"/>
              <a:cs typeface="Trebuchet MS"/>
            </a:endParaRPr>
          </a:p>
          <a:p>
            <a:pPr marL="12700" marR="261620">
              <a:lnSpc>
                <a:spcPct val="109500"/>
              </a:lnSpc>
              <a:spcBef>
                <a:spcPts val="525"/>
              </a:spcBef>
              <a:tabLst>
                <a:tab pos="1351280" algn="l"/>
                <a:tab pos="2860675" algn="l"/>
              </a:tabLst>
            </a:pP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Contains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050" b="1" spc="-10" dirty="0">
                <a:solidFill>
                  <a:srgbClr val="212121"/>
                </a:solidFill>
                <a:latin typeface="Trebuchet MS"/>
                <a:cs typeface="Trebuchet MS"/>
              </a:rPr>
              <a:t>templates</a:t>
            </a:r>
            <a:r>
              <a:rPr sz="2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050" b="1" spc="-35" dirty="0">
                <a:solidFill>
                  <a:srgbClr val="212121"/>
                </a:solidFill>
                <a:latin typeface="Trebuchet MS"/>
                <a:cs typeface="Trebuchet MS"/>
              </a:rPr>
              <a:t>and </a:t>
            </a:r>
            <a:r>
              <a:rPr sz="2050" b="1" spc="-10" dirty="0">
                <a:solidFill>
                  <a:srgbClr val="212121"/>
                </a:solidFill>
                <a:latin typeface="Trebuchet MS"/>
                <a:cs typeface="Trebuchet MS"/>
              </a:rPr>
              <a:t>constraints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91463" y="5318426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04136" y="5133240"/>
            <a:ext cx="4499610" cy="727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2200"/>
              </a:lnSpc>
              <a:spcBef>
                <a:spcPts val="90"/>
              </a:spcBef>
              <a:tabLst>
                <a:tab pos="1407795" algn="l"/>
                <a:tab pos="1951989" algn="l"/>
                <a:tab pos="2484120" algn="l"/>
                <a:tab pos="2994660" algn="l"/>
                <a:tab pos="4256405" algn="l"/>
              </a:tabLst>
            </a:pP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Enterprises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05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050" spc="-2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0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templates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050" spc="-50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0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60" dirty="0">
                <a:solidFill>
                  <a:srgbClr val="212121"/>
                </a:solidFill>
                <a:latin typeface="Yu Gothic"/>
                <a:cs typeface="Yu Gothic"/>
              </a:rPr>
              <a:t>their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own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constraints</a:t>
            </a:r>
            <a:endParaRPr sz="20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70250" y="234992"/>
            <a:ext cx="7550784" cy="5416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50" spc="-85" dirty="0"/>
              <a:t>Cloud</a:t>
            </a:r>
            <a:r>
              <a:rPr sz="3350" spc="-285" dirty="0"/>
              <a:t> </a:t>
            </a:r>
            <a:r>
              <a:rPr sz="3350" spc="-110" dirty="0"/>
              <a:t>Foundation</a:t>
            </a:r>
            <a:r>
              <a:rPr sz="3350" spc="-280" dirty="0"/>
              <a:t> </a:t>
            </a:r>
            <a:r>
              <a:rPr sz="3350" spc="-140" dirty="0"/>
              <a:t>Toolkit</a:t>
            </a:r>
            <a:r>
              <a:rPr sz="3350" spc="-280" dirty="0"/>
              <a:t> </a:t>
            </a:r>
            <a:r>
              <a:rPr sz="3350" spc="-155" dirty="0"/>
              <a:t>-</a:t>
            </a:r>
            <a:r>
              <a:rPr sz="3350" spc="-280" dirty="0"/>
              <a:t> </a:t>
            </a:r>
            <a:r>
              <a:rPr sz="3350" spc="-100" dirty="0"/>
              <a:t>Policy</a:t>
            </a:r>
            <a:r>
              <a:rPr sz="3350" spc="-280" dirty="0"/>
              <a:t> </a:t>
            </a:r>
            <a:r>
              <a:rPr sz="3350" spc="-80" dirty="0"/>
              <a:t>Library</a:t>
            </a:r>
            <a:endParaRPr sz="3350"/>
          </a:p>
        </p:txBody>
      </p:sp>
      <p:sp>
        <p:nvSpPr>
          <p:cNvPr id="13" name="object 13"/>
          <p:cNvSpPr txBox="1"/>
          <p:nvPr/>
        </p:nvSpPr>
        <p:spPr>
          <a:xfrm>
            <a:off x="1170250" y="914434"/>
            <a:ext cx="9234805" cy="309245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4405630" algn="just">
              <a:lnSpc>
                <a:spcPct val="108500"/>
              </a:lnSpc>
              <a:spcBef>
                <a:spcPts val="65"/>
              </a:spcBef>
            </a:pP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600" spc="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6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50" dirty="0">
                <a:solidFill>
                  <a:srgbClr val="212121"/>
                </a:solidFill>
                <a:latin typeface="Yu Gothic"/>
                <a:cs typeface="Yu Gothic"/>
              </a:rPr>
              <a:t>ensure</a:t>
            </a:r>
            <a:r>
              <a:rPr sz="2600" spc="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6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600" spc="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0" dirty="0">
                <a:solidFill>
                  <a:srgbClr val="212121"/>
                </a:solidFill>
                <a:latin typeface="Yu Gothic"/>
                <a:cs typeface="Yu Gothic"/>
              </a:rPr>
              <a:t>Google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600" spc="5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600" spc="5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600" spc="5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b="1" spc="-60" dirty="0">
                <a:solidFill>
                  <a:srgbClr val="212121"/>
                </a:solidFill>
                <a:latin typeface="Trebuchet MS"/>
                <a:cs typeface="Trebuchet MS"/>
              </a:rPr>
              <a:t>complaint </a:t>
            </a:r>
            <a:r>
              <a:rPr sz="2600" b="1" spc="-65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600" b="1" spc="-229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0" dirty="0">
                <a:solidFill>
                  <a:srgbClr val="212121"/>
                </a:solidFill>
                <a:latin typeface="Trebuchet MS"/>
                <a:cs typeface="Trebuchet MS"/>
              </a:rPr>
              <a:t>secure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260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760"/>
              </a:spcBef>
            </a:pP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Manual</a:t>
            </a:r>
            <a:r>
              <a:rPr sz="2600" b="1" spc="275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validation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600" spc="31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600" b="1" spc="-10" dirty="0">
                <a:solidFill>
                  <a:srgbClr val="212121"/>
                </a:solidFill>
                <a:latin typeface="Trebuchet MS"/>
                <a:cs typeface="Trebuchet MS"/>
              </a:rPr>
              <a:t>Impossible</a:t>
            </a:r>
            <a:endParaRPr sz="26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295"/>
              </a:spcBef>
            </a:pPr>
            <a:r>
              <a:rPr sz="2600" spc="-135" dirty="0">
                <a:solidFill>
                  <a:srgbClr val="212121"/>
                </a:solidFill>
                <a:latin typeface="Yu Gothic"/>
                <a:cs typeface="Yu Gothic"/>
              </a:rPr>
              <a:t>even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0" dirty="0">
                <a:solidFill>
                  <a:srgbClr val="212121"/>
                </a:solidFill>
                <a:latin typeface="Yu Gothic"/>
                <a:cs typeface="Yu Gothic"/>
              </a:rPr>
              <a:t>small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35" dirty="0">
                <a:solidFill>
                  <a:srgbClr val="212121"/>
                </a:solidFill>
                <a:latin typeface="Yu Gothic"/>
                <a:cs typeface="Yu Gothic"/>
              </a:rPr>
              <a:t>enterprises</a:t>
            </a:r>
            <a:endParaRPr sz="26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  <a:tabLst>
                <a:tab pos="6028690" algn="l"/>
              </a:tabLst>
            </a:pPr>
            <a:r>
              <a:rPr sz="2600" spc="-95" dirty="0">
                <a:solidFill>
                  <a:srgbClr val="212121"/>
                </a:solidFill>
                <a:latin typeface="Yu Gothic"/>
                <a:cs typeface="Yu Gothic"/>
              </a:rPr>
              <a:t>Solution:</a:t>
            </a:r>
            <a:r>
              <a:rPr sz="26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b="1" spc="-95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260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0" dirty="0">
                <a:solidFill>
                  <a:srgbClr val="212121"/>
                </a:solidFill>
                <a:latin typeface="Trebuchet MS"/>
                <a:cs typeface="Trebuchet MS"/>
              </a:rPr>
              <a:t>library</a:t>
            </a: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600" spc="-150" dirty="0">
                <a:solidFill>
                  <a:srgbClr val="212121"/>
                </a:solidFill>
                <a:latin typeface="Yu Gothic"/>
                <a:cs typeface="Yu Gothic"/>
              </a:rPr>
              <a:t>Source:</a:t>
            </a:r>
            <a:r>
              <a:rPr sz="260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50" b="1" i="1" spc="-85" dirty="0">
                <a:solidFill>
                  <a:srgbClr val="A52929"/>
                </a:solidFill>
                <a:latin typeface="Trebuchet MS"/>
                <a:cs typeface="Trebuchet MS"/>
                <a:hlinkClick r:id="rId5"/>
              </a:rPr>
              <a:t>https://cloud.google.com</a:t>
            </a:r>
            <a:endParaRPr sz="15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385"/>
              </a:spcBef>
              <a:tabLst>
                <a:tab pos="1274445" algn="l"/>
                <a:tab pos="3107055" algn="l"/>
                <a:tab pos="3543300" algn="l"/>
                <a:tab pos="4384675" algn="l"/>
              </a:tabLst>
            </a:pP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Allows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administrators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0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050" b="1" spc="-10" dirty="0">
                <a:solidFill>
                  <a:srgbClr val="212121"/>
                </a:solidFill>
                <a:latin typeface="Trebuchet MS"/>
                <a:cs typeface="Trebuchet MS"/>
              </a:rPr>
              <a:t>setup</a:t>
            </a:r>
            <a:r>
              <a:rPr sz="2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050" b="1" spc="-25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326</a:t>
            </a:fld>
            <a:endParaRPr spc="-25" dirty="0"/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0345" y="1143503"/>
            <a:ext cx="4631257" cy="180341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578043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153997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5034622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866705"/>
            <a:ext cx="5556250" cy="4766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27710">
              <a:lnSpc>
                <a:spcPct val="109500"/>
              </a:lnSpc>
              <a:spcBef>
                <a:spcPts val="95"/>
              </a:spcBef>
              <a:tabLst>
                <a:tab pos="1589405" algn="l"/>
                <a:tab pos="3122930" algn="l"/>
                <a:tab pos="3743325" algn="l"/>
                <a:tab pos="455866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Predefined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templates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customize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policies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Example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Constraint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727710">
              <a:lnSpc>
                <a:spcPct val="106700"/>
              </a:lnSpc>
              <a:spcBef>
                <a:spcPts val="110"/>
              </a:spcBef>
              <a:tabLst>
                <a:tab pos="4745355" algn="l"/>
              </a:tabLst>
            </a:pPr>
            <a:r>
              <a:rPr sz="1900" b="1" spc="-30" dirty="0">
                <a:solidFill>
                  <a:srgbClr val="212121"/>
                </a:solidFill>
                <a:latin typeface="Trebuchet MS"/>
                <a:cs typeface="Trebuchet MS"/>
              </a:rPr>
              <a:t>GCPAllowedResourceTypesConstraintV2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270" dirty="0">
                <a:solidFill>
                  <a:srgbClr val="212121"/>
                </a:solidFill>
                <a:latin typeface="Yu Gothic"/>
                <a:cs typeface="Yu Gothic"/>
              </a:rPr>
              <a:t>-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allowed/denied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1900">
              <a:latin typeface="Yu Gothic"/>
              <a:cs typeface="Yu Gothic"/>
            </a:endParaRPr>
          </a:p>
          <a:p>
            <a:pPr marL="346075" marR="727710">
              <a:lnSpc>
                <a:spcPct val="109500"/>
              </a:lnSpc>
              <a:spcBef>
                <a:spcPts val="459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Ancestries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defines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policy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validation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happen</a:t>
            </a:r>
            <a:endParaRPr sz="1900">
              <a:latin typeface="Yu Gothic"/>
              <a:cs typeface="Yu Gothic"/>
            </a:endParaRPr>
          </a:p>
          <a:p>
            <a:pPr marL="680085" marR="727710">
              <a:lnSpc>
                <a:spcPct val="109500"/>
              </a:lnSpc>
              <a:spcBef>
                <a:spcPts val="50"/>
              </a:spcBef>
            </a:pP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organizations/**</a:t>
            </a:r>
            <a:r>
              <a:rPr sz="1500" spc="-49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runs</a:t>
            </a:r>
            <a:r>
              <a:rPr sz="15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validations</a:t>
            </a:r>
            <a:r>
              <a:rPr sz="15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all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organizations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65"/>
              </a:spcBef>
            </a:pP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organizations/123/folders/456/projects/789</a:t>
            </a:r>
            <a:endParaRPr sz="1500">
              <a:latin typeface="Courier New"/>
              <a:cs typeface="Courier New"/>
            </a:endParaRPr>
          </a:p>
          <a:p>
            <a:pPr marL="680085" marR="727710">
              <a:lnSpc>
                <a:spcPct val="109500"/>
              </a:lnSpc>
              <a:tabLst>
                <a:tab pos="882015" algn="l"/>
                <a:tab pos="1889125" algn="l"/>
                <a:tab pos="2183765" algn="l"/>
                <a:tab pos="2896870" algn="l"/>
                <a:tab pos="3326129" algn="l"/>
                <a:tab pos="3620770" algn="l"/>
                <a:tab pos="4239260" algn="l"/>
                <a:tab pos="4667885" algn="l"/>
              </a:tabLst>
            </a:pP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Everything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789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folder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456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in organization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123</a:t>
            </a:r>
            <a:endParaRPr sz="1500">
              <a:latin typeface="Yu Gothic"/>
              <a:cs typeface="Yu Gothic"/>
            </a:endParaRPr>
          </a:p>
          <a:p>
            <a:pPr marL="12700" marR="727710">
              <a:lnSpc>
                <a:spcPct val="109500"/>
              </a:lnSpc>
              <a:spcBef>
                <a:spcPts val="434"/>
              </a:spcBef>
              <a:tabLst>
                <a:tab pos="1054100" algn="l"/>
                <a:tab pos="1801495" algn="l"/>
                <a:tab pos="3223260" algn="l"/>
                <a:tab pos="3869054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beta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terraform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vet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Enforce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compliance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CI/CD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pipeline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Policy</a:t>
            </a:r>
            <a:r>
              <a:rPr spc="-245" dirty="0"/>
              <a:t> </a:t>
            </a:r>
            <a:r>
              <a:rPr spc="-100" dirty="0"/>
              <a:t>Constraint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145" dirty="0"/>
              <a:t>Template</a:t>
            </a:r>
            <a:r>
              <a:rPr spc="-240" dirty="0"/>
              <a:t> </a:t>
            </a:r>
            <a:r>
              <a:rPr spc="-60" dirty="0"/>
              <a:t>Examples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327</a:t>
            </a:fld>
            <a:endParaRPr spc="-25" dirty="0"/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9625" y="1333811"/>
            <a:ext cx="3659915" cy="147514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1128151"/>
            <a:ext cx="108513" cy="1085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2480391"/>
            <a:ext cx="108513" cy="1085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5840" y="3406926"/>
            <a:ext cx="108513" cy="10851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291463" y="3815937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91463" y="4224947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91463" y="4976192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91463" y="5385203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914434"/>
            <a:ext cx="5835015" cy="466217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just">
              <a:lnSpc>
                <a:spcPct val="108500"/>
              </a:lnSpc>
              <a:spcBef>
                <a:spcPts val="65"/>
              </a:spcBef>
            </a:pP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600" b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set</a:t>
            </a:r>
            <a:r>
              <a:rPr sz="2600" b="1" spc="-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600" b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10" dirty="0">
                <a:solidFill>
                  <a:srgbClr val="212121"/>
                </a:solidFill>
                <a:latin typeface="Trebuchet MS"/>
                <a:cs typeface="Trebuchet MS"/>
              </a:rPr>
              <a:t>resources,</a:t>
            </a:r>
            <a:r>
              <a:rPr sz="2600" b="1" spc="-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80" dirty="0">
                <a:solidFill>
                  <a:srgbClr val="212121"/>
                </a:solidFill>
                <a:latin typeface="Trebuchet MS"/>
                <a:cs typeface="Trebuchet MS"/>
              </a:rPr>
              <a:t>templates,</a:t>
            </a:r>
            <a:r>
              <a:rPr sz="2600" b="1" spc="-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600" b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45" dirty="0">
                <a:solidFill>
                  <a:srgbClr val="212121"/>
                </a:solidFill>
                <a:latin typeface="Trebuchet MS"/>
                <a:cs typeface="Trebuchet MS"/>
              </a:rPr>
              <a:t>best </a:t>
            </a: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practices</a:t>
            </a:r>
            <a:r>
              <a:rPr sz="2600" b="1" spc="150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600" spc="19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help</a:t>
            </a:r>
            <a:r>
              <a:rPr sz="2600" spc="19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organizations</a:t>
            </a:r>
            <a:r>
              <a:rPr sz="2600" spc="19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600" spc="-75" dirty="0">
                <a:solidFill>
                  <a:srgbClr val="212121"/>
                </a:solidFill>
                <a:latin typeface="Yu Gothic"/>
                <a:cs typeface="Yu Gothic"/>
              </a:rPr>
              <a:t>get </a:t>
            </a:r>
            <a:r>
              <a:rPr sz="2600" spc="-125" dirty="0">
                <a:solidFill>
                  <a:srgbClr val="212121"/>
                </a:solidFill>
                <a:latin typeface="Yu Gothic"/>
                <a:cs typeface="Yu Gothic"/>
              </a:rPr>
              <a:t>started</a:t>
            </a:r>
            <a:r>
              <a:rPr sz="260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60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2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60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Cloud.</a:t>
            </a:r>
            <a:endParaRPr sz="260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760"/>
              </a:spcBef>
            </a:pP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600" spc="13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600" spc="13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600" spc="13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600" spc="-229" dirty="0">
                <a:solidFill>
                  <a:srgbClr val="212121"/>
                </a:solidFill>
                <a:latin typeface="Yu Gothic"/>
                <a:cs typeface="Yu Gothic"/>
              </a:rPr>
              <a:t>as-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600" spc="13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600" spc="13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quickly</a:t>
            </a:r>
            <a:r>
              <a:rPr sz="2600" spc="13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build</a:t>
            </a:r>
            <a:endParaRPr sz="260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295"/>
              </a:spcBef>
            </a:pPr>
            <a:r>
              <a:rPr sz="2600" b="1" spc="-130" dirty="0">
                <a:solidFill>
                  <a:srgbClr val="212121"/>
                </a:solidFill>
                <a:latin typeface="Trebuchet MS"/>
                <a:cs typeface="Trebuchet MS"/>
              </a:rPr>
              <a:t>enterprise</a:t>
            </a:r>
            <a:r>
              <a:rPr sz="260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25" dirty="0">
                <a:solidFill>
                  <a:srgbClr val="212121"/>
                </a:solidFill>
                <a:latin typeface="Trebuchet MS"/>
                <a:cs typeface="Trebuchet MS"/>
              </a:rPr>
              <a:t>ready</a:t>
            </a:r>
            <a:r>
              <a:rPr sz="260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0" dirty="0">
                <a:solidFill>
                  <a:srgbClr val="212121"/>
                </a:solidFill>
                <a:latin typeface="Trebuchet MS"/>
                <a:cs typeface="Trebuchet MS"/>
              </a:rPr>
              <a:t>foundation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600" spc="-35" dirty="0">
                <a:solidFill>
                  <a:srgbClr val="212121"/>
                </a:solidFill>
                <a:latin typeface="Yu Gothic"/>
                <a:cs typeface="Yu Gothic"/>
              </a:rPr>
              <a:t>Benefits:</a:t>
            </a:r>
            <a:endParaRPr sz="26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85"/>
              </a:spcBef>
            </a:pP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Accelerates</a:t>
            </a:r>
            <a:r>
              <a:rPr sz="20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b="1" spc="-5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0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45" dirty="0">
                <a:solidFill>
                  <a:srgbClr val="212121"/>
                </a:solidFill>
                <a:latin typeface="Trebuchet MS"/>
                <a:cs typeface="Trebuchet MS"/>
              </a:rPr>
              <a:t>adoption</a:t>
            </a:r>
            <a:r>
              <a:rPr sz="20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3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0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0" dirty="0">
                <a:solidFill>
                  <a:srgbClr val="212121"/>
                </a:solidFill>
                <a:latin typeface="Trebuchet MS"/>
                <a:cs typeface="Trebuchet MS"/>
              </a:rPr>
              <a:t>migration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.</a:t>
            </a:r>
            <a:endParaRPr sz="20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530"/>
              </a:spcBef>
            </a:pPr>
            <a:r>
              <a:rPr sz="2050" spc="-55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0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0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b="1" spc="-55" dirty="0">
                <a:solidFill>
                  <a:srgbClr val="212121"/>
                </a:solidFill>
                <a:latin typeface="Trebuchet MS"/>
                <a:cs typeface="Trebuchet MS"/>
              </a:rPr>
              <a:t>framework</a:t>
            </a:r>
            <a:r>
              <a:rPr sz="2050" b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0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secure</a:t>
            </a:r>
            <a:r>
              <a:rPr sz="20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050" spc="-40" dirty="0">
                <a:solidFill>
                  <a:srgbClr val="212121"/>
                </a:solidFill>
                <a:latin typeface="Yu Gothic"/>
                <a:cs typeface="Yu Gothic"/>
              </a:rPr>
              <a:t> compliant </a:t>
            </a:r>
            <a:r>
              <a:rPr sz="2050" spc="-5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0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operations.</a:t>
            </a:r>
            <a:endParaRPr sz="20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Reduces</a:t>
            </a:r>
            <a:r>
              <a:rPr sz="20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b="1" spc="-45" dirty="0">
                <a:solidFill>
                  <a:srgbClr val="212121"/>
                </a:solidFill>
                <a:latin typeface="Trebuchet MS"/>
                <a:cs typeface="Trebuchet MS"/>
              </a:rPr>
              <a:t>costs</a:t>
            </a:r>
            <a:r>
              <a:rPr sz="20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3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0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0" dirty="0">
                <a:solidFill>
                  <a:srgbClr val="212121"/>
                </a:solidFill>
                <a:latin typeface="Trebuchet MS"/>
                <a:cs typeface="Trebuchet MS"/>
              </a:rPr>
              <a:t>complexity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.</a:t>
            </a:r>
            <a:endParaRPr sz="20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2050" spc="-120" dirty="0">
                <a:solidFill>
                  <a:srgbClr val="212121"/>
                </a:solidFill>
                <a:latin typeface="Yu Gothic"/>
                <a:cs typeface="Yu Gothic"/>
              </a:rPr>
              <a:t>Increases</a:t>
            </a:r>
            <a:r>
              <a:rPr sz="20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b="1" spc="-75" dirty="0">
                <a:solidFill>
                  <a:srgbClr val="212121"/>
                </a:solidFill>
                <a:latin typeface="Trebuchet MS"/>
                <a:cs typeface="Trebuchet MS"/>
              </a:rPr>
              <a:t>productivity</a:t>
            </a:r>
            <a:r>
              <a:rPr sz="20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3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0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0" dirty="0">
                <a:solidFill>
                  <a:srgbClr val="212121"/>
                </a:solidFill>
                <a:latin typeface="Trebuchet MS"/>
                <a:cs typeface="Trebuchet MS"/>
              </a:rPr>
              <a:t>collaboration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.</a:t>
            </a:r>
            <a:endParaRPr sz="20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70250" y="234992"/>
            <a:ext cx="6150610" cy="5416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50" spc="-85" dirty="0"/>
              <a:t>Cloud</a:t>
            </a:r>
            <a:r>
              <a:rPr sz="3350" spc="-280" dirty="0"/>
              <a:t> </a:t>
            </a:r>
            <a:r>
              <a:rPr sz="3350" spc="-110" dirty="0"/>
              <a:t>Foundation</a:t>
            </a:r>
            <a:r>
              <a:rPr sz="3350" spc="-280" dirty="0"/>
              <a:t> </a:t>
            </a:r>
            <a:r>
              <a:rPr sz="3350" spc="-140" dirty="0"/>
              <a:t>Toolkit</a:t>
            </a:r>
            <a:r>
              <a:rPr sz="3350" spc="-280" dirty="0"/>
              <a:t> </a:t>
            </a:r>
            <a:r>
              <a:rPr sz="3350" spc="-155" dirty="0"/>
              <a:t>-</a:t>
            </a:r>
            <a:r>
              <a:rPr sz="3350" spc="-280" dirty="0"/>
              <a:t> </a:t>
            </a:r>
            <a:r>
              <a:rPr sz="3350" spc="-55" dirty="0"/>
              <a:t>Recap</a:t>
            </a:r>
            <a:endParaRPr sz="3350"/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328</a:t>
            </a:fld>
            <a:endParaRPr spc="-25" dirty="0"/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45" dirty="0"/>
              <a:t> </a:t>
            </a:r>
            <a:r>
              <a:rPr spc="-120" dirty="0"/>
              <a:t>Marketplace</a:t>
            </a:r>
            <a:r>
              <a:rPr spc="-240" dirty="0"/>
              <a:t> </a:t>
            </a:r>
            <a:r>
              <a:rPr spc="-90" dirty="0"/>
              <a:t>(Cloud</a:t>
            </a:r>
            <a:r>
              <a:rPr spc="-240" dirty="0"/>
              <a:t> </a:t>
            </a:r>
            <a:r>
              <a:rPr spc="-100" dirty="0"/>
              <a:t>Launcher)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846007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697417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304799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342362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3719945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1756" y="4037136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354329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663173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08655" y="500123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1756" y="5297558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5614750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470747" y="856689"/>
            <a:ext cx="9741535" cy="48971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Installing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software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might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involve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setting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resources: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Installing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WordPress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relational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simplify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custom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software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solutions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like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Wordpress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even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complex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things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like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SAP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HANA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suite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GCP?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Marketplace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Central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repo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easily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deployable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apps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datasets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Similar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Store/Play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Store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mobile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search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install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complete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stack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Commercial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solutions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SAP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HANA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500">
              <a:latin typeface="Yu Gothic"/>
              <a:cs typeface="Yu Gothic"/>
            </a:endParaRPr>
          </a:p>
          <a:p>
            <a:pPr marL="680085" marR="3808729">
              <a:lnSpc>
                <a:spcPct val="138800"/>
              </a:lnSpc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Open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Source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Packages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LAMP,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WordPress,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Cassandra,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Jenkins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etc 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Licenses: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BYOL,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Free,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Paid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35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Categories: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Datasets/Developer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tools/OS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selecting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solution,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see: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Components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Software,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infrastructure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needed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Approximate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price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329</a:t>
            </a:fld>
            <a:endParaRPr spc="-25" dirty="0"/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306760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6573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953665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270857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588049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92610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70250" y="866705"/>
            <a:ext cx="7838440" cy="4237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812800" algn="l"/>
                <a:tab pos="1742439" algn="l"/>
                <a:tab pos="2203450" algn="l"/>
                <a:tab pos="2762885" algn="l"/>
                <a:tab pos="3594100" algn="l"/>
                <a:tab pos="3987165" algn="l"/>
                <a:tab pos="5030470" algn="l"/>
                <a:tab pos="5513070" algn="l"/>
                <a:tab pos="5816600" algn="l"/>
                <a:tab pos="6971665" algn="l"/>
                <a:tab pos="7671434" algn="l"/>
              </a:tabLst>
            </a:pP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steps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setting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up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website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a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domain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name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(for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example,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in28minutes.com)?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Step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Buy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domain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name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in28minutes.com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(Domain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Registrar)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Step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II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website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content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(Website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Hosting)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Step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III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Route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in28minutes.com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my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website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server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(DNS)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DNS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=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Global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Domain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Name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System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(Step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III)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DNS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routing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website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(in28minutes.com)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Route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api.in28minutes.com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IP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Route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static.in28minutes.com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address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http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Route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email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  <a:hlinkClick r:id="rId5"/>
              </a:rPr>
              <a:t>(ranga@in28minutes.com)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mail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server(mail.in28minutes.com)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DNS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(container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records)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25" dirty="0"/>
              <a:t>DNS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330</a:t>
            </a:fld>
            <a:endParaRPr spc="-25" dirty="0"/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077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49708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88105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607258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95783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254163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59222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880200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546867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756652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70250" y="856689"/>
            <a:ext cx="8740140" cy="50393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i="1" spc="-6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i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dns</a:t>
            </a:r>
            <a:r>
              <a:rPr sz="2350" b="1" i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managed-zones</a:t>
            </a:r>
            <a:r>
              <a:rPr sz="2350" b="1" i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13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2350" i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10" dirty="0">
                <a:solidFill>
                  <a:srgbClr val="212121"/>
                </a:solidFill>
                <a:latin typeface="Trebuchet MS"/>
                <a:cs typeface="Trebuchet MS"/>
              </a:rPr>
              <a:t>ZONE_NAME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description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(REQUIRED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Short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description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managed-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zone)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64"/>
              </a:spcBef>
            </a:pP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dns-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name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(REQUIRED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DNS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name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suffix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created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zone)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254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visibility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(private/</a:t>
            </a:r>
            <a:r>
              <a:rPr sz="1900" b="1" spc="-35" dirty="0">
                <a:solidFill>
                  <a:srgbClr val="212121"/>
                </a:solidFill>
                <a:latin typeface="Trebuchet MS"/>
                <a:cs typeface="Trebuchet MS"/>
              </a:rPr>
              <a:t>public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</a:pP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networks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(List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networks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be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visible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visibility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is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[private])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Three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Steps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records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zone: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Transaction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dns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80" dirty="0">
                <a:solidFill>
                  <a:srgbClr val="212121"/>
                </a:solidFill>
                <a:latin typeface="Trebuchet MS"/>
                <a:cs typeface="Trebuchet MS"/>
              </a:rPr>
              <a:t>record-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sets</a:t>
            </a:r>
            <a:r>
              <a:rPr sz="150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transaction</a:t>
            </a:r>
            <a:r>
              <a:rPr sz="150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start</a:t>
            </a:r>
            <a:r>
              <a:rPr sz="15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Make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Changes</a:t>
            </a:r>
            <a:endParaRPr sz="1900">
              <a:latin typeface="Yu Gothic"/>
              <a:cs typeface="Yu Gothic"/>
            </a:endParaRPr>
          </a:p>
          <a:p>
            <a:pPr marL="680085" marR="5080">
              <a:lnSpc>
                <a:spcPts val="1970"/>
              </a:lnSpc>
              <a:spcBef>
                <a:spcPts val="80"/>
              </a:spcBef>
              <a:tabLst>
                <a:tab pos="1426845" algn="l"/>
                <a:tab pos="1920239" algn="l"/>
                <a:tab pos="3048000" algn="l"/>
                <a:tab pos="4197985" algn="l"/>
                <a:tab pos="4716145" algn="l"/>
                <a:tab pos="6478905" algn="l"/>
                <a:tab pos="6978015" algn="l"/>
                <a:tab pos="7654925" algn="l"/>
                <a:tab pos="8607425" algn="l"/>
              </a:tabLst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dns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b="1" spc="-80" dirty="0">
                <a:solidFill>
                  <a:srgbClr val="212121"/>
                </a:solidFill>
                <a:latin typeface="Trebuchet MS"/>
                <a:cs typeface="Trebuchet MS"/>
              </a:rPr>
              <a:t>record-</a:t>
            </a:r>
            <a:r>
              <a:rPr sz="1500" b="1" spc="-20" dirty="0">
                <a:solidFill>
                  <a:srgbClr val="212121"/>
                </a:solidFill>
                <a:latin typeface="Trebuchet MS"/>
                <a:cs typeface="Trebuchet MS"/>
              </a:rPr>
              <a:t>sets</a:t>
            </a:r>
            <a:r>
              <a:rPr sz="15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transaction</a:t>
            </a:r>
            <a:r>
              <a:rPr sz="15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add</a:t>
            </a:r>
            <a:r>
              <a:rPr sz="15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name=REC_NAME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ttl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A/CNAME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220" dirty="0">
                <a:solidFill>
                  <a:srgbClr val="212121"/>
                </a:solidFill>
                <a:latin typeface="Yu Gothic"/>
                <a:cs typeface="Yu Gothic"/>
              </a:rPr>
              <a:t>-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zone=ZONE_NAME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0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End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Transaction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dns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80" dirty="0">
                <a:solidFill>
                  <a:srgbClr val="212121"/>
                </a:solidFill>
                <a:latin typeface="Trebuchet MS"/>
                <a:cs typeface="Trebuchet MS"/>
              </a:rPr>
              <a:t>record-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sets</a:t>
            </a:r>
            <a:r>
              <a:rPr sz="150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transaction</a:t>
            </a:r>
            <a:r>
              <a:rPr sz="150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execute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61810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5" dirty="0"/>
              <a:t> </a:t>
            </a:r>
            <a:r>
              <a:rPr dirty="0"/>
              <a:t>DNS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45" dirty="0"/>
              <a:t>CLI</a:t>
            </a: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331</a:t>
            </a:fld>
            <a:endParaRPr spc="-25" dirty="0"/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33818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351010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918617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235809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615605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9661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700736"/>
            <a:ext cx="91818" cy="918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5159830"/>
            <a:ext cx="91818" cy="918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5610576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70250" y="856689"/>
            <a:ext cx="8740140" cy="49606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Dataflow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difficult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describe: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look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few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example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pipelines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build: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Pub/Sub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Dataflow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(Streaming)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Pub/Sub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Dataflow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(Streaming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files)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530"/>
              </a:spcBef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Cloud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5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500" spc="2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Dataflow</a:t>
            </a:r>
            <a:r>
              <a:rPr sz="1500" spc="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500" spc="2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Bigtable/CloudSpanner/Datastore/BigQuery</a:t>
            </a:r>
            <a:r>
              <a:rPr sz="15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(Batch</a:t>
            </a:r>
            <a:r>
              <a:rPr sz="15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5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into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databases)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Bulk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compress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(Batch)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Convert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formats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between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Avro,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Parquet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csv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(Batch)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Streaming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Batch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Usecases</a:t>
            </a:r>
            <a:endParaRPr sz="2350">
              <a:latin typeface="Trebuchet MS"/>
              <a:cs typeface="Trebuchet MS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Realtime</a:t>
            </a:r>
            <a:r>
              <a:rPr sz="19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Fraud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Detection,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Sensor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Processing,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Processing,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Batch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Processing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(Load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data,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convert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formats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pre-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built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templates</a:t>
            </a:r>
            <a:endParaRPr sz="2350">
              <a:latin typeface="Yu Gothic"/>
              <a:cs typeface="Yu Gothic"/>
            </a:endParaRPr>
          </a:p>
          <a:p>
            <a:pPr marL="12700" marR="1934845">
              <a:lnSpc>
                <a:spcPct val="125899"/>
              </a:lnSpc>
              <a:spcBef>
                <a:spcPts val="65"/>
              </a:spcBef>
            </a:pP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Apache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Beam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(supports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Java,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Python,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...)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Serverless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Autoscaling)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70" dirty="0"/>
              <a:t>Dataflow</a:t>
            </a: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332</a:t>
            </a:fld>
            <a:endParaRPr spc="-25" dirty="0"/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0546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480391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83097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20659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623952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9745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400238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74247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5168177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551875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8740140" cy="514858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Spark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Hadoop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Variety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jobs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supported: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Spark,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PySpark,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SparkR,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Hive,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SparkSQL,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Pig,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Hadoop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Perform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complex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batch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processing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Multiple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Modes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Node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70" dirty="0">
                <a:solidFill>
                  <a:srgbClr val="212121"/>
                </a:solidFill>
                <a:latin typeface="Yu Gothic"/>
                <a:cs typeface="Yu Gothic"/>
              </a:rPr>
              <a:t>/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Standard/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(3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masters)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regular/preemptible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5" dirty="0">
                <a:solidFill>
                  <a:srgbClr val="212121"/>
                </a:solidFill>
                <a:latin typeface="Yu Gothic"/>
                <a:cs typeface="Yu Gothic"/>
              </a:rPr>
              <a:t>VMs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case: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Move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Hadoop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Spark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clusters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Perform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learning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AI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development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open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source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frameworks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Dataproc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analysis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platform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(ALTERNATIVE)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queries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Petabytes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Dataproc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more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than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queries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(Example: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Complex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batch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processing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Learning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AI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workloads)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75" dirty="0"/>
              <a:t>Dataproc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333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30850</Words>
  <Application>Microsoft Office PowerPoint</Application>
  <PresentationFormat>Widescreen</PresentationFormat>
  <Paragraphs>3712</Paragraphs>
  <Slides>333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333</vt:i4>
      </vt:variant>
    </vt:vector>
  </HeadingPairs>
  <TitlesOfParts>
    <vt:vector size="339" baseType="lpstr">
      <vt:lpstr>Yu Gothic</vt:lpstr>
      <vt:lpstr>Courier New</vt:lpstr>
      <vt:lpstr>Lucida Sans Unicode</vt:lpstr>
      <vt:lpstr>Times New Roman</vt:lpstr>
      <vt:lpstr>Trebuchet MS</vt:lpstr>
      <vt:lpstr>Office Theme</vt:lpstr>
      <vt:lpstr>GCP - Getting started</vt:lpstr>
      <vt:lpstr>Before the Cloud - Example 1 - Online Shopping App</vt:lpstr>
      <vt:lpstr>Before the Cloud - Example 2 - Startup</vt:lpstr>
      <vt:lpstr>Before the Cloud - Challenges</vt:lpstr>
      <vt:lpstr>Silver Lining in the Cloud</vt:lpstr>
      <vt:lpstr>Cloud - Advantages</vt:lpstr>
      <vt:lpstr>Google Cloud Platform (GCP)</vt:lpstr>
      <vt:lpstr>Best path to learn GCP!</vt:lpstr>
      <vt:lpstr>PowerPoint Presentation</vt:lpstr>
      <vt:lpstr>Regions and Zones</vt:lpstr>
      <vt:lpstr>Regions and Zones</vt:lpstr>
      <vt:lpstr>Multiple data centers</vt:lpstr>
      <vt:lpstr>Multiple regions</vt:lpstr>
      <vt:lpstr>Regions</vt:lpstr>
      <vt:lpstr>Zones</vt:lpstr>
      <vt:lpstr>Regions and Zones examples</vt:lpstr>
      <vt:lpstr>Compute</vt:lpstr>
      <vt:lpstr>Compute Engine Fundamentals</vt:lpstr>
      <vt:lpstr>Google Compute Engine (GCE)</vt:lpstr>
      <vt:lpstr>Compute Engine - Features</vt:lpstr>
      <vt:lpstr>Compute Engine Hands-on</vt:lpstr>
      <vt:lpstr>Compute Engine Machine Family</vt:lpstr>
      <vt:lpstr>Compute Engine Machine Types</vt:lpstr>
      <vt:lpstr>Image</vt:lpstr>
      <vt:lpstr>Compute Engine Hands-on : Setting up a HTTP server</vt:lpstr>
      <vt:lpstr>Internal and External IP Addresses</vt:lpstr>
      <vt:lpstr>Static IP Addresses</vt:lpstr>
      <vt:lpstr>Static IP Addresses - Remember</vt:lpstr>
      <vt:lpstr>Simplify VM HTTP server setup</vt:lpstr>
      <vt:lpstr>Bootstrapping with Startup script</vt:lpstr>
      <vt:lpstr>Instance templates</vt:lpstr>
      <vt:lpstr>Reducing Launch Time with Custom Image</vt:lpstr>
      <vt:lpstr>Sustained use discounts</vt:lpstr>
      <vt:lpstr>Committed use discounts</vt:lpstr>
      <vt:lpstr>Preemptible VM</vt:lpstr>
      <vt:lpstr>Spot VMs</vt:lpstr>
      <vt:lpstr>Google Compute Engine - Billing</vt:lpstr>
      <vt:lpstr>Compute Engine : Live Migration &amp; Availability Policy</vt:lpstr>
      <vt:lpstr>Compute Engine Features: Custom Machine Types</vt:lpstr>
      <vt:lpstr>Compute Engine Features: GPUs</vt:lpstr>
      <vt:lpstr>Virtual Machine - Remember</vt:lpstr>
      <vt:lpstr>Virtual Machine - Best Practices</vt:lpstr>
      <vt:lpstr>Compute Engine Scenarios</vt:lpstr>
      <vt:lpstr>Quick Review</vt:lpstr>
      <vt:lpstr>Quick Review</vt:lpstr>
      <vt:lpstr>Gcloud</vt:lpstr>
      <vt:lpstr>Gcloud</vt:lpstr>
      <vt:lpstr>Gcloud - Getting Started</vt:lpstr>
      <vt:lpstr>gcloud config set</vt:lpstr>
      <vt:lpstr>Playing with gcloud config set</vt:lpstr>
      <vt:lpstr>Gcloud - Managing Multiple Configurations</vt:lpstr>
      <vt:lpstr>gcloud command structure - Playing with Services</vt:lpstr>
      <vt:lpstr>gcloud compute instances create</vt:lpstr>
      <vt:lpstr>Compute Instances - Default Region and Zone</vt:lpstr>
      <vt:lpstr>List and Describe commands</vt:lpstr>
      <vt:lpstr>Playing with Compute Instances - gcloud</vt:lpstr>
      <vt:lpstr>Playing with Instance Templates</vt:lpstr>
      <vt:lpstr>Instance Groups</vt:lpstr>
      <vt:lpstr>Instance Groups</vt:lpstr>
      <vt:lpstr>Managed Instance Groups (MIG)</vt:lpstr>
      <vt:lpstr>Creating Managed Instance Group (MIG)</vt:lpstr>
      <vt:lpstr>Updating a Managed Instance Group (MIG)</vt:lpstr>
      <vt:lpstr>Playing with Managed Instance Groups - Command Line</vt:lpstr>
      <vt:lpstr>Managed Instance Group - Command Line - Making Updates</vt:lpstr>
      <vt:lpstr>Managed Instance Groups - Command Line - Rolling Actions</vt:lpstr>
      <vt:lpstr>Playing with Managed Instance Groups - Scenarios</vt:lpstr>
      <vt:lpstr>Instance Group Scenarios</vt:lpstr>
      <vt:lpstr>Cloud Load Balancing</vt:lpstr>
      <vt:lpstr>Cloud Load Balancing</vt:lpstr>
      <vt:lpstr>HTTP vs HTTPS vs TCP vs TLS vs UDP</vt:lpstr>
      <vt:lpstr>HTTP vs HTTPS vs TCP vs TLS vs UDP</vt:lpstr>
      <vt:lpstr>HTTP vs HTTPS vs TCP vs TLS vs UDP</vt:lpstr>
      <vt:lpstr>Cloud Load Balancing - Terminology</vt:lpstr>
      <vt:lpstr>Load Balancing - SSL/TLS Termination/Offloading</vt:lpstr>
      <vt:lpstr>Cloud Load Balancing - Choosing Load Balancer</vt:lpstr>
      <vt:lpstr>Cloud Load Balancing - Features</vt:lpstr>
      <vt:lpstr>Load Balancer Scenarios</vt:lpstr>
      <vt:lpstr>Managed Services</vt:lpstr>
      <vt:lpstr>Managed Services</vt:lpstr>
      <vt:lpstr>IAAS (Infrastructure as a Service)</vt:lpstr>
      <vt:lpstr>PAAS (Platform as a Service)</vt:lpstr>
      <vt:lpstr>Microservices</vt:lpstr>
      <vt:lpstr>Containers - Docker</vt:lpstr>
      <vt:lpstr>Container Orchestration</vt:lpstr>
      <vt:lpstr>Serverless</vt:lpstr>
      <vt:lpstr>Serverless - My Perspective!</vt:lpstr>
      <vt:lpstr>GCP Managed Services for Compute</vt:lpstr>
      <vt:lpstr>App Engine</vt:lpstr>
      <vt:lpstr>App Engine</vt:lpstr>
      <vt:lpstr>Compute Engine vs App Engine</vt:lpstr>
      <vt:lpstr>App Engine environments</vt:lpstr>
      <vt:lpstr>App Engine - Application Component Hierarchy</vt:lpstr>
      <vt:lpstr>App Engine - Comparison</vt:lpstr>
      <vt:lpstr>App Engine - Scaling Instances</vt:lpstr>
      <vt:lpstr>PowerPoint Presentation</vt:lpstr>
      <vt:lpstr>app.yaml Reference</vt:lpstr>
      <vt:lpstr>AppEngine - Request Routing</vt:lpstr>
      <vt:lpstr>AppEngine - Deploying new versions without downtime</vt:lpstr>
      <vt:lpstr>How do you split traffic between multiple versions?</vt:lpstr>
      <vt:lpstr>Playing with App Engine</vt:lpstr>
      <vt:lpstr>Playing with App Engine Instances</vt:lpstr>
      <vt:lpstr>Playing with App Engine Services and Versions</vt:lpstr>
      <vt:lpstr>App Engine - Cron Job</vt:lpstr>
      <vt:lpstr>Others Important App Engine yaml files</vt:lpstr>
      <vt:lpstr>App Engine - Remember</vt:lpstr>
      <vt:lpstr>App Engine - Scenarios</vt:lpstr>
      <vt:lpstr>Google Kubernetes Engine (GKE)</vt:lpstr>
      <vt:lpstr>Kubernetes</vt:lpstr>
      <vt:lpstr>Google Kubernetes Engine (GKE)</vt:lpstr>
      <vt:lpstr>Kubernetes - A Microservice Journey - Getting Started</vt:lpstr>
      <vt:lpstr>Kubernetes - A Microservice Journey - Deploy Microservice</vt:lpstr>
      <vt:lpstr>Kubernetes - A Microservice Journey - Auto Scaling and ..</vt:lpstr>
      <vt:lpstr>Kubernetes Deployment YAML - Deployment</vt:lpstr>
      <vt:lpstr>Kubernetes Deployment YAML - Service</vt:lpstr>
      <vt:lpstr>Kubernetes - A Microservice Journey - The End!</vt:lpstr>
      <vt:lpstr>Google Kubernetes Engine (GKE) Cluster</vt:lpstr>
      <vt:lpstr>GKE Cluster Types</vt:lpstr>
      <vt:lpstr>Kubernetes - Pods</vt:lpstr>
      <vt:lpstr>Kubernetes - Deployment vs Replica Set</vt:lpstr>
      <vt:lpstr>Kubernetes - Service</vt:lpstr>
      <vt:lpstr>Container Registry - Image Repository</vt:lpstr>
      <vt:lpstr>GKE - Remember</vt:lpstr>
      <vt:lpstr>GKE - Cluster Management - Command Line</vt:lpstr>
      <vt:lpstr>GKE - Workload Management - Command Line</vt:lpstr>
      <vt:lpstr>Google Kubernetes Engine - Scenarios - 1</vt:lpstr>
      <vt:lpstr>Google Kubernetes Engine - Scenarios - 2</vt:lpstr>
      <vt:lpstr>Google Cloud Functions</vt:lpstr>
      <vt:lpstr>Cloud Functions</vt:lpstr>
      <vt:lpstr>Cloud Functions - Concepts</vt:lpstr>
      <vt:lpstr>Example Cloud Function - HTTP - Node.js</vt:lpstr>
      <vt:lpstr>Example Cloud Function - Pub/Sub - Node.js</vt:lpstr>
      <vt:lpstr>Cloud Functions - Remember</vt:lpstr>
      <vt:lpstr>Cloud Run &amp; Cloud Run for Anthos</vt:lpstr>
      <vt:lpstr>Cloud Run - From the Command Line</vt:lpstr>
      <vt:lpstr>Cloud Functions - Second Generation - What's New?</vt:lpstr>
      <vt:lpstr>Cloud Functions - Scaling and Concurrency</vt:lpstr>
      <vt:lpstr>Cloud Functions - Deployment using gcloud</vt:lpstr>
      <vt:lpstr>Cloud Functions - Deployment using gcloud - 2</vt:lpstr>
      <vt:lpstr>Encryption</vt:lpstr>
      <vt:lpstr>Data States</vt:lpstr>
      <vt:lpstr>Encryption</vt:lpstr>
      <vt:lpstr>Symmetric Key Encryption</vt:lpstr>
      <vt:lpstr>Asymmetric Key Encryption</vt:lpstr>
      <vt:lpstr>Cloud KMS</vt:lpstr>
      <vt:lpstr>Storage</vt:lpstr>
      <vt:lpstr>Storage Types - Block Storage and File Storage</vt:lpstr>
      <vt:lpstr>Block Storage</vt:lpstr>
      <vt:lpstr>File Storage</vt:lpstr>
      <vt:lpstr>GCP - Block Storage and File Storage</vt:lpstr>
      <vt:lpstr>GCP - Block Storage</vt:lpstr>
      <vt:lpstr>Local SSDs</vt:lpstr>
      <vt:lpstr>Local SSDs - Advantages and Disadvantages</vt:lpstr>
      <vt:lpstr>Persistent Disks (PD)</vt:lpstr>
      <vt:lpstr>Persistent Disks vs Local SSDs</vt:lpstr>
      <vt:lpstr>Persistent Disks - Standard vs Balanced vs SSD</vt:lpstr>
      <vt:lpstr>Persistent Disks - Snapshots</vt:lpstr>
      <vt:lpstr>Persistent Disks - Snapshots - Recommendations</vt:lpstr>
      <vt:lpstr>Playing with Machine Images</vt:lpstr>
      <vt:lpstr>Let's Compare</vt:lpstr>
      <vt:lpstr>Playing with Disks - Command Line</vt:lpstr>
      <vt:lpstr>Playing with Images - Command Line</vt:lpstr>
      <vt:lpstr>Playing with Machine Images - Command Line</vt:lpstr>
      <vt:lpstr>Storage - Scenarios - Persistent Disks</vt:lpstr>
      <vt:lpstr>Cloud Filestore</vt:lpstr>
      <vt:lpstr>Review - Global, Regional and Zonal Resources</vt:lpstr>
      <vt:lpstr>Storage - Scenarios</vt:lpstr>
      <vt:lpstr>Object Storage - Cloud Storage</vt:lpstr>
      <vt:lpstr>Cloud Storage</vt:lpstr>
      <vt:lpstr>Cloud Storage - Objects and Buckets</vt:lpstr>
      <vt:lpstr>Cloud Storage - Storage Classes - Introduction</vt:lpstr>
      <vt:lpstr>Cloud Storage - Storage Classes - Comparison</vt:lpstr>
      <vt:lpstr>Features across Storage Classes</vt:lpstr>
      <vt:lpstr>Cloud Storage - Uploading and Downloading Objects</vt:lpstr>
      <vt:lpstr>Object Versioning</vt:lpstr>
      <vt:lpstr>Object Lifecycle Management</vt:lpstr>
      <vt:lpstr>Object Lifecycle Management - Example Rule</vt:lpstr>
      <vt:lpstr>Cloud Storage - Encryption</vt:lpstr>
      <vt:lpstr>Cloud Storage - Scenarios</vt:lpstr>
      <vt:lpstr>Cloud Storage - Command Line - gsutil - 1</vt:lpstr>
      <vt:lpstr>Cloud Storage - Command Line - gsutil - 2</vt:lpstr>
      <vt:lpstr>Cloud Storage - Command Line - gcloud storage</vt:lpstr>
      <vt:lpstr>PowerPoint Presentation</vt:lpstr>
      <vt:lpstr>Typical identity management in the cloud</vt:lpstr>
      <vt:lpstr>Cloud Identity and Access Management (IAM)</vt:lpstr>
      <vt:lpstr>Cloud IAM Example</vt:lpstr>
      <vt:lpstr>IAM - Roles</vt:lpstr>
      <vt:lpstr>IAM - Predefined Roles - Example Permissions</vt:lpstr>
      <vt:lpstr>IAM - Most Important Concepts - A Review</vt:lpstr>
      <vt:lpstr>IAM policy</vt:lpstr>
      <vt:lpstr>IAM policy - Example</vt:lpstr>
      <vt:lpstr>Playing With IAM</vt:lpstr>
      <vt:lpstr>Service Accounts</vt:lpstr>
      <vt:lpstr>Use case 1 : VM &lt;-&gt; Cloud Storage</vt:lpstr>
      <vt:lpstr>Use case 2 : On Prem &lt;-&gt; Cloud Storage (Long Lived)</vt:lpstr>
      <vt:lpstr>Use case 3 : On Prem &lt;-&gt; Google Cloud APIs (Short Lived)</vt:lpstr>
      <vt:lpstr>Service Account Use case Scenarios</vt:lpstr>
      <vt:lpstr>ACL (Access Control Lists)</vt:lpstr>
      <vt:lpstr>Access Control - Overview</vt:lpstr>
      <vt:lpstr>Cloud Storage - Signed URL</vt:lpstr>
      <vt:lpstr>Cloud Storage - Static website</vt:lpstr>
      <vt:lpstr>Database Fundamentals</vt:lpstr>
      <vt:lpstr>Databases Primer</vt:lpstr>
      <vt:lpstr>Database - Getting Started</vt:lpstr>
      <vt:lpstr>Database - Snapshots</vt:lpstr>
      <vt:lpstr>Database - Transaction Logs</vt:lpstr>
      <vt:lpstr>Database - Add a Standby</vt:lpstr>
      <vt:lpstr>Availability and Durability</vt:lpstr>
      <vt:lpstr>Availability</vt:lpstr>
      <vt:lpstr>Durability</vt:lpstr>
      <vt:lpstr>Increasing Availability and Durability of Databases</vt:lpstr>
      <vt:lpstr>Database Terminology : RTO and RPO</vt:lpstr>
      <vt:lpstr>Question - RTO and RPO</vt:lpstr>
      <vt:lpstr>Achieving RTO and RPO - Failover Examples</vt:lpstr>
      <vt:lpstr>(New Scenario) Reporting and Analytics Applications</vt:lpstr>
      <vt:lpstr>Database - Read Replicas</vt:lpstr>
      <vt:lpstr>Consistency</vt:lpstr>
      <vt:lpstr>Database Categories</vt:lpstr>
      <vt:lpstr>Relational Databases</vt:lpstr>
      <vt:lpstr>Relational Database - OLTP (Online Transaction Processing)</vt:lpstr>
      <vt:lpstr>Relational Database - OLAP (Online Analytics Processing)</vt:lpstr>
      <vt:lpstr>Relational Databases - OLAP vs OLTP</vt:lpstr>
      <vt:lpstr>NoSQL Databases</vt:lpstr>
      <vt:lpstr>PowerPoint Presentation</vt:lpstr>
      <vt:lpstr>NoSQL Databases</vt:lpstr>
      <vt:lpstr>In-memory Databases</vt:lpstr>
      <vt:lpstr>Databases - Summary</vt:lpstr>
      <vt:lpstr>Databases - Scenarios</vt:lpstr>
      <vt:lpstr>Cloud SQL</vt:lpstr>
      <vt:lpstr>Cloud SQL - Features</vt:lpstr>
      <vt:lpstr>Cloud SQL - High Availability</vt:lpstr>
      <vt:lpstr>Cloud Spanner</vt:lpstr>
      <vt:lpstr>Cloud Datastore and Firestore</vt:lpstr>
      <vt:lpstr>Cloud BigTable</vt:lpstr>
      <vt:lpstr>Cloud BigTable - Wide Column Database</vt:lpstr>
      <vt:lpstr>Memorystore</vt:lpstr>
      <vt:lpstr>BigQuery - Datawarehouse</vt:lpstr>
      <vt:lpstr>BigQuery - Accessing and Querying Data</vt:lpstr>
      <vt:lpstr>Relational Database - Import and Export</vt:lpstr>
      <vt:lpstr>NoSQL Databases - Import and Export</vt:lpstr>
      <vt:lpstr>Cloud SQL - CommandLine</vt:lpstr>
      <vt:lpstr>BigQuery - Command Line</vt:lpstr>
      <vt:lpstr>cbt tool - Cloud Bigtable - CommandLine</vt:lpstr>
      <vt:lpstr>Databases - Remember</vt:lpstr>
      <vt:lpstr>Decoupling Applications with Pub/Sub</vt:lpstr>
      <vt:lpstr>Need for Asynchronous Communication</vt:lpstr>
      <vt:lpstr>Synchronous Communication</vt:lpstr>
      <vt:lpstr>Asynchronous Communication - Decoupled</vt:lpstr>
      <vt:lpstr>Pub/Sub</vt:lpstr>
      <vt:lpstr>Pub/Sub - How does it work?</vt:lpstr>
      <vt:lpstr>Pub/Sub - Getting Ready with Topic and Subscriptions</vt:lpstr>
      <vt:lpstr>Pub/Sub - Sending and Receiving a Message</vt:lpstr>
      <vt:lpstr>Managing Pub/Sub</vt:lpstr>
      <vt:lpstr>Networking</vt:lpstr>
      <vt:lpstr>Need for Google Cloud VPC</vt:lpstr>
      <vt:lpstr>Google Cloud VPC (Virtual Private Cloud)</vt:lpstr>
      <vt:lpstr>Need for VPC Subnets</vt:lpstr>
      <vt:lpstr>VPC Subnets</vt:lpstr>
      <vt:lpstr>Creating VPCs and Subnets</vt:lpstr>
      <vt:lpstr>CIDR (Classless Inter-Domain Routing) Blocks</vt:lpstr>
      <vt:lpstr>CIDR Exercises</vt:lpstr>
      <vt:lpstr>Examples of Recommended CIDR Blocks - VPC Subnets</vt:lpstr>
      <vt:lpstr>Firewall Rules</vt:lpstr>
      <vt:lpstr>Firewall Rules - Ingress and Egress Rules</vt:lpstr>
      <vt:lpstr>Shared VPC</vt:lpstr>
      <vt:lpstr>VPC Peering</vt:lpstr>
      <vt:lpstr>Hybrid Cloud</vt:lpstr>
      <vt:lpstr>Cloud VPN</vt:lpstr>
      <vt:lpstr>Cloud Interconnect</vt:lpstr>
      <vt:lpstr>Direct Peering</vt:lpstr>
      <vt:lpstr>Cloud Operations</vt:lpstr>
      <vt:lpstr>Cloud Monitoring</vt:lpstr>
      <vt:lpstr>Cloud Monitoring - Workspace</vt:lpstr>
      <vt:lpstr>Cloud Monitoring - Virtual Machines</vt:lpstr>
      <vt:lpstr>Cloud Logging</vt:lpstr>
      <vt:lpstr>Cloud Logging - Collection</vt:lpstr>
      <vt:lpstr>Cloud Logging - Audit and Security Logs</vt:lpstr>
      <vt:lpstr>Cloud Logging - Audit Logs</vt:lpstr>
      <vt:lpstr>Cloud Audit Logs</vt:lpstr>
      <vt:lpstr>Cloud Logging - Controlling &amp; Routing</vt:lpstr>
      <vt:lpstr>Cloud Logging - Export</vt:lpstr>
      <vt:lpstr>Cloud Logging - Export - Use Cases</vt:lpstr>
      <vt:lpstr>Cloud Trace</vt:lpstr>
      <vt:lpstr>Cloud Debugger</vt:lpstr>
      <vt:lpstr>Cloud Profiler</vt:lpstr>
      <vt:lpstr>Error Reporting</vt:lpstr>
      <vt:lpstr>Cloud Operations Scenarios</vt:lpstr>
      <vt:lpstr>Organizing GCP Resources</vt:lpstr>
      <vt:lpstr>Resource Hierarchy in GCP</vt:lpstr>
      <vt:lpstr>Resource Hierarchy - Recommendations for Enterprises</vt:lpstr>
      <vt:lpstr>Billing Accounts</vt:lpstr>
      <vt:lpstr>Managing Billing - Budget, Alerts and Exports</vt:lpstr>
      <vt:lpstr>IAM Best Practices</vt:lpstr>
      <vt:lpstr>User Identity Management in Google Cloud</vt:lpstr>
      <vt:lpstr>Corporate Directory Federation</vt:lpstr>
      <vt:lpstr>IAM Members/Identities</vt:lpstr>
      <vt:lpstr>IAM Members/Identities - Use Cases</vt:lpstr>
      <vt:lpstr>Organization Policy Service</vt:lpstr>
      <vt:lpstr>Resource Hierarchy &amp; IAM Policy</vt:lpstr>
      <vt:lpstr>Organization, Billing and Project Roles</vt:lpstr>
      <vt:lpstr>Billing Roles - Quick Review</vt:lpstr>
      <vt:lpstr>Organization, Billing and Project Roles - Scenarios</vt:lpstr>
      <vt:lpstr>Compute Engine Roles</vt:lpstr>
      <vt:lpstr>App Engine Roles</vt:lpstr>
      <vt:lpstr>Compute Engine and App Engine Roles - Few Scenarios</vt:lpstr>
      <vt:lpstr>Google Kubernetes Engine (GKE) IAM Roles</vt:lpstr>
      <vt:lpstr>Cloud Storage - Roles</vt:lpstr>
      <vt:lpstr>Cloud BigQuery Roles</vt:lpstr>
      <vt:lpstr>Logging IAM Roles and Service Account Roles</vt:lpstr>
      <vt:lpstr>Other Important IAM Roles</vt:lpstr>
      <vt:lpstr>SSHing into Linux VMs - Options</vt:lpstr>
      <vt:lpstr>SSHing into Linux VMs - Details</vt:lpstr>
      <vt:lpstr>IAM - Scenarios</vt:lpstr>
      <vt:lpstr>Other Google Cloud Platform Services</vt:lpstr>
      <vt:lpstr>Pricing Calculator</vt:lpstr>
      <vt:lpstr>Google Cloud Deployment Manager - Introduction</vt:lpstr>
      <vt:lpstr>Google Cloud Deployment Manager - Advantages</vt:lpstr>
      <vt:lpstr>Google Cloud Deployment Manager</vt:lpstr>
      <vt:lpstr>Cloud Deployment Manager - Example</vt:lpstr>
      <vt:lpstr>Cloud Deployment Manager - Terminology</vt:lpstr>
      <vt:lpstr>Getting Started with Cloud Foundation Toolkit</vt:lpstr>
      <vt:lpstr>Exploring Cloud Foundation Toolkit Components</vt:lpstr>
      <vt:lpstr>Cloud Foundation Toolkit - Reusable Terraform Modules</vt:lpstr>
      <vt:lpstr>Cloud Foundation Toolkit - End to End Samples</vt:lpstr>
      <vt:lpstr>Cloud Foundation Toolkit - Config Connector</vt:lpstr>
      <vt:lpstr>Config Connector - Example Manifest Files</vt:lpstr>
      <vt:lpstr>Cloud Foundation Toolkit - Policy Library</vt:lpstr>
      <vt:lpstr>Policy Constraint - Template Examples</vt:lpstr>
      <vt:lpstr>Cloud Foundation Toolkit - Recap</vt:lpstr>
      <vt:lpstr>Cloud Marketplace (Cloud Launcher)</vt:lpstr>
      <vt:lpstr>Cloud DNS</vt:lpstr>
      <vt:lpstr>Cloud DNS - CLI</vt:lpstr>
      <vt:lpstr>Cloud Dataflow</vt:lpstr>
      <vt:lpstr>Cloud Dataproc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Vikash Verma</cp:lastModifiedBy>
  <cp:revision>2</cp:revision>
  <dcterms:created xsi:type="dcterms:W3CDTF">2026-04-07T01:06:00Z</dcterms:created>
  <dcterms:modified xsi:type="dcterms:W3CDTF">2026-04-07T01:15:29Z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2024-09-05T00:00:00Z</vt:filetime>
  </property>
  <property fmtid="{D5CDD505-2E9C-101B-9397-08002B2CF9AE}" pid="3" name="Creator">
    <vt:lpwstr>Decktape</vt:lpwstr>
  </property>
  <property fmtid="{D5CDD505-2E9C-101B-9397-08002B2CF9AE}" pid="4" name="LastSaved">
    <vt:filetime>2026-04-07T00:00:00Z</vt:filetime>
  </property>
  <property fmtid="{D5CDD505-2E9C-101B-9397-08002B2CF9AE}" pid="5" name="Producer">
    <vt:lpwstr>macOS Version 14.6.1 (Build 23G93) Quartz PDFContext, AppendMode 1.1</vt:lpwstr>
  </property>
</Properties>
</file>
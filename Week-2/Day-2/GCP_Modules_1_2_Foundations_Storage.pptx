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83" r:id="rId5"/>
    <p:sldId id="284" r:id="rId6"/>
    <p:sldId id="259" r:id="rId7"/>
    <p:sldId id="260" r:id="rId8"/>
    <p:sldId id="261" r:id="rId9"/>
    <p:sldId id="262" r:id="rId10"/>
    <p:sldId id="263" r:id="rId11"/>
    <p:sldId id="285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FC5890-79A8-4F6E-A4E5-CDE90F72786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A758E64-87EE-4540-8483-777743681947}">
      <dgm:prSet/>
      <dgm:spPr/>
      <dgm:t>
        <a:bodyPr/>
        <a:lstStyle/>
        <a:p>
          <a:r>
            <a:rPr lang="en-US"/>
            <a:t>- Bronze (Raw)</a:t>
          </a:r>
        </a:p>
      </dgm:t>
    </dgm:pt>
    <dgm:pt modelId="{71DA6C45-16A6-422D-A4A0-9F59B267C95F}" type="parTrans" cxnId="{889286DB-4A4B-425F-BEDD-14CF4809CCA9}">
      <dgm:prSet/>
      <dgm:spPr/>
      <dgm:t>
        <a:bodyPr/>
        <a:lstStyle/>
        <a:p>
          <a:endParaRPr lang="en-US"/>
        </a:p>
      </dgm:t>
    </dgm:pt>
    <dgm:pt modelId="{4E288120-5CD7-4EEB-B0BB-E583A268804B}" type="sibTrans" cxnId="{889286DB-4A4B-425F-BEDD-14CF4809CCA9}">
      <dgm:prSet/>
      <dgm:spPr/>
      <dgm:t>
        <a:bodyPr/>
        <a:lstStyle/>
        <a:p>
          <a:endParaRPr lang="en-US"/>
        </a:p>
      </dgm:t>
    </dgm:pt>
    <dgm:pt modelId="{50E332CE-B5F7-436F-8844-181BC805F365}">
      <dgm:prSet/>
      <dgm:spPr/>
      <dgm:t>
        <a:bodyPr/>
        <a:lstStyle/>
        <a:p>
          <a:r>
            <a:rPr lang="en-US"/>
            <a:t>- Silver (Cleaned)</a:t>
          </a:r>
        </a:p>
      </dgm:t>
    </dgm:pt>
    <dgm:pt modelId="{D4F3612E-4CEC-4D1A-88CD-1862D700E534}" type="parTrans" cxnId="{2201BC8E-40C3-4076-9BF4-F322A62B3979}">
      <dgm:prSet/>
      <dgm:spPr/>
      <dgm:t>
        <a:bodyPr/>
        <a:lstStyle/>
        <a:p>
          <a:endParaRPr lang="en-US"/>
        </a:p>
      </dgm:t>
    </dgm:pt>
    <dgm:pt modelId="{410F5871-7CAF-4856-AA44-FCBD23E91797}" type="sibTrans" cxnId="{2201BC8E-40C3-4076-9BF4-F322A62B3979}">
      <dgm:prSet/>
      <dgm:spPr/>
      <dgm:t>
        <a:bodyPr/>
        <a:lstStyle/>
        <a:p>
          <a:endParaRPr lang="en-US"/>
        </a:p>
      </dgm:t>
    </dgm:pt>
    <dgm:pt modelId="{11433721-A9D7-4FCC-964E-3917FD2CC1D0}">
      <dgm:prSet/>
      <dgm:spPr/>
      <dgm:t>
        <a:bodyPr/>
        <a:lstStyle/>
        <a:p>
          <a:r>
            <a:rPr lang="en-US"/>
            <a:t>- Gold (Aggregated)</a:t>
          </a:r>
        </a:p>
      </dgm:t>
    </dgm:pt>
    <dgm:pt modelId="{1564FED4-1EEB-4951-9E5D-B15575AE6902}" type="parTrans" cxnId="{4068752F-4ED7-4328-AAF5-5EA7A5779800}">
      <dgm:prSet/>
      <dgm:spPr/>
      <dgm:t>
        <a:bodyPr/>
        <a:lstStyle/>
        <a:p>
          <a:endParaRPr lang="en-US"/>
        </a:p>
      </dgm:t>
    </dgm:pt>
    <dgm:pt modelId="{34C0F33C-0A1F-45E5-99A6-F06CBFAAC2F7}" type="sibTrans" cxnId="{4068752F-4ED7-4328-AAF5-5EA7A5779800}">
      <dgm:prSet/>
      <dgm:spPr/>
      <dgm:t>
        <a:bodyPr/>
        <a:lstStyle/>
        <a:p>
          <a:endParaRPr lang="en-US"/>
        </a:p>
      </dgm:t>
    </dgm:pt>
    <dgm:pt modelId="{05B6FA74-A147-4728-A602-FD104DBB66AA}">
      <dgm:prSet/>
      <dgm:spPr/>
      <dgm:t>
        <a:bodyPr/>
        <a:lstStyle/>
        <a:p>
          <a:r>
            <a:rPr lang="en-US"/>
            <a:t>- Partitioning strategies</a:t>
          </a:r>
        </a:p>
      </dgm:t>
    </dgm:pt>
    <dgm:pt modelId="{E412A2BA-9D0A-4824-B604-35ACD2D9992C}" type="parTrans" cxnId="{33FA33A8-35AE-4FAD-B0D6-6B2DB6B70E94}">
      <dgm:prSet/>
      <dgm:spPr/>
      <dgm:t>
        <a:bodyPr/>
        <a:lstStyle/>
        <a:p>
          <a:endParaRPr lang="en-US"/>
        </a:p>
      </dgm:t>
    </dgm:pt>
    <dgm:pt modelId="{446EA8AF-814D-40C7-8F93-D9CEB477312E}" type="sibTrans" cxnId="{33FA33A8-35AE-4FAD-B0D6-6B2DB6B70E94}">
      <dgm:prSet/>
      <dgm:spPr/>
      <dgm:t>
        <a:bodyPr/>
        <a:lstStyle/>
        <a:p>
          <a:endParaRPr lang="en-US"/>
        </a:p>
      </dgm:t>
    </dgm:pt>
    <dgm:pt modelId="{D5496AA6-0B4F-403A-9CCF-A4745682B4C9}" type="pres">
      <dgm:prSet presAssocID="{28FC5890-79A8-4F6E-A4E5-CDE90F727860}" presName="root" presStyleCnt="0">
        <dgm:presLayoutVars>
          <dgm:dir/>
          <dgm:resizeHandles val="exact"/>
        </dgm:presLayoutVars>
      </dgm:prSet>
      <dgm:spPr/>
    </dgm:pt>
    <dgm:pt modelId="{10F060F5-E4B3-467A-A83C-C01878B39006}" type="pres">
      <dgm:prSet presAssocID="{9A758E64-87EE-4540-8483-777743681947}" presName="compNode" presStyleCnt="0"/>
      <dgm:spPr/>
    </dgm:pt>
    <dgm:pt modelId="{5FC0F731-9F0E-4E81-A3E1-A4B2A9D913B8}" type="pres">
      <dgm:prSet presAssocID="{9A758E64-87EE-4540-8483-777743681947}" presName="bgRect" presStyleLbl="bgShp" presStyleIdx="0" presStyleCnt="4"/>
      <dgm:spPr/>
    </dgm:pt>
    <dgm:pt modelId="{53947018-0630-4186-B040-D39CA7D28867}" type="pres">
      <dgm:prSet presAssocID="{9A758E64-87EE-4540-8483-777743681947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ymnast - Floor Routine"/>
        </a:ext>
      </dgm:extLst>
    </dgm:pt>
    <dgm:pt modelId="{CD5DC60C-4F34-4EED-A727-77CC4E5FED4D}" type="pres">
      <dgm:prSet presAssocID="{9A758E64-87EE-4540-8483-777743681947}" presName="spaceRect" presStyleCnt="0"/>
      <dgm:spPr/>
    </dgm:pt>
    <dgm:pt modelId="{5298E35F-7A68-4FFB-82F2-45FA4F410142}" type="pres">
      <dgm:prSet presAssocID="{9A758E64-87EE-4540-8483-777743681947}" presName="parTx" presStyleLbl="revTx" presStyleIdx="0" presStyleCnt="4">
        <dgm:presLayoutVars>
          <dgm:chMax val="0"/>
          <dgm:chPref val="0"/>
        </dgm:presLayoutVars>
      </dgm:prSet>
      <dgm:spPr/>
    </dgm:pt>
    <dgm:pt modelId="{68EBBE29-98CA-4EC3-8BCC-2083E44DA830}" type="pres">
      <dgm:prSet presAssocID="{4E288120-5CD7-4EEB-B0BB-E583A268804B}" presName="sibTrans" presStyleCnt="0"/>
      <dgm:spPr/>
    </dgm:pt>
    <dgm:pt modelId="{0CCEDEA1-AFF4-41F8-97D6-FA22FF3645A8}" type="pres">
      <dgm:prSet presAssocID="{50E332CE-B5F7-436F-8844-181BC805F365}" presName="compNode" presStyleCnt="0"/>
      <dgm:spPr/>
    </dgm:pt>
    <dgm:pt modelId="{C9C2650F-CBC9-416E-9682-0BBF85C59378}" type="pres">
      <dgm:prSet presAssocID="{50E332CE-B5F7-436F-8844-181BC805F365}" presName="bgRect" presStyleLbl="bgShp" presStyleIdx="1" presStyleCnt="4"/>
      <dgm:spPr/>
    </dgm:pt>
    <dgm:pt modelId="{514F6704-EA7B-40D1-8E48-3F18365212BE}" type="pres">
      <dgm:prSet presAssocID="{50E332CE-B5F7-436F-8844-181BC805F36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9F252463-808E-413C-820E-74A30C6CA2AC}" type="pres">
      <dgm:prSet presAssocID="{50E332CE-B5F7-436F-8844-181BC805F365}" presName="spaceRect" presStyleCnt="0"/>
      <dgm:spPr/>
    </dgm:pt>
    <dgm:pt modelId="{B0FA6435-05EA-4F71-9085-2D8EF6D95C6D}" type="pres">
      <dgm:prSet presAssocID="{50E332CE-B5F7-436F-8844-181BC805F365}" presName="parTx" presStyleLbl="revTx" presStyleIdx="1" presStyleCnt="4">
        <dgm:presLayoutVars>
          <dgm:chMax val="0"/>
          <dgm:chPref val="0"/>
        </dgm:presLayoutVars>
      </dgm:prSet>
      <dgm:spPr/>
    </dgm:pt>
    <dgm:pt modelId="{63A7F967-EA3E-4B73-A07E-813714531D1E}" type="pres">
      <dgm:prSet presAssocID="{410F5871-7CAF-4856-AA44-FCBD23E91797}" presName="sibTrans" presStyleCnt="0"/>
      <dgm:spPr/>
    </dgm:pt>
    <dgm:pt modelId="{B28C9D83-1B37-41EC-BF36-3C6F3FBCDD7D}" type="pres">
      <dgm:prSet presAssocID="{11433721-A9D7-4FCC-964E-3917FD2CC1D0}" presName="compNode" presStyleCnt="0"/>
      <dgm:spPr/>
    </dgm:pt>
    <dgm:pt modelId="{F5FCE45B-A645-45D3-AD1C-419EE6ABF2C8}" type="pres">
      <dgm:prSet presAssocID="{11433721-A9D7-4FCC-964E-3917FD2CC1D0}" presName="bgRect" presStyleLbl="bgShp" presStyleIdx="2" presStyleCnt="4"/>
      <dgm:spPr/>
    </dgm:pt>
    <dgm:pt modelId="{8F0891C7-49CB-4427-A768-B431CE32903B}" type="pres">
      <dgm:prSet presAssocID="{11433721-A9D7-4FCC-964E-3917FD2CC1D0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old bars"/>
        </a:ext>
      </dgm:extLst>
    </dgm:pt>
    <dgm:pt modelId="{4D1EB2E4-A56B-4608-92CF-0CC30F70D357}" type="pres">
      <dgm:prSet presAssocID="{11433721-A9D7-4FCC-964E-3917FD2CC1D0}" presName="spaceRect" presStyleCnt="0"/>
      <dgm:spPr/>
    </dgm:pt>
    <dgm:pt modelId="{76C8EBD4-0077-4DC3-A51F-BF90AD9C6962}" type="pres">
      <dgm:prSet presAssocID="{11433721-A9D7-4FCC-964E-3917FD2CC1D0}" presName="parTx" presStyleLbl="revTx" presStyleIdx="2" presStyleCnt="4">
        <dgm:presLayoutVars>
          <dgm:chMax val="0"/>
          <dgm:chPref val="0"/>
        </dgm:presLayoutVars>
      </dgm:prSet>
      <dgm:spPr/>
    </dgm:pt>
    <dgm:pt modelId="{6C654265-A3E6-41AC-8BBB-2DD11361FEF4}" type="pres">
      <dgm:prSet presAssocID="{34C0F33C-0A1F-45E5-99A6-F06CBFAAC2F7}" presName="sibTrans" presStyleCnt="0"/>
      <dgm:spPr/>
    </dgm:pt>
    <dgm:pt modelId="{0E277E36-5339-4CB4-9F6A-ADF733BD5588}" type="pres">
      <dgm:prSet presAssocID="{05B6FA74-A147-4728-A602-FD104DBB66AA}" presName="compNode" presStyleCnt="0"/>
      <dgm:spPr/>
    </dgm:pt>
    <dgm:pt modelId="{F8559E91-5C4D-4E47-90D7-C6F3D0A888BE}" type="pres">
      <dgm:prSet presAssocID="{05B6FA74-A147-4728-A602-FD104DBB66AA}" presName="bgRect" presStyleLbl="bgShp" presStyleIdx="3" presStyleCnt="4"/>
      <dgm:spPr/>
    </dgm:pt>
    <dgm:pt modelId="{7DE57BDE-0A86-4536-A474-CA89F3D123DD}" type="pres">
      <dgm:prSet presAssocID="{05B6FA74-A147-4728-A602-FD104DBB66A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00FB5DB8-92A2-4A9A-868B-56FFD0BD0B2D}" type="pres">
      <dgm:prSet presAssocID="{05B6FA74-A147-4728-A602-FD104DBB66AA}" presName="spaceRect" presStyleCnt="0"/>
      <dgm:spPr/>
    </dgm:pt>
    <dgm:pt modelId="{ED76A7DD-F5FA-49B9-B74F-E54E3197E7AA}" type="pres">
      <dgm:prSet presAssocID="{05B6FA74-A147-4728-A602-FD104DBB66A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A311525-77E0-407F-8452-E166127FE449}" type="presOf" srcId="{28FC5890-79A8-4F6E-A4E5-CDE90F727860}" destId="{D5496AA6-0B4F-403A-9CCF-A4745682B4C9}" srcOrd="0" destOrd="0" presId="urn:microsoft.com/office/officeart/2018/2/layout/IconVerticalSolidList"/>
    <dgm:cxn modelId="{0C51FC29-0559-4C31-976B-6BE2AE384A65}" type="presOf" srcId="{50E332CE-B5F7-436F-8844-181BC805F365}" destId="{B0FA6435-05EA-4F71-9085-2D8EF6D95C6D}" srcOrd="0" destOrd="0" presId="urn:microsoft.com/office/officeart/2018/2/layout/IconVerticalSolidList"/>
    <dgm:cxn modelId="{4068752F-4ED7-4328-AAF5-5EA7A5779800}" srcId="{28FC5890-79A8-4F6E-A4E5-CDE90F727860}" destId="{11433721-A9D7-4FCC-964E-3917FD2CC1D0}" srcOrd="2" destOrd="0" parTransId="{1564FED4-1EEB-4951-9E5D-B15575AE6902}" sibTransId="{34C0F33C-0A1F-45E5-99A6-F06CBFAAC2F7}"/>
    <dgm:cxn modelId="{D6812965-E08B-4B1F-8CC4-FB6ED2C5FC80}" type="presOf" srcId="{11433721-A9D7-4FCC-964E-3917FD2CC1D0}" destId="{76C8EBD4-0077-4DC3-A51F-BF90AD9C6962}" srcOrd="0" destOrd="0" presId="urn:microsoft.com/office/officeart/2018/2/layout/IconVerticalSolidList"/>
    <dgm:cxn modelId="{2201BC8E-40C3-4076-9BF4-F322A62B3979}" srcId="{28FC5890-79A8-4F6E-A4E5-CDE90F727860}" destId="{50E332CE-B5F7-436F-8844-181BC805F365}" srcOrd="1" destOrd="0" parTransId="{D4F3612E-4CEC-4D1A-88CD-1862D700E534}" sibTransId="{410F5871-7CAF-4856-AA44-FCBD23E91797}"/>
    <dgm:cxn modelId="{33FA33A8-35AE-4FAD-B0D6-6B2DB6B70E94}" srcId="{28FC5890-79A8-4F6E-A4E5-CDE90F727860}" destId="{05B6FA74-A147-4728-A602-FD104DBB66AA}" srcOrd="3" destOrd="0" parTransId="{E412A2BA-9D0A-4824-B604-35ACD2D9992C}" sibTransId="{446EA8AF-814D-40C7-8F93-D9CEB477312E}"/>
    <dgm:cxn modelId="{889286DB-4A4B-425F-BEDD-14CF4809CCA9}" srcId="{28FC5890-79A8-4F6E-A4E5-CDE90F727860}" destId="{9A758E64-87EE-4540-8483-777743681947}" srcOrd="0" destOrd="0" parTransId="{71DA6C45-16A6-422D-A4A0-9F59B267C95F}" sibTransId="{4E288120-5CD7-4EEB-B0BB-E583A268804B}"/>
    <dgm:cxn modelId="{9253CFE0-5531-48E3-814B-DC1C45CEAAE6}" type="presOf" srcId="{9A758E64-87EE-4540-8483-777743681947}" destId="{5298E35F-7A68-4FFB-82F2-45FA4F410142}" srcOrd="0" destOrd="0" presId="urn:microsoft.com/office/officeart/2018/2/layout/IconVerticalSolidList"/>
    <dgm:cxn modelId="{813BC8F7-3028-4A63-8084-5C221281923B}" type="presOf" srcId="{05B6FA74-A147-4728-A602-FD104DBB66AA}" destId="{ED76A7DD-F5FA-49B9-B74F-E54E3197E7AA}" srcOrd="0" destOrd="0" presId="urn:microsoft.com/office/officeart/2018/2/layout/IconVerticalSolidList"/>
    <dgm:cxn modelId="{C881EB93-FA55-46BD-8B0F-B02FF3A65614}" type="presParOf" srcId="{D5496AA6-0B4F-403A-9CCF-A4745682B4C9}" destId="{10F060F5-E4B3-467A-A83C-C01878B39006}" srcOrd="0" destOrd="0" presId="urn:microsoft.com/office/officeart/2018/2/layout/IconVerticalSolidList"/>
    <dgm:cxn modelId="{BCE67A1A-8EA5-4673-A513-CAA562FD2CA9}" type="presParOf" srcId="{10F060F5-E4B3-467A-A83C-C01878B39006}" destId="{5FC0F731-9F0E-4E81-A3E1-A4B2A9D913B8}" srcOrd="0" destOrd="0" presId="urn:microsoft.com/office/officeart/2018/2/layout/IconVerticalSolidList"/>
    <dgm:cxn modelId="{23DE148C-6F11-4AB5-8964-E92DEC3D531D}" type="presParOf" srcId="{10F060F5-E4B3-467A-A83C-C01878B39006}" destId="{53947018-0630-4186-B040-D39CA7D28867}" srcOrd="1" destOrd="0" presId="urn:microsoft.com/office/officeart/2018/2/layout/IconVerticalSolidList"/>
    <dgm:cxn modelId="{BAA76DD4-121C-44D7-B4DE-A6FA60ACE5B0}" type="presParOf" srcId="{10F060F5-E4B3-467A-A83C-C01878B39006}" destId="{CD5DC60C-4F34-4EED-A727-77CC4E5FED4D}" srcOrd="2" destOrd="0" presId="urn:microsoft.com/office/officeart/2018/2/layout/IconVerticalSolidList"/>
    <dgm:cxn modelId="{FA253D05-C32D-4C54-A095-2B5441FE227B}" type="presParOf" srcId="{10F060F5-E4B3-467A-A83C-C01878B39006}" destId="{5298E35F-7A68-4FFB-82F2-45FA4F410142}" srcOrd="3" destOrd="0" presId="urn:microsoft.com/office/officeart/2018/2/layout/IconVerticalSolidList"/>
    <dgm:cxn modelId="{7F3CEDB2-5173-41F1-90B4-C83C9C050446}" type="presParOf" srcId="{D5496AA6-0B4F-403A-9CCF-A4745682B4C9}" destId="{68EBBE29-98CA-4EC3-8BCC-2083E44DA830}" srcOrd="1" destOrd="0" presId="urn:microsoft.com/office/officeart/2018/2/layout/IconVerticalSolidList"/>
    <dgm:cxn modelId="{90FC8520-C1CB-49F3-B46F-1362A426D88D}" type="presParOf" srcId="{D5496AA6-0B4F-403A-9CCF-A4745682B4C9}" destId="{0CCEDEA1-AFF4-41F8-97D6-FA22FF3645A8}" srcOrd="2" destOrd="0" presId="urn:microsoft.com/office/officeart/2018/2/layout/IconVerticalSolidList"/>
    <dgm:cxn modelId="{FB5FF95D-9D7C-4B6A-95AC-858165CE5CDF}" type="presParOf" srcId="{0CCEDEA1-AFF4-41F8-97D6-FA22FF3645A8}" destId="{C9C2650F-CBC9-416E-9682-0BBF85C59378}" srcOrd="0" destOrd="0" presId="urn:microsoft.com/office/officeart/2018/2/layout/IconVerticalSolidList"/>
    <dgm:cxn modelId="{2B3D0091-03D0-4575-978F-F91B0E6B050E}" type="presParOf" srcId="{0CCEDEA1-AFF4-41F8-97D6-FA22FF3645A8}" destId="{514F6704-EA7B-40D1-8E48-3F18365212BE}" srcOrd="1" destOrd="0" presId="urn:microsoft.com/office/officeart/2018/2/layout/IconVerticalSolidList"/>
    <dgm:cxn modelId="{E794B570-4216-4412-9F89-F19C89CD7D68}" type="presParOf" srcId="{0CCEDEA1-AFF4-41F8-97D6-FA22FF3645A8}" destId="{9F252463-808E-413C-820E-74A30C6CA2AC}" srcOrd="2" destOrd="0" presId="urn:microsoft.com/office/officeart/2018/2/layout/IconVerticalSolidList"/>
    <dgm:cxn modelId="{11E5DE8E-440A-4378-8875-DD203054AE5D}" type="presParOf" srcId="{0CCEDEA1-AFF4-41F8-97D6-FA22FF3645A8}" destId="{B0FA6435-05EA-4F71-9085-2D8EF6D95C6D}" srcOrd="3" destOrd="0" presId="urn:microsoft.com/office/officeart/2018/2/layout/IconVerticalSolidList"/>
    <dgm:cxn modelId="{4DD1C54B-2FF0-44C9-9624-3F46C03A7CD1}" type="presParOf" srcId="{D5496AA6-0B4F-403A-9CCF-A4745682B4C9}" destId="{63A7F967-EA3E-4B73-A07E-813714531D1E}" srcOrd="3" destOrd="0" presId="urn:microsoft.com/office/officeart/2018/2/layout/IconVerticalSolidList"/>
    <dgm:cxn modelId="{543AD1CE-5B5C-406A-98AC-B1DB3D2DB9B2}" type="presParOf" srcId="{D5496AA6-0B4F-403A-9CCF-A4745682B4C9}" destId="{B28C9D83-1B37-41EC-BF36-3C6F3FBCDD7D}" srcOrd="4" destOrd="0" presId="urn:microsoft.com/office/officeart/2018/2/layout/IconVerticalSolidList"/>
    <dgm:cxn modelId="{8D28EAB0-3946-4785-866E-15CCD6720549}" type="presParOf" srcId="{B28C9D83-1B37-41EC-BF36-3C6F3FBCDD7D}" destId="{F5FCE45B-A645-45D3-AD1C-419EE6ABF2C8}" srcOrd="0" destOrd="0" presId="urn:microsoft.com/office/officeart/2018/2/layout/IconVerticalSolidList"/>
    <dgm:cxn modelId="{437895DC-1917-4A7E-BBCD-BCA35CAEBFBC}" type="presParOf" srcId="{B28C9D83-1B37-41EC-BF36-3C6F3FBCDD7D}" destId="{8F0891C7-49CB-4427-A768-B431CE32903B}" srcOrd="1" destOrd="0" presId="urn:microsoft.com/office/officeart/2018/2/layout/IconVerticalSolidList"/>
    <dgm:cxn modelId="{36B02BDF-D1BF-4A99-9299-7178A0F28308}" type="presParOf" srcId="{B28C9D83-1B37-41EC-BF36-3C6F3FBCDD7D}" destId="{4D1EB2E4-A56B-4608-92CF-0CC30F70D357}" srcOrd="2" destOrd="0" presId="urn:microsoft.com/office/officeart/2018/2/layout/IconVerticalSolidList"/>
    <dgm:cxn modelId="{B81FBCCD-72E4-4C13-A355-3EF403D85AF1}" type="presParOf" srcId="{B28C9D83-1B37-41EC-BF36-3C6F3FBCDD7D}" destId="{76C8EBD4-0077-4DC3-A51F-BF90AD9C6962}" srcOrd="3" destOrd="0" presId="urn:microsoft.com/office/officeart/2018/2/layout/IconVerticalSolidList"/>
    <dgm:cxn modelId="{626AC9C2-3FF3-4A2A-AB42-A0996E299598}" type="presParOf" srcId="{D5496AA6-0B4F-403A-9CCF-A4745682B4C9}" destId="{6C654265-A3E6-41AC-8BBB-2DD11361FEF4}" srcOrd="5" destOrd="0" presId="urn:microsoft.com/office/officeart/2018/2/layout/IconVerticalSolidList"/>
    <dgm:cxn modelId="{F22EB163-59CE-4EEF-A0B8-63870E48A4B1}" type="presParOf" srcId="{D5496AA6-0B4F-403A-9CCF-A4745682B4C9}" destId="{0E277E36-5339-4CB4-9F6A-ADF733BD5588}" srcOrd="6" destOrd="0" presId="urn:microsoft.com/office/officeart/2018/2/layout/IconVerticalSolidList"/>
    <dgm:cxn modelId="{890B5D03-ECC4-469B-AC43-C14007F775A5}" type="presParOf" srcId="{0E277E36-5339-4CB4-9F6A-ADF733BD5588}" destId="{F8559E91-5C4D-4E47-90D7-C6F3D0A888BE}" srcOrd="0" destOrd="0" presId="urn:microsoft.com/office/officeart/2018/2/layout/IconVerticalSolidList"/>
    <dgm:cxn modelId="{0ECFB005-44DB-47CF-B490-2BC26E54DE9F}" type="presParOf" srcId="{0E277E36-5339-4CB4-9F6A-ADF733BD5588}" destId="{7DE57BDE-0A86-4536-A474-CA89F3D123DD}" srcOrd="1" destOrd="0" presId="urn:microsoft.com/office/officeart/2018/2/layout/IconVerticalSolidList"/>
    <dgm:cxn modelId="{E35E21DB-A1D8-45F9-8ED3-356CC69C8A70}" type="presParOf" srcId="{0E277E36-5339-4CB4-9F6A-ADF733BD5588}" destId="{00FB5DB8-92A2-4A9A-868B-56FFD0BD0B2D}" srcOrd="2" destOrd="0" presId="urn:microsoft.com/office/officeart/2018/2/layout/IconVerticalSolidList"/>
    <dgm:cxn modelId="{69D22048-BB94-46CB-AA9F-4DC9B44B16E0}" type="presParOf" srcId="{0E277E36-5339-4CB4-9F6A-ADF733BD5588}" destId="{ED76A7DD-F5FA-49B9-B74F-E54E3197E7A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C0F731-9F0E-4E81-A3E1-A4B2A9D913B8}">
      <dsp:nvSpPr>
        <dsp:cNvPr id="0" name=""/>
        <dsp:cNvSpPr/>
      </dsp:nvSpPr>
      <dsp:spPr>
        <a:xfrm>
          <a:off x="0" y="2042"/>
          <a:ext cx="4231481" cy="10351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947018-0630-4186-B040-D39CA7D28867}">
      <dsp:nvSpPr>
        <dsp:cNvPr id="0" name=""/>
        <dsp:cNvSpPr/>
      </dsp:nvSpPr>
      <dsp:spPr>
        <a:xfrm>
          <a:off x="313145" y="234960"/>
          <a:ext cx="569355" cy="5693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98E35F-7A68-4FFB-82F2-45FA4F410142}">
      <dsp:nvSpPr>
        <dsp:cNvPr id="0" name=""/>
        <dsp:cNvSpPr/>
      </dsp:nvSpPr>
      <dsp:spPr>
        <a:xfrm>
          <a:off x="1195647" y="2042"/>
          <a:ext cx="3035833" cy="1035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8" tIns="109558" rIns="109558" bIns="10955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Bronze (Raw)</a:t>
          </a:r>
        </a:p>
      </dsp:txBody>
      <dsp:txXfrm>
        <a:off x="1195647" y="2042"/>
        <a:ext cx="3035833" cy="1035192"/>
      </dsp:txXfrm>
    </dsp:sp>
    <dsp:sp modelId="{C9C2650F-CBC9-416E-9682-0BBF85C59378}">
      <dsp:nvSpPr>
        <dsp:cNvPr id="0" name=""/>
        <dsp:cNvSpPr/>
      </dsp:nvSpPr>
      <dsp:spPr>
        <a:xfrm>
          <a:off x="0" y="1296033"/>
          <a:ext cx="4231481" cy="10351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4F6704-EA7B-40D1-8E48-3F18365212BE}">
      <dsp:nvSpPr>
        <dsp:cNvPr id="0" name=""/>
        <dsp:cNvSpPr/>
      </dsp:nvSpPr>
      <dsp:spPr>
        <a:xfrm>
          <a:off x="313145" y="1528951"/>
          <a:ext cx="569355" cy="5693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FA6435-05EA-4F71-9085-2D8EF6D95C6D}">
      <dsp:nvSpPr>
        <dsp:cNvPr id="0" name=""/>
        <dsp:cNvSpPr/>
      </dsp:nvSpPr>
      <dsp:spPr>
        <a:xfrm>
          <a:off x="1195647" y="1296033"/>
          <a:ext cx="3035833" cy="1035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8" tIns="109558" rIns="109558" bIns="10955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Silver (Cleaned)</a:t>
          </a:r>
        </a:p>
      </dsp:txBody>
      <dsp:txXfrm>
        <a:off x="1195647" y="1296033"/>
        <a:ext cx="3035833" cy="1035192"/>
      </dsp:txXfrm>
    </dsp:sp>
    <dsp:sp modelId="{F5FCE45B-A645-45D3-AD1C-419EE6ABF2C8}">
      <dsp:nvSpPr>
        <dsp:cNvPr id="0" name=""/>
        <dsp:cNvSpPr/>
      </dsp:nvSpPr>
      <dsp:spPr>
        <a:xfrm>
          <a:off x="0" y="2590024"/>
          <a:ext cx="4231481" cy="10351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0891C7-49CB-4427-A768-B431CE32903B}">
      <dsp:nvSpPr>
        <dsp:cNvPr id="0" name=""/>
        <dsp:cNvSpPr/>
      </dsp:nvSpPr>
      <dsp:spPr>
        <a:xfrm>
          <a:off x="313145" y="2822942"/>
          <a:ext cx="569355" cy="5693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C8EBD4-0077-4DC3-A51F-BF90AD9C6962}">
      <dsp:nvSpPr>
        <dsp:cNvPr id="0" name=""/>
        <dsp:cNvSpPr/>
      </dsp:nvSpPr>
      <dsp:spPr>
        <a:xfrm>
          <a:off x="1195647" y="2590024"/>
          <a:ext cx="3035833" cy="1035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8" tIns="109558" rIns="109558" bIns="10955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Gold (Aggregated)</a:t>
          </a:r>
        </a:p>
      </dsp:txBody>
      <dsp:txXfrm>
        <a:off x="1195647" y="2590024"/>
        <a:ext cx="3035833" cy="1035192"/>
      </dsp:txXfrm>
    </dsp:sp>
    <dsp:sp modelId="{F8559E91-5C4D-4E47-90D7-C6F3D0A888BE}">
      <dsp:nvSpPr>
        <dsp:cNvPr id="0" name=""/>
        <dsp:cNvSpPr/>
      </dsp:nvSpPr>
      <dsp:spPr>
        <a:xfrm>
          <a:off x="0" y="3884014"/>
          <a:ext cx="4231481" cy="10351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E57BDE-0A86-4536-A474-CA89F3D123DD}">
      <dsp:nvSpPr>
        <dsp:cNvPr id="0" name=""/>
        <dsp:cNvSpPr/>
      </dsp:nvSpPr>
      <dsp:spPr>
        <a:xfrm>
          <a:off x="313145" y="4116933"/>
          <a:ext cx="569355" cy="5693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76A7DD-F5FA-49B9-B74F-E54E3197E7AA}">
      <dsp:nvSpPr>
        <dsp:cNvPr id="0" name=""/>
        <dsp:cNvSpPr/>
      </dsp:nvSpPr>
      <dsp:spPr>
        <a:xfrm>
          <a:off x="1195647" y="3884014"/>
          <a:ext cx="3035833" cy="1035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8" tIns="109558" rIns="109558" bIns="10955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Partitioning strategies</a:t>
          </a:r>
        </a:p>
      </dsp:txBody>
      <dsp:txXfrm>
        <a:off x="1195647" y="3884014"/>
        <a:ext cx="3035833" cy="10351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3341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401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466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403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839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911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930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099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0995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20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4096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1098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194971-2F2D-44B0-8AE6-FF2DCCEE0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Oval 5">
            <a:extLst>
              <a:ext uri="{FF2B5EF4-FFF2-40B4-BE49-F238E27FC236}">
                <a16:creationId xmlns:a16="http://schemas.microsoft.com/office/drawing/2014/main" id="{1FF9A61E-EB11-4C46-82E1-3E00A3B4B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564EB3-35F2-4EFF-87DC-642DC0205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540FAC9-3505-49ED-9B06-A0F8C1485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544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79B3CD-E329-42F5-B136-BA1F37EC0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9098" y="484632"/>
            <a:ext cx="5590153" cy="58809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572" y="977900"/>
            <a:ext cx="4904668" cy="33277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700" spc="200" dirty="0"/>
              <a:t>GCP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2572" y="4621235"/>
            <a:ext cx="4904668" cy="12250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700">
                <a:solidFill>
                  <a:schemeClr val="tx1">
                    <a:lumMod val="95000"/>
                    <a:lumOff val="5000"/>
                  </a:schemeClr>
                </a:solidFill>
              </a:rPr>
              <a:t>Overview of Google Cloud Platform fundamentals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1B042EF-3024-4C57-B282-1B30607FB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19010" y="4476657"/>
            <a:ext cx="402823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A0B4097-B645-43E0-A2B5-B8D688E74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9902" y="484632"/>
            <a:ext cx="2688168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GCP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Cloud platform by Google</a:t>
            </a:r>
          </a:p>
          <a:p>
            <a:r>
              <a:t>- Compute, Storage, Networking</a:t>
            </a:r>
          </a:p>
          <a:p>
            <a:r>
              <a:t>- Global scale infrastructure</a:t>
            </a:r>
          </a:p>
          <a:p>
            <a:r>
              <a:t>- Pay-as-you-go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GCP Global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Regions &amp; Zones</a:t>
            </a:r>
          </a:p>
          <a:p>
            <a:r>
              <a:t>- Multi-region deployments</a:t>
            </a:r>
          </a:p>
          <a:p>
            <a:r>
              <a:t>- High availability design</a:t>
            </a:r>
          </a:p>
          <a:p>
            <a:r>
              <a:t>- Low latency networking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BE5EE-4F68-B9FE-AB0D-0E0037B35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Regions &amp; Zones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8DCA6-6B5A-27E3-7858-FEA3FD750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1905000"/>
            <a:ext cx="7290055" cy="440436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What is a Region?</a:t>
            </a:r>
            <a:endParaRPr lang="en-US" dirty="0"/>
          </a:p>
          <a:p>
            <a:r>
              <a:rPr lang="en-US" dirty="0"/>
              <a:t>A geographic area containing multiple data centers </a:t>
            </a:r>
          </a:p>
          <a:p>
            <a:r>
              <a:rPr lang="en-US" dirty="0"/>
              <a:t>Examples: East US, West Europe, Central India </a:t>
            </a:r>
          </a:p>
          <a:p>
            <a:r>
              <a:rPr lang="en-US" b="1" dirty="0"/>
              <a:t>What is an Availability Zone?</a:t>
            </a:r>
            <a:endParaRPr lang="en-US" dirty="0"/>
          </a:p>
          <a:p>
            <a:r>
              <a:rPr lang="en-US" dirty="0"/>
              <a:t>Isolated data center within a region </a:t>
            </a:r>
          </a:p>
          <a:p>
            <a:r>
              <a:rPr lang="en-US" dirty="0"/>
              <a:t>Independent power, cooling, networking </a:t>
            </a:r>
          </a:p>
          <a:p>
            <a:r>
              <a:rPr lang="en-US" b="1" dirty="0"/>
              <a:t>Key Benefits</a:t>
            </a:r>
            <a:endParaRPr lang="en-US" dirty="0"/>
          </a:p>
          <a:p>
            <a:r>
              <a:rPr lang="en-US" dirty="0"/>
              <a:t>Fault isolation </a:t>
            </a:r>
          </a:p>
          <a:p>
            <a:r>
              <a:rPr lang="en-US" dirty="0"/>
              <a:t>Disaster resilience </a:t>
            </a:r>
          </a:p>
          <a:p>
            <a:r>
              <a:rPr lang="en-US" dirty="0"/>
              <a:t>Improved uptime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6179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D2BEC-254F-7AF8-0F63-921A2234F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Multi-Region Deployments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D2A23-B3A5-6382-5344-9496575C6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2162175"/>
            <a:ext cx="7290055" cy="414718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Deploying applications across multiple regions </a:t>
            </a:r>
          </a:p>
          <a:p>
            <a:r>
              <a:rPr lang="en-US" b="1" dirty="0"/>
              <a:t>Types</a:t>
            </a:r>
            <a:endParaRPr lang="en-US" dirty="0"/>
          </a:p>
          <a:p>
            <a:pPr lvl="1"/>
            <a:r>
              <a:rPr lang="en-US" dirty="0"/>
              <a:t>Active-Active -</a:t>
            </a:r>
            <a:r>
              <a:rPr lang="en-US" b="1" dirty="0"/>
              <a:t> Both are live and serving traffic simultaneously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Active-Passive - One region is </a:t>
            </a:r>
            <a:r>
              <a:rPr lang="en-US" b="1" dirty="0"/>
              <a:t>active (serving traffic)</a:t>
            </a:r>
            <a:r>
              <a:rPr lang="en-US" dirty="0"/>
              <a:t>, the other is </a:t>
            </a:r>
            <a:r>
              <a:rPr lang="en-US" b="1" dirty="0"/>
              <a:t>standby (idle or minimal activity)</a:t>
            </a:r>
            <a:r>
              <a:rPr lang="en-US" dirty="0"/>
              <a:t>.</a:t>
            </a:r>
          </a:p>
          <a:p>
            <a:r>
              <a:rPr lang="en-US" b="1" dirty="0"/>
              <a:t>Benefits</a:t>
            </a:r>
            <a:endParaRPr lang="en-US" dirty="0"/>
          </a:p>
          <a:p>
            <a:pPr lvl="1"/>
            <a:r>
              <a:rPr lang="en-US" dirty="0"/>
              <a:t>Disaster recovery </a:t>
            </a:r>
          </a:p>
          <a:p>
            <a:pPr lvl="1"/>
            <a:r>
              <a:rPr lang="en-US" dirty="0"/>
              <a:t>Global availability </a:t>
            </a:r>
          </a:p>
          <a:p>
            <a:pPr lvl="1"/>
            <a:r>
              <a:rPr lang="en-US" dirty="0"/>
              <a:t>Load distribution </a:t>
            </a:r>
          </a:p>
          <a:p>
            <a:r>
              <a:rPr lang="en-US" b="1" dirty="0"/>
              <a:t>Challenges</a:t>
            </a:r>
            <a:endParaRPr lang="en-US" dirty="0"/>
          </a:p>
          <a:p>
            <a:pPr lvl="1"/>
            <a:r>
              <a:rPr lang="en-US" dirty="0"/>
              <a:t>Data consistency </a:t>
            </a:r>
          </a:p>
          <a:p>
            <a:pPr lvl="1"/>
            <a:r>
              <a:rPr lang="en-US" dirty="0"/>
              <a:t>Higher cost </a:t>
            </a:r>
          </a:p>
          <a:p>
            <a:pPr lvl="1"/>
            <a:r>
              <a:rPr lang="en-US" dirty="0"/>
              <a:t>Complex architecture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5659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GCP Console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Web-based UI</a:t>
            </a:r>
          </a:p>
          <a:p>
            <a:r>
              <a:t>- Resource management</a:t>
            </a:r>
          </a:p>
          <a:p>
            <a:r>
              <a:t>- Monitoring &amp; logs</a:t>
            </a:r>
          </a:p>
          <a:p>
            <a:r>
              <a:t>- Billing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Identity &amp; Access Management</a:t>
            </a:r>
          </a:p>
          <a:p>
            <a:r>
              <a:t>- Controls access to resources</a:t>
            </a:r>
          </a:p>
          <a:p>
            <a:r>
              <a:t>- Role-based access control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IAM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Users</a:t>
            </a:r>
          </a:p>
          <a:p>
            <a:r>
              <a:rPr dirty="0"/>
              <a:t>- Roles (Primitive, Predefined, Custom)</a:t>
            </a:r>
          </a:p>
          <a:p>
            <a:r>
              <a:rPr dirty="0"/>
              <a:t>- Service Accounts</a:t>
            </a:r>
          </a:p>
          <a:p>
            <a:r>
              <a:rPr dirty="0"/>
              <a:t>- Permissions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Principle of Least Privilege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Grant minimum access</a:t>
            </a:r>
          </a:p>
          <a:p>
            <a:r>
              <a:t>- Reduce security risks</a:t>
            </a:r>
          </a:p>
          <a:p>
            <a:r>
              <a:t>- Regular access review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IAM Hierarchy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Organization level</a:t>
            </a:r>
          </a:p>
          <a:p>
            <a:r>
              <a:t>- Folder level</a:t>
            </a:r>
          </a:p>
          <a:p>
            <a:r>
              <a:t>- Project level</a:t>
            </a:r>
          </a:p>
          <a:p>
            <a:r>
              <a:t>- Inheritance of permissions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etting to know Cloud IAM | Google Cloud Blog">
            <a:extLst>
              <a:ext uri="{FF2B5EF4-FFF2-40B4-BE49-F238E27FC236}">
                <a16:creationId xmlns:a16="http://schemas.microsoft.com/office/drawing/2014/main" id="{28FA4BCA-EBC7-2758-E2DC-4808B458D03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51" y="866776"/>
            <a:ext cx="7858124" cy="544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3047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GCP Resource Hierarchy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Organization → Folder → Project</a:t>
            </a:r>
          </a:p>
          <a:p>
            <a:r>
              <a:t>- Logical grouping</a:t>
            </a:r>
          </a:p>
          <a:p>
            <a:r>
              <a:t>- Policy inheritance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Isolation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Separate environments</a:t>
            </a:r>
          </a:p>
          <a:p>
            <a:r>
              <a:t>- Dev/Test/Prod isolation</a:t>
            </a:r>
          </a:p>
          <a:p>
            <a:r>
              <a:t>- Billing separation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Naming conventions</a:t>
            </a:r>
          </a:p>
          <a:p>
            <a:r>
              <a:t>- Separate workloads</a:t>
            </a:r>
          </a:p>
          <a:p>
            <a:r>
              <a:t>- Use folders effectively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GCP Networking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VPC networks</a:t>
            </a:r>
          </a:p>
          <a:p>
            <a:r>
              <a:t>- Subnets</a:t>
            </a:r>
          </a:p>
          <a:p>
            <a:r>
              <a:t>- Firewall rules</a:t>
            </a:r>
          </a:p>
          <a:p>
            <a:r>
              <a:t>- Private connectivity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VPC &amp; Subnets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Global VPC</a:t>
            </a:r>
          </a:p>
          <a:p>
            <a:r>
              <a:t>- Regional subnets</a:t>
            </a:r>
          </a:p>
          <a:p>
            <a:r>
              <a:t>- CIDR ranges</a:t>
            </a:r>
          </a:p>
          <a:p>
            <a:r>
              <a:t>- Auto vs Custom mode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Firewall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Allow/Deny traffic</a:t>
            </a:r>
          </a:p>
          <a:p>
            <a:r>
              <a:t>- Stateful rules</a:t>
            </a:r>
          </a:p>
          <a:p>
            <a:r>
              <a:t>- Tags and service accounts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Private Service Connect &amp; Peering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Private access to services</a:t>
            </a:r>
          </a:p>
          <a:p>
            <a:r>
              <a:t>- VPC Peering</a:t>
            </a:r>
          </a:p>
          <a:p>
            <a:r>
              <a:t>- Hybrid connectivity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Billing &amp; Cost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Pricing models</a:t>
            </a:r>
          </a:p>
          <a:p>
            <a:r>
              <a:t>- Budgets</a:t>
            </a:r>
          </a:p>
          <a:p>
            <a:r>
              <a:t>- Cost alerts</a:t>
            </a:r>
          </a:p>
          <a:p>
            <a:r>
              <a:t>- Optimization strategies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Shell &amp; gcloud CLI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Browser-based terminal</a:t>
            </a:r>
          </a:p>
          <a:p>
            <a:r>
              <a:t>- Pre-installed tools</a:t>
            </a:r>
          </a:p>
          <a:p>
            <a:r>
              <a:t>- Access to GCP resources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gcloud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gcloud init</a:t>
            </a:r>
          </a:p>
          <a:p>
            <a:r>
              <a:t>- gcloud compute instances create</a:t>
            </a:r>
          </a:p>
          <a:p>
            <a:r>
              <a:t>- gcloud storage buckets create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 via CLI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Automate deployments</a:t>
            </a:r>
          </a:p>
          <a:p>
            <a:r>
              <a:t>- Script infrastructure</a:t>
            </a:r>
          </a:p>
          <a:p>
            <a:r>
              <a:t>- Infrastructure as Code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194971-2F2D-44B0-8AE6-FF2DCCEE0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Oval 5">
            <a:extLst>
              <a:ext uri="{FF2B5EF4-FFF2-40B4-BE49-F238E27FC236}">
                <a16:creationId xmlns:a16="http://schemas.microsoft.com/office/drawing/2014/main" id="{1FF9A61E-EB11-4C46-82E1-3E00A3B4B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564EB3-35F2-4EFF-87DC-642DC0205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540FAC9-3505-49ED-9B06-A0F8C1485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544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79B3CD-E329-42F5-B136-BA1F37EC0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9098" y="484632"/>
            <a:ext cx="5590153" cy="58809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572" y="977900"/>
            <a:ext cx="4904668" cy="33277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700" spc="200" dirty="0"/>
              <a:t>Cloud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2572" y="4621235"/>
            <a:ext cx="4904668" cy="12250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700">
                <a:solidFill>
                  <a:schemeClr val="tx1">
                    <a:lumMod val="95000"/>
                    <a:lumOff val="5000"/>
                  </a:schemeClr>
                </a:solidFill>
              </a:rPr>
              <a:t>Foundation for Data Engineering in GCP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1B042EF-3024-4C57-B282-1B30607FB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19010" y="4476657"/>
            <a:ext cx="402823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A0B4097-B645-43E0-A2B5-B8D688E74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9902" y="484632"/>
            <a:ext cx="2688168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Storage (GCS)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Object storage service</a:t>
            </a:r>
          </a:p>
          <a:p>
            <a:r>
              <a:t>- Highly durable</a:t>
            </a:r>
          </a:p>
          <a:p>
            <a:r>
              <a:t>- Scalable storage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Bucket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Global namespace</a:t>
            </a:r>
          </a:p>
          <a:p>
            <a:r>
              <a:t>- Unique names</a:t>
            </a:r>
          </a:p>
          <a:p>
            <a:r>
              <a:t>- Objects inside buckets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Storage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Standard</a:t>
            </a:r>
          </a:p>
          <a:p>
            <a:r>
              <a:t>- Nearline</a:t>
            </a:r>
          </a:p>
          <a:p>
            <a:r>
              <a:t>- Coldline</a:t>
            </a:r>
          </a:p>
          <a:p>
            <a:r>
              <a:t>- Archive</a:t>
            </a:r>
          </a:p>
          <a:p>
            <a:r>
              <a:t>- Based on access frequency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Lifecycle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Automate data movement</a:t>
            </a:r>
          </a:p>
          <a:p>
            <a:r>
              <a:t>- Transition between classes</a:t>
            </a:r>
          </a:p>
          <a:p>
            <a:r>
              <a:t>- Delete old data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 Versioning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Maintain object history</a:t>
            </a:r>
          </a:p>
          <a:p>
            <a:r>
              <a:t>- Recover deleted data</a:t>
            </a:r>
          </a:p>
          <a:p>
            <a:r>
              <a:t>- Enable/disable per bucket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GCS in Data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Raw data ingestion</a:t>
            </a:r>
          </a:p>
          <a:p>
            <a:r>
              <a:t>- Landing zone</a:t>
            </a:r>
          </a:p>
          <a:p>
            <a:r>
              <a:t>- Data lake storage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Data Lake Patterns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FA498B0-5E04-54A8-E0B8-C5C3D71161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0585486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10</TotalTime>
  <Words>511</Words>
  <Application>Microsoft Office PowerPoint</Application>
  <PresentationFormat>On-screen Show (4:3)</PresentationFormat>
  <Paragraphs>140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Tw Cen MT</vt:lpstr>
      <vt:lpstr>Tw Cen MT Condensed</vt:lpstr>
      <vt:lpstr>Wingdings 3</vt:lpstr>
      <vt:lpstr>Integral</vt:lpstr>
      <vt:lpstr>GCP Foundations</vt:lpstr>
      <vt:lpstr>Introduction to GCP</vt:lpstr>
      <vt:lpstr>GCP Global Infrastructure</vt:lpstr>
      <vt:lpstr>Regions &amp; Zones</vt:lpstr>
      <vt:lpstr>Multi-Region Deployments</vt:lpstr>
      <vt:lpstr>GCP Console Walkthrough</vt:lpstr>
      <vt:lpstr>IAM Overview</vt:lpstr>
      <vt:lpstr>IAM Components</vt:lpstr>
      <vt:lpstr>Principle of Least Privilege</vt:lpstr>
      <vt:lpstr>IAM Hierarchy</vt:lpstr>
      <vt:lpstr>PowerPoint Presentation</vt:lpstr>
      <vt:lpstr>GCP Resource Hierarchy</vt:lpstr>
      <vt:lpstr>Project Isolation</vt:lpstr>
      <vt:lpstr>Project Best Practices</vt:lpstr>
      <vt:lpstr>GCP Networking Foundations</vt:lpstr>
      <vt:lpstr>VPC &amp; Subnets</vt:lpstr>
      <vt:lpstr>Firewall Rules</vt:lpstr>
      <vt:lpstr>Private Service Connect &amp; Peering</vt:lpstr>
      <vt:lpstr>Billing &amp; Cost Management</vt:lpstr>
      <vt:lpstr>Cloud Shell &amp; gcloud CLI</vt:lpstr>
      <vt:lpstr>gcloud Commands</vt:lpstr>
      <vt:lpstr>Deploy via CLI</vt:lpstr>
      <vt:lpstr>Cloud Storage</vt:lpstr>
      <vt:lpstr>Cloud Storage (GCS)</vt:lpstr>
      <vt:lpstr>Bucket Structure</vt:lpstr>
      <vt:lpstr>Storage Classes</vt:lpstr>
      <vt:lpstr>Lifecycle Rules</vt:lpstr>
      <vt:lpstr>Object Versioning</vt:lpstr>
      <vt:lpstr>GCS in Data Engineering</vt:lpstr>
      <vt:lpstr>Data Lake Patterns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8</cp:revision>
  <dcterms:created xsi:type="dcterms:W3CDTF">2013-01-27T09:14:16Z</dcterms:created>
  <dcterms:modified xsi:type="dcterms:W3CDTF">2026-04-07T01:28:18Z</dcterms:modified>
  <cp:category/>
</cp:coreProperties>
</file>
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7" r:id="rId5"/>
    <p:sldId id="278" r:id="rId6"/>
    <p:sldId id="279" r:id="rId7"/>
    <p:sldId id="280" r:id="rId8"/>
    <p:sldId id="259" r:id="rId9"/>
    <p:sldId id="260" r:id="rId10"/>
    <p:sldId id="261" r:id="rId11"/>
    <p:sldId id="28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36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6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10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59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75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6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23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279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8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199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08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Azure Data Engineering - Foundations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Modules 1 to 3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1: Azure Cloud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Azure architecture, hierarchy, ARM, pricing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Global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Regions: Geographic locations</a:t>
            </a:r>
          </a:p>
          <a:p>
            <a:r>
              <a:rPr dirty="0"/>
              <a:t>Availability Zones: Fault isolation</a:t>
            </a:r>
          </a:p>
          <a:p>
            <a:r>
              <a:rPr dirty="0"/>
              <a:t>Paired regions for DR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0C4B-5498-ACCF-FBAF-99260965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CF906-AA62-C1C0-40DD-83A409B30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Region</a:t>
            </a:r>
          </a:p>
          <a:p>
            <a:r>
              <a:rPr lang="en-US" dirty="0"/>
              <a:t>A </a:t>
            </a:r>
            <a:r>
              <a:rPr lang="en-US" b="1" dirty="0"/>
              <a:t>Region</a:t>
            </a:r>
            <a:r>
              <a:rPr lang="en-US" dirty="0"/>
              <a:t> is a geographical area (e.g., East US, Central India) </a:t>
            </a:r>
          </a:p>
          <a:p>
            <a:r>
              <a:rPr lang="en-US" dirty="0"/>
              <a:t>Contains </a:t>
            </a:r>
            <a:r>
              <a:rPr lang="en-US" b="1" dirty="0"/>
              <a:t>multiple datacenters</a:t>
            </a:r>
            <a:r>
              <a:rPr lang="en-US" dirty="0"/>
              <a:t> 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Central India </a:t>
            </a:r>
          </a:p>
          <a:p>
            <a:pPr lvl="1"/>
            <a:r>
              <a:rPr lang="en-US" dirty="0"/>
              <a:t>East US </a:t>
            </a:r>
          </a:p>
          <a:p>
            <a:pPr lvl="1"/>
            <a:r>
              <a:rPr lang="en-US" dirty="0"/>
              <a:t>West Europe </a:t>
            </a:r>
          </a:p>
          <a:p>
            <a:r>
              <a:rPr lang="en-US" b="1" dirty="0"/>
              <a:t>Real-world analogy</a:t>
            </a:r>
            <a:r>
              <a:rPr lang="en-US" dirty="0"/>
              <a:t>: Region = City where your data lives</a:t>
            </a:r>
          </a:p>
        </p:txBody>
      </p:sp>
    </p:spTree>
    <p:extLst>
      <p:ext uri="{BB962C8B-B14F-4D97-AF65-F5344CB8AC3E}">
        <p14:creationId xmlns:p14="http://schemas.microsoft.com/office/powerpoint/2010/main" val="2592522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0A70-9B81-EBB3-2CFE-95F00402D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Availability Zone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9FEFA-4287-5434-18E0-F95404AF3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Availability Zone (AZ)</a:t>
            </a:r>
          </a:p>
          <a:p>
            <a:r>
              <a:rPr lang="en-IN" dirty="0"/>
              <a:t>Physically separate </a:t>
            </a:r>
            <a:r>
              <a:rPr lang="en-IN" dirty="0" err="1"/>
              <a:t>datacenters</a:t>
            </a:r>
            <a:r>
              <a:rPr lang="en-IN" dirty="0"/>
              <a:t> inside a region </a:t>
            </a:r>
          </a:p>
          <a:p>
            <a:r>
              <a:rPr lang="en-IN" dirty="0"/>
              <a:t>Each zone has: </a:t>
            </a:r>
          </a:p>
          <a:p>
            <a:pPr lvl="1"/>
            <a:r>
              <a:rPr lang="en-IN" dirty="0"/>
              <a:t>Independent power </a:t>
            </a:r>
          </a:p>
          <a:p>
            <a:pPr lvl="1"/>
            <a:r>
              <a:rPr lang="en-IN" dirty="0"/>
              <a:t>Independent network </a:t>
            </a:r>
          </a:p>
          <a:p>
            <a:pPr lvl="1"/>
            <a:r>
              <a:rPr lang="en-IN" dirty="0"/>
              <a:t>Independent cooling </a:t>
            </a:r>
          </a:p>
          <a:p>
            <a:r>
              <a:rPr lang="en-IN" b="1" dirty="0"/>
              <a:t>Example</a:t>
            </a:r>
            <a:r>
              <a:rPr lang="en-IN" dirty="0"/>
              <a:t>:</a:t>
            </a:r>
          </a:p>
          <a:p>
            <a:r>
              <a:rPr lang="en-IN" dirty="0"/>
              <a:t>Central India → Zone 1, Zone 2, Zone 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9087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0395F-3E09-6AD1-64CF-DD80AB6EA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Availability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DC580-11B4-FFB8-3A72-CE7CF3CE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Logical grouping inside a datacenter </a:t>
            </a:r>
          </a:p>
          <a:p>
            <a:r>
              <a:rPr lang="en-US" dirty="0"/>
              <a:t>Protects against: </a:t>
            </a:r>
          </a:p>
          <a:p>
            <a:pPr lvl="1"/>
            <a:r>
              <a:rPr lang="en-US" dirty="0"/>
              <a:t>Hardware failures </a:t>
            </a:r>
          </a:p>
          <a:p>
            <a:pPr lvl="1"/>
            <a:r>
              <a:rPr lang="en-US" dirty="0"/>
              <a:t>Maintenance downtime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841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0E09D-B659-8E8B-C4EE-9CF506F4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643467"/>
            <a:ext cx="2727324" cy="5571066"/>
          </a:xfrm>
        </p:spPr>
        <p:txBody>
          <a:bodyPr>
            <a:normAutofit/>
          </a:bodyPr>
          <a:lstStyle/>
          <a:p>
            <a:r>
              <a:rPr lang="en-IN" dirty="0"/>
              <a:t>Architecture</a:t>
            </a:r>
            <a:endParaRPr lang="en-IN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D972BD-6C62-B5F7-8489-41A8F67305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5536441"/>
              </p:ext>
            </p:extLst>
          </p:nvPr>
        </p:nvGraphicFramePr>
        <p:xfrm>
          <a:off x="4202906" y="1638536"/>
          <a:ext cx="4231482" cy="3552357"/>
        </p:xfrm>
        <a:graphic>
          <a:graphicData uri="http://schemas.openxmlformats.org/drawingml/2006/table">
            <a:tbl>
              <a:tblPr/>
              <a:tblGrid>
                <a:gridCol w="2057696">
                  <a:extLst>
                    <a:ext uri="{9D8B030D-6E8A-4147-A177-3AD203B41FA5}">
                      <a16:colId xmlns:a16="http://schemas.microsoft.com/office/drawing/2014/main" val="427244371"/>
                    </a:ext>
                  </a:extLst>
                </a:gridCol>
                <a:gridCol w="2173786">
                  <a:extLst>
                    <a:ext uri="{9D8B030D-6E8A-4147-A177-3AD203B41FA5}">
                      <a16:colId xmlns:a16="http://schemas.microsoft.com/office/drawing/2014/main" val="1008162304"/>
                    </a:ext>
                  </a:extLst>
                </a:gridCol>
              </a:tblGrid>
              <a:tr h="459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Component</a:t>
                      </a:r>
                    </a:p>
                  </a:txBody>
                  <a:tcPr marL="104481" marR="104481" marT="52241" marB="522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Purpose</a:t>
                      </a:r>
                    </a:p>
                  </a:txBody>
                  <a:tcPr marL="104481" marR="104481" marT="52241" marB="522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41114"/>
                  </a:ext>
                </a:extLst>
              </a:tr>
              <a:tr h="77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/>
                        <a:t>Region</a:t>
                      </a:r>
                    </a:p>
                  </a:txBody>
                  <a:tcPr marL="104481" marR="104481" marT="52241" marB="522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Geographic deployment</a:t>
                      </a:r>
                    </a:p>
                  </a:txBody>
                  <a:tcPr marL="104481" marR="104481" marT="52241" marB="522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097820"/>
                  </a:ext>
                </a:extLst>
              </a:tr>
              <a:tr h="77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Availability Zone</a:t>
                      </a:r>
                    </a:p>
                  </a:txBody>
                  <a:tcPr marL="104481" marR="104481" marT="52241" marB="522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High availability</a:t>
                      </a:r>
                    </a:p>
                  </a:txBody>
                  <a:tcPr marL="104481" marR="104481" marT="52241" marB="522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81055"/>
                  </a:ext>
                </a:extLst>
              </a:tr>
              <a:tr h="77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Availability Set</a:t>
                      </a:r>
                    </a:p>
                  </a:txBody>
                  <a:tcPr marL="104481" marR="104481" marT="52241" marB="522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Fault domain protection</a:t>
                      </a:r>
                    </a:p>
                  </a:txBody>
                  <a:tcPr marL="104481" marR="104481" marT="52241" marB="522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553799"/>
                  </a:ext>
                </a:extLst>
              </a:tr>
              <a:tr h="77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Edge Location</a:t>
                      </a:r>
                    </a:p>
                  </a:txBody>
                  <a:tcPr marL="104481" marR="104481" marT="52241" marB="522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/>
                        <a:t>Fast content delivery</a:t>
                      </a:r>
                    </a:p>
                  </a:txBody>
                  <a:tcPr marL="104481" marR="104481" marT="52241" marB="522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674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229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Subscriptions &amp; Resource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Subscription: Billing &amp; access boundary</a:t>
            </a:r>
          </a:p>
          <a:p>
            <a:r>
              <a:t>Resource Group: Logical grouping of resources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014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2834314" cy="1499616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Azure Resource Hierarchy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2843784" cy="3931920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Management Groups</a:t>
            </a:r>
          </a:p>
          <a:p>
            <a:r>
              <a:rPr lang="fr-FR">
                <a:solidFill>
                  <a:srgbClr val="FFFFFF"/>
                </a:solidFill>
              </a:rPr>
              <a:t>Subscriptions</a:t>
            </a:r>
          </a:p>
          <a:p>
            <a:r>
              <a:rPr lang="fr-FR">
                <a:solidFill>
                  <a:srgbClr val="FFFFFF"/>
                </a:solidFill>
              </a:rPr>
              <a:t>Resource Groups</a:t>
            </a:r>
          </a:p>
          <a:p>
            <a:r>
              <a:rPr lang="fr-FR">
                <a:solidFill>
                  <a:srgbClr val="FFFFFF"/>
                </a:solidFill>
              </a:rPr>
              <a:t>Resources</a:t>
            </a:r>
          </a:p>
          <a:p>
            <a:endParaRPr lang="fr-FR">
              <a:solidFill>
                <a:srgbClr val="FFFFFF"/>
              </a:solidFill>
            </a:endParaRPr>
          </a:p>
          <a:p>
            <a:endParaRPr lang="fr-FR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7F5108-433B-69E6-C8E9-8B26C2533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01246"/>
            <a:ext cx="4091940" cy="26555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ARM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Azure Resource Manager</a:t>
            </a:r>
          </a:p>
          <a:p>
            <a:r>
              <a:rPr dirty="0"/>
              <a:t>Declarative templates</a:t>
            </a:r>
          </a:p>
          <a:p>
            <a:r>
              <a:rPr dirty="0"/>
              <a:t>Infrastructure as Code (</a:t>
            </a:r>
            <a:r>
              <a:rPr dirty="0" err="1"/>
              <a:t>IaC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2B88-E52E-27C4-A484-4F15D6D6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Azure Resource Manager (ARM)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23927-923A-2A03-4FAD-07C788017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ARM?</a:t>
            </a:r>
          </a:p>
          <a:p>
            <a:r>
              <a:rPr lang="en-US" dirty="0"/>
              <a:t>Azure Resource Manager</a:t>
            </a:r>
          </a:p>
          <a:p>
            <a:r>
              <a:rPr lang="en-US" dirty="0"/>
              <a:t>ARM is the </a:t>
            </a:r>
            <a:r>
              <a:rPr lang="en-US" b="1" dirty="0"/>
              <a:t>central management layer (control plane)</a:t>
            </a:r>
            <a:r>
              <a:rPr lang="en-US" dirty="0"/>
              <a:t> of Azure.</a:t>
            </a:r>
          </a:p>
          <a:p>
            <a:r>
              <a:rPr lang="en-US" dirty="0"/>
              <a:t>It handles:</a:t>
            </a:r>
          </a:p>
          <a:p>
            <a:r>
              <a:rPr lang="en-US" dirty="0"/>
              <a:t>Creating resources </a:t>
            </a:r>
          </a:p>
          <a:p>
            <a:r>
              <a:rPr lang="en-US" dirty="0"/>
              <a:t>Updating resources </a:t>
            </a:r>
          </a:p>
          <a:p>
            <a:r>
              <a:rPr lang="en-US" dirty="0"/>
              <a:t>Deleting resources </a:t>
            </a:r>
          </a:p>
          <a:p>
            <a:r>
              <a:rPr lang="en-US" dirty="0"/>
              <a:t>Applying security (RBAC) </a:t>
            </a:r>
          </a:p>
          <a:p>
            <a:r>
              <a:rPr lang="en-US" dirty="0"/>
              <a:t>Enforcing policies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10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Pricing &amp; Cost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Pay-as-you-go</a:t>
            </a:r>
          </a:p>
          <a:p>
            <a:r>
              <a:t>Reserved instances</a:t>
            </a:r>
          </a:p>
          <a:p>
            <a:r>
              <a:t>Cost analysis</a:t>
            </a:r>
          </a:p>
          <a:p>
            <a:r>
              <a:t>Budgets &amp; alerts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Module 2: Identity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Security, access control, and compliance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Entra 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provider</a:t>
            </a:r>
          </a:p>
          <a:p>
            <a:r>
              <a:t>Users, Groups, Service Principals</a:t>
            </a:r>
          </a:p>
          <a:p>
            <a:r>
              <a:t>Authentication &amp; SSO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RBAC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access control</a:t>
            </a:r>
          </a:p>
          <a:p>
            <a:r>
              <a:t>Least privilege principle</a:t>
            </a:r>
          </a:p>
          <a:p>
            <a:r>
              <a:t>Built-in &amp; custom roles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Managed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Eliminates secrets</a:t>
            </a:r>
          </a:p>
          <a:p>
            <a:r>
              <a:t>System &amp; User assigned identities</a:t>
            </a:r>
          </a:p>
          <a:p>
            <a:r>
              <a:t>Used for secure service access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enforcement</a:t>
            </a:r>
          </a:p>
          <a:p>
            <a:r>
              <a:t>Compliance rules</a:t>
            </a:r>
          </a:p>
          <a:p>
            <a:r>
              <a:t>Audit &amp; deny actions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Budgets &amp;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tracking</a:t>
            </a:r>
          </a:p>
          <a:p>
            <a:r>
              <a:t>Threshold alerts</a:t>
            </a:r>
          </a:p>
          <a:p>
            <a:r>
              <a:t>Prevent overspending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Networking for Data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networking concepts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Network (VNet)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network in Azure</a:t>
            </a:r>
          </a:p>
          <a:p>
            <a:r>
              <a:t>IP addressing</a:t>
            </a:r>
          </a:p>
          <a:p>
            <a:r>
              <a:t>Isolation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 VNet</a:t>
            </a:r>
          </a:p>
          <a:p>
            <a:r>
              <a:t>Control traffic flow</a:t>
            </a:r>
          </a:p>
          <a:p>
            <a:r>
              <a:t>Used for service isolation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Security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Traffic filtering</a:t>
            </a:r>
          </a:p>
          <a:p>
            <a:r>
              <a:t>Allow/Deny rules</a:t>
            </a:r>
          </a:p>
          <a:p>
            <a:r>
              <a:t>Inbound &amp; outbound security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access to PaaS</a:t>
            </a:r>
          </a:p>
          <a:p>
            <a:r>
              <a:t>No public exposure</a:t>
            </a:r>
          </a:p>
          <a:p>
            <a:r>
              <a:t>Secure connectivity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access over Azure backbone</a:t>
            </a:r>
          </a:p>
          <a:p>
            <a:r>
              <a:t>Extend VNet to PaaS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Vault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secrets &amp; keys</a:t>
            </a:r>
          </a:p>
          <a:p>
            <a:r>
              <a:t>Secure access via Managed Identity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Access to Storage &amp; Databricks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endpoints</a:t>
            </a:r>
          </a:p>
          <a:p>
            <a:r>
              <a:t>NSG rules</a:t>
            </a:r>
          </a:p>
          <a:p>
            <a:r>
              <a:t>Identity-based access</a:t>
            </a:r>
          </a:p>
          <a:p>
            <a:r>
              <a:t>Data exfiltration protection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</TotalTime>
  <Words>412</Words>
  <Application>Microsoft Office PowerPoint</Application>
  <PresentationFormat>On-screen Show (4:3)</PresentationFormat>
  <Paragraphs>120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Tw Cen MT</vt:lpstr>
      <vt:lpstr>Tw Cen MT Condensed</vt:lpstr>
      <vt:lpstr>Wingdings 3</vt:lpstr>
      <vt:lpstr>Integral</vt:lpstr>
      <vt:lpstr>Azure Data Engineering - Foundations</vt:lpstr>
      <vt:lpstr>Module 1: Azure Cloud Foundations</vt:lpstr>
      <vt:lpstr>Azure Global Architecture</vt:lpstr>
      <vt:lpstr>Region</vt:lpstr>
      <vt:lpstr>Availability Zone</vt:lpstr>
      <vt:lpstr>Availability Set</vt:lpstr>
      <vt:lpstr>Architecture</vt:lpstr>
      <vt:lpstr>Subscriptions &amp; Resource Groups</vt:lpstr>
      <vt:lpstr>Azure Resource Hierarchy</vt:lpstr>
      <vt:lpstr>ARM Concepts</vt:lpstr>
      <vt:lpstr>Azure Resource Manager (ARM)</vt:lpstr>
      <vt:lpstr>Azure Pricing &amp; Cost Management</vt:lpstr>
      <vt:lpstr>Module 2: Identity &amp; Governance</vt:lpstr>
      <vt:lpstr>Microsoft Entra ID</vt:lpstr>
      <vt:lpstr>RBAC Model</vt:lpstr>
      <vt:lpstr>Managed Identity</vt:lpstr>
      <vt:lpstr>Azure Policies</vt:lpstr>
      <vt:lpstr>Budgets &amp; Alerts</vt:lpstr>
      <vt:lpstr>Module 3: Networking for Data Platforms</vt:lpstr>
      <vt:lpstr>Virtual Network (VNet)</vt:lpstr>
      <vt:lpstr>Subnets</vt:lpstr>
      <vt:lpstr>Network Security Groups</vt:lpstr>
      <vt:lpstr>Private Endpoints</vt:lpstr>
      <vt:lpstr>Service Endpoints</vt:lpstr>
      <vt:lpstr>Key Vault Integration</vt:lpstr>
      <vt:lpstr>Secure Access to Storage &amp; Databricks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</cp:revision>
  <dcterms:created xsi:type="dcterms:W3CDTF">2013-01-27T09:14:16Z</dcterms:created>
  <dcterms:modified xsi:type="dcterms:W3CDTF">2026-03-30T08:30:38Z</dcterms:modified>
  <cp:category/>
</cp:coreProperties>
</file>
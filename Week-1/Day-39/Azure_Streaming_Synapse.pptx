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79" r:id="rId6"/>
    <p:sldId id="260" r:id="rId7"/>
    <p:sldId id="270" r:id="rId8"/>
    <p:sldId id="261" r:id="rId9"/>
    <p:sldId id="262" r:id="rId10"/>
    <p:sldId id="263" r:id="rId11"/>
    <p:sldId id="264" r:id="rId12"/>
    <p:sldId id="275" r:id="rId13"/>
    <p:sldId id="277" r:id="rId14"/>
    <p:sldId id="273" r:id="rId15"/>
    <p:sldId id="274" r:id="rId16"/>
    <p:sldId id="271" r:id="rId17"/>
    <p:sldId id="276" r:id="rId18"/>
    <p:sldId id="272" r:id="rId19"/>
    <p:sldId id="265" r:id="rId20"/>
    <p:sldId id="266" r:id="rId21"/>
    <p:sldId id="267" r:id="rId22"/>
    <p:sldId id="268" r:id="rId23"/>
    <p:sldId id="269" r:id="rId24"/>
    <p:sldId id="278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42708D-385D-445F-A6B3-69089E1B4E2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5AA331E-16EB-4F64-8762-6CC54B0EC15B}">
      <dgm:prSet/>
      <dgm:spPr/>
      <dgm:t>
        <a:bodyPr/>
        <a:lstStyle/>
        <a:p>
          <a:r>
            <a:rPr lang="en-US"/>
            <a:t>High-throughput data ingestion service</a:t>
          </a:r>
        </a:p>
      </dgm:t>
    </dgm:pt>
    <dgm:pt modelId="{7B410111-710B-4C98-BA42-2F672CE12BD4}" type="parTrans" cxnId="{56A59DE6-D016-45E4-BBE7-31552629AF97}">
      <dgm:prSet/>
      <dgm:spPr/>
      <dgm:t>
        <a:bodyPr/>
        <a:lstStyle/>
        <a:p>
          <a:endParaRPr lang="en-US"/>
        </a:p>
      </dgm:t>
    </dgm:pt>
    <dgm:pt modelId="{854BB178-46E1-40BB-AC97-16FEB511639D}" type="sibTrans" cxnId="{56A59DE6-D016-45E4-BBE7-31552629AF97}">
      <dgm:prSet/>
      <dgm:spPr/>
      <dgm:t>
        <a:bodyPr/>
        <a:lstStyle/>
        <a:p>
          <a:endParaRPr lang="en-US"/>
        </a:p>
      </dgm:t>
    </dgm:pt>
    <dgm:pt modelId="{2C40AF28-D5BA-4C75-880B-EBBF5C0E3731}">
      <dgm:prSet/>
      <dgm:spPr/>
      <dgm:t>
        <a:bodyPr/>
        <a:lstStyle/>
        <a:p>
          <a:r>
            <a:rPr lang="en-US"/>
            <a:t>Supports Kafka protocol</a:t>
          </a:r>
        </a:p>
      </dgm:t>
    </dgm:pt>
    <dgm:pt modelId="{F5647B7A-D107-43B0-BA45-F4C916703C5E}" type="parTrans" cxnId="{01F500AA-3EE6-4150-9F4A-CCF6F6FB2C2A}">
      <dgm:prSet/>
      <dgm:spPr/>
      <dgm:t>
        <a:bodyPr/>
        <a:lstStyle/>
        <a:p>
          <a:endParaRPr lang="en-US"/>
        </a:p>
      </dgm:t>
    </dgm:pt>
    <dgm:pt modelId="{1D0D3986-1219-4B64-A8A1-843DF5F7AA01}" type="sibTrans" cxnId="{01F500AA-3EE6-4150-9F4A-CCF6F6FB2C2A}">
      <dgm:prSet/>
      <dgm:spPr/>
      <dgm:t>
        <a:bodyPr/>
        <a:lstStyle/>
        <a:p>
          <a:endParaRPr lang="en-US"/>
        </a:p>
      </dgm:t>
    </dgm:pt>
    <dgm:pt modelId="{18A49A4B-EC07-4BA6-83F1-0FC37D4A791C}">
      <dgm:prSet/>
      <dgm:spPr/>
      <dgm:t>
        <a:bodyPr/>
        <a:lstStyle/>
        <a:p>
          <a:r>
            <a:rPr lang="en-US"/>
            <a:t>Used for real-time analytics pipelines</a:t>
          </a:r>
        </a:p>
      </dgm:t>
    </dgm:pt>
    <dgm:pt modelId="{F41884BC-EF1A-4565-9445-44EA08B44960}" type="parTrans" cxnId="{7017FDAF-97FA-4FA5-B4F4-7614C85770B7}">
      <dgm:prSet/>
      <dgm:spPr/>
      <dgm:t>
        <a:bodyPr/>
        <a:lstStyle/>
        <a:p>
          <a:endParaRPr lang="en-US"/>
        </a:p>
      </dgm:t>
    </dgm:pt>
    <dgm:pt modelId="{918A7B12-CBE9-4875-B730-DCF3475B94A0}" type="sibTrans" cxnId="{7017FDAF-97FA-4FA5-B4F4-7614C85770B7}">
      <dgm:prSet/>
      <dgm:spPr/>
      <dgm:t>
        <a:bodyPr/>
        <a:lstStyle/>
        <a:p>
          <a:endParaRPr lang="en-US"/>
        </a:p>
      </dgm:t>
    </dgm:pt>
    <dgm:pt modelId="{DD7AF0CE-E6DF-4614-9D66-822FAD9398C0}" type="pres">
      <dgm:prSet presAssocID="{1B42708D-385D-445F-A6B3-69089E1B4E20}" presName="linear" presStyleCnt="0">
        <dgm:presLayoutVars>
          <dgm:animLvl val="lvl"/>
          <dgm:resizeHandles val="exact"/>
        </dgm:presLayoutVars>
      </dgm:prSet>
      <dgm:spPr/>
    </dgm:pt>
    <dgm:pt modelId="{34E53411-9C04-435E-BB9F-741AD05D9887}" type="pres">
      <dgm:prSet presAssocID="{05AA331E-16EB-4F64-8762-6CC54B0EC15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C187BFF-AEA8-4B7D-AA62-9B12D35880AC}" type="pres">
      <dgm:prSet presAssocID="{854BB178-46E1-40BB-AC97-16FEB511639D}" presName="spacer" presStyleCnt="0"/>
      <dgm:spPr/>
    </dgm:pt>
    <dgm:pt modelId="{9FEAD47E-F96B-426E-87FC-484146275DB0}" type="pres">
      <dgm:prSet presAssocID="{2C40AF28-D5BA-4C75-880B-EBBF5C0E373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721A823-B087-451B-B985-2C8D499BAD2B}" type="pres">
      <dgm:prSet presAssocID="{1D0D3986-1219-4B64-A8A1-843DF5F7AA01}" presName="spacer" presStyleCnt="0"/>
      <dgm:spPr/>
    </dgm:pt>
    <dgm:pt modelId="{428115AE-B12D-4366-8A60-076E4AF79FFF}" type="pres">
      <dgm:prSet presAssocID="{18A49A4B-EC07-4BA6-83F1-0FC37D4A791C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0A49808-01C9-4407-B29F-DAA14D2F617F}" type="presOf" srcId="{18A49A4B-EC07-4BA6-83F1-0FC37D4A791C}" destId="{428115AE-B12D-4366-8A60-076E4AF79FFF}" srcOrd="0" destOrd="0" presId="urn:microsoft.com/office/officeart/2005/8/layout/vList2"/>
    <dgm:cxn modelId="{E00C7B14-31EB-4571-918D-AA5E2DD0529E}" type="presOf" srcId="{05AA331E-16EB-4F64-8762-6CC54B0EC15B}" destId="{34E53411-9C04-435E-BB9F-741AD05D9887}" srcOrd="0" destOrd="0" presId="urn:microsoft.com/office/officeart/2005/8/layout/vList2"/>
    <dgm:cxn modelId="{FF72211F-5EC1-40DC-B447-3B9403080C4B}" type="presOf" srcId="{2C40AF28-D5BA-4C75-880B-EBBF5C0E3731}" destId="{9FEAD47E-F96B-426E-87FC-484146275DB0}" srcOrd="0" destOrd="0" presId="urn:microsoft.com/office/officeart/2005/8/layout/vList2"/>
    <dgm:cxn modelId="{01F500AA-3EE6-4150-9F4A-CCF6F6FB2C2A}" srcId="{1B42708D-385D-445F-A6B3-69089E1B4E20}" destId="{2C40AF28-D5BA-4C75-880B-EBBF5C0E3731}" srcOrd="1" destOrd="0" parTransId="{F5647B7A-D107-43B0-BA45-F4C916703C5E}" sibTransId="{1D0D3986-1219-4B64-A8A1-843DF5F7AA01}"/>
    <dgm:cxn modelId="{7017FDAF-97FA-4FA5-B4F4-7614C85770B7}" srcId="{1B42708D-385D-445F-A6B3-69089E1B4E20}" destId="{18A49A4B-EC07-4BA6-83F1-0FC37D4A791C}" srcOrd="2" destOrd="0" parTransId="{F41884BC-EF1A-4565-9445-44EA08B44960}" sibTransId="{918A7B12-CBE9-4875-B730-DCF3475B94A0}"/>
    <dgm:cxn modelId="{D4900AE5-D71B-4E65-A04B-0F9EA3AD7A9E}" type="presOf" srcId="{1B42708D-385D-445F-A6B3-69089E1B4E20}" destId="{DD7AF0CE-E6DF-4614-9D66-822FAD9398C0}" srcOrd="0" destOrd="0" presId="urn:microsoft.com/office/officeart/2005/8/layout/vList2"/>
    <dgm:cxn modelId="{56A59DE6-D016-45E4-BBE7-31552629AF97}" srcId="{1B42708D-385D-445F-A6B3-69089E1B4E20}" destId="{05AA331E-16EB-4F64-8762-6CC54B0EC15B}" srcOrd="0" destOrd="0" parTransId="{7B410111-710B-4C98-BA42-2F672CE12BD4}" sibTransId="{854BB178-46E1-40BB-AC97-16FEB511639D}"/>
    <dgm:cxn modelId="{652307D9-E1E9-42DA-AEDB-741813F38EB3}" type="presParOf" srcId="{DD7AF0CE-E6DF-4614-9D66-822FAD9398C0}" destId="{34E53411-9C04-435E-BB9F-741AD05D9887}" srcOrd="0" destOrd="0" presId="urn:microsoft.com/office/officeart/2005/8/layout/vList2"/>
    <dgm:cxn modelId="{5809CA4F-6507-4734-A82E-104DED4C2CD3}" type="presParOf" srcId="{DD7AF0CE-E6DF-4614-9D66-822FAD9398C0}" destId="{5C187BFF-AEA8-4B7D-AA62-9B12D35880AC}" srcOrd="1" destOrd="0" presId="urn:microsoft.com/office/officeart/2005/8/layout/vList2"/>
    <dgm:cxn modelId="{230F3E8A-DE48-444F-B33D-EE18BF801A36}" type="presParOf" srcId="{DD7AF0CE-E6DF-4614-9D66-822FAD9398C0}" destId="{9FEAD47E-F96B-426E-87FC-484146275DB0}" srcOrd="2" destOrd="0" presId="urn:microsoft.com/office/officeart/2005/8/layout/vList2"/>
    <dgm:cxn modelId="{8BBAAFC9-0B21-4625-846A-32FA7033DF89}" type="presParOf" srcId="{DD7AF0CE-E6DF-4614-9D66-822FAD9398C0}" destId="{C721A823-B087-451B-B985-2C8D499BAD2B}" srcOrd="3" destOrd="0" presId="urn:microsoft.com/office/officeart/2005/8/layout/vList2"/>
    <dgm:cxn modelId="{054CBEF3-BC51-4522-B60B-C9F8BE66BC58}" type="presParOf" srcId="{DD7AF0CE-E6DF-4614-9D66-822FAD9398C0}" destId="{428115AE-B12D-4366-8A60-076E4AF79FF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3936AA-3591-4ADA-84C1-15CED0D75A01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DAF288A-7076-4A4E-8690-5A9ADFA25666}">
      <dgm:prSet/>
      <dgm:spPr/>
      <dgm:t>
        <a:bodyPr/>
        <a:lstStyle/>
        <a:p>
          <a:pPr>
            <a:defRPr cap="all"/>
          </a:pPr>
          <a:r>
            <a:rPr lang="en-US"/>
            <a:t>Unified analytics platform</a:t>
          </a:r>
        </a:p>
      </dgm:t>
    </dgm:pt>
    <dgm:pt modelId="{F404CB92-76C2-44D2-9AA3-0FAFE819BF9E}" type="parTrans" cxnId="{4517918A-E5FE-4BF3-9373-2EC879C9263C}">
      <dgm:prSet/>
      <dgm:spPr/>
      <dgm:t>
        <a:bodyPr/>
        <a:lstStyle/>
        <a:p>
          <a:endParaRPr lang="en-US"/>
        </a:p>
      </dgm:t>
    </dgm:pt>
    <dgm:pt modelId="{08C2DD6A-61E9-41B5-ABD1-7B1A414286E7}" type="sibTrans" cxnId="{4517918A-E5FE-4BF3-9373-2EC879C9263C}">
      <dgm:prSet/>
      <dgm:spPr/>
      <dgm:t>
        <a:bodyPr/>
        <a:lstStyle/>
        <a:p>
          <a:endParaRPr lang="en-US"/>
        </a:p>
      </dgm:t>
    </dgm:pt>
    <dgm:pt modelId="{8CFDDEF5-B1BD-4343-B2AD-A4B44DF03E80}">
      <dgm:prSet/>
      <dgm:spPr/>
      <dgm:t>
        <a:bodyPr/>
        <a:lstStyle/>
        <a:p>
          <a:pPr>
            <a:defRPr cap="all"/>
          </a:pPr>
          <a:r>
            <a:rPr lang="en-US"/>
            <a:t>Combines data warehousing + big data analytics</a:t>
          </a:r>
        </a:p>
      </dgm:t>
    </dgm:pt>
    <dgm:pt modelId="{C4DCC589-234A-40A7-A17B-AFB29294D3DC}" type="parTrans" cxnId="{996D37FC-6DE5-46CA-9CC0-7AED58F21B1D}">
      <dgm:prSet/>
      <dgm:spPr/>
      <dgm:t>
        <a:bodyPr/>
        <a:lstStyle/>
        <a:p>
          <a:endParaRPr lang="en-US"/>
        </a:p>
      </dgm:t>
    </dgm:pt>
    <dgm:pt modelId="{8340BFD0-70DA-406F-8A60-1328D5E081DB}" type="sibTrans" cxnId="{996D37FC-6DE5-46CA-9CC0-7AED58F21B1D}">
      <dgm:prSet/>
      <dgm:spPr/>
      <dgm:t>
        <a:bodyPr/>
        <a:lstStyle/>
        <a:p>
          <a:endParaRPr lang="en-US"/>
        </a:p>
      </dgm:t>
    </dgm:pt>
    <dgm:pt modelId="{FB13DAF0-5DD2-4BFB-9750-96F9BA2D89A2}" type="pres">
      <dgm:prSet presAssocID="{F33936AA-3591-4ADA-84C1-15CED0D75A01}" presName="root" presStyleCnt="0">
        <dgm:presLayoutVars>
          <dgm:dir/>
          <dgm:resizeHandles val="exact"/>
        </dgm:presLayoutVars>
      </dgm:prSet>
      <dgm:spPr/>
    </dgm:pt>
    <dgm:pt modelId="{64CC4942-D2F0-47FB-AB29-5C175222BF28}" type="pres">
      <dgm:prSet presAssocID="{4DAF288A-7076-4A4E-8690-5A9ADFA25666}" presName="compNode" presStyleCnt="0"/>
      <dgm:spPr/>
    </dgm:pt>
    <dgm:pt modelId="{0D16AC4E-9D1D-49BB-9FA9-09376322D754}" type="pres">
      <dgm:prSet presAssocID="{4DAF288A-7076-4A4E-8690-5A9ADFA25666}" presName="iconBgRect" presStyleLbl="bgShp" presStyleIdx="0" presStyleCnt="2"/>
      <dgm:spPr/>
    </dgm:pt>
    <dgm:pt modelId="{424DE937-9785-4C03-ABE6-E2A31D2939FA}" type="pres">
      <dgm:prSet presAssocID="{4DAF288A-7076-4A4E-8690-5A9ADFA25666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F0ED0FC5-AC89-4B4B-B7C8-B6C5D06CB2A1}" type="pres">
      <dgm:prSet presAssocID="{4DAF288A-7076-4A4E-8690-5A9ADFA25666}" presName="spaceRect" presStyleCnt="0"/>
      <dgm:spPr/>
    </dgm:pt>
    <dgm:pt modelId="{2BC96256-4E21-4D65-B476-BE57ED4A18B1}" type="pres">
      <dgm:prSet presAssocID="{4DAF288A-7076-4A4E-8690-5A9ADFA25666}" presName="textRect" presStyleLbl="revTx" presStyleIdx="0" presStyleCnt="2">
        <dgm:presLayoutVars>
          <dgm:chMax val="1"/>
          <dgm:chPref val="1"/>
        </dgm:presLayoutVars>
      </dgm:prSet>
      <dgm:spPr/>
    </dgm:pt>
    <dgm:pt modelId="{52B6BB93-77D1-4880-889E-6BA0BF0CB5F3}" type="pres">
      <dgm:prSet presAssocID="{08C2DD6A-61E9-41B5-ABD1-7B1A414286E7}" presName="sibTrans" presStyleCnt="0"/>
      <dgm:spPr/>
    </dgm:pt>
    <dgm:pt modelId="{82BCED62-3AEB-4FBF-B64F-DBC6F30F43AD}" type="pres">
      <dgm:prSet presAssocID="{8CFDDEF5-B1BD-4343-B2AD-A4B44DF03E80}" presName="compNode" presStyleCnt="0"/>
      <dgm:spPr/>
    </dgm:pt>
    <dgm:pt modelId="{6F0061E4-2FA4-4468-A47A-189C1CAE3360}" type="pres">
      <dgm:prSet presAssocID="{8CFDDEF5-B1BD-4343-B2AD-A4B44DF03E80}" presName="iconBgRect" presStyleLbl="bgShp" presStyleIdx="1" presStyleCnt="2"/>
      <dgm:spPr/>
    </dgm:pt>
    <dgm:pt modelId="{4F8ECD4A-A961-4E12-B46D-4C29B02C653B}" type="pres">
      <dgm:prSet presAssocID="{8CFDDEF5-B1BD-4343-B2AD-A4B44DF03E8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A0440E3F-E061-4046-987B-D6CB360DD3E1}" type="pres">
      <dgm:prSet presAssocID="{8CFDDEF5-B1BD-4343-B2AD-A4B44DF03E80}" presName="spaceRect" presStyleCnt="0"/>
      <dgm:spPr/>
    </dgm:pt>
    <dgm:pt modelId="{A06336BE-EF4B-457B-958A-EDE01C0B67CF}" type="pres">
      <dgm:prSet presAssocID="{8CFDDEF5-B1BD-4343-B2AD-A4B44DF03E8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9B76101-5632-4722-8F5D-01A00253F82D}" type="presOf" srcId="{F33936AA-3591-4ADA-84C1-15CED0D75A01}" destId="{FB13DAF0-5DD2-4BFB-9750-96F9BA2D89A2}" srcOrd="0" destOrd="0" presId="urn:microsoft.com/office/officeart/2018/5/layout/IconCircleLabelList"/>
    <dgm:cxn modelId="{4517918A-E5FE-4BF3-9373-2EC879C9263C}" srcId="{F33936AA-3591-4ADA-84C1-15CED0D75A01}" destId="{4DAF288A-7076-4A4E-8690-5A9ADFA25666}" srcOrd="0" destOrd="0" parTransId="{F404CB92-76C2-44D2-9AA3-0FAFE819BF9E}" sibTransId="{08C2DD6A-61E9-41B5-ABD1-7B1A414286E7}"/>
    <dgm:cxn modelId="{A1200FCE-A124-4F5D-9AA9-59E8D877D8A4}" type="presOf" srcId="{4DAF288A-7076-4A4E-8690-5A9ADFA25666}" destId="{2BC96256-4E21-4D65-B476-BE57ED4A18B1}" srcOrd="0" destOrd="0" presId="urn:microsoft.com/office/officeart/2018/5/layout/IconCircleLabelList"/>
    <dgm:cxn modelId="{BA4EEFE9-EB82-48AC-A2D3-D04B99B6CCF8}" type="presOf" srcId="{8CFDDEF5-B1BD-4343-B2AD-A4B44DF03E80}" destId="{A06336BE-EF4B-457B-958A-EDE01C0B67CF}" srcOrd="0" destOrd="0" presId="urn:microsoft.com/office/officeart/2018/5/layout/IconCircleLabelList"/>
    <dgm:cxn modelId="{996D37FC-6DE5-46CA-9CC0-7AED58F21B1D}" srcId="{F33936AA-3591-4ADA-84C1-15CED0D75A01}" destId="{8CFDDEF5-B1BD-4343-B2AD-A4B44DF03E80}" srcOrd="1" destOrd="0" parTransId="{C4DCC589-234A-40A7-A17B-AFB29294D3DC}" sibTransId="{8340BFD0-70DA-406F-8A60-1328D5E081DB}"/>
    <dgm:cxn modelId="{DC15EF04-36C1-4A4C-A32E-D572E4977993}" type="presParOf" srcId="{FB13DAF0-5DD2-4BFB-9750-96F9BA2D89A2}" destId="{64CC4942-D2F0-47FB-AB29-5C175222BF28}" srcOrd="0" destOrd="0" presId="urn:microsoft.com/office/officeart/2018/5/layout/IconCircleLabelList"/>
    <dgm:cxn modelId="{872E6C04-9E54-4F36-9935-71C5D9C323E9}" type="presParOf" srcId="{64CC4942-D2F0-47FB-AB29-5C175222BF28}" destId="{0D16AC4E-9D1D-49BB-9FA9-09376322D754}" srcOrd="0" destOrd="0" presId="urn:microsoft.com/office/officeart/2018/5/layout/IconCircleLabelList"/>
    <dgm:cxn modelId="{B9EDB9BA-64E8-4F90-A6E9-B8EACB19236C}" type="presParOf" srcId="{64CC4942-D2F0-47FB-AB29-5C175222BF28}" destId="{424DE937-9785-4C03-ABE6-E2A31D2939FA}" srcOrd="1" destOrd="0" presId="urn:microsoft.com/office/officeart/2018/5/layout/IconCircleLabelList"/>
    <dgm:cxn modelId="{2AD6C949-325B-4A3E-A66D-6454D50B79C2}" type="presParOf" srcId="{64CC4942-D2F0-47FB-AB29-5C175222BF28}" destId="{F0ED0FC5-AC89-4B4B-B7C8-B6C5D06CB2A1}" srcOrd="2" destOrd="0" presId="urn:microsoft.com/office/officeart/2018/5/layout/IconCircleLabelList"/>
    <dgm:cxn modelId="{83A2641D-9F66-488E-BC68-DB105C4E9D68}" type="presParOf" srcId="{64CC4942-D2F0-47FB-AB29-5C175222BF28}" destId="{2BC96256-4E21-4D65-B476-BE57ED4A18B1}" srcOrd="3" destOrd="0" presId="urn:microsoft.com/office/officeart/2018/5/layout/IconCircleLabelList"/>
    <dgm:cxn modelId="{C51F40DA-F780-46E5-8CB2-E20EA1199728}" type="presParOf" srcId="{FB13DAF0-5DD2-4BFB-9750-96F9BA2D89A2}" destId="{52B6BB93-77D1-4880-889E-6BA0BF0CB5F3}" srcOrd="1" destOrd="0" presId="urn:microsoft.com/office/officeart/2018/5/layout/IconCircleLabelList"/>
    <dgm:cxn modelId="{33D425F2-7CC8-47ED-819A-C456DF5AAAE2}" type="presParOf" srcId="{FB13DAF0-5DD2-4BFB-9750-96F9BA2D89A2}" destId="{82BCED62-3AEB-4FBF-B64F-DBC6F30F43AD}" srcOrd="2" destOrd="0" presId="urn:microsoft.com/office/officeart/2018/5/layout/IconCircleLabelList"/>
    <dgm:cxn modelId="{302B365D-320B-4AD0-A1C5-92116CA404E3}" type="presParOf" srcId="{82BCED62-3AEB-4FBF-B64F-DBC6F30F43AD}" destId="{6F0061E4-2FA4-4468-A47A-189C1CAE3360}" srcOrd="0" destOrd="0" presId="urn:microsoft.com/office/officeart/2018/5/layout/IconCircleLabelList"/>
    <dgm:cxn modelId="{801F8DD6-C429-4FB6-AC02-DECA3DE0C359}" type="presParOf" srcId="{82BCED62-3AEB-4FBF-B64F-DBC6F30F43AD}" destId="{4F8ECD4A-A961-4E12-B46D-4C29B02C653B}" srcOrd="1" destOrd="0" presId="urn:microsoft.com/office/officeart/2018/5/layout/IconCircleLabelList"/>
    <dgm:cxn modelId="{2EA4843B-4B17-401F-B8F8-0C935C9D4B7C}" type="presParOf" srcId="{82BCED62-3AEB-4FBF-B64F-DBC6F30F43AD}" destId="{A0440E3F-E061-4046-987B-D6CB360DD3E1}" srcOrd="2" destOrd="0" presId="urn:microsoft.com/office/officeart/2018/5/layout/IconCircleLabelList"/>
    <dgm:cxn modelId="{1922706E-87C8-4E58-8740-C3CC12D83104}" type="presParOf" srcId="{82BCED62-3AEB-4FBF-B64F-DBC6F30F43AD}" destId="{A06336BE-EF4B-457B-958A-EDE01C0B67C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53411-9C04-435E-BB9F-741AD05D9887}">
      <dsp:nvSpPr>
        <dsp:cNvPr id="0" name=""/>
        <dsp:cNvSpPr/>
      </dsp:nvSpPr>
      <dsp:spPr>
        <a:xfrm>
          <a:off x="0" y="455649"/>
          <a:ext cx="4231481" cy="12694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High-throughput data ingestion service</a:t>
          </a:r>
        </a:p>
      </dsp:txBody>
      <dsp:txXfrm>
        <a:off x="61969" y="517618"/>
        <a:ext cx="4107543" cy="1145512"/>
      </dsp:txXfrm>
    </dsp:sp>
    <dsp:sp modelId="{9FEAD47E-F96B-426E-87FC-484146275DB0}">
      <dsp:nvSpPr>
        <dsp:cNvPr id="0" name=""/>
        <dsp:cNvSpPr/>
      </dsp:nvSpPr>
      <dsp:spPr>
        <a:xfrm>
          <a:off x="0" y="1825900"/>
          <a:ext cx="4231481" cy="1269450"/>
        </a:xfrm>
        <a:prstGeom prst="roundRect">
          <a:avLst/>
        </a:prstGeom>
        <a:solidFill>
          <a:schemeClr val="accent2">
            <a:hueOff val="-661686"/>
            <a:satOff val="746"/>
            <a:lumOff val="176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Supports Kafka protocol</a:t>
          </a:r>
        </a:p>
      </dsp:txBody>
      <dsp:txXfrm>
        <a:off x="61969" y="1887869"/>
        <a:ext cx="4107543" cy="1145512"/>
      </dsp:txXfrm>
    </dsp:sp>
    <dsp:sp modelId="{428115AE-B12D-4366-8A60-076E4AF79FFF}">
      <dsp:nvSpPr>
        <dsp:cNvPr id="0" name=""/>
        <dsp:cNvSpPr/>
      </dsp:nvSpPr>
      <dsp:spPr>
        <a:xfrm>
          <a:off x="0" y="3196149"/>
          <a:ext cx="4231481" cy="1269450"/>
        </a:xfrm>
        <a:prstGeom prst="roundRect">
          <a:avLst/>
        </a:prstGeom>
        <a:solidFill>
          <a:schemeClr val="accent2">
            <a:hueOff val="-1323373"/>
            <a:satOff val="1492"/>
            <a:lumOff val="353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Used for real-time analytics pipelines</a:t>
          </a:r>
        </a:p>
      </dsp:txBody>
      <dsp:txXfrm>
        <a:off x="61969" y="3258118"/>
        <a:ext cx="4107543" cy="11455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16AC4E-9D1D-49BB-9FA9-09376322D754}">
      <dsp:nvSpPr>
        <dsp:cNvPr id="0" name=""/>
        <dsp:cNvSpPr/>
      </dsp:nvSpPr>
      <dsp:spPr>
        <a:xfrm>
          <a:off x="683114" y="323862"/>
          <a:ext cx="2024437" cy="2024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4DE937-9785-4C03-ABE6-E2A31D2939FA}">
      <dsp:nvSpPr>
        <dsp:cNvPr id="0" name=""/>
        <dsp:cNvSpPr/>
      </dsp:nvSpPr>
      <dsp:spPr>
        <a:xfrm>
          <a:off x="1114551" y="755299"/>
          <a:ext cx="1161562" cy="116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C96256-4E21-4D65-B476-BE57ED4A18B1}">
      <dsp:nvSpPr>
        <dsp:cNvPr id="0" name=""/>
        <dsp:cNvSpPr/>
      </dsp:nvSpPr>
      <dsp:spPr>
        <a:xfrm>
          <a:off x="35957" y="2978862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Unified analytics platform</a:t>
          </a:r>
        </a:p>
      </dsp:txBody>
      <dsp:txXfrm>
        <a:off x="35957" y="2978862"/>
        <a:ext cx="3318750" cy="720000"/>
      </dsp:txXfrm>
    </dsp:sp>
    <dsp:sp modelId="{6F0061E4-2FA4-4468-A47A-189C1CAE3360}">
      <dsp:nvSpPr>
        <dsp:cNvPr id="0" name=""/>
        <dsp:cNvSpPr/>
      </dsp:nvSpPr>
      <dsp:spPr>
        <a:xfrm>
          <a:off x="4582645" y="323862"/>
          <a:ext cx="2024437" cy="2024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8ECD4A-A961-4E12-B46D-4C29B02C653B}">
      <dsp:nvSpPr>
        <dsp:cNvPr id="0" name=""/>
        <dsp:cNvSpPr/>
      </dsp:nvSpPr>
      <dsp:spPr>
        <a:xfrm>
          <a:off x="5014082" y="755299"/>
          <a:ext cx="1161562" cy="1161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6336BE-EF4B-457B-958A-EDE01C0B67CF}">
      <dsp:nvSpPr>
        <dsp:cNvPr id="0" name=""/>
        <dsp:cNvSpPr/>
      </dsp:nvSpPr>
      <dsp:spPr>
        <a:xfrm>
          <a:off x="3935489" y="2978862"/>
          <a:ext cx="33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Combines data warehousing + big data analytics</a:t>
          </a:r>
        </a:p>
      </dsp:txBody>
      <dsp:txXfrm>
        <a:off x="3935489" y="2978862"/>
        <a:ext cx="33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313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011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3214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912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332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60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13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444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637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33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491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307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CD2B798-7994-4548-A2BE-4AEF9C1A5F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Oval 5">
            <a:extLst>
              <a:ext uri="{FF2B5EF4-FFF2-40B4-BE49-F238E27FC236}">
                <a16:creationId xmlns:a16="http://schemas.microsoft.com/office/drawing/2014/main" id="{E6162320-3B67-42BB-AF9D-939326E64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722E143-84C1-4F95-937C-78B92D281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8D726A5-7900-41B4-8D49-49B4A2010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F8B66E9E-FBE6-5CC3-D9D5-74FA0A61F5B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5000"/>
          </a:blip>
          <a:srcRect r="25019" b="-446"/>
          <a:stretch>
            <a:fillRect/>
          </a:stretch>
        </p:blipFill>
        <p:spPr>
          <a:xfrm>
            <a:off x="20" y="-1"/>
            <a:ext cx="914169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0" y="643467"/>
            <a:ext cx="5373505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700" kern="1200" cap="all" spc="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Module 8 — Azure Streaming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38706" y="643467"/>
            <a:ext cx="2322694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700"/>
              <a:t>Overview of Azure streaming services and architecture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6E49661-E258-450C-8150-A91A6B30D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04703" y="1828800"/>
            <a:ext cx="0" cy="32004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Azure Event Hub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72B23C-B268-041A-E148-3A597B46CA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9064416"/>
              </p:ext>
            </p:extLst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 Hub (Concept)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Device-to-cloud and cloud-to-device communication</a:t>
            </a:r>
          </a:p>
          <a:p>
            <a:r>
              <a:t>Secure and scalable IoT ingestion</a:t>
            </a:r>
          </a:p>
          <a:p>
            <a:r>
              <a:t>Built on Event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Stream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stream processing engine</a:t>
            </a:r>
          </a:p>
          <a:p>
            <a:r>
              <a:t>SQL-like query language</a:t>
            </a:r>
          </a:p>
          <a:p>
            <a:r>
              <a:t>Integrates with Event Hub, IoT 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48079-FBCA-16AE-E247-730F3B630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Synapse Analytics</a:t>
            </a:r>
            <a:endParaRPr lang="en-IN" dirty="0"/>
          </a:p>
        </p:txBody>
      </p:sp>
      <p:pic>
        <p:nvPicPr>
          <p:cNvPr id="1026" name="Picture 2" descr="Azure Synapse Spark and Apache Spark Architecture">
            <a:extLst>
              <a:ext uri="{FF2B5EF4-FFF2-40B4-BE49-F238E27FC236}">
                <a16:creationId xmlns:a16="http://schemas.microsoft.com/office/drawing/2014/main" id="{24D411CB-16FF-265C-59D8-8467B2ADC1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76" y="2562226"/>
            <a:ext cx="6861249" cy="3710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7454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Windowing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Tumbling Window</a:t>
            </a:r>
          </a:p>
          <a:p>
            <a:r>
              <a:rPr dirty="0"/>
              <a:t>Hopping Window</a:t>
            </a:r>
          </a:p>
          <a:p>
            <a:r>
              <a:rPr dirty="0"/>
              <a:t>Sliding Window</a:t>
            </a:r>
          </a:p>
          <a:p>
            <a:r>
              <a:rPr dirty="0"/>
              <a:t>Session Window</a:t>
            </a:r>
          </a:p>
          <a:p>
            <a:r>
              <a:rPr dirty="0"/>
              <a:t>Used for time-based aggregations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A3B2BA97-BEAB-6CC6-B43D-C291A7C7BF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7292129"/>
              </p:ext>
            </p:extLst>
          </p:nvPr>
        </p:nvGraphicFramePr>
        <p:xfrm>
          <a:off x="768350" y="2552700"/>
          <a:ext cx="7289800" cy="34766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2450">
                  <a:extLst>
                    <a:ext uri="{9D8B030D-6E8A-4147-A177-3AD203B41FA5}">
                      <a16:colId xmlns:a16="http://schemas.microsoft.com/office/drawing/2014/main" val="3664178669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099876070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1413211459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3734594385"/>
                    </a:ext>
                  </a:extLst>
                </a:gridCol>
              </a:tblGrid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Window 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Overlap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Trigger 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Best For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6739246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Tumbling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No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Time-based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Simple aggregation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2569192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Hopping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Time-based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Moving averages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78257028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Sliding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Yes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Event-based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Real-time analytics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93859388"/>
                  </a:ext>
                </a:extLst>
              </a:tr>
              <a:tr h="69532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Session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Dynamic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Activity-based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User/session tracking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0198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16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 to ADLS / Synapse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Store processed data in ADLS Gen2</a:t>
            </a:r>
          </a:p>
          <a:p>
            <a:r>
              <a:t>Load into Synapse for analytics</a:t>
            </a:r>
          </a:p>
          <a:p>
            <a:r>
              <a:t>Supports batch + real-time hybrid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Streaming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Metrics: throughput, latency</a:t>
            </a:r>
          </a:p>
          <a:p>
            <a:r>
              <a:t>Azure Monitor integration</a:t>
            </a:r>
          </a:p>
          <a:p>
            <a:r>
              <a:t>Alerts and diagnostics logs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>
            <a:normAutofit/>
          </a:bodyPr>
          <a:lstStyle/>
          <a:p>
            <a:r>
              <a:t>Module 9 — Azure Synapse Analytics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BF17EA-FF5B-2961-F50A-3249C11E04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8758561"/>
              </p:ext>
            </p:extLst>
          </p:nvPr>
        </p:nvGraphicFramePr>
        <p:xfrm>
          <a:off x="767953" y="2286000"/>
          <a:ext cx="7290197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Dedicated SQL Pool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Provisioned resources</a:t>
            </a:r>
          </a:p>
          <a:p>
            <a:r>
              <a:rPr dirty="0"/>
              <a:t>Best for predictable workloads</a:t>
            </a:r>
          </a:p>
          <a:p>
            <a:r>
              <a:rPr dirty="0"/>
              <a:t>Supports MPP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C647C-6DE4-EB69-CEFF-D504F4E0A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Single system (SMP)</a:t>
            </a:r>
            <a:r>
              <a:rPr lang="en-US" dirty="0"/>
              <a:t> → 1 chef cooking for 100 people </a:t>
            </a:r>
          </a:p>
          <a:p>
            <a:r>
              <a:rPr lang="en-US" b="1" dirty="0"/>
              <a:t>MPP system</a:t>
            </a:r>
            <a:r>
              <a:rPr lang="en-US" dirty="0"/>
              <a:t> → 10 chefs cooking different dishes simultaneously </a:t>
            </a:r>
          </a:p>
          <a:p>
            <a:r>
              <a:rPr lang="en-US" dirty="0"/>
              <a:t>Result → Much faster processing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1519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6FAF9-D326-0780-D9F8-058A5DD9A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SMP vs MPP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EF89ED4-20C2-BFC4-A264-54CFB92F05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395292"/>
              </p:ext>
            </p:extLst>
          </p:nvPr>
        </p:nvGraphicFramePr>
        <p:xfrm>
          <a:off x="768350" y="2419350"/>
          <a:ext cx="7289799" cy="35623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149495767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713215774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1840909220"/>
                    </a:ext>
                  </a:extLst>
                </a:gridCol>
              </a:tblGrid>
              <a:tr h="7124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MPP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SMP (Single Node)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69194320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Processing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Parallel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Sequential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40041616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Scalability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High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Limited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69603701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Performance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Very fast (big data)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Slower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93719250"/>
                  </a:ext>
                </a:extLst>
              </a:tr>
              <a:tr h="7124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Example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Synapse, Redshift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SQL Server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92583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7834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6EAB8-2C74-E6B2-A9D6-D59E76A59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MPP Architecture</a:t>
            </a:r>
            <a:endParaRPr lang="en-IN" dirty="0"/>
          </a:p>
        </p:txBody>
      </p:sp>
      <p:pic>
        <p:nvPicPr>
          <p:cNvPr id="3074" name="Picture 2" descr="Dedicated SQL pool (formerly SQL DW) architecture - Azure Synapse Analytics  | Microsoft Learn">
            <a:extLst>
              <a:ext uri="{FF2B5EF4-FFF2-40B4-BE49-F238E27FC236}">
                <a16:creationId xmlns:a16="http://schemas.microsoft.com/office/drawing/2014/main" id="{982653F3-D5C7-A30A-C430-957BB0D6344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836492"/>
            <a:ext cx="6838950" cy="469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71129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1D45-B35D-E135-133A-79E35EDD8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MPP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E1215-3087-4977-8D36-0BDF17FD9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MPP is a database architecture where </a:t>
            </a:r>
            <a:r>
              <a:rPr lang="en-US" b="1" dirty="0"/>
              <a:t>multiple nodes (machines)</a:t>
            </a:r>
            <a:r>
              <a:rPr lang="en-US" dirty="0"/>
              <a:t> work </a:t>
            </a:r>
            <a:r>
              <a:rPr lang="en-US" b="1" dirty="0"/>
              <a:t>in parallel</a:t>
            </a:r>
            <a:r>
              <a:rPr lang="en-US" dirty="0"/>
              <a:t> to process large queries.</a:t>
            </a:r>
          </a:p>
          <a:p>
            <a:r>
              <a:rPr lang="en-US" dirty="0"/>
              <a:t>Instead of one server doing all the work:</a:t>
            </a:r>
          </a:p>
          <a:p>
            <a:r>
              <a:rPr lang="en-US" dirty="0"/>
              <a:t>Data is </a:t>
            </a:r>
            <a:r>
              <a:rPr lang="en-US" b="1" dirty="0"/>
              <a:t>split across nodes</a:t>
            </a:r>
            <a:r>
              <a:rPr lang="en-US" dirty="0"/>
              <a:t> </a:t>
            </a:r>
          </a:p>
          <a:p>
            <a:r>
              <a:rPr lang="en-US" dirty="0"/>
              <a:t>Each node processes </a:t>
            </a:r>
            <a:r>
              <a:rPr lang="en-US" b="1" dirty="0"/>
              <a:t>a portion of data</a:t>
            </a:r>
            <a:r>
              <a:rPr lang="en-US" dirty="0"/>
              <a:t> </a:t>
            </a:r>
          </a:p>
          <a:p>
            <a:r>
              <a:rPr lang="en-US" dirty="0"/>
              <a:t>Results are </a:t>
            </a:r>
            <a:r>
              <a:rPr lang="en-US" b="1" dirty="0"/>
              <a:t>combined (aggregated)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69742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4C1B8-D918-7674-AE34-E6C9E350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MPP Architecture</a:t>
            </a:r>
            <a:endParaRPr lang="en-IN" dirty="0"/>
          </a:p>
        </p:txBody>
      </p:sp>
      <p:pic>
        <p:nvPicPr>
          <p:cNvPr id="1026" name="Picture 2" descr="5 Key Concepts of Massively Parallel Processing | by Jagadesh Jamjala |  Medium">
            <a:extLst>
              <a:ext uri="{FF2B5EF4-FFF2-40B4-BE49-F238E27FC236}">
                <a16:creationId xmlns:a16="http://schemas.microsoft.com/office/drawing/2014/main" id="{9BBF5397-C93E-3ABA-A0C5-05E415C13B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494" y="2286000"/>
            <a:ext cx="7151511" cy="4022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16492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E551E-A6AF-AFA6-0699-93830C35B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7A10D-03AF-49FD-ED5B-90B75AA9F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Components:</a:t>
            </a:r>
          </a:p>
          <a:p>
            <a:r>
              <a:rPr lang="en-US" b="1" dirty="0"/>
              <a:t>Control Node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Receives SQL query </a:t>
            </a:r>
          </a:p>
          <a:p>
            <a:pPr lvl="1"/>
            <a:r>
              <a:rPr lang="en-US" dirty="0"/>
              <a:t>Breaks it into smaller tasks </a:t>
            </a:r>
          </a:p>
          <a:p>
            <a:r>
              <a:rPr lang="en-US" b="1" dirty="0"/>
              <a:t>Compute Nodes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Execute queries in parallel </a:t>
            </a:r>
          </a:p>
          <a:p>
            <a:pPr lvl="1"/>
            <a:r>
              <a:rPr lang="en-US" dirty="0"/>
              <a:t>Each node has its own data slice </a:t>
            </a:r>
          </a:p>
          <a:p>
            <a:r>
              <a:rPr lang="en-US" b="1" dirty="0"/>
              <a:t>Distributed Storage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Data is distributed across nodes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10707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ynapse SQL architecture - Azure Synapse Analytics | Microsoft Learn">
            <a:extLst>
              <a:ext uri="{FF2B5EF4-FFF2-40B4-BE49-F238E27FC236}">
                <a16:creationId xmlns:a16="http://schemas.microsoft.com/office/drawing/2014/main" id="{5375BE7B-E539-B9B6-E14C-06785B43AB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2663990"/>
            <a:ext cx="7289800" cy="326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2496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Hash Distribution</a:t>
            </a:r>
          </a:p>
          <a:p>
            <a:r>
              <a:t>Round Robin</a:t>
            </a:r>
          </a:p>
          <a:p>
            <a:r>
              <a:t>Replicated Tables</a:t>
            </a:r>
          </a:p>
          <a:p>
            <a:r>
              <a:t>Optimize query performance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Partitioning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Divide large tables</a:t>
            </a:r>
          </a:p>
          <a:p>
            <a:r>
              <a:t>Improve query performance</a:t>
            </a:r>
          </a:p>
          <a:p>
            <a:r>
              <a:t>Manage data efficiently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COPY INTO</a:t>
            </a:r>
          </a:p>
          <a:p>
            <a:r>
              <a:t>PolyBase</a:t>
            </a:r>
          </a:p>
          <a:p>
            <a:r>
              <a:t>Bulk insert</a:t>
            </a:r>
          </a:p>
          <a:p>
            <a:r>
              <a:t>Best practices for large datasets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Synapse vs Databricks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Synapse: SQL-first analytics</a:t>
            </a:r>
          </a:p>
          <a:p>
            <a:r>
              <a:t>Databricks: Spark-based data engineering</a:t>
            </a:r>
          </a:p>
          <a:p>
            <a:r>
              <a:t>Synapse for BI, Databricks for ML/ETL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Synapse vs Redshift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Synapse: tightly integrated with Azure</a:t>
            </a:r>
          </a:p>
          <a:p>
            <a:r>
              <a:t>Redshift: AWS-based warehouse</a:t>
            </a:r>
          </a:p>
          <a:p>
            <a:r>
              <a:t>Differences in pricing, scaling, ecosystem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E2823-EB3D-7445-0F29-A5BFA85C4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Synapse vs Redshift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7CE06C-E5B4-C5B2-2733-64F8FE88B1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8003601"/>
              </p:ext>
            </p:extLst>
          </p:nvPr>
        </p:nvGraphicFramePr>
        <p:xfrm>
          <a:off x="768350" y="2647950"/>
          <a:ext cx="7289799" cy="36248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1193494180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3362223872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4262538566"/>
                    </a:ext>
                  </a:extLst>
                </a:gridCol>
              </a:tblGrid>
              <a:tr h="7249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Synapse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Redshift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52487635"/>
                  </a:ext>
                </a:extLst>
              </a:tr>
              <a:tr h="724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Cloud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Azure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AWS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90348567"/>
                  </a:ext>
                </a:extLst>
              </a:tr>
              <a:tr h="724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Storage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ADLS integration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S3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27920866"/>
                  </a:ext>
                </a:extLst>
              </a:tr>
              <a:tr h="724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Compute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MPP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MPP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32756086"/>
                  </a:ext>
                </a:extLst>
              </a:tr>
              <a:tr h="724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Ecosystem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>
                          <a:effectLst/>
                        </a:rPr>
                        <a:t>Azure-native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200" dirty="0">
                          <a:effectLst/>
                        </a:rPr>
                        <a:t>AWS-native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48633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6694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D33E3-5334-94D0-A033-5497C9C75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SQL Pool vs Spark Pool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019AC9-89AB-AF3E-66CA-51AEADEF9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8411404"/>
              </p:ext>
            </p:extLst>
          </p:nvPr>
        </p:nvGraphicFramePr>
        <p:xfrm>
          <a:off x="768350" y="2390775"/>
          <a:ext cx="7289799" cy="40767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9933">
                  <a:extLst>
                    <a:ext uri="{9D8B030D-6E8A-4147-A177-3AD203B41FA5}">
                      <a16:colId xmlns:a16="http://schemas.microsoft.com/office/drawing/2014/main" val="3898526128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1299981235"/>
                    </a:ext>
                  </a:extLst>
                </a:gridCol>
                <a:gridCol w="2429933">
                  <a:extLst>
                    <a:ext uri="{9D8B030D-6E8A-4147-A177-3AD203B41FA5}">
                      <a16:colId xmlns:a16="http://schemas.microsoft.com/office/drawing/2014/main" val="1275827961"/>
                    </a:ext>
                  </a:extLst>
                </a:gridCol>
              </a:tblGrid>
              <a:tr h="452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Feature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SQL Pool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Spark Pool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81017347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Engine 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SQL Engine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Distributed Compute Engine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74735415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Language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T-SQL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Python, Scala, Spark SQL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45940443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Use Case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Reporting, BI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Data processing, ML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4348858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Data Type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Structured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Structured + Unstructured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18142121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Schema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Schema-on-write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Schema-on-read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7351961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Performance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Optimized for queries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Optimized for transformations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09768477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Storage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Tables (DW) or external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Data Lake files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06393236"/>
                  </a:ext>
                </a:extLst>
              </a:tr>
              <a:tr h="4529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Scaling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>
                          <a:effectLst/>
                        </a:rPr>
                        <a:t>DWUs (Dedicated)</a:t>
                      </a:r>
                      <a:endParaRPr lang="en-IN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IN" sz="1100" dirty="0">
                          <a:effectLst/>
                        </a:rPr>
                        <a:t>Auto-scale clusters</a:t>
                      </a:r>
                      <a:endParaRPr lang="en-IN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717431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99095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61</TotalTime>
  <Words>474</Words>
  <Application>Microsoft Office PowerPoint</Application>
  <PresentationFormat>On-screen Show (4:3)</PresentationFormat>
  <Paragraphs>159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Calibri</vt:lpstr>
      <vt:lpstr>Tw Cen MT</vt:lpstr>
      <vt:lpstr>Tw Cen MT Condensed</vt:lpstr>
      <vt:lpstr>Wingdings 3</vt:lpstr>
      <vt:lpstr>Integral</vt:lpstr>
      <vt:lpstr>Module 8 — Azure Streaming</vt:lpstr>
      <vt:lpstr>Azure Event Hub</vt:lpstr>
      <vt:lpstr>IoT Hub (Concept)</vt:lpstr>
      <vt:lpstr>Azure Stream Analytics</vt:lpstr>
      <vt:lpstr>Azure Synapse Analytics</vt:lpstr>
      <vt:lpstr>Windowing Functions</vt:lpstr>
      <vt:lpstr>PowerPoint Presentation</vt:lpstr>
      <vt:lpstr>Stream to ADLS / Synapse</vt:lpstr>
      <vt:lpstr>Monitoring Streaming Jobs</vt:lpstr>
      <vt:lpstr>Module 9 — Azure Synapse Analytics</vt:lpstr>
      <vt:lpstr>Dedicated SQL Pool</vt:lpstr>
      <vt:lpstr>PowerPoint Presentation</vt:lpstr>
      <vt:lpstr>SMP vs MPP</vt:lpstr>
      <vt:lpstr>MPP Architecture</vt:lpstr>
      <vt:lpstr>MPP Architecture</vt:lpstr>
      <vt:lpstr>MPP Architecture</vt:lpstr>
      <vt:lpstr>Components</vt:lpstr>
      <vt:lpstr>PowerPoint Presentation</vt:lpstr>
      <vt:lpstr>Distribution Strategies</vt:lpstr>
      <vt:lpstr>Partitioning</vt:lpstr>
      <vt:lpstr>Loading Data</vt:lpstr>
      <vt:lpstr>Synapse vs Databricks</vt:lpstr>
      <vt:lpstr>Synapse vs Redshift</vt:lpstr>
      <vt:lpstr>Synapse vs Redshift</vt:lpstr>
      <vt:lpstr>SQL Pool vs Spark Pool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11</cp:revision>
  <dcterms:created xsi:type="dcterms:W3CDTF">2013-01-27T09:14:16Z</dcterms:created>
  <dcterms:modified xsi:type="dcterms:W3CDTF">2026-04-03T06:09:50Z</dcterms:modified>
  <cp:category/>
</cp:coreProperties>
</file>
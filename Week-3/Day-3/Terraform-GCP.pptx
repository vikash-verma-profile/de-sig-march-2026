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BA7CAC-7E9A-494F-96BE-7A70FE785649}" type="datetimeFigureOut">
              <a:rPr lang="en-IN" smtClean="0"/>
              <a:t>15/04/2026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81D5F-2B1D-4006-885B-B282180C6F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964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104132" y="0"/>
            <a:ext cx="8087995" cy="6858000"/>
          </a:xfrm>
          <a:custGeom>
            <a:avLst/>
            <a:gdLst/>
            <a:ahLst/>
            <a:cxnLst/>
            <a:rect l="l" t="t" r="r" b="b"/>
            <a:pathLst>
              <a:path w="8087995" h="6858000">
                <a:moveTo>
                  <a:pt x="0" y="6858000"/>
                </a:moveTo>
                <a:lnTo>
                  <a:pt x="8087867" y="6858000"/>
                </a:lnTo>
                <a:lnTo>
                  <a:pt x="808786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4051300" cy="6858000"/>
          </a:xfrm>
          <a:custGeom>
            <a:avLst/>
            <a:gdLst/>
            <a:ahLst/>
            <a:cxnLst/>
            <a:rect l="l" t="t" r="r" b="b"/>
            <a:pathLst>
              <a:path w="4051300" h="6858000">
                <a:moveTo>
                  <a:pt x="4050791" y="0"/>
                </a:moveTo>
                <a:lnTo>
                  <a:pt x="0" y="0"/>
                </a:lnTo>
                <a:lnTo>
                  <a:pt x="0" y="6858000"/>
                </a:lnTo>
                <a:lnTo>
                  <a:pt x="4050791" y="6858000"/>
                </a:lnTo>
                <a:lnTo>
                  <a:pt x="4050791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4051300" cy="6858000"/>
          </a:xfrm>
          <a:custGeom>
            <a:avLst/>
            <a:gdLst/>
            <a:ahLst/>
            <a:cxnLst/>
            <a:rect l="l" t="t" r="r" b="b"/>
            <a:pathLst>
              <a:path w="4051300" h="6858000">
                <a:moveTo>
                  <a:pt x="0" y="6858000"/>
                </a:moveTo>
                <a:lnTo>
                  <a:pt x="4050791" y="6858000"/>
                </a:lnTo>
                <a:lnTo>
                  <a:pt x="405079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5240">
            <a:solidFill>
              <a:srgbClr val="FABB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040124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5" h="6858000">
                <a:moveTo>
                  <a:pt x="64008" y="0"/>
                </a:moveTo>
                <a:lnTo>
                  <a:pt x="0" y="0"/>
                </a:lnTo>
                <a:lnTo>
                  <a:pt x="0" y="6858000"/>
                </a:lnTo>
                <a:lnTo>
                  <a:pt x="64008" y="6858000"/>
                </a:lnTo>
                <a:lnTo>
                  <a:pt x="64008" y="0"/>
                </a:lnTo>
                <a:close/>
              </a:path>
            </a:pathLst>
          </a:custGeom>
          <a:solidFill>
            <a:srgbClr val="FABB0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11968" y="120395"/>
            <a:ext cx="1761744" cy="17602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47243" y="2404618"/>
            <a:ext cx="300482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Lucida Console"/>
                <a:cs typeface="Lucida Consol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626F52"/>
                </a:solidFill>
                <a:latin typeface="Calibri"/>
                <a:cs typeface="Calibri"/>
              </a:defRPr>
            </a:lvl1pPr>
          </a:lstStyle>
          <a:p>
            <a:pPr marL="492125">
              <a:lnSpc>
                <a:spcPts val="2005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9682E-3080-4C25-BEB8-37EDA7E82F1A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1432559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71759" y="260604"/>
            <a:ext cx="1767840" cy="176631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Lucida Console"/>
                <a:cs typeface="Lucida Consol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626F52"/>
                </a:solidFill>
                <a:latin typeface="Calibri"/>
                <a:cs typeface="Calibri"/>
              </a:defRPr>
            </a:lvl1pPr>
          </a:lstStyle>
          <a:p>
            <a:pPr marL="492125">
              <a:lnSpc>
                <a:spcPts val="2005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CB465-85DE-4F1F-9DE1-E98DC8D74418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1432559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71759" y="260604"/>
            <a:ext cx="1767840" cy="176631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Lucida Console"/>
                <a:cs typeface="Lucida Consol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046976" y="1920239"/>
            <a:ext cx="4904740" cy="4247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626F52"/>
                </a:solidFill>
                <a:latin typeface="Calibri"/>
                <a:cs typeface="Calibri"/>
              </a:defRPr>
            </a:lvl1pPr>
          </a:lstStyle>
          <a:p>
            <a:pPr marL="492125">
              <a:lnSpc>
                <a:spcPts val="2005"/>
              </a:lnSpc>
            </a:pP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60F62-DC5D-435D-8F76-564301EC5022}" type="datetime1">
              <a:rPr lang="en-US" smtClean="0"/>
              <a:t>4/15/2026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6688" y="120395"/>
            <a:ext cx="1889759" cy="188975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Lucida Console"/>
                <a:cs typeface="Lucida Consol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626F52"/>
                </a:solidFill>
                <a:latin typeface="Calibri"/>
                <a:cs typeface="Calibri"/>
              </a:defRPr>
            </a:lvl1pPr>
          </a:lstStyle>
          <a:p>
            <a:pPr marL="492125">
              <a:lnSpc>
                <a:spcPts val="2005"/>
              </a:lnSpc>
            </a:pP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D4D14D-FA65-47A7-A24D-F5D1BCB88E2F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6688" y="120395"/>
            <a:ext cx="1889759" cy="188975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626F52"/>
                </a:solidFill>
                <a:latin typeface="Calibri"/>
                <a:cs typeface="Calibri"/>
              </a:defRPr>
            </a:lvl1pPr>
          </a:lstStyle>
          <a:p>
            <a:pPr marL="492125">
              <a:lnSpc>
                <a:spcPts val="2005"/>
              </a:lnSpc>
            </a:pP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375652-9C82-4A6C-8AEF-4836DDDB77FF}" type="datetime1">
              <a:rPr lang="en-US" smtClean="0"/>
              <a:t>4/15/2026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820" y="569163"/>
            <a:ext cx="8684260" cy="757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Lucida Console"/>
                <a:cs typeface="Lucida Consol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321" y="1417648"/>
            <a:ext cx="6551295" cy="4762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00169" y="6525488"/>
            <a:ext cx="3877055" cy="2600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626F52"/>
                </a:solidFill>
                <a:latin typeface="Calibri"/>
                <a:cs typeface="Calibri"/>
              </a:defRPr>
            </a:lvl1pPr>
          </a:lstStyle>
          <a:p>
            <a:pPr marL="492125">
              <a:lnSpc>
                <a:spcPts val="2005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5F60EA-C0D1-4B44-8E3F-84B32C6795A6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rraform.io/downloads.html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rraform.io/docs/language/expressions/version-constraints.html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registry.terraform.io/providers/hashicorp/google/latest/docs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35" dirty="0">
                <a:latin typeface="Courier New"/>
                <a:cs typeface="Courier New"/>
              </a:rPr>
              <a:t>TERRAFORM</a:t>
            </a:r>
            <a:endParaRPr sz="44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4662" y="3375101"/>
            <a:ext cx="28422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4000" b="1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endParaRPr sz="4000" dirty="0">
              <a:latin typeface="Calibri"/>
              <a:cs typeface="Calibri"/>
            </a:endParaRPr>
          </a:p>
        </p:txBody>
      </p:sp>
      <p:pic>
        <p:nvPicPr>
          <p:cNvPr id="4" name="object 4" descr="i.pinimg.com/originals/28/ec/74/28ec7440a57536e..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2506979"/>
            <a:ext cx="2217420" cy="2218944"/>
          </a:xfrm>
          <a:prstGeom prst="rect">
            <a:avLst/>
          </a:prstGeom>
        </p:spPr>
      </p:pic>
      <p:pic>
        <p:nvPicPr>
          <p:cNvPr id="5" name="object 5" descr="File:Google &lt;strong&gt;Cloud&lt;/strong&gt; Logo.svg - Wikipedia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80931" y="2688335"/>
            <a:ext cx="2293620" cy="191414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7567421" y="3282315"/>
            <a:ext cx="864235" cy="714375"/>
            <a:chOff x="7567421" y="3282315"/>
            <a:chExt cx="864235" cy="714375"/>
          </a:xfrm>
        </p:grpSpPr>
        <p:sp>
          <p:nvSpPr>
            <p:cNvPr id="7" name="object 7"/>
            <p:cNvSpPr/>
            <p:nvPr/>
          </p:nvSpPr>
          <p:spPr>
            <a:xfrm>
              <a:off x="7575042" y="3290569"/>
              <a:ext cx="848994" cy="698500"/>
            </a:xfrm>
            <a:custGeom>
              <a:avLst/>
              <a:gdLst/>
              <a:ahLst/>
              <a:cxnLst/>
              <a:rect l="l" t="t" r="r" b="b"/>
              <a:pathLst>
                <a:path w="848995" h="698500">
                  <a:moveTo>
                    <a:pt x="848868" y="237490"/>
                  </a:moveTo>
                  <a:lnTo>
                    <a:pt x="536321" y="237490"/>
                  </a:lnTo>
                  <a:lnTo>
                    <a:pt x="536321" y="0"/>
                  </a:lnTo>
                  <a:lnTo>
                    <a:pt x="312547" y="0"/>
                  </a:lnTo>
                  <a:lnTo>
                    <a:pt x="312547" y="237490"/>
                  </a:lnTo>
                  <a:lnTo>
                    <a:pt x="0" y="237490"/>
                  </a:lnTo>
                  <a:lnTo>
                    <a:pt x="0" y="461010"/>
                  </a:lnTo>
                  <a:lnTo>
                    <a:pt x="312547" y="461010"/>
                  </a:lnTo>
                  <a:lnTo>
                    <a:pt x="312547" y="698500"/>
                  </a:lnTo>
                  <a:lnTo>
                    <a:pt x="536321" y="698500"/>
                  </a:lnTo>
                  <a:lnTo>
                    <a:pt x="536321" y="461010"/>
                  </a:lnTo>
                  <a:lnTo>
                    <a:pt x="848868" y="461010"/>
                  </a:lnTo>
                  <a:lnTo>
                    <a:pt x="848868" y="2374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75041" y="3289935"/>
              <a:ext cx="848994" cy="699135"/>
            </a:xfrm>
            <a:custGeom>
              <a:avLst/>
              <a:gdLst/>
              <a:ahLst/>
              <a:cxnLst/>
              <a:rect l="l" t="t" r="r" b="b"/>
              <a:pathLst>
                <a:path w="848995" h="699135">
                  <a:moveTo>
                    <a:pt x="0" y="237489"/>
                  </a:moveTo>
                  <a:lnTo>
                    <a:pt x="312547" y="237489"/>
                  </a:lnTo>
                  <a:lnTo>
                    <a:pt x="312547" y="0"/>
                  </a:lnTo>
                  <a:lnTo>
                    <a:pt x="536321" y="0"/>
                  </a:lnTo>
                  <a:lnTo>
                    <a:pt x="536321" y="237489"/>
                  </a:lnTo>
                  <a:lnTo>
                    <a:pt x="848867" y="237489"/>
                  </a:lnTo>
                  <a:lnTo>
                    <a:pt x="848867" y="461263"/>
                  </a:lnTo>
                  <a:lnTo>
                    <a:pt x="536321" y="461263"/>
                  </a:lnTo>
                  <a:lnTo>
                    <a:pt x="536321" y="698753"/>
                  </a:lnTo>
                  <a:lnTo>
                    <a:pt x="312547" y="698753"/>
                  </a:lnTo>
                  <a:lnTo>
                    <a:pt x="312547" y="461263"/>
                  </a:lnTo>
                  <a:lnTo>
                    <a:pt x="0" y="461263"/>
                  </a:lnTo>
                  <a:lnTo>
                    <a:pt x="0" y="237489"/>
                  </a:lnTo>
                  <a:close/>
                </a:path>
              </a:pathLst>
            </a:custGeom>
            <a:ln w="15240">
              <a:solidFill>
                <a:srgbClr val="404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0681" y="2605278"/>
            <a:ext cx="859536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Terraform</a:t>
            </a:r>
            <a:r>
              <a:rPr sz="5400" b="1" spc="-434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Using </a:t>
            </a:r>
            <a:r>
              <a:rPr sz="5400" b="1" dirty="0">
                <a:latin typeface="Courier New"/>
                <a:cs typeface="Courier New"/>
              </a:rPr>
              <a:t>Google</a:t>
            </a:r>
            <a:r>
              <a:rPr sz="5400" b="1" spc="-30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Cloud</a:t>
            </a:r>
            <a:r>
              <a:rPr sz="5400" b="1" spc="-290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Platform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76324" y="3504057"/>
            <a:ext cx="69107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Course</a:t>
            </a:r>
            <a:r>
              <a:rPr b="1" spc="-295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0681" y="2605278"/>
            <a:ext cx="655955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IAC,</a:t>
            </a:r>
            <a:r>
              <a:rPr sz="5400" b="1" spc="-32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Terraform</a:t>
            </a:r>
            <a:r>
              <a:rPr sz="5400" b="1" spc="-320" dirty="0">
                <a:latin typeface="Courier New"/>
                <a:cs typeface="Courier New"/>
              </a:rPr>
              <a:t> </a:t>
            </a:r>
            <a:r>
              <a:rPr sz="5400" b="1" spc="-50" dirty="0">
                <a:latin typeface="Courier New"/>
                <a:cs typeface="Courier New"/>
              </a:rPr>
              <a:t>&amp; </a:t>
            </a:r>
            <a:r>
              <a:rPr sz="5400" b="1" spc="-10" dirty="0">
                <a:latin typeface="Courier New"/>
                <a:cs typeface="Courier New"/>
              </a:rPr>
              <a:t>Installation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Traditional</a:t>
            </a:r>
            <a:r>
              <a:rPr b="1" spc="-550" dirty="0">
                <a:latin typeface="Courier New"/>
                <a:cs typeface="Courier New"/>
              </a:rPr>
              <a:t> </a:t>
            </a:r>
            <a:r>
              <a:rPr b="1" spc="-25" dirty="0">
                <a:latin typeface="Courier New"/>
                <a:cs typeface="Courier New"/>
              </a:rPr>
              <a:t>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4519" y="1433931"/>
            <a:ext cx="8619490" cy="493395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57810" indent="-245110">
              <a:lnSpc>
                <a:spcPct val="100000"/>
              </a:lnSpc>
              <a:spcBef>
                <a:spcPts val="459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5781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Dev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Lifecycle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works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359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200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20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requirement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359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BA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Convert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Requirement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Technical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detail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Architect/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Tech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lead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Infrastructure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hardware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require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contact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procurement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Buying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hardware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Datacenter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take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weeks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months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Infrastructure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team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Provision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hardware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Dev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Team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start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working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flow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very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slow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Deployment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Expensive,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Scaling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issue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Lots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team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involved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lead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error.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Need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overcome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above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issue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Public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Provider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solution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AWS,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GCP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36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Cloud,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Resource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provisioning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very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fast.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month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weeks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Public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provider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manage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everything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you.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Interaction</a:t>
            </a:r>
            <a:r>
              <a:rPr b="1" spc="-390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with</a:t>
            </a:r>
            <a:r>
              <a:rPr b="1" spc="-380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Cloud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5012" y="1552168"/>
            <a:ext cx="9920605" cy="411543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4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Console/Portal</a:t>
            </a:r>
            <a:endParaRPr sz="2000">
              <a:latin typeface="Calibri"/>
              <a:cs typeface="Calibri"/>
            </a:endParaRPr>
          </a:p>
          <a:p>
            <a:pPr marL="471170" lvl="1" indent="-257175">
              <a:lnSpc>
                <a:spcPct val="100000"/>
              </a:lnSpc>
              <a:spcBef>
                <a:spcPts val="595"/>
              </a:spcBef>
              <a:buClr>
                <a:srgbClr val="E38312"/>
              </a:buClr>
              <a:buSzPct val="111111"/>
              <a:buFont typeface="Wingdings"/>
              <a:buChar char=""/>
              <a:tabLst>
                <a:tab pos="47117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Compared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Traditional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Flow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better</a:t>
            </a:r>
            <a:endParaRPr sz="1800">
              <a:latin typeface="Calibri"/>
              <a:cs typeface="Calibri"/>
            </a:endParaRPr>
          </a:p>
          <a:p>
            <a:pPr marL="448309" lvl="1" indent="-234315">
              <a:lnSpc>
                <a:spcPct val="100000"/>
              </a:lnSpc>
              <a:spcBef>
                <a:spcPts val="660"/>
              </a:spcBef>
              <a:buClr>
                <a:srgbClr val="E38312"/>
              </a:buClr>
              <a:buFont typeface="Wingdings"/>
              <a:buChar char=""/>
              <a:tabLst>
                <a:tab pos="448309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few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clicks,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provision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VM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endParaRPr sz="1800">
              <a:latin typeface="Calibri"/>
              <a:cs typeface="Calibri"/>
            </a:endParaRPr>
          </a:p>
          <a:p>
            <a:pPr marL="448309" lvl="1" indent="-23431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48309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good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enough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managing</a:t>
            </a:r>
            <a:r>
              <a:rPr sz="1800" spc="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limited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resource</a:t>
            </a:r>
            <a:endParaRPr sz="18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5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Programmatic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way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endParaRPr sz="2000">
              <a:latin typeface="Calibri"/>
              <a:cs typeface="Calibri"/>
            </a:endParaRPr>
          </a:p>
          <a:p>
            <a:pPr marL="471170" lvl="1" indent="-257175">
              <a:lnSpc>
                <a:spcPct val="100000"/>
              </a:lnSpc>
              <a:spcBef>
                <a:spcPts val="595"/>
              </a:spcBef>
              <a:buClr>
                <a:srgbClr val="E38312"/>
              </a:buClr>
              <a:buSzPct val="111111"/>
              <a:buFont typeface="Wingdings"/>
              <a:buChar char=""/>
              <a:tabLst>
                <a:tab pos="47117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Python,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java,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Shell</a:t>
            </a:r>
            <a:endParaRPr sz="1800">
              <a:latin typeface="Calibri"/>
              <a:cs typeface="Calibri"/>
            </a:endParaRPr>
          </a:p>
          <a:p>
            <a:pPr marL="448309" lvl="1" indent="-234315">
              <a:lnSpc>
                <a:spcPct val="100000"/>
              </a:lnSpc>
              <a:spcBef>
                <a:spcPts val="650"/>
              </a:spcBef>
              <a:buClr>
                <a:srgbClr val="E38312"/>
              </a:buClr>
              <a:buFont typeface="Wingdings"/>
              <a:buChar char=""/>
              <a:tabLst>
                <a:tab pos="448309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Team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write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script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resource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provisioning</a:t>
            </a:r>
            <a:endParaRPr sz="1800">
              <a:latin typeface="Calibri"/>
              <a:cs typeface="Calibri"/>
            </a:endParaRPr>
          </a:p>
          <a:p>
            <a:pPr marL="448309" lvl="1" indent="-23431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48309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There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unique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approach</a:t>
            </a:r>
            <a:endParaRPr sz="1800">
              <a:latin typeface="Calibri"/>
              <a:cs typeface="Calibri"/>
            </a:endParaRPr>
          </a:p>
          <a:p>
            <a:pPr marL="448309" lvl="1" indent="-23431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48309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Organization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try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solve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same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problem,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way</a:t>
            </a:r>
            <a:endParaRPr sz="1800">
              <a:latin typeface="Calibri"/>
              <a:cs typeface="Calibri"/>
            </a:endParaRPr>
          </a:p>
          <a:p>
            <a:pPr marL="448309" lvl="1" indent="-234315">
              <a:lnSpc>
                <a:spcPct val="100000"/>
              </a:lnSpc>
              <a:spcBef>
                <a:spcPts val="595"/>
              </a:spcBef>
              <a:buClr>
                <a:srgbClr val="E38312"/>
              </a:buClr>
              <a:buFont typeface="Wingdings"/>
              <a:buChar char=""/>
              <a:tabLst>
                <a:tab pos="448309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There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comes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common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unifying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approach,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language,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tool</a:t>
            </a:r>
            <a:r>
              <a:rPr sz="1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infrastructure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creation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inside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Clou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endParaRPr sz="2000">
              <a:latin typeface="Calibri"/>
              <a:cs typeface="Calibri"/>
            </a:endParaRPr>
          </a:p>
          <a:p>
            <a:pPr marL="470534" lvl="1" indent="-25654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Docker,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Puppet,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Ansible,</a:t>
            </a:r>
            <a:r>
              <a:rPr sz="2000" spc="3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terraform,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packer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i.pinimg.com/originals/28/ec/74/28ec7440a57536e..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34600" y="5279134"/>
            <a:ext cx="1545336" cy="1545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5" dirty="0">
                <a:latin typeface="Courier New"/>
                <a:cs typeface="Courier New"/>
              </a:rPr>
              <a:t>IAC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8223" y="1544684"/>
            <a:ext cx="5419725" cy="147320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Resource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provisioning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Shell/Python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script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creating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VM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writing/maintaining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such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sz="2000" spc="3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tedious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task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46976" y="1920239"/>
            <a:ext cx="4904740" cy="4247515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33019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59"/>
              </a:spcBef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resource</a:t>
            </a:r>
            <a:r>
              <a:rPr sz="1800" spc="-4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"google_compute_instance"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"first-instance"</a:t>
            </a:r>
            <a:r>
              <a:rPr sz="1800" spc="-1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2455">
              <a:lnSpc>
                <a:spcPct val="100000"/>
              </a:lnSpc>
            </a:pP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name</a:t>
            </a:r>
            <a:r>
              <a:rPr sz="18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"hello-</a:t>
            </a:r>
            <a:r>
              <a:rPr sz="1800" spc="-25" dirty="0">
                <a:solidFill>
                  <a:srgbClr val="CE9178"/>
                </a:solidFill>
                <a:latin typeface="Consolas"/>
                <a:cs typeface="Consolas"/>
              </a:rPr>
              <a:t>1"</a:t>
            </a:r>
            <a:endParaRPr sz="1800">
              <a:latin typeface="Consolas"/>
              <a:cs typeface="Consolas"/>
            </a:endParaRPr>
          </a:p>
          <a:p>
            <a:pPr marL="592455" marR="542925">
              <a:lnSpc>
                <a:spcPct val="100000"/>
              </a:lnSpc>
            </a:pP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zone</a:t>
            </a:r>
            <a:r>
              <a:rPr sz="1800" spc="3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"us-central1-</a:t>
            </a:r>
            <a:r>
              <a:rPr sz="1800" spc="-25" dirty="0">
                <a:solidFill>
                  <a:srgbClr val="CE9178"/>
                </a:solidFill>
                <a:latin typeface="Consolas"/>
                <a:cs typeface="Consolas"/>
              </a:rPr>
              <a:t>a"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machine_type</a:t>
            </a:r>
            <a:r>
              <a:rPr sz="18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"n1-standard-</a:t>
            </a:r>
            <a:r>
              <a:rPr sz="1800" spc="-25" dirty="0">
                <a:solidFill>
                  <a:srgbClr val="CE9178"/>
                </a:solidFill>
                <a:latin typeface="Consolas"/>
                <a:cs typeface="Consolas"/>
              </a:rPr>
              <a:t>1"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boot_disk</a:t>
            </a:r>
            <a:r>
              <a:rPr sz="1800" spc="-3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1095375">
              <a:lnSpc>
                <a:spcPct val="100000"/>
              </a:lnSpc>
            </a:pP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initialize_params</a:t>
            </a:r>
            <a:r>
              <a:rPr sz="1800" spc="-8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1597025">
              <a:lnSpc>
                <a:spcPct val="100000"/>
              </a:lnSpc>
            </a:pP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image</a:t>
            </a:r>
            <a:r>
              <a:rPr sz="18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"debian-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cloud/debian-</a:t>
            </a:r>
            <a:r>
              <a:rPr sz="1800" spc="-25" dirty="0">
                <a:solidFill>
                  <a:srgbClr val="CE9178"/>
                </a:solidFill>
                <a:latin typeface="Consolas"/>
                <a:cs typeface="Consolas"/>
              </a:rPr>
              <a:t>9"</a:t>
            </a:r>
            <a:endParaRPr sz="1800">
              <a:latin typeface="Consolas"/>
              <a:cs typeface="Consolas"/>
            </a:endParaRPr>
          </a:p>
          <a:p>
            <a:pPr marL="1095375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592455">
              <a:lnSpc>
                <a:spcPct val="100000"/>
              </a:lnSpc>
            </a:pP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095375" marR="1419225" indent="-503555">
              <a:lnSpc>
                <a:spcPct val="100000"/>
              </a:lnSpc>
            </a:pP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network_interface</a:t>
            </a:r>
            <a:r>
              <a:rPr sz="1800" spc="-6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{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network</a:t>
            </a:r>
            <a:r>
              <a:rPr sz="1800" spc="-3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"default"</a:t>
            </a:r>
            <a:endParaRPr sz="1800">
              <a:latin typeface="Consolas"/>
              <a:cs typeface="Consolas"/>
            </a:endParaRPr>
          </a:p>
          <a:p>
            <a:pPr marL="592455">
              <a:lnSpc>
                <a:spcPct val="100000"/>
              </a:lnSpc>
            </a:pP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1227" y="3681984"/>
            <a:ext cx="5544820" cy="1754505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0"/>
              </a:spcBef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Create</a:t>
            </a:r>
            <a:r>
              <a:rPr sz="1800" spc="-4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spc="-25" dirty="0">
                <a:solidFill>
                  <a:srgbClr val="559CD5"/>
                </a:solidFill>
                <a:latin typeface="Consolas"/>
                <a:cs typeface="Consolas"/>
              </a:rPr>
              <a:t>N/W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Wait</a:t>
            </a:r>
            <a:r>
              <a:rPr sz="1800" spc="-2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for</a:t>
            </a:r>
            <a:r>
              <a:rPr sz="1800" spc="-1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above</a:t>
            </a:r>
            <a:r>
              <a:rPr sz="1800" spc="-2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step</a:t>
            </a:r>
            <a:r>
              <a:rPr sz="1800" spc="-1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to</a:t>
            </a:r>
            <a:r>
              <a:rPr sz="1800" spc="-2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559CD5"/>
                </a:solidFill>
                <a:latin typeface="Consolas"/>
                <a:cs typeface="Consolas"/>
              </a:rPr>
              <a:t>finish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Provision</a:t>
            </a:r>
            <a:r>
              <a:rPr sz="1800" spc="-6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559CD5"/>
                </a:solidFill>
                <a:latin typeface="Consolas"/>
                <a:cs typeface="Consolas"/>
              </a:rPr>
              <a:t>Subnet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Create</a:t>
            </a:r>
            <a:r>
              <a:rPr sz="1800" spc="-4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Firewall</a:t>
            </a:r>
            <a:r>
              <a:rPr sz="1800" spc="-3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spc="-20" dirty="0">
                <a:solidFill>
                  <a:srgbClr val="559CD5"/>
                </a:solidFill>
                <a:latin typeface="Consolas"/>
                <a:cs typeface="Consolas"/>
              </a:rPr>
              <a:t>rule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Wait</a:t>
            </a:r>
            <a:r>
              <a:rPr sz="1800" spc="-3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for</a:t>
            </a:r>
            <a:r>
              <a:rPr sz="1800" spc="-1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above</a:t>
            </a:r>
            <a:r>
              <a:rPr sz="1800" spc="-2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step</a:t>
            </a:r>
            <a:r>
              <a:rPr sz="1800" spc="-1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to</a:t>
            </a:r>
            <a:r>
              <a:rPr sz="1800" spc="-2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559CD5"/>
                </a:solidFill>
                <a:latin typeface="Consolas"/>
                <a:cs typeface="Consolas"/>
              </a:rPr>
              <a:t>finish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Compute</a:t>
            </a:r>
            <a:r>
              <a:rPr sz="1800" spc="-3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engine</a:t>
            </a:r>
            <a:r>
              <a:rPr sz="1800" spc="-3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instance</a:t>
            </a:r>
            <a:r>
              <a:rPr sz="1800" spc="-2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with</a:t>
            </a:r>
            <a:r>
              <a:rPr sz="1800" spc="-2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all</a:t>
            </a:r>
            <a:r>
              <a:rPr sz="1800" spc="-2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559CD5"/>
                </a:solidFill>
                <a:latin typeface="Consolas"/>
                <a:cs typeface="Consolas"/>
              </a:rPr>
              <a:t>parameter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0" dirty="0">
                <a:latin typeface="Courier New"/>
                <a:cs typeface="Courier New"/>
              </a:rPr>
              <a:t>Terraform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5012" y="1356969"/>
            <a:ext cx="8099425" cy="5173345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26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Terraform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most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popular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tool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Infrastructure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provisioning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Free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Open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source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5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Developed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HashiCorp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Quick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easy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get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started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binary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6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Master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HCL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terraform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short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span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5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Terraform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provider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available.</a:t>
            </a:r>
            <a:endParaRPr sz="2000">
              <a:latin typeface="Calibri"/>
              <a:cs typeface="Calibri"/>
            </a:endParaRPr>
          </a:p>
          <a:p>
            <a:pPr marL="104139" marR="398145" indent="-91440">
              <a:lnSpc>
                <a:spcPts val="2160"/>
              </a:lnSpc>
              <a:spcBef>
                <a:spcPts val="1435"/>
              </a:spcBef>
              <a:buClr>
                <a:srgbClr val="E38312"/>
              </a:buClr>
              <a:buFont typeface="Wingdings"/>
              <a:buChar char=""/>
              <a:tabLst>
                <a:tab pos="104139" algn="l"/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Apart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Public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cloud,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lots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pf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provider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available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for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network,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DNS,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Firewall,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3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Write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configuration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HCL/JSON.</a:t>
            </a:r>
            <a:endParaRPr sz="2000">
              <a:latin typeface="Calibri"/>
              <a:cs typeface="Calibri"/>
            </a:endParaRPr>
          </a:p>
          <a:p>
            <a:pPr marL="471170" lvl="1" indent="-257175">
              <a:lnSpc>
                <a:spcPct val="100000"/>
              </a:lnSpc>
              <a:spcBef>
                <a:spcPts val="355"/>
              </a:spcBef>
              <a:buClr>
                <a:srgbClr val="E38312"/>
              </a:buClr>
              <a:buSzPct val="111111"/>
              <a:buFont typeface="Wingdings"/>
              <a:buChar char=""/>
              <a:tabLst>
                <a:tab pos="47117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HCL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preferred.</a:t>
            </a:r>
            <a:endParaRPr sz="18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Terraform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agentless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tool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6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configuration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tool.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Work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well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Ansible.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File:Amazon Web Services Logo.svg - Wikimedia Common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68256" y="2602992"/>
            <a:ext cx="1720596" cy="1031748"/>
          </a:xfrm>
          <a:prstGeom prst="rect">
            <a:avLst/>
          </a:prstGeom>
        </p:spPr>
      </p:pic>
      <p:pic>
        <p:nvPicPr>
          <p:cNvPr id="5" name="object 5" descr="File:Microsoft Azure Logo.svg - Wikimedia Common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91243" y="3828288"/>
            <a:ext cx="2674620" cy="772668"/>
          </a:xfrm>
          <a:prstGeom prst="rect">
            <a:avLst/>
          </a:prstGeom>
        </p:spPr>
      </p:pic>
      <p:pic>
        <p:nvPicPr>
          <p:cNvPr id="6" name="object 6" descr="File:Google &lt;strong&gt;Cloud&lt;/strong&gt; Logo.svg - Wikipedia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55707" y="4983479"/>
            <a:ext cx="1345692" cy="11231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27403" y="1668779"/>
            <a:ext cx="5701665" cy="0"/>
          </a:xfrm>
          <a:custGeom>
            <a:avLst/>
            <a:gdLst/>
            <a:ahLst/>
            <a:cxnLst/>
            <a:rect l="l" t="t" r="r" b="b"/>
            <a:pathLst>
              <a:path w="5701665">
                <a:moveTo>
                  <a:pt x="0" y="0"/>
                </a:moveTo>
                <a:lnTo>
                  <a:pt x="5701284" y="0"/>
                </a:lnTo>
              </a:path>
            </a:pathLst>
          </a:custGeom>
          <a:ln w="15240">
            <a:solidFill>
              <a:srgbClr val="AB4F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Terraform</a:t>
            </a:r>
            <a:r>
              <a:rPr b="1" spc="-29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is</a:t>
            </a:r>
            <a:r>
              <a:rPr b="1" spc="-285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idempotent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71980" y="1681098"/>
            <a:ext cx="1022350" cy="4629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ts val="1639"/>
              </a:lnSpc>
              <a:spcBef>
                <a:spcPts val="285"/>
              </a:spcBef>
            </a:pP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Python/Shell script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20772" y="1713738"/>
            <a:ext cx="145161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9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21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Calibri"/>
                <a:cs typeface="Calibri"/>
              </a:rPr>
              <a:t>VM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67355" y="2156460"/>
            <a:ext cx="4561840" cy="0"/>
          </a:xfrm>
          <a:custGeom>
            <a:avLst/>
            <a:gdLst/>
            <a:ahLst/>
            <a:cxnLst/>
            <a:rect l="l" t="t" r="r" b="b"/>
            <a:pathLst>
              <a:path w="4561840">
                <a:moveTo>
                  <a:pt x="0" y="0"/>
                </a:moveTo>
                <a:lnTo>
                  <a:pt x="4561332" y="0"/>
                </a:lnTo>
              </a:path>
            </a:pathLst>
          </a:custGeom>
          <a:ln w="15240">
            <a:solidFill>
              <a:srgbClr val="BC5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67355" y="2645664"/>
            <a:ext cx="4561840" cy="0"/>
          </a:xfrm>
          <a:custGeom>
            <a:avLst/>
            <a:gdLst/>
            <a:ahLst/>
            <a:cxnLst/>
            <a:rect l="l" t="t" r="r" b="b"/>
            <a:pathLst>
              <a:path w="4561840">
                <a:moveTo>
                  <a:pt x="0" y="0"/>
                </a:moveTo>
                <a:lnTo>
                  <a:pt x="4561332" y="0"/>
                </a:lnTo>
              </a:path>
            </a:pathLst>
          </a:custGeom>
          <a:ln w="15240">
            <a:solidFill>
              <a:srgbClr val="BC5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67355" y="3134867"/>
            <a:ext cx="4561840" cy="0"/>
          </a:xfrm>
          <a:custGeom>
            <a:avLst/>
            <a:gdLst/>
            <a:ahLst/>
            <a:cxnLst/>
            <a:rect l="l" t="t" r="r" b="b"/>
            <a:pathLst>
              <a:path w="4561840">
                <a:moveTo>
                  <a:pt x="0" y="0"/>
                </a:moveTo>
                <a:lnTo>
                  <a:pt x="4561332" y="0"/>
                </a:lnTo>
              </a:path>
            </a:pathLst>
          </a:custGeom>
          <a:ln w="15240">
            <a:solidFill>
              <a:srgbClr val="BC5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620772" y="2033650"/>
            <a:ext cx="2811780" cy="1492250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run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2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times</a:t>
            </a:r>
            <a:endParaRPr sz="2100">
              <a:latin typeface="Calibri"/>
              <a:cs typeface="Calibri"/>
            </a:endParaRPr>
          </a:p>
          <a:p>
            <a:pPr marL="12700" marR="5080">
              <a:lnSpc>
                <a:spcPct val="152700"/>
              </a:lnSpc>
            </a:pP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2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resource</a:t>
            </a:r>
            <a:r>
              <a:rPr sz="2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2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created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2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cost</a:t>
            </a:r>
            <a:r>
              <a:rPr sz="2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2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times.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467355" y="3624071"/>
            <a:ext cx="4561840" cy="0"/>
          </a:xfrm>
          <a:custGeom>
            <a:avLst/>
            <a:gdLst/>
            <a:ahLst/>
            <a:cxnLst/>
            <a:rect l="l" t="t" r="r" b="b"/>
            <a:pathLst>
              <a:path w="4561840">
                <a:moveTo>
                  <a:pt x="0" y="0"/>
                </a:moveTo>
                <a:lnTo>
                  <a:pt x="4561332" y="0"/>
                </a:lnTo>
              </a:path>
            </a:pathLst>
          </a:custGeom>
          <a:ln w="15240">
            <a:solidFill>
              <a:srgbClr val="BC5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27403" y="4405884"/>
            <a:ext cx="5701665" cy="0"/>
          </a:xfrm>
          <a:custGeom>
            <a:avLst/>
            <a:gdLst/>
            <a:ahLst/>
            <a:cxnLst/>
            <a:rect l="l" t="t" r="r" b="b"/>
            <a:pathLst>
              <a:path w="5701665">
                <a:moveTo>
                  <a:pt x="0" y="0"/>
                </a:moveTo>
                <a:lnTo>
                  <a:pt x="5701284" y="0"/>
                </a:lnTo>
              </a:path>
            </a:pathLst>
          </a:custGeom>
          <a:ln w="15240">
            <a:solidFill>
              <a:srgbClr val="AB4F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387221" y="4425188"/>
            <a:ext cx="1000125" cy="579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85"/>
              </a:lnSpc>
              <a:spcBef>
                <a:spcPts val="95"/>
              </a:spcBef>
            </a:pP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Terraform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ts val="2185"/>
              </a:lnSpc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HCL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script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20772" y="4451730"/>
            <a:ext cx="145161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9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21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Calibri"/>
                <a:cs typeface="Calibri"/>
              </a:rPr>
              <a:t>VM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467355" y="4895088"/>
            <a:ext cx="4561840" cy="0"/>
          </a:xfrm>
          <a:custGeom>
            <a:avLst/>
            <a:gdLst/>
            <a:ahLst/>
            <a:cxnLst/>
            <a:rect l="l" t="t" r="r" b="b"/>
            <a:pathLst>
              <a:path w="4561840">
                <a:moveTo>
                  <a:pt x="0" y="0"/>
                </a:moveTo>
                <a:lnTo>
                  <a:pt x="4561332" y="0"/>
                </a:lnTo>
              </a:path>
            </a:pathLst>
          </a:custGeom>
          <a:ln w="15240">
            <a:solidFill>
              <a:srgbClr val="BC5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67355" y="5382767"/>
            <a:ext cx="4561840" cy="0"/>
          </a:xfrm>
          <a:custGeom>
            <a:avLst/>
            <a:gdLst/>
            <a:ahLst/>
            <a:cxnLst/>
            <a:rect l="l" t="t" r="r" b="b"/>
            <a:pathLst>
              <a:path w="4561840">
                <a:moveTo>
                  <a:pt x="0" y="0"/>
                </a:moveTo>
                <a:lnTo>
                  <a:pt x="4561332" y="0"/>
                </a:lnTo>
              </a:path>
            </a:pathLst>
          </a:custGeom>
          <a:ln w="15240">
            <a:solidFill>
              <a:srgbClr val="BC5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620772" y="4771644"/>
            <a:ext cx="3369945" cy="1003300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run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21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times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sz="2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2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resource</a:t>
            </a:r>
            <a:r>
              <a:rPr sz="2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2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created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467355" y="5871971"/>
            <a:ext cx="4561840" cy="0"/>
          </a:xfrm>
          <a:custGeom>
            <a:avLst/>
            <a:gdLst/>
            <a:ahLst/>
            <a:cxnLst/>
            <a:rect l="l" t="t" r="r" b="b"/>
            <a:pathLst>
              <a:path w="4561840">
                <a:moveTo>
                  <a:pt x="0" y="0"/>
                </a:moveTo>
                <a:lnTo>
                  <a:pt x="4561332" y="0"/>
                </a:lnTo>
              </a:path>
            </a:pathLst>
          </a:custGeom>
          <a:ln w="15240">
            <a:solidFill>
              <a:srgbClr val="BC5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620772" y="5918403"/>
            <a:ext cx="247269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2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cost</a:t>
            </a:r>
            <a:r>
              <a:rPr sz="2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2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times.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67355" y="6361176"/>
            <a:ext cx="4561840" cy="0"/>
          </a:xfrm>
          <a:custGeom>
            <a:avLst/>
            <a:gdLst/>
            <a:ahLst/>
            <a:cxnLst/>
            <a:rect l="l" t="t" r="r" b="b"/>
            <a:pathLst>
              <a:path w="4561840">
                <a:moveTo>
                  <a:pt x="0" y="0"/>
                </a:moveTo>
                <a:lnTo>
                  <a:pt x="4561332" y="0"/>
                </a:lnTo>
              </a:path>
            </a:pathLst>
          </a:custGeom>
          <a:ln w="15240">
            <a:solidFill>
              <a:srgbClr val="BC5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7935468" y="1932432"/>
            <a:ext cx="2124710" cy="472440"/>
            <a:chOff x="7935468" y="1932432"/>
            <a:chExt cx="2124710" cy="472440"/>
          </a:xfrm>
        </p:grpSpPr>
        <p:sp>
          <p:nvSpPr>
            <p:cNvPr id="21" name="object 21"/>
            <p:cNvSpPr/>
            <p:nvPr/>
          </p:nvSpPr>
          <p:spPr>
            <a:xfrm>
              <a:off x="7943088" y="1940052"/>
              <a:ext cx="565785" cy="452755"/>
            </a:xfrm>
            <a:custGeom>
              <a:avLst/>
              <a:gdLst/>
              <a:ahLst/>
              <a:cxnLst/>
              <a:rect l="l" t="t" r="r" b="b"/>
              <a:pathLst>
                <a:path w="565784" h="452755">
                  <a:moveTo>
                    <a:pt x="565403" y="0"/>
                  </a:moveTo>
                  <a:lnTo>
                    <a:pt x="0" y="0"/>
                  </a:lnTo>
                  <a:lnTo>
                    <a:pt x="0" y="452627"/>
                  </a:lnTo>
                  <a:lnTo>
                    <a:pt x="565403" y="452627"/>
                  </a:lnTo>
                  <a:lnTo>
                    <a:pt x="565403" y="0"/>
                  </a:lnTo>
                  <a:close/>
                </a:path>
              </a:pathLst>
            </a:custGeom>
            <a:solidFill>
              <a:srgbClr val="5F43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943088" y="1940052"/>
              <a:ext cx="565785" cy="452755"/>
            </a:xfrm>
            <a:custGeom>
              <a:avLst/>
              <a:gdLst/>
              <a:ahLst/>
              <a:cxnLst/>
              <a:rect l="l" t="t" r="r" b="b"/>
              <a:pathLst>
                <a:path w="565784" h="452755">
                  <a:moveTo>
                    <a:pt x="0" y="452627"/>
                  </a:moveTo>
                  <a:lnTo>
                    <a:pt x="565403" y="452627"/>
                  </a:lnTo>
                  <a:lnTo>
                    <a:pt x="565403" y="0"/>
                  </a:lnTo>
                  <a:lnTo>
                    <a:pt x="0" y="0"/>
                  </a:lnTo>
                  <a:lnTo>
                    <a:pt x="0" y="452627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705088" y="1940052"/>
              <a:ext cx="565785" cy="452755"/>
            </a:xfrm>
            <a:custGeom>
              <a:avLst/>
              <a:gdLst/>
              <a:ahLst/>
              <a:cxnLst/>
              <a:rect l="l" t="t" r="r" b="b"/>
              <a:pathLst>
                <a:path w="565784" h="452755">
                  <a:moveTo>
                    <a:pt x="565403" y="0"/>
                  </a:moveTo>
                  <a:lnTo>
                    <a:pt x="0" y="0"/>
                  </a:lnTo>
                  <a:lnTo>
                    <a:pt x="0" y="452627"/>
                  </a:lnTo>
                  <a:lnTo>
                    <a:pt x="565403" y="452627"/>
                  </a:lnTo>
                  <a:lnTo>
                    <a:pt x="565403" y="0"/>
                  </a:lnTo>
                  <a:close/>
                </a:path>
              </a:pathLst>
            </a:custGeom>
            <a:solidFill>
              <a:srgbClr val="5F43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705088" y="1940052"/>
              <a:ext cx="565785" cy="452755"/>
            </a:xfrm>
            <a:custGeom>
              <a:avLst/>
              <a:gdLst/>
              <a:ahLst/>
              <a:cxnLst/>
              <a:rect l="l" t="t" r="r" b="b"/>
              <a:pathLst>
                <a:path w="565784" h="452755">
                  <a:moveTo>
                    <a:pt x="0" y="452627"/>
                  </a:moveTo>
                  <a:lnTo>
                    <a:pt x="565403" y="452627"/>
                  </a:lnTo>
                  <a:lnTo>
                    <a:pt x="565403" y="0"/>
                  </a:lnTo>
                  <a:lnTo>
                    <a:pt x="0" y="0"/>
                  </a:lnTo>
                  <a:lnTo>
                    <a:pt x="0" y="452627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486900" y="1944624"/>
              <a:ext cx="565785" cy="452755"/>
            </a:xfrm>
            <a:custGeom>
              <a:avLst/>
              <a:gdLst/>
              <a:ahLst/>
              <a:cxnLst/>
              <a:rect l="l" t="t" r="r" b="b"/>
              <a:pathLst>
                <a:path w="565784" h="452755">
                  <a:moveTo>
                    <a:pt x="565403" y="0"/>
                  </a:moveTo>
                  <a:lnTo>
                    <a:pt x="0" y="0"/>
                  </a:lnTo>
                  <a:lnTo>
                    <a:pt x="0" y="452627"/>
                  </a:lnTo>
                  <a:lnTo>
                    <a:pt x="565403" y="452627"/>
                  </a:lnTo>
                  <a:lnTo>
                    <a:pt x="565403" y="0"/>
                  </a:lnTo>
                  <a:close/>
                </a:path>
              </a:pathLst>
            </a:custGeom>
            <a:solidFill>
              <a:srgbClr val="5F43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486900" y="1944624"/>
              <a:ext cx="565785" cy="452755"/>
            </a:xfrm>
            <a:custGeom>
              <a:avLst/>
              <a:gdLst/>
              <a:ahLst/>
              <a:cxnLst/>
              <a:rect l="l" t="t" r="r" b="b"/>
              <a:pathLst>
                <a:path w="565784" h="452755">
                  <a:moveTo>
                    <a:pt x="0" y="452627"/>
                  </a:moveTo>
                  <a:lnTo>
                    <a:pt x="565403" y="452627"/>
                  </a:lnTo>
                  <a:lnTo>
                    <a:pt x="565403" y="0"/>
                  </a:lnTo>
                  <a:lnTo>
                    <a:pt x="0" y="0"/>
                  </a:lnTo>
                  <a:lnTo>
                    <a:pt x="0" y="452627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7935468" y="5094732"/>
            <a:ext cx="581025" cy="467995"/>
            <a:chOff x="7935468" y="5094732"/>
            <a:chExt cx="581025" cy="467995"/>
          </a:xfrm>
        </p:grpSpPr>
        <p:sp>
          <p:nvSpPr>
            <p:cNvPr id="28" name="object 28"/>
            <p:cNvSpPr/>
            <p:nvPr/>
          </p:nvSpPr>
          <p:spPr>
            <a:xfrm>
              <a:off x="7943088" y="5102352"/>
              <a:ext cx="565785" cy="452755"/>
            </a:xfrm>
            <a:custGeom>
              <a:avLst/>
              <a:gdLst/>
              <a:ahLst/>
              <a:cxnLst/>
              <a:rect l="l" t="t" r="r" b="b"/>
              <a:pathLst>
                <a:path w="565784" h="452754">
                  <a:moveTo>
                    <a:pt x="565403" y="0"/>
                  </a:moveTo>
                  <a:lnTo>
                    <a:pt x="0" y="0"/>
                  </a:lnTo>
                  <a:lnTo>
                    <a:pt x="0" y="452628"/>
                  </a:lnTo>
                  <a:lnTo>
                    <a:pt x="565403" y="452628"/>
                  </a:lnTo>
                  <a:lnTo>
                    <a:pt x="565403" y="0"/>
                  </a:lnTo>
                  <a:close/>
                </a:path>
              </a:pathLst>
            </a:custGeom>
            <a:solidFill>
              <a:srgbClr val="5F43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943088" y="5102352"/>
              <a:ext cx="565785" cy="452755"/>
            </a:xfrm>
            <a:custGeom>
              <a:avLst/>
              <a:gdLst/>
              <a:ahLst/>
              <a:cxnLst/>
              <a:rect l="l" t="t" r="r" b="b"/>
              <a:pathLst>
                <a:path w="565784" h="452754">
                  <a:moveTo>
                    <a:pt x="0" y="452628"/>
                  </a:moveTo>
                  <a:lnTo>
                    <a:pt x="565403" y="452628"/>
                  </a:lnTo>
                  <a:lnTo>
                    <a:pt x="565403" y="0"/>
                  </a:lnTo>
                  <a:lnTo>
                    <a:pt x="0" y="0"/>
                  </a:lnTo>
                  <a:lnTo>
                    <a:pt x="0" y="452628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Native</a:t>
            </a:r>
            <a:r>
              <a:rPr b="1" spc="-305" dirty="0">
                <a:latin typeface="Courier New"/>
                <a:cs typeface="Courier New"/>
              </a:rPr>
              <a:t> </a:t>
            </a:r>
            <a:r>
              <a:rPr b="1" spc="-20" dirty="0">
                <a:latin typeface="Courier New"/>
                <a:cs typeface="Courier New"/>
              </a:rPr>
              <a:t>tool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8223" y="1544684"/>
            <a:ext cx="7606030" cy="340423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Native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tool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available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infrastructure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provisioning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Azure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Template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Deployment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manager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AWS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000" spc="3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Formation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JSON/Yaml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Terraform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agnostic.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provider,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resource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provisioned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cloud.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File:Amazon Web Services Logo.svg - Wikimedia Common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6316" y="2289048"/>
            <a:ext cx="1720596" cy="1031748"/>
          </a:xfrm>
          <a:prstGeom prst="rect">
            <a:avLst/>
          </a:prstGeom>
        </p:spPr>
      </p:pic>
      <p:pic>
        <p:nvPicPr>
          <p:cNvPr id="5" name="object 5" descr="File:Microsoft Azure Logo.svg - Wikimedia Common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09304" y="3514344"/>
            <a:ext cx="2674620" cy="772667"/>
          </a:xfrm>
          <a:prstGeom prst="rect">
            <a:avLst/>
          </a:prstGeom>
        </p:spPr>
      </p:pic>
      <p:pic>
        <p:nvPicPr>
          <p:cNvPr id="6" name="object 6" descr="File:Google &lt;strong&gt;Cloud&lt;/strong&gt; Logo.svg - Wikipedia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73768" y="4668011"/>
            <a:ext cx="1345692" cy="11231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5592" y="1705355"/>
            <a:ext cx="2374392" cy="438607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Terraform</a:t>
            </a:r>
            <a:r>
              <a:rPr b="1" spc="-465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Installation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8223" y="1544684"/>
            <a:ext cx="5323840" cy="465010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Available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major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OS: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Visit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https://www.terraform.io/downloads.html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Download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Binary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Unzip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it.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Export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Path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variable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Windows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see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export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PATH=$PATH:path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terraform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binary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verify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terraform</a:t>
            </a:r>
            <a:r>
              <a:rPr sz="2000" u="sng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version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Editor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Free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favorite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editor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Let’s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0681" y="3427933"/>
            <a:ext cx="819086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Terraform</a:t>
            </a:r>
            <a:r>
              <a:rPr sz="5400" b="1" spc="-290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Basics</a:t>
            </a:r>
            <a:r>
              <a:rPr sz="5400" b="1" spc="-250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-</a:t>
            </a:r>
            <a:r>
              <a:rPr sz="5400" b="1" spc="-285" dirty="0">
                <a:latin typeface="Courier New"/>
                <a:cs typeface="Courier New"/>
              </a:rPr>
              <a:t> </a:t>
            </a:r>
            <a:r>
              <a:rPr sz="5400" b="1" spc="-50" dirty="0">
                <a:latin typeface="Courier New"/>
                <a:cs typeface="Courier New"/>
              </a:rPr>
              <a:t>I</a:t>
            </a:r>
            <a:endParaRPr sz="5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Terraform</a:t>
            </a:r>
            <a:r>
              <a:rPr b="1" spc="-465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Workflow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8036" y="2089404"/>
            <a:ext cx="10831195" cy="3877310"/>
            <a:chOff x="288036" y="2089404"/>
            <a:chExt cx="10831195" cy="3877310"/>
          </a:xfrm>
        </p:grpSpPr>
        <p:sp>
          <p:nvSpPr>
            <p:cNvPr id="4" name="object 4"/>
            <p:cNvSpPr/>
            <p:nvPr/>
          </p:nvSpPr>
          <p:spPr>
            <a:xfrm>
              <a:off x="1168908" y="2089404"/>
              <a:ext cx="9950450" cy="3877310"/>
            </a:xfrm>
            <a:custGeom>
              <a:avLst/>
              <a:gdLst/>
              <a:ahLst/>
              <a:cxnLst/>
              <a:rect l="l" t="t" r="r" b="b"/>
              <a:pathLst>
                <a:path w="9950450" h="3877310">
                  <a:moveTo>
                    <a:pt x="8011668" y="0"/>
                  </a:moveTo>
                  <a:lnTo>
                    <a:pt x="8011668" y="969263"/>
                  </a:lnTo>
                  <a:lnTo>
                    <a:pt x="0" y="969263"/>
                  </a:lnTo>
                  <a:lnTo>
                    <a:pt x="0" y="2907792"/>
                  </a:lnTo>
                  <a:lnTo>
                    <a:pt x="8011668" y="2907792"/>
                  </a:lnTo>
                  <a:lnTo>
                    <a:pt x="8011668" y="3877056"/>
                  </a:lnTo>
                  <a:lnTo>
                    <a:pt x="9950196" y="1938528"/>
                  </a:lnTo>
                  <a:lnTo>
                    <a:pt x="8011668" y="0"/>
                  </a:lnTo>
                  <a:close/>
                </a:path>
              </a:pathLst>
            </a:custGeom>
            <a:solidFill>
              <a:srgbClr val="8787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5656" y="3253740"/>
              <a:ext cx="2249805" cy="1550035"/>
            </a:xfrm>
            <a:custGeom>
              <a:avLst/>
              <a:gdLst/>
              <a:ahLst/>
              <a:cxnLst/>
              <a:rect l="l" t="t" r="r" b="b"/>
              <a:pathLst>
                <a:path w="2249805" h="1550035">
                  <a:moveTo>
                    <a:pt x="1991106" y="0"/>
                  </a:moveTo>
                  <a:lnTo>
                    <a:pt x="258317" y="0"/>
                  </a:lnTo>
                  <a:lnTo>
                    <a:pt x="211886" y="4163"/>
                  </a:lnTo>
                  <a:lnTo>
                    <a:pt x="168184" y="16166"/>
                  </a:lnTo>
                  <a:lnTo>
                    <a:pt x="127942" y="35277"/>
                  </a:lnTo>
                  <a:lnTo>
                    <a:pt x="91889" y="60767"/>
                  </a:lnTo>
                  <a:lnTo>
                    <a:pt x="60755" y="91905"/>
                  </a:lnTo>
                  <a:lnTo>
                    <a:pt x="35269" y="127959"/>
                  </a:lnTo>
                  <a:lnTo>
                    <a:pt x="16161" y="168200"/>
                  </a:lnTo>
                  <a:lnTo>
                    <a:pt x="4162" y="211896"/>
                  </a:lnTo>
                  <a:lnTo>
                    <a:pt x="0" y="258318"/>
                  </a:lnTo>
                  <a:lnTo>
                    <a:pt x="0" y="1291590"/>
                  </a:lnTo>
                  <a:lnTo>
                    <a:pt x="4162" y="1338011"/>
                  </a:lnTo>
                  <a:lnTo>
                    <a:pt x="16161" y="1381707"/>
                  </a:lnTo>
                  <a:lnTo>
                    <a:pt x="35269" y="1421948"/>
                  </a:lnTo>
                  <a:lnTo>
                    <a:pt x="60755" y="1458002"/>
                  </a:lnTo>
                  <a:lnTo>
                    <a:pt x="91889" y="1489140"/>
                  </a:lnTo>
                  <a:lnTo>
                    <a:pt x="127942" y="1514630"/>
                  </a:lnTo>
                  <a:lnTo>
                    <a:pt x="168184" y="1533741"/>
                  </a:lnTo>
                  <a:lnTo>
                    <a:pt x="211886" y="1545744"/>
                  </a:lnTo>
                  <a:lnTo>
                    <a:pt x="258317" y="1549908"/>
                  </a:lnTo>
                  <a:lnTo>
                    <a:pt x="1991106" y="1549908"/>
                  </a:lnTo>
                  <a:lnTo>
                    <a:pt x="2037527" y="1545744"/>
                  </a:lnTo>
                  <a:lnTo>
                    <a:pt x="2081223" y="1533741"/>
                  </a:lnTo>
                  <a:lnTo>
                    <a:pt x="2121464" y="1514630"/>
                  </a:lnTo>
                  <a:lnTo>
                    <a:pt x="2157518" y="1489140"/>
                  </a:lnTo>
                  <a:lnTo>
                    <a:pt x="2188656" y="1458002"/>
                  </a:lnTo>
                  <a:lnTo>
                    <a:pt x="2214146" y="1421948"/>
                  </a:lnTo>
                  <a:lnTo>
                    <a:pt x="2233257" y="1381707"/>
                  </a:lnTo>
                  <a:lnTo>
                    <a:pt x="2245260" y="1338011"/>
                  </a:lnTo>
                  <a:lnTo>
                    <a:pt x="2249424" y="1291590"/>
                  </a:lnTo>
                  <a:lnTo>
                    <a:pt x="2249424" y="258318"/>
                  </a:lnTo>
                  <a:lnTo>
                    <a:pt x="2245260" y="211896"/>
                  </a:lnTo>
                  <a:lnTo>
                    <a:pt x="2233257" y="168200"/>
                  </a:lnTo>
                  <a:lnTo>
                    <a:pt x="2214146" y="127959"/>
                  </a:lnTo>
                  <a:lnTo>
                    <a:pt x="2188656" y="91905"/>
                  </a:lnTo>
                  <a:lnTo>
                    <a:pt x="2157518" y="60767"/>
                  </a:lnTo>
                  <a:lnTo>
                    <a:pt x="2121464" y="35277"/>
                  </a:lnTo>
                  <a:lnTo>
                    <a:pt x="2081223" y="16166"/>
                  </a:lnTo>
                  <a:lnTo>
                    <a:pt x="2037527" y="4163"/>
                  </a:lnTo>
                  <a:lnTo>
                    <a:pt x="19911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5656" y="3253740"/>
              <a:ext cx="2249805" cy="1550035"/>
            </a:xfrm>
            <a:custGeom>
              <a:avLst/>
              <a:gdLst/>
              <a:ahLst/>
              <a:cxnLst/>
              <a:rect l="l" t="t" r="r" b="b"/>
              <a:pathLst>
                <a:path w="2249805" h="1550035">
                  <a:moveTo>
                    <a:pt x="0" y="258318"/>
                  </a:moveTo>
                  <a:lnTo>
                    <a:pt x="4162" y="211896"/>
                  </a:lnTo>
                  <a:lnTo>
                    <a:pt x="16161" y="168200"/>
                  </a:lnTo>
                  <a:lnTo>
                    <a:pt x="35269" y="127959"/>
                  </a:lnTo>
                  <a:lnTo>
                    <a:pt x="60755" y="91905"/>
                  </a:lnTo>
                  <a:lnTo>
                    <a:pt x="91889" y="60767"/>
                  </a:lnTo>
                  <a:lnTo>
                    <a:pt x="127942" y="35277"/>
                  </a:lnTo>
                  <a:lnTo>
                    <a:pt x="168184" y="16166"/>
                  </a:lnTo>
                  <a:lnTo>
                    <a:pt x="211886" y="4163"/>
                  </a:lnTo>
                  <a:lnTo>
                    <a:pt x="258317" y="0"/>
                  </a:lnTo>
                  <a:lnTo>
                    <a:pt x="1991106" y="0"/>
                  </a:lnTo>
                  <a:lnTo>
                    <a:pt x="2037527" y="4163"/>
                  </a:lnTo>
                  <a:lnTo>
                    <a:pt x="2081223" y="16166"/>
                  </a:lnTo>
                  <a:lnTo>
                    <a:pt x="2121464" y="35277"/>
                  </a:lnTo>
                  <a:lnTo>
                    <a:pt x="2157518" y="60767"/>
                  </a:lnTo>
                  <a:lnTo>
                    <a:pt x="2188656" y="91905"/>
                  </a:lnTo>
                  <a:lnTo>
                    <a:pt x="2214146" y="127959"/>
                  </a:lnTo>
                  <a:lnTo>
                    <a:pt x="2233257" y="168200"/>
                  </a:lnTo>
                  <a:lnTo>
                    <a:pt x="2245260" y="211896"/>
                  </a:lnTo>
                  <a:lnTo>
                    <a:pt x="2249424" y="258318"/>
                  </a:lnTo>
                  <a:lnTo>
                    <a:pt x="2249424" y="1291590"/>
                  </a:lnTo>
                  <a:lnTo>
                    <a:pt x="2245260" y="1338011"/>
                  </a:lnTo>
                  <a:lnTo>
                    <a:pt x="2233257" y="1381707"/>
                  </a:lnTo>
                  <a:lnTo>
                    <a:pt x="2214146" y="1421948"/>
                  </a:lnTo>
                  <a:lnTo>
                    <a:pt x="2188656" y="1458002"/>
                  </a:lnTo>
                  <a:lnTo>
                    <a:pt x="2157518" y="1489140"/>
                  </a:lnTo>
                  <a:lnTo>
                    <a:pt x="2121464" y="1514630"/>
                  </a:lnTo>
                  <a:lnTo>
                    <a:pt x="2081223" y="1533741"/>
                  </a:lnTo>
                  <a:lnTo>
                    <a:pt x="2037527" y="1545744"/>
                  </a:lnTo>
                  <a:lnTo>
                    <a:pt x="1991106" y="1549908"/>
                  </a:lnTo>
                  <a:lnTo>
                    <a:pt x="258317" y="1549908"/>
                  </a:lnTo>
                  <a:lnTo>
                    <a:pt x="211886" y="1545744"/>
                  </a:lnTo>
                  <a:lnTo>
                    <a:pt x="168184" y="1533741"/>
                  </a:lnTo>
                  <a:lnTo>
                    <a:pt x="127942" y="1514630"/>
                  </a:lnTo>
                  <a:lnTo>
                    <a:pt x="91889" y="1489140"/>
                  </a:lnTo>
                  <a:lnTo>
                    <a:pt x="60755" y="1458002"/>
                  </a:lnTo>
                  <a:lnTo>
                    <a:pt x="35269" y="1421948"/>
                  </a:lnTo>
                  <a:lnTo>
                    <a:pt x="16161" y="1381707"/>
                  </a:lnTo>
                  <a:lnTo>
                    <a:pt x="4162" y="1338011"/>
                  </a:lnTo>
                  <a:lnTo>
                    <a:pt x="0" y="1291590"/>
                  </a:lnTo>
                  <a:lnTo>
                    <a:pt x="0" y="258318"/>
                  </a:lnTo>
                  <a:close/>
                </a:path>
              </a:pathLst>
            </a:custGeom>
            <a:ln w="15240">
              <a:solidFill>
                <a:srgbClr val="5F43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31698" y="3237402"/>
            <a:ext cx="1863089" cy="116014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900" b="1" spc="-10" dirty="0">
                <a:latin typeface="Calibri"/>
                <a:cs typeface="Calibri"/>
              </a:rPr>
              <a:t>Scope</a:t>
            </a:r>
            <a:endParaRPr sz="1900">
              <a:latin typeface="Calibri"/>
              <a:cs typeface="Calibri"/>
            </a:endParaRPr>
          </a:p>
          <a:p>
            <a:pPr marL="125730" marR="5080" indent="-113030">
              <a:lnSpc>
                <a:spcPct val="91700"/>
              </a:lnSpc>
              <a:spcBef>
                <a:spcPts val="840"/>
              </a:spcBef>
              <a:buChar char="•"/>
              <a:tabLst>
                <a:tab pos="127000" algn="l"/>
              </a:tabLst>
            </a:pPr>
            <a:r>
              <a:rPr sz="1500" dirty="0">
                <a:latin typeface="Calibri"/>
                <a:cs typeface="Calibri"/>
              </a:rPr>
              <a:t>Identify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the 	</a:t>
            </a:r>
            <a:r>
              <a:rPr sz="1500" spc="-10" dirty="0">
                <a:latin typeface="Calibri"/>
                <a:cs typeface="Calibri"/>
              </a:rPr>
              <a:t>infrastructure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 </a:t>
            </a:r>
            <a:r>
              <a:rPr sz="1500" spc="-20" dirty="0">
                <a:latin typeface="Calibri"/>
                <a:cs typeface="Calibri"/>
              </a:rPr>
              <a:t>your 	</a:t>
            </a:r>
            <a:r>
              <a:rPr sz="1500" spc="-10" dirty="0">
                <a:latin typeface="Calibri"/>
                <a:cs typeface="Calibri"/>
              </a:rPr>
              <a:t>project.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650235" y="3246120"/>
            <a:ext cx="2265045" cy="1565275"/>
            <a:chOff x="2650235" y="3246120"/>
            <a:chExt cx="2265045" cy="1565275"/>
          </a:xfrm>
        </p:grpSpPr>
        <p:sp>
          <p:nvSpPr>
            <p:cNvPr id="9" name="object 9"/>
            <p:cNvSpPr/>
            <p:nvPr/>
          </p:nvSpPr>
          <p:spPr>
            <a:xfrm>
              <a:off x="2657855" y="3253740"/>
              <a:ext cx="2249805" cy="1550035"/>
            </a:xfrm>
            <a:custGeom>
              <a:avLst/>
              <a:gdLst/>
              <a:ahLst/>
              <a:cxnLst/>
              <a:rect l="l" t="t" r="r" b="b"/>
              <a:pathLst>
                <a:path w="2249804" h="1550035">
                  <a:moveTo>
                    <a:pt x="1991106" y="0"/>
                  </a:moveTo>
                  <a:lnTo>
                    <a:pt x="258318" y="0"/>
                  </a:lnTo>
                  <a:lnTo>
                    <a:pt x="211896" y="4163"/>
                  </a:lnTo>
                  <a:lnTo>
                    <a:pt x="168200" y="16166"/>
                  </a:lnTo>
                  <a:lnTo>
                    <a:pt x="127959" y="35277"/>
                  </a:lnTo>
                  <a:lnTo>
                    <a:pt x="91905" y="60767"/>
                  </a:lnTo>
                  <a:lnTo>
                    <a:pt x="60767" y="91905"/>
                  </a:lnTo>
                  <a:lnTo>
                    <a:pt x="35277" y="127959"/>
                  </a:lnTo>
                  <a:lnTo>
                    <a:pt x="16166" y="168200"/>
                  </a:lnTo>
                  <a:lnTo>
                    <a:pt x="4163" y="211896"/>
                  </a:lnTo>
                  <a:lnTo>
                    <a:pt x="0" y="258318"/>
                  </a:lnTo>
                  <a:lnTo>
                    <a:pt x="0" y="1291590"/>
                  </a:lnTo>
                  <a:lnTo>
                    <a:pt x="4163" y="1338011"/>
                  </a:lnTo>
                  <a:lnTo>
                    <a:pt x="16166" y="1381707"/>
                  </a:lnTo>
                  <a:lnTo>
                    <a:pt x="35277" y="1421948"/>
                  </a:lnTo>
                  <a:lnTo>
                    <a:pt x="60767" y="1458002"/>
                  </a:lnTo>
                  <a:lnTo>
                    <a:pt x="91905" y="1489140"/>
                  </a:lnTo>
                  <a:lnTo>
                    <a:pt x="127959" y="1514630"/>
                  </a:lnTo>
                  <a:lnTo>
                    <a:pt x="168200" y="1533741"/>
                  </a:lnTo>
                  <a:lnTo>
                    <a:pt x="211896" y="1545744"/>
                  </a:lnTo>
                  <a:lnTo>
                    <a:pt x="258318" y="1549908"/>
                  </a:lnTo>
                  <a:lnTo>
                    <a:pt x="1991106" y="1549908"/>
                  </a:lnTo>
                  <a:lnTo>
                    <a:pt x="2037527" y="1545744"/>
                  </a:lnTo>
                  <a:lnTo>
                    <a:pt x="2081223" y="1533741"/>
                  </a:lnTo>
                  <a:lnTo>
                    <a:pt x="2121464" y="1514630"/>
                  </a:lnTo>
                  <a:lnTo>
                    <a:pt x="2157518" y="1489140"/>
                  </a:lnTo>
                  <a:lnTo>
                    <a:pt x="2188656" y="1458002"/>
                  </a:lnTo>
                  <a:lnTo>
                    <a:pt x="2214146" y="1421948"/>
                  </a:lnTo>
                  <a:lnTo>
                    <a:pt x="2233257" y="1381707"/>
                  </a:lnTo>
                  <a:lnTo>
                    <a:pt x="2245260" y="1338011"/>
                  </a:lnTo>
                  <a:lnTo>
                    <a:pt x="2249423" y="1291590"/>
                  </a:lnTo>
                  <a:lnTo>
                    <a:pt x="2249423" y="258318"/>
                  </a:lnTo>
                  <a:lnTo>
                    <a:pt x="2245260" y="211896"/>
                  </a:lnTo>
                  <a:lnTo>
                    <a:pt x="2233257" y="168200"/>
                  </a:lnTo>
                  <a:lnTo>
                    <a:pt x="2214146" y="127959"/>
                  </a:lnTo>
                  <a:lnTo>
                    <a:pt x="2188656" y="91905"/>
                  </a:lnTo>
                  <a:lnTo>
                    <a:pt x="2157518" y="60767"/>
                  </a:lnTo>
                  <a:lnTo>
                    <a:pt x="2121464" y="35277"/>
                  </a:lnTo>
                  <a:lnTo>
                    <a:pt x="2081223" y="16166"/>
                  </a:lnTo>
                  <a:lnTo>
                    <a:pt x="2037527" y="4163"/>
                  </a:lnTo>
                  <a:lnTo>
                    <a:pt x="19911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57855" y="3253740"/>
              <a:ext cx="2249805" cy="1550035"/>
            </a:xfrm>
            <a:custGeom>
              <a:avLst/>
              <a:gdLst/>
              <a:ahLst/>
              <a:cxnLst/>
              <a:rect l="l" t="t" r="r" b="b"/>
              <a:pathLst>
                <a:path w="2249804" h="1550035">
                  <a:moveTo>
                    <a:pt x="0" y="258318"/>
                  </a:moveTo>
                  <a:lnTo>
                    <a:pt x="4163" y="211896"/>
                  </a:lnTo>
                  <a:lnTo>
                    <a:pt x="16166" y="168200"/>
                  </a:lnTo>
                  <a:lnTo>
                    <a:pt x="35277" y="127959"/>
                  </a:lnTo>
                  <a:lnTo>
                    <a:pt x="60767" y="91905"/>
                  </a:lnTo>
                  <a:lnTo>
                    <a:pt x="91905" y="60767"/>
                  </a:lnTo>
                  <a:lnTo>
                    <a:pt x="127959" y="35277"/>
                  </a:lnTo>
                  <a:lnTo>
                    <a:pt x="168200" y="16166"/>
                  </a:lnTo>
                  <a:lnTo>
                    <a:pt x="211896" y="4163"/>
                  </a:lnTo>
                  <a:lnTo>
                    <a:pt x="258318" y="0"/>
                  </a:lnTo>
                  <a:lnTo>
                    <a:pt x="1991106" y="0"/>
                  </a:lnTo>
                  <a:lnTo>
                    <a:pt x="2037527" y="4163"/>
                  </a:lnTo>
                  <a:lnTo>
                    <a:pt x="2081223" y="16166"/>
                  </a:lnTo>
                  <a:lnTo>
                    <a:pt x="2121464" y="35277"/>
                  </a:lnTo>
                  <a:lnTo>
                    <a:pt x="2157518" y="60767"/>
                  </a:lnTo>
                  <a:lnTo>
                    <a:pt x="2188656" y="91905"/>
                  </a:lnTo>
                  <a:lnTo>
                    <a:pt x="2214146" y="127959"/>
                  </a:lnTo>
                  <a:lnTo>
                    <a:pt x="2233257" y="168200"/>
                  </a:lnTo>
                  <a:lnTo>
                    <a:pt x="2245260" y="211896"/>
                  </a:lnTo>
                  <a:lnTo>
                    <a:pt x="2249423" y="258318"/>
                  </a:lnTo>
                  <a:lnTo>
                    <a:pt x="2249423" y="1291590"/>
                  </a:lnTo>
                  <a:lnTo>
                    <a:pt x="2245260" y="1338011"/>
                  </a:lnTo>
                  <a:lnTo>
                    <a:pt x="2233257" y="1381707"/>
                  </a:lnTo>
                  <a:lnTo>
                    <a:pt x="2214146" y="1421948"/>
                  </a:lnTo>
                  <a:lnTo>
                    <a:pt x="2188656" y="1458002"/>
                  </a:lnTo>
                  <a:lnTo>
                    <a:pt x="2157518" y="1489140"/>
                  </a:lnTo>
                  <a:lnTo>
                    <a:pt x="2121464" y="1514630"/>
                  </a:lnTo>
                  <a:lnTo>
                    <a:pt x="2081223" y="1533741"/>
                  </a:lnTo>
                  <a:lnTo>
                    <a:pt x="2037527" y="1545744"/>
                  </a:lnTo>
                  <a:lnTo>
                    <a:pt x="1991106" y="1549908"/>
                  </a:lnTo>
                  <a:lnTo>
                    <a:pt x="258318" y="1549908"/>
                  </a:lnTo>
                  <a:lnTo>
                    <a:pt x="211896" y="1545744"/>
                  </a:lnTo>
                  <a:lnTo>
                    <a:pt x="168200" y="1533741"/>
                  </a:lnTo>
                  <a:lnTo>
                    <a:pt x="127959" y="1514630"/>
                  </a:lnTo>
                  <a:lnTo>
                    <a:pt x="91905" y="1489140"/>
                  </a:lnTo>
                  <a:lnTo>
                    <a:pt x="60767" y="1458002"/>
                  </a:lnTo>
                  <a:lnTo>
                    <a:pt x="35277" y="1421948"/>
                  </a:lnTo>
                  <a:lnTo>
                    <a:pt x="16166" y="1381707"/>
                  </a:lnTo>
                  <a:lnTo>
                    <a:pt x="4163" y="1338011"/>
                  </a:lnTo>
                  <a:lnTo>
                    <a:pt x="0" y="1291590"/>
                  </a:lnTo>
                  <a:lnTo>
                    <a:pt x="0" y="258318"/>
                  </a:lnTo>
                  <a:close/>
                </a:path>
              </a:pathLst>
            </a:custGeom>
            <a:ln w="15240">
              <a:solidFill>
                <a:srgbClr val="5F43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793619" y="3237402"/>
            <a:ext cx="1946910" cy="95186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900" b="1" spc="-10" dirty="0">
                <a:latin typeface="Calibri"/>
                <a:cs typeface="Calibri"/>
              </a:rPr>
              <a:t>Author</a:t>
            </a:r>
            <a:endParaRPr sz="1900">
              <a:latin typeface="Calibri"/>
              <a:cs typeface="Calibri"/>
            </a:endParaRPr>
          </a:p>
          <a:p>
            <a:pPr marL="125730" marR="5080" indent="-113030">
              <a:lnSpc>
                <a:spcPts val="1660"/>
              </a:lnSpc>
              <a:spcBef>
                <a:spcPts val="860"/>
              </a:spcBef>
              <a:buChar char="•"/>
              <a:tabLst>
                <a:tab pos="127000" algn="l"/>
              </a:tabLst>
            </a:pPr>
            <a:r>
              <a:rPr sz="1500" spc="-10" dirty="0">
                <a:latin typeface="Calibri"/>
                <a:cs typeface="Calibri"/>
              </a:rPr>
              <a:t>Write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configuration 	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your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infrastructure.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010911" y="3246120"/>
            <a:ext cx="2265045" cy="1565275"/>
            <a:chOff x="5010911" y="3246120"/>
            <a:chExt cx="2265045" cy="1565275"/>
          </a:xfrm>
        </p:grpSpPr>
        <p:sp>
          <p:nvSpPr>
            <p:cNvPr id="13" name="object 13"/>
            <p:cNvSpPr/>
            <p:nvPr/>
          </p:nvSpPr>
          <p:spPr>
            <a:xfrm>
              <a:off x="5018531" y="3253740"/>
              <a:ext cx="2249805" cy="1550035"/>
            </a:xfrm>
            <a:custGeom>
              <a:avLst/>
              <a:gdLst/>
              <a:ahLst/>
              <a:cxnLst/>
              <a:rect l="l" t="t" r="r" b="b"/>
              <a:pathLst>
                <a:path w="2249804" h="1550035">
                  <a:moveTo>
                    <a:pt x="1991106" y="0"/>
                  </a:moveTo>
                  <a:lnTo>
                    <a:pt x="258317" y="0"/>
                  </a:lnTo>
                  <a:lnTo>
                    <a:pt x="211896" y="4163"/>
                  </a:lnTo>
                  <a:lnTo>
                    <a:pt x="168200" y="16166"/>
                  </a:lnTo>
                  <a:lnTo>
                    <a:pt x="127959" y="35277"/>
                  </a:lnTo>
                  <a:lnTo>
                    <a:pt x="91905" y="60767"/>
                  </a:lnTo>
                  <a:lnTo>
                    <a:pt x="60767" y="91905"/>
                  </a:lnTo>
                  <a:lnTo>
                    <a:pt x="35277" y="127959"/>
                  </a:lnTo>
                  <a:lnTo>
                    <a:pt x="16166" y="168200"/>
                  </a:lnTo>
                  <a:lnTo>
                    <a:pt x="4163" y="211896"/>
                  </a:lnTo>
                  <a:lnTo>
                    <a:pt x="0" y="258318"/>
                  </a:lnTo>
                  <a:lnTo>
                    <a:pt x="0" y="1291590"/>
                  </a:lnTo>
                  <a:lnTo>
                    <a:pt x="4163" y="1338011"/>
                  </a:lnTo>
                  <a:lnTo>
                    <a:pt x="16166" y="1381707"/>
                  </a:lnTo>
                  <a:lnTo>
                    <a:pt x="35277" y="1421948"/>
                  </a:lnTo>
                  <a:lnTo>
                    <a:pt x="60767" y="1458002"/>
                  </a:lnTo>
                  <a:lnTo>
                    <a:pt x="91905" y="1489140"/>
                  </a:lnTo>
                  <a:lnTo>
                    <a:pt x="127959" y="1514630"/>
                  </a:lnTo>
                  <a:lnTo>
                    <a:pt x="168200" y="1533741"/>
                  </a:lnTo>
                  <a:lnTo>
                    <a:pt x="211896" y="1545744"/>
                  </a:lnTo>
                  <a:lnTo>
                    <a:pt x="258317" y="1549908"/>
                  </a:lnTo>
                  <a:lnTo>
                    <a:pt x="1991106" y="1549908"/>
                  </a:lnTo>
                  <a:lnTo>
                    <a:pt x="2037527" y="1545744"/>
                  </a:lnTo>
                  <a:lnTo>
                    <a:pt x="2081223" y="1533741"/>
                  </a:lnTo>
                  <a:lnTo>
                    <a:pt x="2121464" y="1514630"/>
                  </a:lnTo>
                  <a:lnTo>
                    <a:pt x="2157518" y="1489140"/>
                  </a:lnTo>
                  <a:lnTo>
                    <a:pt x="2188656" y="1458002"/>
                  </a:lnTo>
                  <a:lnTo>
                    <a:pt x="2214146" y="1421948"/>
                  </a:lnTo>
                  <a:lnTo>
                    <a:pt x="2233257" y="1381707"/>
                  </a:lnTo>
                  <a:lnTo>
                    <a:pt x="2245260" y="1338011"/>
                  </a:lnTo>
                  <a:lnTo>
                    <a:pt x="2249423" y="1291590"/>
                  </a:lnTo>
                  <a:lnTo>
                    <a:pt x="2249423" y="258318"/>
                  </a:lnTo>
                  <a:lnTo>
                    <a:pt x="2245260" y="211896"/>
                  </a:lnTo>
                  <a:lnTo>
                    <a:pt x="2233257" y="168200"/>
                  </a:lnTo>
                  <a:lnTo>
                    <a:pt x="2214146" y="127959"/>
                  </a:lnTo>
                  <a:lnTo>
                    <a:pt x="2188656" y="91905"/>
                  </a:lnTo>
                  <a:lnTo>
                    <a:pt x="2157518" y="60767"/>
                  </a:lnTo>
                  <a:lnTo>
                    <a:pt x="2121464" y="35277"/>
                  </a:lnTo>
                  <a:lnTo>
                    <a:pt x="2081223" y="16166"/>
                  </a:lnTo>
                  <a:lnTo>
                    <a:pt x="2037527" y="4163"/>
                  </a:lnTo>
                  <a:lnTo>
                    <a:pt x="19911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18531" y="3253740"/>
              <a:ext cx="2249805" cy="1550035"/>
            </a:xfrm>
            <a:custGeom>
              <a:avLst/>
              <a:gdLst/>
              <a:ahLst/>
              <a:cxnLst/>
              <a:rect l="l" t="t" r="r" b="b"/>
              <a:pathLst>
                <a:path w="2249804" h="1550035">
                  <a:moveTo>
                    <a:pt x="0" y="258318"/>
                  </a:moveTo>
                  <a:lnTo>
                    <a:pt x="4163" y="211896"/>
                  </a:lnTo>
                  <a:lnTo>
                    <a:pt x="16166" y="168200"/>
                  </a:lnTo>
                  <a:lnTo>
                    <a:pt x="35277" y="127959"/>
                  </a:lnTo>
                  <a:lnTo>
                    <a:pt x="60767" y="91905"/>
                  </a:lnTo>
                  <a:lnTo>
                    <a:pt x="91905" y="60767"/>
                  </a:lnTo>
                  <a:lnTo>
                    <a:pt x="127959" y="35277"/>
                  </a:lnTo>
                  <a:lnTo>
                    <a:pt x="168200" y="16166"/>
                  </a:lnTo>
                  <a:lnTo>
                    <a:pt x="211896" y="4163"/>
                  </a:lnTo>
                  <a:lnTo>
                    <a:pt x="258317" y="0"/>
                  </a:lnTo>
                  <a:lnTo>
                    <a:pt x="1991106" y="0"/>
                  </a:lnTo>
                  <a:lnTo>
                    <a:pt x="2037527" y="4163"/>
                  </a:lnTo>
                  <a:lnTo>
                    <a:pt x="2081223" y="16166"/>
                  </a:lnTo>
                  <a:lnTo>
                    <a:pt x="2121464" y="35277"/>
                  </a:lnTo>
                  <a:lnTo>
                    <a:pt x="2157518" y="60767"/>
                  </a:lnTo>
                  <a:lnTo>
                    <a:pt x="2188656" y="91905"/>
                  </a:lnTo>
                  <a:lnTo>
                    <a:pt x="2214146" y="127959"/>
                  </a:lnTo>
                  <a:lnTo>
                    <a:pt x="2233257" y="168200"/>
                  </a:lnTo>
                  <a:lnTo>
                    <a:pt x="2245260" y="211896"/>
                  </a:lnTo>
                  <a:lnTo>
                    <a:pt x="2249423" y="258318"/>
                  </a:lnTo>
                  <a:lnTo>
                    <a:pt x="2249423" y="1291590"/>
                  </a:lnTo>
                  <a:lnTo>
                    <a:pt x="2245260" y="1338011"/>
                  </a:lnTo>
                  <a:lnTo>
                    <a:pt x="2233257" y="1381707"/>
                  </a:lnTo>
                  <a:lnTo>
                    <a:pt x="2214146" y="1421948"/>
                  </a:lnTo>
                  <a:lnTo>
                    <a:pt x="2188656" y="1458002"/>
                  </a:lnTo>
                  <a:lnTo>
                    <a:pt x="2157518" y="1489140"/>
                  </a:lnTo>
                  <a:lnTo>
                    <a:pt x="2121464" y="1514630"/>
                  </a:lnTo>
                  <a:lnTo>
                    <a:pt x="2081223" y="1533741"/>
                  </a:lnTo>
                  <a:lnTo>
                    <a:pt x="2037527" y="1545744"/>
                  </a:lnTo>
                  <a:lnTo>
                    <a:pt x="1991106" y="1549908"/>
                  </a:lnTo>
                  <a:lnTo>
                    <a:pt x="258317" y="1549908"/>
                  </a:lnTo>
                  <a:lnTo>
                    <a:pt x="211896" y="1545744"/>
                  </a:lnTo>
                  <a:lnTo>
                    <a:pt x="168200" y="1533741"/>
                  </a:lnTo>
                  <a:lnTo>
                    <a:pt x="127959" y="1514630"/>
                  </a:lnTo>
                  <a:lnTo>
                    <a:pt x="91905" y="1489140"/>
                  </a:lnTo>
                  <a:lnTo>
                    <a:pt x="60767" y="1458002"/>
                  </a:lnTo>
                  <a:lnTo>
                    <a:pt x="35277" y="1421948"/>
                  </a:lnTo>
                  <a:lnTo>
                    <a:pt x="16166" y="1381707"/>
                  </a:lnTo>
                  <a:lnTo>
                    <a:pt x="4163" y="1338011"/>
                  </a:lnTo>
                  <a:lnTo>
                    <a:pt x="0" y="1291590"/>
                  </a:lnTo>
                  <a:lnTo>
                    <a:pt x="0" y="258318"/>
                  </a:lnTo>
                  <a:close/>
                </a:path>
              </a:pathLst>
            </a:custGeom>
            <a:ln w="15240">
              <a:solidFill>
                <a:srgbClr val="5F43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155184" y="3237402"/>
            <a:ext cx="1616710" cy="136906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900" b="1" spc="-10" dirty="0">
                <a:latin typeface="Calibri"/>
                <a:cs typeface="Calibri"/>
              </a:rPr>
              <a:t>Initialize</a:t>
            </a:r>
            <a:endParaRPr sz="1900">
              <a:latin typeface="Calibri"/>
              <a:cs typeface="Calibri"/>
            </a:endParaRPr>
          </a:p>
          <a:p>
            <a:pPr marL="125730" marR="5080" indent="-113664">
              <a:lnSpc>
                <a:spcPct val="91600"/>
              </a:lnSpc>
              <a:spcBef>
                <a:spcPts val="840"/>
              </a:spcBef>
              <a:buChar char="•"/>
              <a:tabLst>
                <a:tab pos="127000" algn="l"/>
              </a:tabLst>
            </a:pPr>
            <a:r>
              <a:rPr sz="1500" dirty="0">
                <a:latin typeface="Calibri"/>
                <a:cs typeface="Calibri"/>
              </a:rPr>
              <a:t>Install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plugins 	</a:t>
            </a:r>
            <a:r>
              <a:rPr sz="1500" spc="-25" dirty="0">
                <a:latin typeface="Calibri"/>
                <a:cs typeface="Calibri"/>
              </a:rPr>
              <a:t>Terraform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needs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to 	</a:t>
            </a:r>
            <a:r>
              <a:rPr sz="1500" dirty="0">
                <a:latin typeface="Calibri"/>
                <a:cs typeface="Calibri"/>
              </a:rPr>
              <a:t>manage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the 	</a:t>
            </a:r>
            <a:r>
              <a:rPr sz="1500" spc="-10" dirty="0">
                <a:latin typeface="Calibri"/>
                <a:cs typeface="Calibri"/>
              </a:rPr>
              <a:t>infrastructure.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373111" y="3246120"/>
            <a:ext cx="2265045" cy="1565275"/>
            <a:chOff x="7373111" y="3246120"/>
            <a:chExt cx="2265045" cy="1565275"/>
          </a:xfrm>
        </p:grpSpPr>
        <p:sp>
          <p:nvSpPr>
            <p:cNvPr id="17" name="object 17"/>
            <p:cNvSpPr/>
            <p:nvPr/>
          </p:nvSpPr>
          <p:spPr>
            <a:xfrm>
              <a:off x="7380731" y="3253740"/>
              <a:ext cx="2249805" cy="1550035"/>
            </a:xfrm>
            <a:custGeom>
              <a:avLst/>
              <a:gdLst/>
              <a:ahLst/>
              <a:cxnLst/>
              <a:rect l="l" t="t" r="r" b="b"/>
              <a:pathLst>
                <a:path w="2249804" h="1550035">
                  <a:moveTo>
                    <a:pt x="1991106" y="0"/>
                  </a:moveTo>
                  <a:lnTo>
                    <a:pt x="258318" y="0"/>
                  </a:lnTo>
                  <a:lnTo>
                    <a:pt x="211896" y="4163"/>
                  </a:lnTo>
                  <a:lnTo>
                    <a:pt x="168200" y="16166"/>
                  </a:lnTo>
                  <a:lnTo>
                    <a:pt x="127959" y="35277"/>
                  </a:lnTo>
                  <a:lnTo>
                    <a:pt x="91905" y="60767"/>
                  </a:lnTo>
                  <a:lnTo>
                    <a:pt x="60767" y="91905"/>
                  </a:lnTo>
                  <a:lnTo>
                    <a:pt x="35277" y="127959"/>
                  </a:lnTo>
                  <a:lnTo>
                    <a:pt x="16166" y="168200"/>
                  </a:lnTo>
                  <a:lnTo>
                    <a:pt x="4163" y="211896"/>
                  </a:lnTo>
                  <a:lnTo>
                    <a:pt x="0" y="258318"/>
                  </a:lnTo>
                  <a:lnTo>
                    <a:pt x="0" y="1291590"/>
                  </a:lnTo>
                  <a:lnTo>
                    <a:pt x="4163" y="1338011"/>
                  </a:lnTo>
                  <a:lnTo>
                    <a:pt x="16166" y="1381707"/>
                  </a:lnTo>
                  <a:lnTo>
                    <a:pt x="35277" y="1421948"/>
                  </a:lnTo>
                  <a:lnTo>
                    <a:pt x="60767" y="1458002"/>
                  </a:lnTo>
                  <a:lnTo>
                    <a:pt x="91905" y="1489140"/>
                  </a:lnTo>
                  <a:lnTo>
                    <a:pt x="127959" y="1514630"/>
                  </a:lnTo>
                  <a:lnTo>
                    <a:pt x="168200" y="1533741"/>
                  </a:lnTo>
                  <a:lnTo>
                    <a:pt x="211896" y="1545744"/>
                  </a:lnTo>
                  <a:lnTo>
                    <a:pt x="258318" y="1549908"/>
                  </a:lnTo>
                  <a:lnTo>
                    <a:pt x="1991106" y="1549908"/>
                  </a:lnTo>
                  <a:lnTo>
                    <a:pt x="2037527" y="1545744"/>
                  </a:lnTo>
                  <a:lnTo>
                    <a:pt x="2081223" y="1533741"/>
                  </a:lnTo>
                  <a:lnTo>
                    <a:pt x="2121464" y="1514630"/>
                  </a:lnTo>
                  <a:lnTo>
                    <a:pt x="2157518" y="1489140"/>
                  </a:lnTo>
                  <a:lnTo>
                    <a:pt x="2188656" y="1458002"/>
                  </a:lnTo>
                  <a:lnTo>
                    <a:pt x="2214146" y="1421948"/>
                  </a:lnTo>
                  <a:lnTo>
                    <a:pt x="2233257" y="1381707"/>
                  </a:lnTo>
                  <a:lnTo>
                    <a:pt x="2245260" y="1338011"/>
                  </a:lnTo>
                  <a:lnTo>
                    <a:pt x="2249424" y="1291590"/>
                  </a:lnTo>
                  <a:lnTo>
                    <a:pt x="2249424" y="258318"/>
                  </a:lnTo>
                  <a:lnTo>
                    <a:pt x="2245260" y="211896"/>
                  </a:lnTo>
                  <a:lnTo>
                    <a:pt x="2233257" y="168200"/>
                  </a:lnTo>
                  <a:lnTo>
                    <a:pt x="2214146" y="127959"/>
                  </a:lnTo>
                  <a:lnTo>
                    <a:pt x="2188656" y="91905"/>
                  </a:lnTo>
                  <a:lnTo>
                    <a:pt x="2157518" y="60767"/>
                  </a:lnTo>
                  <a:lnTo>
                    <a:pt x="2121464" y="35277"/>
                  </a:lnTo>
                  <a:lnTo>
                    <a:pt x="2081223" y="16166"/>
                  </a:lnTo>
                  <a:lnTo>
                    <a:pt x="2037527" y="4163"/>
                  </a:lnTo>
                  <a:lnTo>
                    <a:pt x="19911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380731" y="3253740"/>
              <a:ext cx="2249805" cy="1550035"/>
            </a:xfrm>
            <a:custGeom>
              <a:avLst/>
              <a:gdLst/>
              <a:ahLst/>
              <a:cxnLst/>
              <a:rect l="l" t="t" r="r" b="b"/>
              <a:pathLst>
                <a:path w="2249804" h="1550035">
                  <a:moveTo>
                    <a:pt x="0" y="258318"/>
                  </a:moveTo>
                  <a:lnTo>
                    <a:pt x="4163" y="211896"/>
                  </a:lnTo>
                  <a:lnTo>
                    <a:pt x="16166" y="168200"/>
                  </a:lnTo>
                  <a:lnTo>
                    <a:pt x="35277" y="127959"/>
                  </a:lnTo>
                  <a:lnTo>
                    <a:pt x="60767" y="91905"/>
                  </a:lnTo>
                  <a:lnTo>
                    <a:pt x="91905" y="60767"/>
                  </a:lnTo>
                  <a:lnTo>
                    <a:pt x="127959" y="35277"/>
                  </a:lnTo>
                  <a:lnTo>
                    <a:pt x="168200" y="16166"/>
                  </a:lnTo>
                  <a:lnTo>
                    <a:pt x="211896" y="4163"/>
                  </a:lnTo>
                  <a:lnTo>
                    <a:pt x="258318" y="0"/>
                  </a:lnTo>
                  <a:lnTo>
                    <a:pt x="1991106" y="0"/>
                  </a:lnTo>
                  <a:lnTo>
                    <a:pt x="2037527" y="4163"/>
                  </a:lnTo>
                  <a:lnTo>
                    <a:pt x="2081223" y="16166"/>
                  </a:lnTo>
                  <a:lnTo>
                    <a:pt x="2121464" y="35277"/>
                  </a:lnTo>
                  <a:lnTo>
                    <a:pt x="2157518" y="60767"/>
                  </a:lnTo>
                  <a:lnTo>
                    <a:pt x="2188656" y="91905"/>
                  </a:lnTo>
                  <a:lnTo>
                    <a:pt x="2214146" y="127959"/>
                  </a:lnTo>
                  <a:lnTo>
                    <a:pt x="2233257" y="168200"/>
                  </a:lnTo>
                  <a:lnTo>
                    <a:pt x="2245260" y="211896"/>
                  </a:lnTo>
                  <a:lnTo>
                    <a:pt x="2249424" y="258318"/>
                  </a:lnTo>
                  <a:lnTo>
                    <a:pt x="2249424" y="1291590"/>
                  </a:lnTo>
                  <a:lnTo>
                    <a:pt x="2245260" y="1338011"/>
                  </a:lnTo>
                  <a:lnTo>
                    <a:pt x="2233257" y="1381707"/>
                  </a:lnTo>
                  <a:lnTo>
                    <a:pt x="2214146" y="1421948"/>
                  </a:lnTo>
                  <a:lnTo>
                    <a:pt x="2188656" y="1458002"/>
                  </a:lnTo>
                  <a:lnTo>
                    <a:pt x="2157518" y="1489140"/>
                  </a:lnTo>
                  <a:lnTo>
                    <a:pt x="2121464" y="1514630"/>
                  </a:lnTo>
                  <a:lnTo>
                    <a:pt x="2081223" y="1533741"/>
                  </a:lnTo>
                  <a:lnTo>
                    <a:pt x="2037527" y="1545744"/>
                  </a:lnTo>
                  <a:lnTo>
                    <a:pt x="1991106" y="1549908"/>
                  </a:lnTo>
                  <a:lnTo>
                    <a:pt x="258318" y="1549908"/>
                  </a:lnTo>
                  <a:lnTo>
                    <a:pt x="211896" y="1545744"/>
                  </a:lnTo>
                  <a:lnTo>
                    <a:pt x="168200" y="1533741"/>
                  </a:lnTo>
                  <a:lnTo>
                    <a:pt x="127959" y="1514630"/>
                  </a:lnTo>
                  <a:lnTo>
                    <a:pt x="91905" y="1489140"/>
                  </a:lnTo>
                  <a:lnTo>
                    <a:pt x="60767" y="1458002"/>
                  </a:lnTo>
                  <a:lnTo>
                    <a:pt x="35277" y="1421948"/>
                  </a:lnTo>
                  <a:lnTo>
                    <a:pt x="16166" y="1381707"/>
                  </a:lnTo>
                  <a:lnTo>
                    <a:pt x="4163" y="1338011"/>
                  </a:lnTo>
                  <a:lnTo>
                    <a:pt x="0" y="1291590"/>
                  </a:lnTo>
                  <a:lnTo>
                    <a:pt x="0" y="258318"/>
                  </a:lnTo>
                  <a:close/>
                </a:path>
              </a:pathLst>
            </a:custGeom>
            <a:ln w="15240">
              <a:solidFill>
                <a:srgbClr val="5F43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517130" y="3237402"/>
            <a:ext cx="1880235" cy="136906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900" b="1" spc="-20" dirty="0">
                <a:latin typeface="Calibri"/>
                <a:cs typeface="Calibri"/>
              </a:rPr>
              <a:t>Plan</a:t>
            </a:r>
            <a:endParaRPr sz="1900">
              <a:latin typeface="Calibri"/>
              <a:cs typeface="Calibri"/>
            </a:endParaRPr>
          </a:p>
          <a:p>
            <a:pPr marL="125730" marR="5080" indent="-113030">
              <a:lnSpc>
                <a:spcPct val="91600"/>
              </a:lnSpc>
              <a:spcBef>
                <a:spcPts val="840"/>
              </a:spcBef>
              <a:buChar char="•"/>
              <a:tabLst>
                <a:tab pos="127000" algn="l"/>
              </a:tabLst>
            </a:pPr>
            <a:r>
              <a:rPr sz="1500" spc="-10" dirty="0">
                <a:latin typeface="Calibri"/>
                <a:cs typeface="Calibri"/>
              </a:rPr>
              <a:t>Preview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changes 	</a:t>
            </a:r>
            <a:r>
              <a:rPr sz="1500" spc="-25" dirty="0">
                <a:latin typeface="Calibri"/>
                <a:cs typeface="Calibri"/>
              </a:rPr>
              <a:t>Terraform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will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make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to 	</a:t>
            </a:r>
            <a:r>
              <a:rPr sz="1500" dirty="0">
                <a:latin typeface="Calibri"/>
                <a:cs typeface="Calibri"/>
              </a:rPr>
              <a:t>match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your 	</a:t>
            </a:r>
            <a:r>
              <a:rPr sz="1500" spc="-10" dirty="0">
                <a:latin typeface="Calibri"/>
                <a:cs typeface="Calibri"/>
              </a:rPr>
              <a:t>configuration.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733788" y="3246120"/>
            <a:ext cx="2265045" cy="1565275"/>
            <a:chOff x="9733788" y="3246120"/>
            <a:chExt cx="2265045" cy="1565275"/>
          </a:xfrm>
        </p:grpSpPr>
        <p:sp>
          <p:nvSpPr>
            <p:cNvPr id="21" name="object 21"/>
            <p:cNvSpPr/>
            <p:nvPr/>
          </p:nvSpPr>
          <p:spPr>
            <a:xfrm>
              <a:off x="9741408" y="3253740"/>
              <a:ext cx="2249805" cy="1550035"/>
            </a:xfrm>
            <a:custGeom>
              <a:avLst/>
              <a:gdLst/>
              <a:ahLst/>
              <a:cxnLst/>
              <a:rect l="l" t="t" r="r" b="b"/>
              <a:pathLst>
                <a:path w="2249804" h="1550035">
                  <a:moveTo>
                    <a:pt x="1991106" y="0"/>
                  </a:moveTo>
                  <a:lnTo>
                    <a:pt x="258318" y="0"/>
                  </a:lnTo>
                  <a:lnTo>
                    <a:pt x="211896" y="4163"/>
                  </a:lnTo>
                  <a:lnTo>
                    <a:pt x="168200" y="16166"/>
                  </a:lnTo>
                  <a:lnTo>
                    <a:pt x="127959" y="35277"/>
                  </a:lnTo>
                  <a:lnTo>
                    <a:pt x="91905" y="60767"/>
                  </a:lnTo>
                  <a:lnTo>
                    <a:pt x="60767" y="91905"/>
                  </a:lnTo>
                  <a:lnTo>
                    <a:pt x="35277" y="127959"/>
                  </a:lnTo>
                  <a:lnTo>
                    <a:pt x="16166" y="168200"/>
                  </a:lnTo>
                  <a:lnTo>
                    <a:pt x="4163" y="211896"/>
                  </a:lnTo>
                  <a:lnTo>
                    <a:pt x="0" y="258318"/>
                  </a:lnTo>
                  <a:lnTo>
                    <a:pt x="0" y="1291590"/>
                  </a:lnTo>
                  <a:lnTo>
                    <a:pt x="4163" y="1338011"/>
                  </a:lnTo>
                  <a:lnTo>
                    <a:pt x="16166" y="1381707"/>
                  </a:lnTo>
                  <a:lnTo>
                    <a:pt x="35277" y="1421948"/>
                  </a:lnTo>
                  <a:lnTo>
                    <a:pt x="60767" y="1458002"/>
                  </a:lnTo>
                  <a:lnTo>
                    <a:pt x="91905" y="1489140"/>
                  </a:lnTo>
                  <a:lnTo>
                    <a:pt x="127959" y="1514630"/>
                  </a:lnTo>
                  <a:lnTo>
                    <a:pt x="168200" y="1533741"/>
                  </a:lnTo>
                  <a:lnTo>
                    <a:pt x="211896" y="1545744"/>
                  </a:lnTo>
                  <a:lnTo>
                    <a:pt x="258318" y="1549908"/>
                  </a:lnTo>
                  <a:lnTo>
                    <a:pt x="1991106" y="1549908"/>
                  </a:lnTo>
                  <a:lnTo>
                    <a:pt x="2037527" y="1545744"/>
                  </a:lnTo>
                  <a:lnTo>
                    <a:pt x="2081223" y="1533741"/>
                  </a:lnTo>
                  <a:lnTo>
                    <a:pt x="2121464" y="1514630"/>
                  </a:lnTo>
                  <a:lnTo>
                    <a:pt x="2157518" y="1489140"/>
                  </a:lnTo>
                  <a:lnTo>
                    <a:pt x="2188656" y="1458002"/>
                  </a:lnTo>
                  <a:lnTo>
                    <a:pt x="2214146" y="1421948"/>
                  </a:lnTo>
                  <a:lnTo>
                    <a:pt x="2233257" y="1381707"/>
                  </a:lnTo>
                  <a:lnTo>
                    <a:pt x="2245260" y="1338011"/>
                  </a:lnTo>
                  <a:lnTo>
                    <a:pt x="2249424" y="1291590"/>
                  </a:lnTo>
                  <a:lnTo>
                    <a:pt x="2249424" y="258318"/>
                  </a:lnTo>
                  <a:lnTo>
                    <a:pt x="2245260" y="211896"/>
                  </a:lnTo>
                  <a:lnTo>
                    <a:pt x="2233257" y="168200"/>
                  </a:lnTo>
                  <a:lnTo>
                    <a:pt x="2214146" y="127959"/>
                  </a:lnTo>
                  <a:lnTo>
                    <a:pt x="2188656" y="91905"/>
                  </a:lnTo>
                  <a:lnTo>
                    <a:pt x="2157518" y="60767"/>
                  </a:lnTo>
                  <a:lnTo>
                    <a:pt x="2121464" y="35277"/>
                  </a:lnTo>
                  <a:lnTo>
                    <a:pt x="2081223" y="16166"/>
                  </a:lnTo>
                  <a:lnTo>
                    <a:pt x="2037527" y="4163"/>
                  </a:lnTo>
                  <a:lnTo>
                    <a:pt x="19911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741408" y="3253740"/>
              <a:ext cx="2249805" cy="1550035"/>
            </a:xfrm>
            <a:custGeom>
              <a:avLst/>
              <a:gdLst/>
              <a:ahLst/>
              <a:cxnLst/>
              <a:rect l="l" t="t" r="r" b="b"/>
              <a:pathLst>
                <a:path w="2249804" h="1550035">
                  <a:moveTo>
                    <a:pt x="0" y="258318"/>
                  </a:moveTo>
                  <a:lnTo>
                    <a:pt x="4163" y="211896"/>
                  </a:lnTo>
                  <a:lnTo>
                    <a:pt x="16166" y="168200"/>
                  </a:lnTo>
                  <a:lnTo>
                    <a:pt x="35277" y="127959"/>
                  </a:lnTo>
                  <a:lnTo>
                    <a:pt x="60767" y="91905"/>
                  </a:lnTo>
                  <a:lnTo>
                    <a:pt x="91905" y="60767"/>
                  </a:lnTo>
                  <a:lnTo>
                    <a:pt x="127959" y="35277"/>
                  </a:lnTo>
                  <a:lnTo>
                    <a:pt x="168200" y="16166"/>
                  </a:lnTo>
                  <a:lnTo>
                    <a:pt x="211896" y="4163"/>
                  </a:lnTo>
                  <a:lnTo>
                    <a:pt x="258318" y="0"/>
                  </a:lnTo>
                  <a:lnTo>
                    <a:pt x="1991106" y="0"/>
                  </a:lnTo>
                  <a:lnTo>
                    <a:pt x="2037527" y="4163"/>
                  </a:lnTo>
                  <a:lnTo>
                    <a:pt x="2081223" y="16166"/>
                  </a:lnTo>
                  <a:lnTo>
                    <a:pt x="2121464" y="35277"/>
                  </a:lnTo>
                  <a:lnTo>
                    <a:pt x="2157518" y="60767"/>
                  </a:lnTo>
                  <a:lnTo>
                    <a:pt x="2188656" y="91905"/>
                  </a:lnTo>
                  <a:lnTo>
                    <a:pt x="2214146" y="127959"/>
                  </a:lnTo>
                  <a:lnTo>
                    <a:pt x="2233257" y="168200"/>
                  </a:lnTo>
                  <a:lnTo>
                    <a:pt x="2245260" y="211896"/>
                  </a:lnTo>
                  <a:lnTo>
                    <a:pt x="2249424" y="258318"/>
                  </a:lnTo>
                  <a:lnTo>
                    <a:pt x="2249424" y="1291590"/>
                  </a:lnTo>
                  <a:lnTo>
                    <a:pt x="2245260" y="1338011"/>
                  </a:lnTo>
                  <a:lnTo>
                    <a:pt x="2233257" y="1381707"/>
                  </a:lnTo>
                  <a:lnTo>
                    <a:pt x="2214146" y="1421948"/>
                  </a:lnTo>
                  <a:lnTo>
                    <a:pt x="2188656" y="1458002"/>
                  </a:lnTo>
                  <a:lnTo>
                    <a:pt x="2157518" y="1489140"/>
                  </a:lnTo>
                  <a:lnTo>
                    <a:pt x="2121464" y="1514630"/>
                  </a:lnTo>
                  <a:lnTo>
                    <a:pt x="2081223" y="1533741"/>
                  </a:lnTo>
                  <a:lnTo>
                    <a:pt x="2037527" y="1545744"/>
                  </a:lnTo>
                  <a:lnTo>
                    <a:pt x="1991106" y="1549908"/>
                  </a:lnTo>
                  <a:lnTo>
                    <a:pt x="258318" y="1549908"/>
                  </a:lnTo>
                  <a:lnTo>
                    <a:pt x="211896" y="1545744"/>
                  </a:lnTo>
                  <a:lnTo>
                    <a:pt x="168200" y="1533741"/>
                  </a:lnTo>
                  <a:lnTo>
                    <a:pt x="127959" y="1514630"/>
                  </a:lnTo>
                  <a:lnTo>
                    <a:pt x="91905" y="1489140"/>
                  </a:lnTo>
                  <a:lnTo>
                    <a:pt x="60767" y="1458002"/>
                  </a:lnTo>
                  <a:lnTo>
                    <a:pt x="35277" y="1421948"/>
                  </a:lnTo>
                  <a:lnTo>
                    <a:pt x="16166" y="1381707"/>
                  </a:lnTo>
                  <a:lnTo>
                    <a:pt x="4163" y="1338011"/>
                  </a:lnTo>
                  <a:lnTo>
                    <a:pt x="0" y="1291590"/>
                  </a:lnTo>
                  <a:lnTo>
                    <a:pt x="0" y="258318"/>
                  </a:lnTo>
                  <a:close/>
                </a:path>
              </a:pathLst>
            </a:custGeom>
            <a:ln w="15240">
              <a:solidFill>
                <a:srgbClr val="5F43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878948" y="3237402"/>
            <a:ext cx="1545590" cy="95186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900" b="1" spc="-10" dirty="0">
                <a:latin typeface="Calibri"/>
                <a:cs typeface="Calibri"/>
              </a:rPr>
              <a:t>Apply</a:t>
            </a:r>
            <a:endParaRPr sz="1900">
              <a:latin typeface="Calibri"/>
              <a:cs typeface="Calibri"/>
            </a:endParaRPr>
          </a:p>
          <a:p>
            <a:pPr marL="125730" marR="5080" indent="-113030">
              <a:lnSpc>
                <a:spcPts val="1660"/>
              </a:lnSpc>
              <a:spcBef>
                <a:spcPts val="860"/>
              </a:spcBef>
              <a:buChar char="•"/>
              <a:tabLst>
                <a:tab pos="127000" algn="l"/>
              </a:tabLst>
            </a:pPr>
            <a:r>
              <a:rPr sz="1500" spc="-10" dirty="0">
                <a:latin typeface="Calibri"/>
                <a:cs typeface="Calibri"/>
              </a:rPr>
              <a:t>Make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planned 	changes.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0028" y="309372"/>
            <a:ext cx="1761744" cy="184861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Scope</a:t>
            </a:r>
            <a:r>
              <a:rPr b="1" spc="-180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&amp;</a:t>
            </a:r>
            <a:r>
              <a:rPr b="1" spc="-170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Author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8223" y="1721866"/>
            <a:ext cx="44653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Identify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resource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need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provision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8223" y="2027963"/>
            <a:ext cx="5280660" cy="989965"/>
          </a:xfrm>
          <a:prstGeom prst="rect">
            <a:avLst/>
          </a:prstGeom>
        </p:spPr>
        <p:txBody>
          <a:bodyPr vert="horz" wrap="square" lIns="0" tIns="18986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49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Local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sample.txt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content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Write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configuration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HCL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language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572255" y="3439667"/>
            <a:ext cx="8617585" cy="3342004"/>
            <a:chOff x="3572255" y="3439667"/>
            <a:chExt cx="8617585" cy="3342004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72255" y="3863397"/>
              <a:ext cx="8617458" cy="291769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97223" y="3718559"/>
              <a:ext cx="8115300" cy="268528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695699" y="3717035"/>
              <a:ext cx="8118475" cy="2688590"/>
            </a:xfrm>
            <a:custGeom>
              <a:avLst/>
              <a:gdLst/>
              <a:ahLst/>
              <a:cxnLst/>
              <a:rect l="l" t="t" r="r" b="b"/>
              <a:pathLst>
                <a:path w="8118475" h="2688590">
                  <a:moveTo>
                    <a:pt x="0" y="2688336"/>
                  </a:moveTo>
                  <a:lnTo>
                    <a:pt x="8118348" y="2688336"/>
                  </a:lnTo>
                  <a:lnTo>
                    <a:pt x="8118348" y="0"/>
                  </a:lnTo>
                  <a:lnTo>
                    <a:pt x="0" y="0"/>
                  </a:lnTo>
                  <a:lnTo>
                    <a:pt x="0" y="2688336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63139" y="3447287"/>
              <a:ext cx="1533525" cy="1172210"/>
            </a:xfrm>
            <a:custGeom>
              <a:avLst/>
              <a:gdLst/>
              <a:ahLst/>
              <a:cxnLst/>
              <a:rect l="l" t="t" r="r" b="b"/>
              <a:pathLst>
                <a:path w="1533525" h="1172210">
                  <a:moveTo>
                    <a:pt x="746164" y="0"/>
                  </a:moveTo>
                  <a:lnTo>
                    <a:pt x="686345" y="1400"/>
                  </a:lnTo>
                  <a:lnTo>
                    <a:pt x="627412" y="4437"/>
                  </a:lnTo>
                  <a:lnTo>
                    <a:pt x="569611" y="9062"/>
                  </a:lnTo>
                  <a:lnTo>
                    <a:pt x="513188" y="15229"/>
                  </a:lnTo>
                  <a:lnTo>
                    <a:pt x="458389" y="22892"/>
                  </a:lnTo>
                  <a:lnTo>
                    <a:pt x="405461" y="32004"/>
                  </a:lnTo>
                  <a:lnTo>
                    <a:pt x="354649" y="42517"/>
                  </a:lnTo>
                  <a:lnTo>
                    <a:pt x="306199" y="54386"/>
                  </a:lnTo>
                  <a:lnTo>
                    <a:pt x="260359" y="67564"/>
                  </a:lnTo>
                  <a:lnTo>
                    <a:pt x="217373" y="82003"/>
                  </a:lnTo>
                  <a:lnTo>
                    <a:pt x="177488" y="97659"/>
                  </a:lnTo>
                  <a:lnTo>
                    <a:pt x="140950" y="114482"/>
                  </a:lnTo>
                  <a:lnTo>
                    <a:pt x="78900" y="151450"/>
                  </a:lnTo>
                  <a:lnTo>
                    <a:pt x="33192" y="192531"/>
                  </a:lnTo>
                  <a:lnTo>
                    <a:pt x="4119" y="243246"/>
                  </a:lnTo>
                  <a:lnTo>
                    <a:pt x="0" y="268506"/>
                  </a:lnTo>
                  <a:lnTo>
                    <a:pt x="2538" y="293511"/>
                  </a:lnTo>
                  <a:lnTo>
                    <a:pt x="26737" y="342190"/>
                  </a:lnTo>
                  <a:lnTo>
                    <a:pt x="75002" y="388149"/>
                  </a:lnTo>
                  <a:lnTo>
                    <a:pt x="107624" y="409754"/>
                  </a:lnTo>
                  <a:lnTo>
                    <a:pt x="145622" y="430253"/>
                  </a:lnTo>
                  <a:lnTo>
                    <a:pt x="188779" y="449504"/>
                  </a:lnTo>
                  <a:lnTo>
                    <a:pt x="236884" y="467365"/>
                  </a:lnTo>
                  <a:lnTo>
                    <a:pt x="289721" y="483695"/>
                  </a:lnTo>
                  <a:lnTo>
                    <a:pt x="347076" y="498351"/>
                  </a:lnTo>
                  <a:lnTo>
                    <a:pt x="408736" y="511192"/>
                  </a:lnTo>
                  <a:lnTo>
                    <a:pt x="474486" y="522075"/>
                  </a:lnTo>
                  <a:lnTo>
                    <a:pt x="544113" y="530859"/>
                  </a:lnTo>
                  <a:lnTo>
                    <a:pt x="504489" y="1171955"/>
                  </a:lnTo>
                  <a:lnTo>
                    <a:pt x="835070" y="541400"/>
                  </a:lnTo>
                  <a:lnTo>
                    <a:pt x="900990" y="538309"/>
                  </a:lnTo>
                  <a:lnTo>
                    <a:pt x="965165" y="533278"/>
                  </a:lnTo>
                  <a:lnTo>
                    <a:pt x="1027324" y="526385"/>
                  </a:lnTo>
                  <a:lnTo>
                    <a:pt x="1087194" y="517709"/>
                  </a:lnTo>
                  <a:lnTo>
                    <a:pt x="1144505" y="507327"/>
                  </a:lnTo>
                  <a:lnTo>
                    <a:pt x="1198984" y="495317"/>
                  </a:lnTo>
                  <a:lnTo>
                    <a:pt x="1250360" y="481758"/>
                  </a:lnTo>
                  <a:lnTo>
                    <a:pt x="1298362" y="466727"/>
                  </a:lnTo>
                  <a:lnTo>
                    <a:pt x="1342717" y="450303"/>
                  </a:lnTo>
                  <a:lnTo>
                    <a:pt x="1383155" y="432564"/>
                  </a:lnTo>
                  <a:lnTo>
                    <a:pt x="1419403" y="413587"/>
                  </a:lnTo>
                  <a:lnTo>
                    <a:pt x="1478245" y="372233"/>
                  </a:lnTo>
                  <a:lnTo>
                    <a:pt x="1518376" y="324669"/>
                  </a:lnTo>
                  <a:lnTo>
                    <a:pt x="1533489" y="274037"/>
                  </a:lnTo>
                  <a:lnTo>
                    <a:pt x="1530950" y="249032"/>
                  </a:lnTo>
                  <a:lnTo>
                    <a:pt x="1506752" y="200353"/>
                  </a:lnTo>
                  <a:lnTo>
                    <a:pt x="1458486" y="154394"/>
                  </a:lnTo>
                  <a:lnTo>
                    <a:pt x="1425864" y="132789"/>
                  </a:lnTo>
                  <a:lnTo>
                    <a:pt x="1387867" y="112290"/>
                  </a:lnTo>
                  <a:lnTo>
                    <a:pt x="1344709" y="93039"/>
                  </a:lnTo>
                  <a:lnTo>
                    <a:pt x="1296604" y="75178"/>
                  </a:lnTo>
                  <a:lnTo>
                    <a:pt x="1243767" y="58848"/>
                  </a:lnTo>
                  <a:lnTo>
                    <a:pt x="1186412" y="44192"/>
                  </a:lnTo>
                  <a:lnTo>
                    <a:pt x="1124752" y="31351"/>
                  </a:lnTo>
                  <a:lnTo>
                    <a:pt x="1059002" y="20468"/>
                  </a:lnTo>
                  <a:lnTo>
                    <a:pt x="989375" y="11683"/>
                  </a:lnTo>
                  <a:lnTo>
                    <a:pt x="928474" y="6076"/>
                  </a:lnTo>
                  <a:lnTo>
                    <a:pt x="867475" y="2291"/>
                  </a:lnTo>
                  <a:lnTo>
                    <a:pt x="806623" y="281"/>
                  </a:lnTo>
                  <a:lnTo>
                    <a:pt x="7461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63139" y="3447287"/>
              <a:ext cx="1533525" cy="1172210"/>
            </a:xfrm>
            <a:custGeom>
              <a:avLst/>
              <a:gdLst/>
              <a:ahLst/>
              <a:cxnLst/>
              <a:rect l="l" t="t" r="r" b="b"/>
              <a:pathLst>
                <a:path w="1533525" h="1172210">
                  <a:moveTo>
                    <a:pt x="504489" y="1171955"/>
                  </a:moveTo>
                  <a:lnTo>
                    <a:pt x="544113" y="530859"/>
                  </a:lnTo>
                  <a:lnTo>
                    <a:pt x="474486" y="522075"/>
                  </a:lnTo>
                  <a:lnTo>
                    <a:pt x="408736" y="511192"/>
                  </a:lnTo>
                  <a:lnTo>
                    <a:pt x="347076" y="498351"/>
                  </a:lnTo>
                  <a:lnTo>
                    <a:pt x="289721" y="483695"/>
                  </a:lnTo>
                  <a:lnTo>
                    <a:pt x="236884" y="467365"/>
                  </a:lnTo>
                  <a:lnTo>
                    <a:pt x="188779" y="449504"/>
                  </a:lnTo>
                  <a:lnTo>
                    <a:pt x="145622" y="430253"/>
                  </a:lnTo>
                  <a:lnTo>
                    <a:pt x="107624" y="409754"/>
                  </a:lnTo>
                  <a:lnTo>
                    <a:pt x="75002" y="388149"/>
                  </a:lnTo>
                  <a:lnTo>
                    <a:pt x="26737" y="342190"/>
                  </a:lnTo>
                  <a:lnTo>
                    <a:pt x="2538" y="293511"/>
                  </a:lnTo>
                  <a:lnTo>
                    <a:pt x="0" y="268506"/>
                  </a:lnTo>
                  <a:lnTo>
                    <a:pt x="4119" y="243246"/>
                  </a:lnTo>
                  <a:lnTo>
                    <a:pt x="33192" y="192531"/>
                  </a:lnTo>
                  <a:lnTo>
                    <a:pt x="78900" y="151450"/>
                  </a:lnTo>
                  <a:lnTo>
                    <a:pt x="140950" y="114482"/>
                  </a:lnTo>
                  <a:lnTo>
                    <a:pt x="177488" y="97659"/>
                  </a:lnTo>
                  <a:lnTo>
                    <a:pt x="217373" y="82003"/>
                  </a:lnTo>
                  <a:lnTo>
                    <a:pt x="260359" y="67564"/>
                  </a:lnTo>
                  <a:lnTo>
                    <a:pt x="306199" y="54386"/>
                  </a:lnTo>
                  <a:lnTo>
                    <a:pt x="354649" y="42517"/>
                  </a:lnTo>
                  <a:lnTo>
                    <a:pt x="405461" y="32004"/>
                  </a:lnTo>
                  <a:lnTo>
                    <a:pt x="458389" y="22892"/>
                  </a:lnTo>
                  <a:lnTo>
                    <a:pt x="513188" y="15229"/>
                  </a:lnTo>
                  <a:lnTo>
                    <a:pt x="569611" y="9062"/>
                  </a:lnTo>
                  <a:lnTo>
                    <a:pt x="627412" y="4437"/>
                  </a:lnTo>
                  <a:lnTo>
                    <a:pt x="686345" y="1400"/>
                  </a:lnTo>
                  <a:lnTo>
                    <a:pt x="746164" y="0"/>
                  </a:lnTo>
                  <a:lnTo>
                    <a:pt x="806623" y="281"/>
                  </a:lnTo>
                  <a:lnTo>
                    <a:pt x="867475" y="2291"/>
                  </a:lnTo>
                  <a:lnTo>
                    <a:pt x="928474" y="6076"/>
                  </a:lnTo>
                  <a:lnTo>
                    <a:pt x="989375" y="11683"/>
                  </a:lnTo>
                  <a:lnTo>
                    <a:pt x="1059002" y="20468"/>
                  </a:lnTo>
                  <a:lnTo>
                    <a:pt x="1124752" y="31351"/>
                  </a:lnTo>
                  <a:lnTo>
                    <a:pt x="1186412" y="44192"/>
                  </a:lnTo>
                  <a:lnTo>
                    <a:pt x="1243767" y="58848"/>
                  </a:lnTo>
                  <a:lnTo>
                    <a:pt x="1296604" y="75178"/>
                  </a:lnTo>
                  <a:lnTo>
                    <a:pt x="1344709" y="93039"/>
                  </a:lnTo>
                  <a:lnTo>
                    <a:pt x="1387867" y="112290"/>
                  </a:lnTo>
                  <a:lnTo>
                    <a:pt x="1425864" y="132789"/>
                  </a:lnTo>
                  <a:lnTo>
                    <a:pt x="1458486" y="154394"/>
                  </a:lnTo>
                  <a:lnTo>
                    <a:pt x="1506752" y="200353"/>
                  </a:lnTo>
                  <a:lnTo>
                    <a:pt x="1530950" y="249032"/>
                  </a:lnTo>
                  <a:lnTo>
                    <a:pt x="1533489" y="274037"/>
                  </a:lnTo>
                  <a:lnTo>
                    <a:pt x="1529369" y="299297"/>
                  </a:lnTo>
                  <a:lnTo>
                    <a:pt x="1500296" y="350011"/>
                  </a:lnTo>
                  <a:lnTo>
                    <a:pt x="1451190" y="393450"/>
                  </a:lnTo>
                  <a:lnTo>
                    <a:pt x="1383155" y="432564"/>
                  </a:lnTo>
                  <a:lnTo>
                    <a:pt x="1342717" y="450303"/>
                  </a:lnTo>
                  <a:lnTo>
                    <a:pt x="1298362" y="466727"/>
                  </a:lnTo>
                  <a:lnTo>
                    <a:pt x="1250360" y="481758"/>
                  </a:lnTo>
                  <a:lnTo>
                    <a:pt x="1198984" y="495317"/>
                  </a:lnTo>
                  <a:lnTo>
                    <a:pt x="1144505" y="507327"/>
                  </a:lnTo>
                  <a:lnTo>
                    <a:pt x="1087194" y="517709"/>
                  </a:lnTo>
                  <a:lnTo>
                    <a:pt x="1027324" y="526385"/>
                  </a:lnTo>
                  <a:lnTo>
                    <a:pt x="965165" y="533278"/>
                  </a:lnTo>
                  <a:lnTo>
                    <a:pt x="900990" y="538309"/>
                  </a:lnTo>
                  <a:lnTo>
                    <a:pt x="835070" y="541400"/>
                  </a:lnTo>
                  <a:lnTo>
                    <a:pt x="504489" y="1171955"/>
                  </a:lnTo>
                  <a:close/>
                </a:path>
              </a:pathLst>
            </a:custGeom>
            <a:ln w="15240">
              <a:solidFill>
                <a:srgbClr val="BC5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668517" y="3553790"/>
            <a:ext cx="523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Block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122957" y="3061641"/>
            <a:ext cx="1917700" cy="1648460"/>
            <a:chOff x="7122957" y="3061641"/>
            <a:chExt cx="1917700" cy="1648460"/>
          </a:xfrm>
        </p:grpSpPr>
        <p:sp>
          <p:nvSpPr>
            <p:cNvPr id="14" name="object 14"/>
            <p:cNvSpPr/>
            <p:nvPr/>
          </p:nvSpPr>
          <p:spPr>
            <a:xfrm>
              <a:off x="7130577" y="3069261"/>
              <a:ext cx="1902460" cy="1633220"/>
            </a:xfrm>
            <a:custGeom>
              <a:avLst/>
              <a:gdLst/>
              <a:ahLst/>
              <a:cxnLst/>
              <a:rect l="l" t="t" r="r" b="b"/>
              <a:pathLst>
                <a:path w="1902459" h="1633220">
                  <a:moveTo>
                    <a:pt x="937170" y="0"/>
                  </a:moveTo>
                  <a:lnTo>
                    <a:pt x="879894" y="1025"/>
                  </a:lnTo>
                  <a:lnTo>
                    <a:pt x="823199" y="3412"/>
                  </a:lnTo>
                  <a:lnTo>
                    <a:pt x="767225" y="7132"/>
                  </a:lnTo>
                  <a:lnTo>
                    <a:pt x="712111" y="12155"/>
                  </a:lnTo>
                  <a:lnTo>
                    <a:pt x="657995" y="18450"/>
                  </a:lnTo>
                  <a:lnTo>
                    <a:pt x="605017" y="25990"/>
                  </a:lnTo>
                  <a:lnTo>
                    <a:pt x="553314" y="34744"/>
                  </a:lnTo>
                  <a:lnTo>
                    <a:pt x="503027" y="44683"/>
                  </a:lnTo>
                  <a:lnTo>
                    <a:pt x="454293" y="55777"/>
                  </a:lnTo>
                  <a:lnTo>
                    <a:pt x="407252" y="67997"/>
                  </a:lnTo>
                  <a:lnTo>
                    <a:pt x="362043" y="81314"/>
                  </a:lnTo>
                  <a:lnTo>
                    <a:pt x="318804" y="95697"/>
                  </a:lnTo>
                  <a:lnTo>
                    <a:pt x="277675" y="111118"/>
                  </a:lnTo>
                  <a:lnTo>
                    <a:pt x="238794" y="127547"/>
                  </a:lnTo>
                  <a:lnTo>
                    <a:pt x="202299" y="144955"/>
                  </a:lnTo>
                  <a:lnTo>
                    <a:pt x="168331" y="163311"/>
                  </a:lnTo>
                  <a:lnTo>
                    <a:pt x="108528" y="202754"/>
                  </a:lnTo>
                  <a:lnTo>
                    <a:pt x="60495" y="245638"/>
                  </a:lnTo>
                  <a:lnTo>
                    <a:pt x="23123" y="295578"/>
                  </a:lnTo>
                  <a:lnTo>
                    <a:pt x="2626" y="350198"/>
                  </a:lnTo>
                  <a:lnTo>
                    <a:pt x="0" y="377356"/>
                  </a:lnTo>
                  <a:lnTo>
                    <a:pt x="2291" y="404291"/>
                  </a:lnTo>
                  <a:lnTo>
                    <a:pt x="21137" y="457127"/>
                  </a:lnTo>
                  <a:lnTo>
                    <a:pt x="58185" y="507977"/>
                  </a:lnTo>
                  <a:lnTo>
                    <a:pt x="112454" y="556112"/>
                  </a:lnTo>
                  <a:lnTo>
                    <a:pt x="145741" y="578933"/>
                  </a:lnTo>
                  <a:lnTo>
                    <a:pt x="182965" y="600802"/>
                  </a:lnTo>
                  <a:lnTo>
                    <a:pt x="224004" y="621627"/>
                  </a:lnTo>
                  <a:lnTo>
                    <a:pt x="268736" y="641318"/>
                  </a:lnTo>
                  <a:lnTo>
                    <a:pt x="317039" y="659782"/>
                  </a:lnTo>
                  <a:lnTo>
                    <a:pt x="368789" y="676930"/>
                  </a:lnTo>
                  <a:lnTo>
                    <a:pt x="423865" y="692670"/>
                  </a:lnTo>
                  <a:lnTo>
                    <a:pt x="482143" y="706910"/>
                  </a:lnTo>
                  <a:lnTo>
                    <a:pt x="543501" y="719559"/>
                  </a:lnTo>
                  <a:lnTo>
                    <a:pt x="607818" y="730527"/>
                  </a:lnTo>
                  <a:lnTo>
                    <a:pt x="674969" y="739722"/>
                  </a:lnTo>
                  <a:lnTo>
                    <a:pt x="625820" y="1632913"/>
                  </a:lnTo>
                  <a:lnTo>
                    <a:pt x="1036030" y="754454"/>
                  </a:lnTo>
                  <a:lnTo>
                    <a:pt x="1099799" y="751326"/>
                  </a:lnTo>
                  <a:lnTo>
                    <a:pt x="1162305" y="746550"/>
                  </a:lnTo>
                  <a:lnTo>
                    <a:pt x="1223391" y="740175"/>
                  </a:lnTo>
                  <a:lnTo>
                    <a:pt x="1282898" y="732255"/>
                  </a:lnTo>
                  <a:lnTo>
                    <a:pt x="1340665" y="722839"/>
                  </a:lnTo>
                  <a:lnTo>
                    <a:pt x="1396536" y="711979"/>
                  </a:lnTo>
                  <a:lnTo>
                    <a:pt x="1450350" y="699728"/>
                  </a:lnTo>
                  <a:lnTo>
                    <a:pt x="1501949" y="686135"/>
                  </a:lnTo>
                  <a:lnTo>
                    <a:pt x="1551174" y="671253"/>
                  </a:lnTo>
                  <a:lnTo>
                    <a:pt x="1597866" y="655133"/>
                  </a:lnTo>
                  <a:lnTo>
                    <a:pt x="1641866" y="637825"/>
                  </a:lnTo>
                  <a:lnTo>
                    <a:pt x="1683015" y="619382"/>
                  </a:lnTo>
                  <a:lnTo>
                    <a:pt x="1721155" y="599855"/>
                  </a:lnTo>
                  <a:lnTo>
                    <a:pt x="1756126" y="579295"/>
                  </a:lnTo>
                  <a:lnTo>
                    <a:pt x="1787770" y="557754"/>
                  </a:lnTo>
                  <a:lnTo>
                    <a:pt x="1840440" y="511932"/>
                  </a:lnTo>
                  <a:lnTo>
                    <a:pt x="1879264" y="460474"/>
                  </a:lnTo>
                  <a:lnTo>
                    <a:pt x="1899762" y="405854"/>
                  </a:lnTo>
                  <a:lnTo>
                    <a:pt x="1902388" y="378696"/>
                  </a:lnTo>
                  <a:lnTo>
                    <a:pt x="1900097" y="351761"/>
                  </a:lnTo>
                  <a:lnTo>
                    <a:pt x="1881251" y="298925"/>
                  </a:lnTo>
                  <a:lnTo>
                    <a:pt x="1844203" y="248075"/>
                  </a:lnTo>
                  <a:lnTo>
                    <a:pt x="1789934" y="199940"/>
                  </a:lnTo>
                  <a:lnTo>
                    <a:pt x="1756647" y="177119"/>
                  </a:lnTo>
                  <a:lnTo>
                    <a:pt x="1719423" y="155250"/>
                  </a:lnTo>
                  <a:lnTo>
                    <a:pt x="1678384" y="134425"/>
                  </a:lnTo>
                  <a:lnTo>
                    <a:pt x="1633651" y="114734"/>
                  </a:lnTo>
                  <a:lnTo>
                    <a:pt x="1585349" y="96270"/>
                  </a:lnTo>
                  <a:lnTo>
                    <a:pt x="1533599" y="79122"/>
                  </a:lnTo>
                  <a:lnTo>
                    <a:pt x="1478523" y="63382"/>
                  </a:lnTo>
                  <a:lnTo>
                    <a:pt x="1420245" y="49142"/>
                  </a:lnTo>
                  <a:lnTo>
                    <a:pt x="1358886" y="36493"/>
                  </a:lnTo>
                  <a:lnTo>
                    <a:pt x="1294570" y="25525"/>
                  </a:lnTo>
                  <a:lnTo>
                    <a:pt x="1227419" y="16330"/>
                  </a:lnTo>
                  <a:lnTo>
                    <a:pt x="1169316" y="10104"/>
                  </a:lnTo>
                  <a:lnTo>
                    <a:pt x="1111101" y="5388"/>
                  </a:lnTo>
                  <a:lnTo>
                    <a:pt x="1052913" y="2152"/>
                  </a:lnTo>
                  <a:lnTo>
                    <a:pt x="994889" y="365"/>
                  </a:lnTo>
                  <a:lnTo>
                    <a:pt x="9371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130577" y="3069261"/>
              <a:ext cx="1902460" cy="1633220"/>
            </a:xfrm>
            <a:custGeom>
              <a:avLst/>
              <a:gdLst/>
              <a:ahLst/>
              <a:cxnLst/>
              <a:rect l="l" t="t" r="r" b="b"/>
              <a:pathLst>
                <a:path w="1902459" h="1633220">
                  <a:moveTo>
                    <a:pt x="625820" y="1632913"/>
                  </a:moveTo>
                  <a:lnTo>
                    <a:pt x="674969" y="739722"/>
                  </a:lnTo>
                  <a:lnTo>
                    <a:pt x="607818" y="730527"/>
                  </a:lnTo>
                  <a:lnTo>
                    <a:pt x="543501" y="719559"/>
                  </a:lnTo>
                  <a:lnTo>
                    <a:pt x="482143" y="706910"/>
                  </a:lnTo>
                  <a:lnTo>
                    <a:pt x="423865" y="692670"/>
                  </a:lnTo>
                  <a:lnTo>
                    <a:pt x="368789" y="676930"/>
                  </a:lnTo>
                  <a:lnTo>
                    <a:pt x="317039" y="659782"/>
                  </a:lnTo>
                  <a:lnTo>
                    <a:pt x="268736" y="641318"/>
                  </a:lnTo>
                  <a:lnTo>
                    <a:pt x="224004" y="621627"/>
                  </a:lnTo>
                  <a:lnTo>
                    <a:pt x="182965" y="600802"/>
                  </a:lnTo>
                  <a:lnTo>
                    <a:pt x="145741" y="578933"/>
                  </a:lnTo>
                  <a:lnTo>
                    <a:pt x="112454" y="556112"/>
                  </a:lnTo>
                  <a:lnTo>
                    <a:pt x="58185" y="507977"/>
                  </a:lnTo>
                  <a:lnTo>
                    <a:pt x="21137" y="457127"/>
                  </a:lnTo>
                  <a:lnTo>
                    <a:pt x="2291" y="404291"/>
                  </a:lnTo>
                  <a:lnTo>
                    <a:pt x="0" y="377356"/>
                  </a:lnTo>
                  <a:lnTo>
                    <a:pt x="2626" y="350198"/>
                  </a:lnTo>
                  <a:lnTo>
                    <a:pt x="23123" y="295578"/>
                  </a:lnTo>
                  <a:lnTo>
                    <a:pt x="60495" y="245638"/>
                  </a:lnTo>
                  <a:lnTo>
                    <a:pt x="108528" y="202754"/>
                  </a:lnTo>
                  <a:lnTo>
                    <a:pt x="168331" y="163311"/>
                  </a:lnTo>
                  <a:lnTo>
                    <a:pt x="202299" y="144955"/>
                  </a:lnTo>
                  <a:lnTo>
                    <a:pt x="238794" y="127547"/>
                  </a:lnTo>
                  <a:lnTo>
                    <a:pt x="277675" y="111118"/>
                  </a:lnTo>
                  <a:lnTo>
                    <a:pt x="318804" y="95697"/>
                  </a:lnTo>
                  <a:lnTo>
                    <a:pt x="362043" y="81314"/>
                  </a:lnTo>
                  <a:lnTo>
                    <a:pt x="407252" y="67997"/>
                  </a:lnTo>
                  <a:lnTo>
                    <a:pt x="454293" y="55777"/>
                  </a:lnTo>
                  <a:lnTo>
                    <a:pt x="503027" y="44683"/>
                  </a:lnTo>
                  <a:lnTo>
                    <a:pt x="553314" y="34744"/>
                  </a:lnTo>
                  <a:lnTo>
                    <a:pt x="605017" y="25990"/>
                  </a:lnTo>
                  <a:lnTo>
                    <a:pt x="657995" y="18450"/>
                  </a:lnTo>
                  <a:lnTo>
                    <a:pt x="712111" y="12155"/>
                  </a:lnTo>
                  <a:lnTo>
                    <a:pt x="767225" y="7132"/>
                  </a:lnTo>
                  <a:lnTo>
                    <a:pt x="823199" y="3412"/>
                  </a:lnTo>
                  <a:lnTo>
                    <a:pt x="879894" y="1025"/>
                  </a:lnTo>
                  <a:lnTo>
                    <a:pt x="937170" y="0"/>
                  </a:lnTo>
                  <a:lnTo>
                    <a:pt x="994889" y="365"/>
                  </a:lnTo>
                  <a:lnTo>
                    <a:pt x="1052913" y="2152"/>
                  </a:lnTo>
                  <a:lnTo>
                    <a:pt x="1111101" y="5388"/>
                  </a:lnTo>
                  <a:lnTo>
                    <a:pt x="1169316" y="10104"/>
                  </a:lnTo>
                  <a:lnTo>
                    <a:pt x="1227419" y="16330"/>
                  </a:lnTo>
                  <a:lnTo>
                    <a:pt x="1294570" y="25525"/>
                  </a:lnTo>
                  <a:lnTo>
                    <a:pt x="1358886" y="36493"/>
                  </a:lnTo>
                  <a:lnTo>
                    <a:pt x="1420245" y="49142"/>
                  </a:lnTo>
                  <a:lnTo>
                    <a:pt x="1478523" y="63382"/>
                  </a:lnTo>
                  <a:lnTo>
                    <a:pt x="1533599" y="79122"/>
                  </a:lnTo>
                  <a:lnTo>
                    <a:pt x="1585349" y="96270"/>
                  </a:lnTo>
                  <a:lnTo>
                    <a:pt x="1633651" y="114734"/>
                  </a:lnTo>
                  <a:lnTo>
                    <a:pt x="1678384" y="134425"/>
                  </a:lnTo>
                  <a:lnTo>
                    <a:pt x="1719423" y="155250"/>
                  </a:lnTo>
                  <a:lnTo>
                    <a:pt x="1756647" y="177119"/>
                  </a:lnTo>
                  <a:lnTo>
                    <a:pt x="1789934" y="199940"/>
                  </a:lnTo>
                  <a:lnTo>
                    <a:pt x="1844203" y="248075"/>
                  </a:lnTo>
                  <a:lnTo>
                    <a:pt x="1881251" y="298925"/>
                  </a:lnTo>
                  <a:lnTo>
                    <a:pt x="1900097" y="351761"/>
                  </a:lnTo>
                  <a:lnTo>
                    <a:pt x="1902388" y="378696"/>
                  </a:lnTo>
                  <a:lnTo>
                    <a:pt x="1899762" y="405854"/>
                  </a:lnTo>
                  <a:lnTo>
                    <a:pt x="1879264" y="460474"/>
                  </a:lnTo>
                  <a:lnTo>
                    <a:pt x="1840440" y="511932"/>
                  </a:lnTo>
                  <a:lnTo>
                    <a:pt x="1787770" y="557754"/>
                  </a:lnTo>
                  <a:lnTo>
                    <a:pt x="1756126" y="579295"/>
                  </a:lnTo>
                  <a:lnTo>
                    <a:pt x="1721155" y="599855"/>
                  </a:lnTo>
                  <a:lnTo>
                    <a:pt x="1683015" y="619382"/>
                  </a:lnTo>
                  <a:lnTo>
                    <a:pt x="1641866" y="637825"/>
                  </a:lnTo>
                  <a:lnTo>
                    <a:pt x="1597866" y="655133"/>
                  </a:lnTo>
                  <a:lnTo>
                    <a:pt x="1551174" y="671253"/>
                  </a:lnTo>
                  <a:lnTo>
                    <a:pt x="1501949" y="686135"/>
                  </a:lnTo>
                  <a:lnTo>
                    <a:pt x="1450350" y="699728"/>
                  </a:lnTo>
                  <a:lnTo>
                    <a:pt x="1396536" y="711979"/>
                  </a:lnTo>
                  <a:lnTo>
                    <a:pt x="1340665" y="722839"/>
                  </a:lnTo>
                  <a:lnTo>
                    <a:pt x="1282898" y="732255"/>
                  </a:lnTo>
                  <a:lnTo>
                    <a:pt x="1223391" y="740175"/>
                  </a:lnTo>
                  <a:lnTo>
                    <a:pt x="1162305" y="746550"/>
                  </a:lnTo>
                  <a:lnTo>
                    <a:pt x="1099799" y="751326"/>
                  </a:lnTo>
                  <a:lnTo>
                    <a:pt x="1036030" y="754454"/>
                  </a:lnTo>
                  <a:lnTo>
                    <a:pt x="625820" y="1632913"/>
                  </a:lnTo>
                  <a:close/>
                </a:path>
              </a:pathLst>
            </a:custGeom>
            <a:ln w="15240">
              <a:solidFill>
                <a:srgbClr val="BC5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527163" y="3145663"/>
            <a:ext cx="11131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6839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Resource Type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Local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486742" y="3008388"/>
            <a:ext cx="1759585" cy="1648460"/>
            <a:chOff x="9486742" y="3008388"/>
            <a:chExt cx="1759585" cy="1648460"/>
          </a:xfrm>
        </p:grpSpPr>
        <p:sp>
          <p:nvSpPr>
            <p:cNvPr id="18" name="object 18"/>
            <p:cNvSpPr/>
            <p:nvPr/>
          </p:nvSpPr>
          <p:spPr>
            <a:xfrm>
              <a:off x="9494362" y="3016008"/>
              <a:ext cx="1744345" cy="1633220"/>
            </a:xfrm>
            <a:custGeom>
              <a:avLst/>
              <a:gdLst/>
              <a:ahLst/>
              <a:cxnLst/>
              <a:rect l="l" t="t" r="r" b="b"/>
              <a:pathLst>
                <a:path w="1744345" h="1633220">
                  <a:moveTo>
                    <a:pt x="894228" y="0"/>
                  </a:moveTo>
                  <a:lnTo>
                    <a:pt x="837070" y="172"/>
                  </a:lnTo>
                  <a:lnTo>
                    <a:pt x="780449" y="1963"/>
                  </a:lnTo>
                  <a:lnTo>
                    <a:pt x="724526" y="5335"/>
                  </a:lnTo>
                  <a:lnTo>
                    <a:pt x="669465" y="10250"/>
                  </a:lnTo>
                  <a:lnTo>
                    <a:pt x="615428" y="16671"/>
                  </a:lnTo>
                  <a:lnTo>
                    <a:pt x="562575" y="24561"/>
                  </a:lnTo>
                  <a:lnTo>
                    <a:pt x="511069" y="33881"/>
                  </a:lnTo>
                  <a:lnTo>
                    <a:pt x="461071" y="44595"/>
                  </a:lnTo>
                  <a:lnTo>
                    <a:pt x="412745" y="56665"/>
                  </a:lnTo>
                  <a:lnTo>
                    <a:pt x="366252" y="70054"/>
                  </a:lnTo>
                  <a:lnTo>
                    <a:pt x="321753" y="84723"/>
                  </a:lnTo>
                  <a:lnTo>
                    <a:pt x="279411" y="100636"/>
                  </a:lnTo>
                  <a:lnTo>
                    <a:pt x="239387" y="117756"/>
                  </a:lnTo>
                  <a:lnTo>
                    <a:pt x="201845" y="136043"/>
                  </a:lnTo>
                  <a:lnTo>
                    <a:pt x="166944" y="155462"/>
                  </a:lnTo>
                  <a:lnTo>
                    <a:pt x="105719" y="197543"/>
                  </a:lnTo>
                  <a:lnTo>
                    <a:pt x="57007" y="243699"/>
                  </a:lnTo>
                  <a:lnTo>
                    <a:pt x="20472" y="296791"/>
                  </a:lnTo>
                  <a:lnTo>
                    <a:pt x="1727" y="354000"/>
                  </a:lnTo>
                  <a:lnTo>
                    <a:pt x="0" y="382419"/>
                  </a:lnTo>
                  <a:lnTo>
                    <a:pt x="3197" y="410573"/>
                  </a:lnTo>
                  <a:lnTo>
                    <a:pt x="23849" y="465672"/>
                  </a:lnTo>
                  <a:lnTo>
                    <a:pt x="62651" y="518458"/>
                  </a:lnTo>
                  <a:lnTo>
                    <a:pt x="118571" y="568091"/>
                  </a:lnTo>
                  <a:lnTo>
                    <a:pt x="152626" y="591464"/>
                  </a:lnTo>
                  <a:lnTo>
                    <a:pt x="190574" y="613735"/>
                  </a:lnTo>
                  <a:lnTo>
                    <a:pt x="232284" y="634798"/>
                  </a:lnTo>
                  <a:lnTo>
                    <a:pt x="277629" y="654550"/>
                  </a:lnTo>
                  <a:lnTo>
                    <a:pt x="326478" y="672884"/>
                  </a:lnTo>
                  <a:lnTo>
                    <a:pt x="378702" y="689697"/>
                  </a:lnTo>
                  <a:lnTo>
                    <a:pt x="434173" y="704883"/>
                  </a:lnTo>
                  <a:lnTo>
                    <a:pt x="492761" y="718338"/>
                  </a:lnTo>
                  <a:lnTo>
                    <a:pt x="554338" y="729957"/>
                  </a:lnTo>
                  <a:lnTo>
                    <a:pt x="618774" y="739635"/>
                  </a:lnTo>
                  <a:lnTo>
                    <a:pt x="573689" y="1632826"/>
                  </a:lnTo>
                  <a:lnTo>
                    <a:pt x="949609" y="754367"/>
                  </a:lnTo>
                  <a:lnTo>
                    <a:pt x="1011475" y="751003"/>
                  </a:lnTo>
                  <a:lnTo>
                    <a:pt x="1072034" y="745794"/>
                  </a:lnTo>
                  <a:lnTo>
                    <a:pt x="1131113" y="738801"/>
                  </a:lnTo>
                  <a:lnTo>
                    <a:pt x="1188540" y="730084"/>
                  </a:lnTo>
                  <a:lnTo>
                    <a:pt x="1244142" y="719705"/>
                  </a:lnTo>
                  <a:lnTo>
                    <a:pt x="1297745" y="707724"/>
                  </a:lnTo>
                  <a:lnTo>
                    <a:pt x="1349176" y="694203"/>
                  </a:lnTo>
                  <a:lnTo>
                    <a:pt x="1398264" y="679202"/>
                  </a:lnTo>
                  <a:lnTo>
                    <a:pt x="1444834" y="662782"/>
                  </a:lnTo>
                  <a:lnTo>
                    <a:pt x="1488713" y="645005"/>
                  </a:lnTo>
                  <a:lnTo>
                    <a:pt x="1529730" y="625931"/>
                  </a:lnTo>
                  <a:lnTo>
                    <a:pt x="1567711" y="605621"/>
                  </a:lnTo>
                  <a:lnTo>
                    <a:pt x="1602483" y="584136"/>
                  </a:lnTo>
                  <a:lnTo>
                    <a:pt x="1633872" y="561537"/>
                  </a:lnTo>
                  <a:lnTo>
                    <a:pt x="1685814" y="513241"/>
                  </a:lnTo>
                  <a:lnTo>
                    <a:pt x="1723297" y="459086"/>
                  </a:lnTo>
                  <a:lnTo>
                    <a:pt x="1742042" y="401877"/>
                  </a:lnTo>
                  <a:lnTo>
                    <a:pt x="1743770" y="373458"/>
                  </a:lnTo>
                  <a:lnTo>
                    <a:pt x="1740573" y="345304"/>
                  </a:lnTo>
                  <a:lnTo>
                    <a:pt x="1719920" y="290205"/>
                  </a:lnTo>
                  <a:lnTo>
                    <a:pt x="1681118" y="237420"/>
                  </a:lnTo>
                  <a:lnTo>
                    <a:pt x="1625199" y="187786"/>
                  </a:lnTo>
                  <a:lnTo>
                    <a:pt x="1591143" y="164413"/>
                  </a:lnTo>
                  <a:lnTo>
                    <a:pt x="1553195" y="142142"/>
                  </a:lnTo>
                  <a:lnTo>
                    <a:pt x="1511485" y="121079"/>
                  </a:lnTo>
                  <a:lnTo>
                    <a:pt x="1466141" y="101327"/>
                  </a:lnTo>
                  <a:lnTo>
                    <a:pt x="1417292" y="82993"/>
                  </a:lnTo>
                  <a:lnTo>
                    <a:pt x="1365067" y="66180"/>
                  </a:lnTo>
                  <a:lnTo>
                    <a:pt x="1309596" y="50994"/>
                  </a:lnTo>
                  <a:lnTo>
                    <a:pt x="1251008" y="37539"/>
                  </a:lnTo>
                  <a:lnTo>
                    <a:pt x="1189431" y="25920"/>
                  </a:lnTo>
                  <a:lnTo>
                    <a:pt x="1124996" y="16243"/>
                  </a:lnTo>
                  <a:lnTo>
                    <a:pt x="1067308" y="9567"/>
                  </a:lnTo>
                  <a:lnTo>
                    <a:pt x="1009509" y="4659"/>
                  </a:lnTo>
                  <a:lnTo>
                    <a:pt x="951762" y="1483"/>
                  </a:lnTo>
                  <a:lnTo>
                    <a:pt x="8942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494362" y="3016008"/>
              <a:ext cx="1744345" cy="1633220"/>
            </a:xfrm>
            <a:custGeom>
              <a:avLst/>
              <a:gdLst/>
              <a:ahLst/>
              <a:cxnLst/>
              <a:rect l="l" t="t" r="r" b="b"/>
              <a:pathLst>
                <a:path w="1744345" h="1633220">
                  <a:moveTo>
                    <a:pt x="573689" y="1632826"/>
                  </a:moveTo>
                  <a:lnTo>
                    <a:pt x="618774" y="739635"/>
                  </a:lnTo>
                  <a:lnTo>
                    <a:pt x="554338" y="729957"/>
                  </a:lnTo>
                  <a:lnTo>
                    <a:pt x="492761" y="718338"/>
                  </a:lnTo>
                  <a:lnTo>
                    <a:pt x="434173" y="704883"/>
                  </a:lnTo>
                  <a:lnTo>
                    <a:pt x="378702" y="689697"/>
                  </a:lnTo>
                  <a:lnTo>
                    <a:pt x="326478" y="672884"/>
                  </a:lnTo>
                  <a:lnTo>
                    <a:pt x="277629" y="654550"/>
                  </a:lnTo>
                  <a:lnTo>
                    <a:pt x="232284" y="634798"/>
                  </a:lnTo>
                  <a:lnTo>
                    <a:pt x="190574" y="613735"/>
                  </a:lnTo>
                  <a:lnTo>
                    <a:pt x="152626" y="591464"/>
                  </a:lnTo>
                  <a:lnTo>
                    <a:pt x="118571" y="568091"/>
                  </a:lnTo>
                  <a:lnTo>
                    <a:pt x="88536" y="543721"/>
                  </a:lnTo>
                  <a:lnTo>
                    <a:pt x="41046" y="492406"/>
                  </a:lnTo>
                  <a:lnTo>
                    <a:pt x="11190" y="438359"/>
                  </a:lnTo>
                  <a:lnTo>
                    <a:pt x="0" y="382419"/>
                  </a:lnTo>
                  <a:lnTo>
                    <a:pt x="1727" y="354000"/>
                  </a:lnTo>
                  <a:lnTo>
                    <a:pt x="20472" y="296791"/>
                  </a:lnTo>
                  <a:lnTo>
                    <a:pt x="57007" y="243699"/>
                  </a:lnTo>
                  <a:lnTo>
                    <a:pt x="105719" y="197543"/>
                  </a:lnTo>
                  <a:lnTo>
                    <a:pt x="166944" y="155462"/>
                  </a:lnTo>
                  <a:lnTo>
                    <a:pt x="201845" y="136043"/>
                  </a:lnTo>
                  <a:lnTo>
                    <a:pt x="239387" y="117756"/>
                  </a:lnTo>
                  <a:lnTo>
                    <a:pt x="279411" y="100636"/>
                  </a:lnTo>
                  <a:lnTo>
                    <a:pt x="321753" y="84723"/>
                  </a:lnTo>
                  <a:lnTo>
                    <a:pt x="366252" y="70054"/>
                  </a:lnTo>
                  <a:lnTo>
                    <a:pt x="412745" y="56665"/>
                  </a:lnTo>
                  <a:lnTo>
                    <a:pt x="461071" y="44595"/>
                  </a:lnTo>
                  <a:lnTo>
                    <a:pt x="511069" y="33881"/>
                  </a:lnTo>
                  <a:lnTo>
                    <a:pt x="562575" y="24561"/>
                  </a:lnTo>
                  <a:lnTo>
                    <a:pt x="615428" y="16671"/>
                  </a:lnTo>
                  <a:lnTo>
                    <a:pt x="669465" y="10250"/>
                  </a:lnTo>
                  <a:lnTo>
                    <a:pt x="724526" y="5335"/>
                  </a:lnTo>
                  <a:lnTo>
                    <a:pt x="780449" y="1963"/>
                  </a:lnTo>
                  <a:lnTo>
                    <a:pt x="837070" y="172"/>
                  </a:lnTo>
                  <a:lnTo>
                    <a:pt x="894228" y="0"/>
                  </a:lnTo>
                  <a:lnTo>
                    <a:pt x="951762" y="1483"/>
                  </a:lnTo>
                  <a:lnTo>
                    <a:pt x="1009509" y="4659"/>
                  </a:lnTo>
                  <a:lnTo>
                    <a:pt x="1067308" y="9567"/>
                  </a:lnTo>
                  <a:lnTo>
                    <a:pt x="1124996" y="16243"/>
                  </a:lnTo>
                  <a:lnTo>
                    <a:pt x="1189431" y="25920"/>
                  </a:lnTo>
                  <a:lnTo>
                    <a:pt x="1251008" y="37539"/>
                  </a:lnTo>
                  <a:lnTo>
                    <a:pt x="1309596" y="50994"/>
                  </a:lnTo>
                  <a:lnTo>
                    <a:pt x="1365067" y="66180"/>
                  </a:lnTo>
                  <a:lnTo>
                    <a:pt x="1417292" y="82993"/>
                  </a:lnTo>
                  <a:lnTo>
                    <a:pt x="1466141" y="101327"/>
                  </a:lnTo>
                  <a:lnTo>
                    <a:pt x="1511485" y="121079"/>
                  </a:lnTo>
                  <a:lnTo>
                    <a:pt x="1553195" y="142142"/>
                  </a:lnTo>
                  <a:lnTo>
                    <a:pt x="1591143" y="164413"/>
                  </a:lnTo>
                  <a:lnTo>
                    <a:pt x="1625199" y="187786"/>
                  </a:lnTo>
                  <a:lnTo>
                    <a:pt x="1655233" y="212156"/>
                  </a:lnTo>
                  <a:lnTo>
                    <a:pt x="1702723" y="263471"/>
                  </a:lnTo>
                  <a:lnTo>
                    <a:pt x="1732580" y="317518"/>
                  </a:lnTo>
                  <a:lnTo>
                    <a:pt x="1743770" y="373458"/>
                  </a:lnTo>
                  <a:lnTo>
                    <a:pt x="1742042" y="401877"/>
                  </a:lnTo>
                  <a:lnTo>
                    <a:pt x="1723297" y="459086"/>
                  </a:lnTo>
                  <a:lnTo>
                    <a:pt x="1685814" y="513241"/>
                  </a:lnTo>
                  <a:lnTo>
                    <a:pt x="1633872" y="561537"/>
                  </a:lnTo>
                  <a:lnTo>
                    <a:pt x="1602483" y="584136"/>
                  </a:lnTo>
                  <a:lnTo>
                    <a:pt x="1567711" y="605621"/>
                  </a:lnTo>
                  <a:lnTo>
                    <a:pt x="1529730" y="625931"/>
                  </a:lnTo>
                  <a:lnTo>
                    <a:pt x="1488713" y="645005"/>
                  </a:lnTo>
                  <a:lnTo>
                    <a:pt x="1444834" y="662782"/>
                  </a:lnTo>
                  <a:lnTo>
                    <a:pt x="1398264" y="679202"/>
                  </a:lnTo>
                  <a:lnTo>
                    <a:pt x="1349176" y="694203"/>
                  </a:lnTo>
                  <a:lnTo>
                    <a:pt x="1297745" y="707724"/>
                  </a:lnTo>
                  <a:lnTo>
                    <a:pt x="1244142" y="719705"/>
                  </a:lnTo>
                  <a:lnTo>
                    <a:pt x="1188540" y="730084"/>
                  </a:lnTo>
                  <a:lnTo>
                    <a:pt x="1131113" y="738801"/>
                  </a:lnTo>
                  <a:lnTo>
                    <a:pt x="1072034" y="745794"/>
                  </a:lnTo>
                  <a:lnTo>
                    <a:pt x="1011475" y="751003"/>
                  </a:lnTo>
                  <a:lnTo>
                    <a:pt x="949609" y="754367"/>
                  </a:lnTo>
                  <a:lnTo>
                    <a:pt x="573689" y="1632826"/>
                  </a:lnTo>
                  <a:close/>
                </a:path>
              </a:pathLst>
            </a:custGeom>
            <a:ln w="15240">
              <a:solidFill>
                <a:srgbClr val="BC5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929241" y="3091941"/>
            <a:ext cx="8756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Resource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20" dirty="0">
                <a:latin typeface="Calibri"/>
                <a:cs typeface="Calibri"/>
              </a:rPr>
              <a:t>Name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917346" y="4611677"/>
            <a:ext cx="3464560" cy="641985"/>
            <a:chOff x="1917346" y="4611677"/>
            <a:chExt cx="3464560" cy="641985"/>
          </a:xfrm>
        </p:grpSpPr>
        <p:sp>
          <p:nvSpPr>
            <p:cNvPr id="22" name="object 22"/>
            <p:cNvSpPr/>
            <p:nvPr/>
          </p:nvSpPr>
          <p:spPr>
            <a:xfrm>
              <a:off x="1924966" y="4619297"/>
              <a:ext cx="3449320" cy="626745"/>
            </a:xfrm>
            <a:custGeom>
              <a:avLst/>
              <a:gdLst/>
              <a:ahLst/>
              <a:cxnLst/>
              <a:rect l="l" t="t" r="r" b="b"/>
              <a:pathLst>
                <a:path w="3449320" h="626745">
                  <a:moveTo>
                    <a:pt x="969378" y="105"/>
                  </a:moveTo>
                  <a:lnTo>
                    <a:pt x="914057" y="0"/>
                  </a:lnTo>
                  <a:lnTo>
                    <a:pt x="858883" y="838"/>
                  </a:lnTo>
                  <a:lnTo>
                    <a:pt x="804009" y="2613"/>
                  </a:lnTo>
                  <a:lnTo>
                    <a:pt x="749587" y="5320"/>
                  </a:lnTo>
                  <a:lnTo>
                    <a:pt x="695772" y="8951"/>
                  </a:lnTo>
                  <a:lnTo>
                    <a:pt x="642717" y="13501"/>
                  </a:lnTo>
                  <a:lnTo>
                    <a:pt x="590575" y="18963"/>
                  </a:lnTo>
                  <a:lnTo>
                    <a:pt x="539499" y="25332"/>
                  </a:lnTo>
                  <a:lnTo>
                    <a:pt x="489643" y="32600"/>
                  </a:lnTo>
                  <a:lnTo>
                    <a:pt x="441160" y="40762"/>
                  </a:lnTo>
                  <a:lnTo>
                    <a:pt x="394203" y="49811"/>
                  </a:lnTo>
                  <a:lnTo>
                    <a:pt x="348926" y="59742"/>
                  </a:lnTo>
                  <a:lnTo>
                    <a:pt x="305481" y="70547"/>
                  </a:lnTo>
                  <a:lnTo>
                    <a:pt x="264023" y="82221"/>
                  </a:lnTo>
                  <a:lnTo>
                    <a:pt x="224704" y="94758"/>
                  </a:lnTo>
                  <a:lnTo>
                    <a:pt x="187678" y="108150"/>
                  </a:lnTo>
                  <a:lnTo>
                    <a:pt x="141927" y="127441"/>
                  </a:lnTo>
                  <a:lnTo>
                    <a:pt x="102657" y="147457"/>
                  </a:lnTo>
                  <a:lnTo>
                    <a:pt x="69810" y="168085"/>
                  </a:lnTo>
                  <a:lnTo>
                    <a:pt x="23168" y="210718"/>
                  </a:lnTo>
                  <a:lnTo>
                    <a:pt x="1557" y="254424"/>
                  </a:lnTo>
                  <a:lnTo>
                    <a:pt x="0" y="276395"/>
                  </a:lnTo>
                  <a:lnTo>
                    <a:pt x="4534" y="298291"/>
                  </a:lnTo>
                  <a:lnTo>
                    <a:pt x="31655" y="341402"/>
                  </a:lnTo>
                  <a:lnTo>
                    <a:pt x="82478" y="382844"/>
                  </a:lnTo>
                  <a:lnTo>
                    <a:pt x="116638" y="402653"/>
                  </a:lnTo>
                  <a:lnTo>
                    <a:pt x="156558" y="421702"/>
                  </a:lnTo>
                  <a:lnTo>
                    <a:pt x="202181" y="439876"/>
                  </a:lnTo>
                  <a:lnTo>
                    <a:pt x="253452" y="457061"/>
                  </a:lnTo>
                  <a:lnTo>
                    <a:pt x="310316" y="473143"/>
                  </a:lnTo>
                  <a:lnTo>
                    <a:pt x="372717" y="488007"/>
                  </a:lnTo>
                  <a:lnTo>
                    <a:pt x="421071" y="497892"/>
                  </a:lnTo>
                  <a:lnTo>
                    <a:pt x="470812" y="506770"/>
                  </a:lnTo>
                  <a:lnTo>
                    <a:pt x="521787" y="514649"/>
                  </a:lnTo>
                  <a:lnTo>
                    <a:pt x="573841" y="521534"/>
                  </a:lnTo>
                  <a:lnTo>
                    <a:pt x="626822" y="527432"/>
                  </a:lnTo>
                  <a:lnTo>
                    <a:pt x="680576" y="532349"/>
                  </a:lnTo>
                  <a:lnTo>
                    <a:pt x="734950" y="536291"/>
                  </a:lnTo>
                  <a:lnTo>
                    <a:pt x="789791" y="539265"/>
                  </a:lnTo>
                  <a:lnTo>
                    <a:pt x="844945" y="541276"/>
                  </a:lnTo>
                  <a:lnTo>
                    <a:pt x="900259" y="542331"/>
                  </a:lnTo>
                  <a:lnTo>
                    <a:pt x="955580" y="542437"/>
                  </a:lnTo>
                  <a:lnTo>
                    <a:pt x="1010754" y="541599"/>
                  </a:lnTo>
                  <a:lnTo>
                    <a:pt x="1065629" y="539823"/>
                  </a:lnTo>
                  <a:lnTo>
                    <a:pt x="1120050" y="537117"/>
                  </a:lnTo>
                  <a:lnTo>
                    <a:pt x="1173865" y="533485"/>
                  </a:lnTo>
                  <a:lnTo>
                    <a:pt x="1226920" y="528935"/>
                  </a:lnTo>
                  <a:lnTo>
                    <a:pt x="1279062" y="523473"/>
                  </a:lnTo>
                  <a:lnTo>
                    <a:pt x="1330138" y="517104"/>
                  </a:lnTo>
                  <a:lnTo>
                    <a:pt x="1379994" y="509836"/>
                  </a:lnTo>
                  <a:lnTo>
                    <a:pt x="1428477" y="501674"/>
                  </a:lnTo>
                  <a:lnTo>
                    <a:pt x="1475434" y="492625"/>
                  </a:lnTo>
                  <a:lnTo>
                    <a:pt x="1520712" y="482694"/>
                  </a:lnTo>
                  <a:lnTo>
                    <a:pt x="1564156" y="471889"/>
                  </a:lnTo>
                  <a:lnTo>
                    <a:pt x="1605615" y="460215"/>
                  </a:lnTo>
                  <a:lnTo>
                    <a:pt x="1644933" y="447679"/>
                  </a:lnTo>
                  <a:lnTo>
                    <a:pt x="1681960" y="434286"/>
                  </a:lnTo>
                  <a:lnTo>
                    <a:pt x="3449038" y="626310"/>
                  </a:lnTo>
                  <a:lnTo>
                    <a:pt x="1838170" y="341195"/>
                  </a:lnTo>
                  <a:lnTo>
                    <a:pt x="1857921" y="314387"/>
                  </a:lnTo>
                  <a:lnTo>
                    <a:pt x="1868172" y="287489"/>
                  </a:lnTo>
                  <a:lnTo>
                    <a:pt x="1861063" y="234167"/>
                  </a:lnTo>
                  <a:lnTo>
                    <a:pt x="1818612" y="182715"/>
                  </a:lnTo>
                  <a:lnTo>
                    <a:pt x="1784687" y="158154"/>
                  </a:lnTo>
                  <a:lnTo>
                    <a:pt x="1742590" y="134618"/>
                  </a:lnTo>
                  <a:lnTo>
                    <a:pt x="1692544" y="112291"/>
                  </a:lnTo>
                  <a:lnTo>
                    <a:pt x="1634770" y="91361"/>
                  </a:lnTo>
                  <a:lnTo>
                    <a:pt x="1569488" y="72011"/>
                  </a:lnTo>
                  <a:lnTo>
                    <a:pt x="1496921" y="54429"/>
                  </a:lnTo>
                  <a:lnTo>
                    <a:pt x="1448566" y="44545"/>
                  </a:lnTo>
                  <a:lnTo>
                    <a:pt x="1398825" y="35666"/>
                  </a:lnTo>
                  <a:lnTo>
                    <a:pt x="1347850" y="27787"/>
                  </a:lnTo>
                  <a:lnTo>
                    <a:pt x="1295796" y="20902"/>
                  </a:lnTo>
                  <a:lnTo>
                    <a:pt x="1242815" y="15004"/>
                  </a:lnTo>
                  <a:lnTo>
                    <a:pt x="1189061" y="10087"/>
                  </a:lnTo>
                  <a:lnTo>
                    <a:pt x="1134687" y="6145"/>
                  </a:lnTo>
                  <a:lnTo>
                    <a:pt x="1079847" y="3171"/>
                  </a:lnTo>
                  <a:lnTo>
                    <a:pt x="1024693" y="1160"/>
                  </a:lnTo>
                  <a:lnTo>
                    <a:pt x="969378" y="1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24966" y="4619297"/>
              <a:ext cx="3449320" cy="626745"/>
            </a:xfrm>
            <a:custGeom>
              <a:avLst/>
              <a:gdLst/>
              <a:ahLst/>
              <a:cxnLst/>
              <a:rect l="l" t="t" r="r" b="b"/>
              <a:pathLst>
                <a:path w="3449320" h="626745">
                  <a:moveTo>
                    <a:pt x="3449038" y="626310"/>
                  </a:moveTo>
                  <a:lnTo>
                    <a:pt x="1681960" y="434286"/>
                  </a:lnTo>
                  <a:lnTo>
                    <a:pt x="1644933" y="447679"/>
                  </a:lnTo>
                  <a:lnTo>
                    <a:pt x="1605615" y="460215"/>
                  </a:lnTo>
                  <a:lnTo>
                    <a:pt x="1564156" y="471889"/>
                  </a:lnTo>
                  <a:lnTo>
                    <a:pt x="1520712" y="482694"/>
                  </a:lnTo>
                  <a:lnTo>
                    <a:pt x="1475434" y="492625"/>
                  </a:lnTo>
                  <a:lnTo>
                    <a:pt x="1428477" y="501674"/>
                  </a:lnTo>
                  <a:lnTo>
                    <a:pt x="1379994" y="509836"/>
                  </a:lnTo>
                  <a:lnTo>
                    <a:pt x="1330138" y="517104"/>
                  </a:lnTo>
                  <a:lnTo>
                    <a:pt x="1279062" y="523473"/>
                  </a:lnTo>
                  <a:lnTo>
                    <a:pt x="1226920" y="528935"/>
                  </a:lnTo>
                  <a:lnTo>
                    <a:pt x="1173865" y="533485"/>
                  </a:lnTo>
                  <a:lnTo>
                    <a:pt x="1120050" y="537117"/>
                  </a:lnTo>
                  <a:lnTo>
                    <a:pt x="1065629" y="539823"/>
                  </a:lnTo>
                  <a:lnTo>
                    <a:pt x="1010754" y="541599"/>
                  </a:lnTo>
                  <a:lnTo>
                    <a:pt x="955580" y="542437"/>
                  </a:lnTo>
                  <a:lnTo>
                    <a:pt x="900259" y="542331"/>
                  </a:lnTo>
                  <a:lnTo>
                    <a:pt x="844945" y="541276"/>
                  </a:lnTo>
                  <a:lnTo>
                    <a:pt x="789791" y="539265"/>
                  </a:lnTo>
                  <a:lnTo>
                    <a:pt x="734950" y="536291"/>
                  </a:lnTo>
                  <a:lnTo>
                    <a:pt x="680576" y="532349"/>
                  </a:lnTo>
                  <a:lnTo>
                    <a:pt x="626822" y="527432"/>
                  </a:lnTo>
                  <a:lnTo>
                    <a:pt x="573841" y="521534"/>
                  </a:lnTo>
                  <a:lnTo>
                    <a:pt x="521787" y="514649"/>
                  </a:lnTo>
                  <a:lnTo>
                    <a:pt x="470812" y="506770"/>
                  </a:lnTo>
                  <a:lnTo>
                    <a:pt x="421071" y="497892"/>
                  </a:lnTo>
                  <a:lnTo>
                    <a:pt x="372717" y="488007"/>
                  </a:lnTo>
                  <a:lnTo>
                    <a:pt x="310316" y="473143"/>
                  </a:lnTo>
                  <a:lnTo>
                    <a:pt x="253452" y="457061"/>
                  </a:lnTo>
                  <a:lnTo>
                    <a:pt x="202181" y="439876"/>
                  </a:lnTo>
                  <a:lnTo>
                    <a:pt x="156558" y="421702"/>
                  </a:lnTo>
                  <a:lnTo>
                    <a:pt x="116638" y="402653"/>
                  </a:lnTo>
                  <a:lnTo>
                    <a:pt x="82478" y="382844"/>
                  </a:lnTo>
                  <a:lnTo>
                    <a:pt x="31655" y="341402"/>
                  </a:lnTo>
                  <a:lnTo>
                    <a:pt x="4534" y="298291"/>
                  </a:lnTo>
                  <a:lnTo>
                    <a:pt x="0" y="276395"/>
                  </a:lnTo>
                  <a:lnTo>
                    <a:pt x="1557" y="254424"/>
                  </a:lnTo>
                  <a:lnTo>
                    <a:pt x="23168" y="210718"/>
                  </a:lnTo>
                  <a:lnTo>
                    <a:pt x="69810" y="168085"/>
                  </a:lnTo>
                  <a:lnTo>
                    <a:pt x="102657" y="147457"/>
                  </a:lnTo>
                  <a:lnTo>
                    <a:pt x="141927" y="127441"/>
                  </a:lnTo>
                  <a:lnTo>
                    <a:pt x="187678" y="108150"/>
                  </a:lnTo>
                  <a:lnTo>
                    <a:pt x="224704" y="94758"/>
                  </a:lnTo>
                  <a:lnTo>
                    <a:pt x="264023" y="82221"/>
                  </a:lnTo>
                  <a:lnTo>
                    <a:pt x="305481" y="70547"/>
                  </a:lnTo>
                  <a:lnTo>
                    <a:pt x="348926" y="59742"/>
                  </a:lnTo>
                  <a:lnTo>
                    <a:pt x="394203" y="49811"/>
                  </a:lnTo>
                  <a:lnTo>
                    <a:pt x="441160" y="40762"/>
                  </a:lnTo>
                  <a:lnTo>
                    <a:pt x="489643" y="32600"/>
                  </a:lnTo>
                  <a:lnTo>
                    <a:pt x="539499" y="25332"/>
                  </a:lnTo>
                  <a:lnTo>
                    <a:pt x="590575" y="18963"/>
                  </a:lnTo>
                  <a:lnTo>
                    <a:pt x="642717" y="13501"/>
                  </a:lnTo>
                  <a:lnTo>
                    <a:pt x="695772" y="8951"/>
                  </a:lnTo>
                  <a:lnTo>
                    <a:pt x="749587" y="5320"/>
                  </a:lnTo>
                  <a:lnTo>
                    <a:pt x="804009" y="2613"/>
                  </a:lnTo>
                  <a:lnTo>
                    <a:pt x="858883" y="838"/>
                  </a:lnTo>
                  <a:lnTo>
                    <a:pt x="914057" y="0"/>
                  </a:lnTo>
                  <a:lnTo>
                    <a:pt x="969378" y="105"/>
                  </a:lnTo>
                  <a:lnTo>
                    <a:pt x="1024693" y="1160"/>
                  </a:lnTo>
                  <a:lnTo>
                    <a:pt x="1079847" y="3171"/>
                  </a:lnTo>
                  <a:lnTo>
                    <a:pt x="1134687" y="6145"/>
                  </a:lnTo>
                  <a:lnTo>
                    <a:pt x="1189061" y="10087"/>
                  </a:lnTo>
                  <a:lnTo>
                    <a:pt x="1242815" y="15004"/>
                  </a:lnTo>
                  <a:lnTo>
                    <a:pt x="1295796" y="20902"/>
                  </a:lnTo>
                  <a:lnTo>
                    <a:pt x="1347850" y="27787"/>
                  </a:lnTo>
                  <a:lnTo>
                    <a:pt x="1398825" y="35666"/>
                  </a:lnTo>
                  <a:lnTo>
                    <a:pt x="1448566" y="44545"/>
                  </a:lnTo>
                  <a:lnTo>
                    <a:pt x="1496921" y="54429"/>
                  </a:lnTo>
                  <a:lnTo>
                    <a:pt x="1569488" y="72011"/>
                  </a:lnTo>
                  <a:lnTo>
                    <a:pt x="1634770" y="91361"/>
                  </a:lnTo>
                  <a:lnTo>
                    <a:pt x="1692544" y="112291"/>
                  </a:lnTo>
                  <a:lnTo>
                    <a:pt x="1742590" y="134618"/>
                  </a:lnTo>
                  <a:lnTo>
                    <a:pt x="1784687" y="158154"/>
                  </a:lnTo>
                  <a:lnTo>
                    <a:pt x="1818612" y="182715"/>
                  </a:lnTo>
                  <a:lnTo>
                    <a:pt x="1861063" y="234167"/>
                  </a:lnTo>
                  <a:lnTo>
                    <a:pt x="1869146" y="260687"/>
                  </a:lnTo>
                  <a:lnTo>
                    <a:pt x="1868172" y="287489"/>
                  </a:lnTo>
                  <a:lnTo>
                    <a:pt x="1857921" y="314387"/>
                  </a:lnTo>
                  <a:lnTo>
                    <a:pt x="1838170" y="341195"/>
                  </a:lnTo>
                  <a:lnTo>
                    <a:pt x="3449038" y="626310"/>
                  </a:lnTo>
                  <a:close/>
                </a:path>
              </a:pathLst>
            </a:custGeom>
            <a:ln w="15240">
              <a:solidFill>
                <a:srgbClr val="BC5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336673" y="4726051"/>
            <a:ext cx="1043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Arguments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514341" y="2246460"/>
            <a:ext cx="5393690" cy="1689735"/>
            <a:chOff x="4514341" y="2246460"/>
            <a:chExt cx="5393690" cy="1689735"/>
          </a:xfrm>
        </p:grpSpPr>
        <p:sp>
          <p:nvSpPr>
            <p:cNvPr id="26" name="object 26"/>
            <p:cNvSpPr/>
            <p:nvPr/>
          </p:nvSpPr>
          <p:spPr>
            <a:xfrm>
              <a:off x="4521961" y="2254080"/>
              <a:ext cx="5378450" cy="1674495"/>
            </a:xfrm>
            <a:custGeom>
              <a:avLst/>
              <a:gdLst/>
              <a:ahLst/>
              <a:cxnLst/>
              <a:rect l="l" t="t" r="r" b="b"/>
              <a:pathLst>
                <a:path w="5378450" h="1674495">
                  <a:moveTo>
                    <a:pt x="4395100" y="44"/>
                  </a:moveTo>
                  <a:lnTo>
                    <a:pt x="4341470" y="0"/>
                  </a:lnTo>
                  <a:lnTo>
                    <a:pt x="4287865" y="654"/>
                  </a:lnTo>
                  <a:lnTo>
                    <a:pt x="4234403" y="2010"/>
                  </a:lnTo>
                  <a:lnTo>
                    <a:pt x="4181206" y="4068"/>
                  </a:lnTo>
                  <a:lnTo>
                    <a:pt x="4128395" y="6831"/>
                  </a:lnTo>
                  <a:lnTo>
                    <a:pt x="4076090" y="10300"/>
                  </a:lnTo>
                  <a:lnTo>
                    <a:pt x="4024412" y="14476"/>
                  </a:lnTo>
                  <a:lnTo>
                    <a:pt x="3973482" y="19362"/>
                  </a:lnTo>
                  <a:lnTo>
                    <a:pt x="3923420" y="24959"/>
                  </a:lnTo>
                  <a:lnTo>
                    <a:pt x="3874348" y="31269"/>
                  </a:lnTo>
                  <a:lnTo>
                    <a:pt x="3826386" y="38293"/>
                  </a:lnTo>
                  <a:lnTo>
                    <a:pt x="3779654" y="46033"/>
                  </a:lnTo>
                  <a:lnTo>
                    <a:pt x="3734274" y="54492"/>
                  </a:lnTo>
                  <a:lnTo>
                    <a:pt x="3690366" y="63669"/>
                  </a:lnTo>
                  <a:lnTo>
                    <a:pt x="3627685" y="78780"/>
                  </a:lnTo>
                  <a:lnTo>
                    <a:pt x="3571365" y="94884"/>
                  </a:lnTo>
                  <a:lnTo>
                    <a:pt x="3521429" y="111875"/>
                  </a:lnTo>
                  <a:lnTo>
                    <a:pt x="3477902" y="129647"/>
                  </a:lnTo>
                  <a:lnTo>
                    <a:pt x="3440807" y="148095"/>
                  </a:lnTo>
                  <a:lnTo>
                    <a:pt x="3386009" y="186589"/>
                  </a:lnTo>
                  <a:lnTo>
                    <a:pt x="3357226" y="226509"/>
                  </a:lnTo>
                  <a:lnTo>
                    <a:pt x="3352650" y="246737"/>
                  </a:lnTo>
                  <a:lnTo>
                    <a:pt x="3354649" y="267004"/>
                  </a:lnTo>
                  <a:lnTo>
                    <a:pt x="3378470" y="307224"/>
                  </a:lnTo>
                  <a:lnTo>
                    <a:pt x="3428879" y="346322"/>
                  </a:lnTo>
                  <a:lnTo>
                    <a:pt x="3464115" y="365183"/>
                  </a:lnTo>
                  <a:lnTo>
                    <a:pt x="3506069" y="383445"/>
                  </a:lnTo>
                  <a:lnTo>
                    <a:pt x="3554765" y="401001"/>
                  </a:lnTo>
                  <a:lnTo>
                    <a:pt x="3610229" y="417745"/>
                  </a:lnTo>
                  <a:lnTo>
                    <a:pt x="0" y="1673902"/>
                  </a:lnTo>
                  <a:lnTo>
                    <a:pt x="3917949" y="475530"/>
                  </a:lnTo>
                  <a:lnTo>
                    <a:pt x="3968903" y="481307"/>
                  </a:lnTo>
                  <a:lnTo>
                    <a:pt x="4020649" y="486342"/>
                  </a:lnTo>
                  <a:lnTo>
                    <a:pt x="4073071" y="490641"/>
                  </a:lnTo>
                  <a:lnTo>
                    <a:pt x="4126050" y="494207"/>
                  </a:lnTo>
                  <a:lnTo>
                    <a:pt x="4179467" y="497044"/>
                  </a:lnTo>
                  <a:lnTo>
                    <a:pt x="4233205" y="499156"/>
                  </a:lnTo>
                  <a:lnTo>
                    <a:pt x="4287144" y="500546"/>
                  </a:lnTo>
                  <a:lnTo>
                    <a:pt x="4341168" y="501220"/>
                  </a:lnTo>
                  <a:lnTo>
                    <a:pt x="4395158" y="501181"/>
                  </a:lnTo>
                  <a:lnTo>
                    <a:pt x="4448996" y="500432"/>
                  </a:lnTo>
                  <a:lnTo>
                    <a:pt x="4502562" y="498978"/>
                  </a:lnTo>
                  <a:lnTo>
                    <a:pt x="4555740" y="496822"/>
                  </a:lnTo>
                  <a:lnTo>
                    <a:pt x="4608411" y="493969"/>
                  </a:lnTo>
                  <a:lnTo>
                    <a:pt x="4660456" y="490423"/>
                  </a:lnTo>
                  <a:lnTo>
                    <a:pt x="4711758" y="486187"/>
                  </a:lnTo>
                  <a:lnTo>
                    <a:pt x="4762198" y="481265"/>
                  </a:lnTo>
                  <a:lnTo>
                    <a:pt x="4811658" y="475662"/>
                  </a:lnTo>
                  <a:lnTo>
                    <a:pt x="4860020" y="469381"/>
                  </a:lnTo>
                  <a:lnTo>
                    <a:pt x="4907166" y="462426"/>
                  </a:lnTo>
                  <a:lnTo>
                    <a:pt x="4952977" y="454801"/>
                  </a:lnTo>
                  <a:lnTo>
                    <a:pt x="4997335" y="446510"/>
                  </a:lnTo>
                  <a:lnTo>
                    <a:pt x="5040121" y="437557"/>
                  </a:lnTo>
                  <a:lnTo>
                    <a:pt x="5102802" y="422447"/>
                  </a:lnTo>
                  <a:lnTo>
                    <a:pt x="5159122" y="406343"/>
                  </a:lnTo>
                  <a:lnTo>
                    <a:pt x="5209058" y="389352"/>
                  </a:lnTo>
                  <a:lnTo>
                    <a:pt x="5252585" y="371579"/>
                  </a:lnTo>
                  <a:lnTo>
                    <a:pt x="5289680" y="353132"/>
                  </a:lnTo>
                  <a:lnTo>
                    <a:pt x="5344478" y="314638"/>
                  </a:lnTo>
                  <a:lnTo>
                    <a:pt x="5373261" y="274718"/>
                  </a:lnTo>
                  <a:lnTo>
                    <a:pt x="5377837" y="254489"/>
                  </a:lnTo>
                  <a:lnTo>
                    <a:pt x="5375838" y="234223"/>
                  </a:lnTo>
                  <a:lnTo>
                    <a:pt x="5352017" y="194002"/>
                  </a:lnTo>
                  <a:lnTo>
                    <a:pt x="5301608" y="154905"/>
                  </a:lnTo>
                  <a:lnTo>
                    <a:pt x="5266372" y="136044"/>
                  </a:lnTo>
                  <a:lnTo>
                    <a:pt x="5224418" y="117782"/>
                  </a:lnTo>
                  <a:lnTo>
                    <a:pt x="5175722" y="100226"/>
                  </a:lnTo>
                  <a:lnTo>
                    <a:pt x="5120259" y="83481"/>
                  </a:lnTo>
                  <a:lnTo>
                    <a:pt x="5080765" y="73150"/>
                  </a:lnTo>
                  <a:lnTo>
                    <a:pt x="5039483" y="63492"/>
                  </a:lnTo>
                  <a:lnTo>
                    <a:pt x="4996536" y="54510"/>
                  </a:lnTo>
                  <a:lnTo>
                    <a:pt x="4952042" y="46206"/>
                  </a:lnTo>
                  <a:lnTo>
                    <a:pt x="4906122" y="38580"/>
                  </a:lnTo>
                  <a:lnTo>
                    <a:pt x="4858899" y="31636"/>
                  </a:lnTo>
                  <a:lnTo>
                    <a:pt x="4810491" y="25373"/>
                  </a:lnTo>
                  <a:lnTo>
                    <a:pt x="4761020" y="19795"/>
                  </a:lnTo>
                  <a:lnTo>
                    <a:pt x="4710607" y="14903"/>
                  </a:lnTo>
                  <a:lnTo>
                    <a:pt x="4659373" y="10698"/>
                  </a:lnTo>
                  <a:lnTo>
                    <a:pt x="4607437" y="7182"/>
                  </a:lnTo>
                  <a:lnTo>
                    <a:pt x="4554921" y="4357"/>
                  </a:lnTo>
                  <a:lnTo>
                    <a:pt x="4501946" y="2224"/>
                  </a:lnTo>
                  <a:lnTo>
                    <a:pt x="4448632" y="786"/>
                  </a:lnTo>
                  <a:lnTo>
                    <a:pt x="4395100" y="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1961" y="2254080"/>
              <a:ext cx="5378450" cy="1674495"/>
            </a:xfrm>
            <a:custGeom>
              <a:avLst/>
              <a:gdLst/>
              <a:ahLst/>
              <a:cxnLst/>
              <a:rect l="l" t="t" r="r" b="b"/>
              <a:pathLst>
                <a:path w="5378450" h="1674495">
                  <a:moveTo>
                    <a:pt x="0" y="1673902"/>
                  </a:moveTo>
                  <a:lnTo>
                    <a:pt x="3610229" y="417745"/>
                  </a:lnTo>
                  <a:lnTo>
                    <a:pt x="3554765" y="401001"/>
                  </a:lnTo>
                  <a:lnTo>
                    <a:pt x="3506069" y="383445"/>
                  </a:lnTo>
                  <a:lnTo>
                    <a:pt x="3464115" y="365183"/>
                  </a:lnTo>
                  <a:lnTo>
                    <a:pt x="3428879" y="346322"/>
                  </a:lnTo>
                  <a:lnTo>
                    <a:pt x="3378470" y="307224"/>
                  </a:lnTo>
                  <a:lnTo>
                    <a:pt x="3354649" y="267004"/>
                  </a:lnTo>
                  <a:lnTo>
                    <a:pt x="3352650" y="246737"/>
                  </a:lnTo>
                  <a:lnTo>
                    <a:pt x="3357226" y="226509"/>
                  </a:lnTo>
                  <a:lnTo>
                    <a:pt x="3386009" y="186589"/>
                  </a:lnTo>
                  <a:lnTo>
                    <a:pt x="3440807" y="148095"/>
                  </a:lnTo>
                  <a:lnTo>
                    <a:pt x="3477902" y="129647"/>
                  </a:lnTo>
                  <a:lnTo>
                    <a:pt x="3521429" y="111875"/>
                  </a:lnTo>
                  <a:lnTo>
                    <a:pt x="3571365" y="94884"/>
                  </a:lnTo>
                  <a:lnTo>
                    <a:pt x="3627685" y="78780"/>
                  </a:lnTo>
                  <a:lnTo>
                    <a:pt x="3690366" y="63669"/>
                  </a:lnTo>
                  <a:lnTo>
                    <a:pt x="3734274" y="54492"/>
                  </a:lnTo>
                  <a:lnTo>
                    <a:pt x="3779654" y="46033"/>
                  </a:lnTo>
                  <a:lnTo>
                    <a:pt x="3826386" y="38293"/>
                  </a:lnTo>
                  <a:lnTo>
                    <a:pt x="3874348" y="31269"/>
                  </a:lnTo>
                  <a:lnTo>
                    <a:pt x="3923420" y="24959"/>
                  </a:lnTo>
                  <a:lnTo>
                    <a:pt x="3973482" y="19362"/>
                  </a:lnTo>
                  <a:lnTo>
                    <a:pt x="4024412" y="14476"/>
                  </a:lnTo>
                  <a:lnTo>
                    <a:pt x="4076090" y="10300"/>
                  </a:lnTo>
                  <a:lnTo>
                    <a:pt x="4128395" y="6831"/>
                  </a:lnTo>
                  <a:lnTo>
                    <a:pt x="4181206" y="4068"/>
                  </a:lnTo>
                  <a:lnTo>
                    <a:pt x="4234403" y="2010"/>
                  </a:lnTo>
                  <a:lnTo>
                    <a:pt x="4287865" y="654"/>
                  </a:lnTo>
                  <a:lnTo>
                    <a:pt x="4341470" y="0"/>
                  </a:lnTo>
                  <a:lnTo>
                    <a:pt x="4395100" y="44"/>
                  </a:lnTo>
                  <a:lnTo>
                    <a:pt x="4448632" y="786"/>
                  </a:lnTo>
                  <a:lnTo>
                    <a:pt x="4501946" y="2224"/>
                  </a:lnTo>
                  <a:lnTo>
                    <a:pt x="4554921" y="4357"/>
                  </a:lnTo>
                  <a:lnTo>
                    <a:pt x="4607437" y="7182"/>
                  </a:lnTo>
                  <a:lnTo>
                    <a:pt x="4659373" y="10698"/>
                  </a:lnTo>
                  <a:lnTo>
                    <a:pt x="4710607" y="14903"/>
                  </a:lnTo>
                  <a:lnTo>
                    <a:pt x="4761020" y="19795"/>
                  </a:lnTo>
                  <a:lnTo>
                    <a:pt x="4810491" y="25373"/>
                  </a:lnTo>
                  <a:lnTo>
                    <a:pt x="4858899" y="31636"/>
                  </a:lnTo>
                  <a:lnTo>
                    <a:pt x="4906122" y="38580"/>
                  </a:lnTo>
                  <a:lnTo>
                    <a:pt x="4952042" y="46206"/>
                  </a:lnTo>
                  <a:lnTo>
                    <a:pt x="4996536" y="54510"/>
                  </a:lnTo>
                  <a:lnTo>
                    <a:pt x="5039483" y="63492"/>
                  </a:lnTo>
                  <a:lnTo>
                    <a:pt x="5080765" y="73150"/>
                  </a:lnTo>
                  <a:lnTo>
                    <a:pt x="5120259" y="83481"/>
                  </a:lnTo>
                  <a:lnTo>
                    <a:pt x="5175722" y="100226"/>
                  </a:lnTo>
                  <a:lnTo>
                    <a:pt x="5224418" y="117782"/>
                  </a:lnTo>
                  <a:lnTo>
                    <a:pt x="5266372" y="136044"/>
                  </a:lnTo>
                  <a:lnTo>
                    <a:pt x="5301608" y="154905"/>
                  </a:lnTo>
                  <a:lnTo>
                    <a:pt x="5352017" y="194002"/>
                  </a:lnTo>
                  <a:lnTo>
                    <a:pt x="5375838" y="234223"/>
                  </a:lnTo>
                  <a:lnTo>
                    <a:pt x="5377837" y="254489"/>
                  </a:lnTo>
                  <a:lnTo>
                    <a:pt x="5373261" y="274718"/>
                  </a:lnTo>
                  <a:lnTo>
                    <a:pt x="5344478" y="314638"/>
                  </a:lnTo>
                  <a:lnTo>
                    <a:pt x="5289680" y="353132"/>
                  </a:lnTo>
                  <a:lnTo>
                    <a:pt x="5252585" y="371579"/>
                  </a:lnTo>
                  <a:lnTo>
                    <a:pt x="5209058" y="389352"/>
                  </a:lnTo>
                  <a:lnTo>
                    <a:pt x="5159122" y="406343"/>
                  </a:lnTo>
                  <a:lnTo>
                    <a:pt x="5102802" y="422447"/>
                  </a:lnTo>
                  <a:lnTo>
                    <a:pt x="5040121" y="437557"/>
                  </a:lnTo>
                  <a:lnTo>
                    <a:pt x="4997335" y="446510"/>
                  </a:lnTo>
                  <a:lnTo>
                    <a:pt x="4952977" y="454801"/>
                  </a:lnTo>
                  <a:lnTo>
                    <a:pt x="4907166" y="462426"/>
                  </a:lnTo>
                  <a:lnTo>
                    <a:pt x="4860020" y="469381"/>
                  </a:lnTo>
                  <a:lnTo>
                    <a:pt x="4811658" y="475662"/>
                  </a:lnTo>
                  <a:lnTo>
                    <a:pt x="4762198" y="481265"/>
                  </a:lnTo>
                  <a:lnTo>
                    <a:pt x="4711758" y="486187"/>
                  </a:lnTo>
                  <a:lnTo>
                    <a:pt x="4660456" y="490423"/>
                  </a:lnTo>
                  <a:lnTo>
                    <a:pt x="4608411" y="493969"/>
                  </a:lnTo>
                  <a:lnTo>
                    <a:pt x="4555740" y="496822"/>
                  </a:lnTo>
                  <a:lnTo>
                    <a:pt x="4502562" y="498978"/>
                  </a:lnTo>
                  <a:lnTo>
                    <a:pt x="4448996" y="500432"/>
                  </a:lnTo>
                  <a:lnTo>
                    <a:pt x="4395158" y="501181"/>
                  </a:lnTo>
                  <a:lnTo>
                    <a:pt x="4341168" y="501220"/>
                  </a:lnTo>
                  <a:lnTo>
                    <a:pt x="4287144" y="500546"/>
                  </a:lnTo>
                  <a:lnTo>
                    <a:pt x="4233205" y="499156"/>
                  </a:lnTo>
                  <a:lnTo>
                    <a:pt x="4179467" y="497044"/>
                  </a:lnTo>
                  <a:lnTo>
                    <a:pt x="4126050" y="494207"/>
                  </a:lnTo>
                  <a:lnTo>
                    <a:pt x="4073071" y="490641"/>
                  </a:lnTo>
                  <a:lnTo>
                    <a:pt x="4020649" y="486342"/>
                  </a:lnTo>
                  <a:lnTo>
                    <a:pt x="3968903" y="481307"/>
                  </a:lnTo>
                  <a:lnTo>
                    <a:pt x="3917949" y="475530"/>
                  </a:lnTo>
                  <a:lnTo>
                    <a:pt x="0" y="1673902"/>
                  </a:lnTo>
                  <a:close/>
                </a:path>
              </a:pathLst>
            </a:custGeom>
            <a:ln w="15240">
              <a:solidFill>
                <a:srgbClr val="BC5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299195" y="2339721"/>
            <a:ext cx="1176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.tf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Extension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init,</a:t>
            </a:r>
            <a:r>
              <a:rPr b="1" spc="-19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Plan</a:t>
            </a:r>
            <a:r>
              <a:rPr b="1" spc="-18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&amp;</a:t>
            </a:r>
            <a:r>
              <a:rPr b="1" spc="-180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apply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8223" y="1672183"/>
            <a:ext cx="7813675" cy="424815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4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init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command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after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writing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configuration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files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initialize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working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directory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Download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plugin</a:t>
            </a:r>
            <a:endParaRPr sz="20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625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local_file</a:t>
            </a:r>
            <a:endParaRPr sz="16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random</a:t>
            </a:r>
            <a:endParaRPr sz="16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58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plan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Creates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execution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plan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Doesn’t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change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infrastructure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apply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9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execute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changes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provision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resource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specified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configuration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files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260604"/>
            <a:ext cx="12192000" cy="6071870"/>
            <a:chOff x="0" y="260604"/>
            <a:chExt cx="12192000" cy="6071870"/>
          </a:xfrm>
        </p:grpSpPr>
        <p:sp>
          <p:nvSpPr>
            <p:cNvPr id="4" name="object 4"/>
            <p:cNvSpPr/>
            <p:nvPr/>
          </p:nvSpPr>
          <p:spPr>
            <a:xfrm>
              <a:off x="0" y="1432559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609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71759" y="260604"/>
              <a:ext cx="1767840" cy="17663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74848" y="1528571"/>
              <a:ext cx="5972556" cy="480364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3820" y="569163"/>
            <a:ext cx="36518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20" dirty="0">
                <a:solidFill>
                  <a:srgbClr val="FFFFFF"/>
                </a:solidFill>
                <a:latin typeface="Courier New"/>
                <a:cs typeface="Courier New"/>
              </a:rPr>
              <a:t>local_file</a:t>
            </a:r>
            <a:endParaRPr sz="4800">
              <a:latin typeface="Courier New"/>
              <a:cs typeface="Courier New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5297804" y="569163"/>
            <a:ext cx="29279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0" dirty="0">
                <a:latin typeface="Courier New"/>
                <a:cs typeface="Courier New"/>
              </a:rPr>
              <a:t>argument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Multiple</a:t>
            </a:r>
            <a:r>
              <a:rPr b="1" spc="-409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Resource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577204" y="2513076"/>
            <a:ext cx="6612890" cy="2639060"/>
            <a:chOff x="5577204" y="2513076"/>
            <a:chExt cx="6612890" cy="2639060"/>
          </a:xfrm>
        </p:grpSpPr>
        <p:sp>
          <p:nvSpPr>
            <p:cNvPr id="4" name="object 4"/>
            <p:cNvSpPr/>
            <p:nvPr/>
          </p:nvSpPr>
          <p:spPr>
            <a:xfrm>
              <a:off x="5577205" y="2593974"/>
              <a:ext cx="3110865" cy="2217420"/>
            </a:xfrm>
            <a:custGeom>
              <a:avLst/>
              <a:gdLst/>
              <a:ahLst/>
              <a:cxnLst/>
              <a:rect l="l" t="t" r="r" b="b"/>
              <a:pathLst>
                <a:path w="3110865" h="2217420">
                  <a:moveTo>
                    <a:pt x="3110865" y="1051179"/>
                  </a:moveTo>
                  <a:lnTo>
                    <a:pt x="3096691" y="1036955"/>
                  </a:lnTo>
                  <a:lnTo>
                    <a:pt x="3050794" y="990854"/>
                  </a:lnTo>
                  <a:lnTo>
                    <a:pt x="3040659" y="1020978"/>
                  </a:lnTo>
                  <a:lnTo>
                    <a:pt x="4191" y="0"/>
                  </a:lnTo>
                  <a:lnTo>
                    <a:pt x="127" y="11938"/>
                  </a:lnTo>
                  <a:lnTo>
                    <a:pt x="3036646" y="1032929"/>
                  </a:lnTo>
                  <a:lnTo>
                    <a:pt x="3033191" y="1043178"/>
                  </a:lnTo>
                  <a:lnTo>
                    <a:pt x="3026156" y="1042416"/>
                  </a:lnTo>
                  <a:lnTo>
                    <a:pt x="3029991" y="1052703"/>
                  </a:lnTo>
                  <a:lnTo>
                    <a:pt x="3026537" y="1062990"/>
                  </a:lnTo>
                  <a:lnTo>
                    <a:pt x="3033471" y="1062024"/>
                  </a:lnTo>
                  <a:lnTo>
                    <a:pt x="3037255" y="1072134"/>
                  </a:lnTo>
                  <a:lnTo>
                    <a:pt x="0" y="2205228"/>
                  </a:lnTo>
                  <a:lnTo>
                    <a:pt x="4318" y="2217039"/>
                  </a:lnTo>
                  <a:lnTo>
                    <a:pt x="3041713" y="1084059"/>
                  </a:lnTo>
                  <a:lnTo>
                    <a:pt x="3052826" y="1113790"/>
                  </a:lnTo>
                  <a:lnTo>
                    <a:pt x="3095726" y="1067689"/>
                  </a:lnTo>
                  <a:lnTo>
                    <a:pt x="3110865" y="1051433"/>
                  </a:lnTo>
                  <a:lnTo>
                    <a:pt x="3109823" y="1051331"/>
                  </a:lnTo>
                  <a:lnTo>
                    <a:pt x="3110865" y="1051179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57259" y="2618232"/>
              <a:ext cx="3632454" cy="25337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88323" y="2522220"/>
              <a:ext cx="3118104" cy="224637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683751" y="2517648"/>
              <a:ext cx="3127375" cy="2255520"/>
            </a:xfrm>
            <a:custGeom>
              <a:avLst/>
              <a:gdLst/>
              <a:ahLst/>
              <a:cxnLst/>
              <a:rect l="l" t="t" r="r" b="b"/>
              <a:pathLst>
                <a:path w="3127375" h="2255520">
                  <a:moveTo>
                    <a:pt x="0" y="2255520"/>
                  </a:moveTo>
                  <a:lnTo>
                    <a:pt x="3127248" y="2255520"/>
                  </a:lnTo>
                  <a:lnTo>
                    <a:pt x="3127248" y="0"/>
                  </a:lnTo>
                  <a:lnTo>
                    <a:pt x="0" y="0"/>
                  </a:lnTo>
                  <a:lnTo>
                    <a:pt x="0" y="225552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703944" y="2171827"/>
            <a:ext cx="702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Main.tf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62455" y="2001011"/>
            <a:ext cx="4217035" cy="1199515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341630" marR="483234" indent="-250190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resource</a:t>
            </a:r>
            <a:r>
              <a:rPr sz="1800" spc="-4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local_file</a:t>
            </a:r>
            <a:r>
              <a:rPr sz="1800" spc="-3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cat_res</a:t>
            </a:r>
            <a:r>
              <a:rPr sz="1800" spc="-4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{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filename</a:t>
            </a:r>
            <a:r>
              <a:rPr sz="1800" spc="-3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"cat.txt"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content</a:t>
            </a:r>
            <a:r>
              <a:rPr sz="18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"I</a:t>
            </a:r>
            <a:r>
              <a:rPr sz="1800" spc="-2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love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spc="-20" dirty="0">
                <a:solidFill>
                  <a:srgbClr val="CE9178"/>
                </a:solidFill>
                <a:latin typeface="Consolas"/>
                <a:cs typeface="Consolas"/>
              </a:rPr>
              <a:t>cat"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  <a:spcBef>
                <a:spcPts val="50"/>
              </a:spcBef>
              <a:tabLst>
                <a:tab pos="3543300" algn="l"/>
              </a:tabLst>
            </a:pPr>
            <a:r>
              <a:rPr sz="2700" spc="-75" baseline="1543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r>
              <a:rPr sz="2700" baseline="1543" dirty="0">
                <a:solidFill>
                  <a:srgbClr val="D3D3D3"/>
                </a:solidFill>
                <a:latin typeface="Consolas"/>
                <a:cs typeface="Consolas"/>
              </a:rPr>
              <a:t>	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cat.tf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62455" y="4204715"/>
            <a:ext cx="4217035" cy="1201420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341630" marR="483234" indent="-250190">
              <a:lnSpc>
                <a:spcPct val="100000"/>
              </a:lnSpc>
              <a:spcBef>
                <a:spcPts val="265"/>
              </a:spcBef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resource</a:t>
            </a:r>
            <a:r>
              <a:rPr sz="1800" spc="-4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local_file</a:t>
            </a:r>
            <a:r>
              <a:rPr sz="1800" spc="-3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dog_res</a:t>
            </a:r>
            <a:r>
              <a:rPr sz="1800" spc="-4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{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filename</a:t>
            </a:r>
            <a:r>
              <a:rPr sz="18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“dog.txt"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content</a:t>
            </a:r>
            <a:r>
              <a:rPr sz="18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"I</a:t>
            </a:r>
            <a:r>
              <a:rPr sz="1800" spc="-2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love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spc="-20" dirty="0">
                <a:solidFill>
                  <a:srgbClr val="CE9178"/>
                </a:solidFill>
                <a:latin typeface="Consolas"/>
                <a:cs typeface="Consolas"/>
              </a:rPr>
              <a:t>dogs"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  <a:spcBef>
                <a:spcPts val="80"/>
              </a:spcBef>
              <a:tabLst>
                <a:tab pos="3434715" algn="l"/>
              </a:tabLst>
            </a:pPr>
            <a:r>
              <a:rPr sz="2700" spc="-75" baseline="3086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r>
              <a:rPr sz="2700" baseline="3086" dirty="0">
                <a:solidFill>
                  <a:srgbClr val="D3D3D3"/>
                </a:solidFill>
                <a:latin typeface="Consolas"/>
                <a:cs typeface="Consolas"/>
              </a:rPr>
              <a:t>	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dog.tf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Random</a:t>
            </a:r>
            <a:r>
              <a:rPr b="1" spc="-315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Provider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91883" y="2837688"/>
            <a:ext cx="2106167" cy="34000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68223" y="1544684"/>
            <a:ext cx="10221595" cy="177800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"random"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provider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allows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randomness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within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Terraform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configurations.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FFFFFF"/>
                </a:solidFill>
                <a:latin typeface="Calibri"/>
                <a:cs typeface="Calibri"/>
              </a:rPr>
              <a:t>logical</a:t>
            </a:r>
            <a:r>
              <a:rPr sz="20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FFFFFF"/>
                </a:solidFill>
                <a:latin typeface="Calibri"/>
                <a:cs typeface="Calibri"/>
              </a:rPr>
              <a:t>provider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means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works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entirely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within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Terraform’s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logic,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doesn't</a:t>
            </a:r>
            <a:endParaRPr sz="2000">
              <a:latin typeface="Calibri"/>
              <a:cs typeface="Calibri"/>
            </a:endParaRPr>
          </a:p>
          <a:p>
            <a:pPr marL="104139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interact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services.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Let’s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71076" y="3159251"/>
            <a:ext cx="1761744" cy="184708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0" dirty="0">
                <a:latin typeface="Courier New"/>
                <a:cs typeface="Courier New"/>
              </a:rPr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24048" y="1754251"/>
            <a:ext cx="702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Main.tf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78036" y="1788921"/>
            <a:ext cx="1052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variables.tf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186683" y="3567684"/>
            <a:ext cx="294640" cy="434340"/>
            <a:chOff x="3186683" y="3567684"/>
            <a:chExt cx="294640" cy="434340"/>
          </a:xfrm>
        </p:grpSpPr>
        <p:sp>
          <p:nvSpPr>
            <p:cNvPr id="6" name="object 6"/>
            <p:cNvSpPr/>
            <p:nvPr/>
          </p:nvSpPr>
          <p:spPr>
            <a:xfrm>
              <a:off x="3194303" y="3575304"/>
              <a:ext cx="279400" cy="419100"/>
            </a:xfrm>
            <a:custGeom>
              <a:avLst/>
              <a:gdLst/>
              <a:ahLst/>
              <a:cxnLst/>
              <a:rect l="l" t="t" r="r" b="b"/>
              <a:pathLst>
                <a:path w="279400" h="419100">
                  <a:moveTo>
                    <a:pt x="209169" y="0"/>
                  </a:moveTo>
                  <a:lnTo>
                    <a:pt x="69722" y="0"/>
                  </a:lnTo>
                  <a:lnTo>
                    <a:pt x="69722" y="279654"/>
                  </a:lnTo>
                  <a:lnTo>
                    <a:pt x="0" y="279654"/>
                  </a:lnTo>
                  <a:lnTo>
                    <a:pt x="139445" y="419100"/>
                  </a:lnTo>
                  <a:lnTo>
                    <a:pt x="278892" y="279654"/>
                  </a:lnTo>
                  <a:lnTo>
                    <a:pt x="209169" y="279654"/>
                  </a:lnTo>
                  <a:lnTo>
                    <a:pt x="209169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94303" y="3575304"/>
              <a:ext cx="279400" cy="419100"/>
            </a:xfrm>
            <a:custGeom>
              <a:avLst/>
              <a:gdLst/>
              <a:ahLst/>
              <a:cxnLst/>
              <a:rect l="l" t="t" r="r" b="b"/>
              <a:pathLst>
                <a:path w="279400" h="419100">
                  <a:moveTo>
                    <a:pt x="0" y="279654"/>
                  </a:moveTo>
                  <a:lnTo>
                    <a:pt x="69722" y="279654"/>
                  </a:lnTo>
                  <a:lnTo>
                    <a:pt x="69722" y="0"/>
                  </a:lnTo>
                  <a:lnTo>
                    <a:pt x="209169" y="0"/>
                  </a:lnTo>
                  <a:lnTo>
                    <a:pt x="209169" y="279654"/>
                  </a:lnTo>
                  <a:lnTo>
                    <a:pt x="278892" y="279654"/>
                  </a:lnTo>
                  <a:lnTo>
                    <a:pt x="139445" y="419100"/>
                  </a:lnTo>
                  <a:lnTo>
                    <a:pt x="0" y="279654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97508" y="4268723"/>
            <a:ext cx="4318000" cy="1199515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342265" marR="206375" indent="-250190">
              <a:lnSpc>
                <a:spcPct val="100000"/>
              </a:lnSpc>
              <a:spcBef>
                <a:spcPts val="254"/>
              </a:spcBef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resource</a:t>
            </a:r>
            <a:r>
              <a:rPr sz="1800" spc="-5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local_file</a:t>
            </a:r>
            <a:r>
              <a:rPr sz="1800" spc="-3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sample_res</a:t>
            </a:r>
            <a:r>
              <a:rPr sz="1800" spc="-4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{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filename</a:t>
            </a:r>
            <a:r>
              <a:rPr sz="18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var.filename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content</a:t>
            </a:r>
            <a:r>
              <a:rPr sz="18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var.content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80731" y="2282951"/>
            <a:ext cx="4459605" cy="2585085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variable</a:t>
            </a:r>
            <a:r>
              <a:rPr sz="1800" spc="-5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9CDCFD"/>
                </a:solidFill>
                <a:latin typeface="Consolas"/>
                <a:cs typeface="Consolas"/>
              </a:rPr>
              <a:t>filename</a:t>
            </a:r>
            <a:r>
              <a:rPr sz="1800" spc="-55" dirty="0">
                <a:solidFill>
                  <a:srgbClr val="9CDCFD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1630" marR="850265">
              <a:lnSpc>
                <a:spcPct val="100000"/>
              </a:lnSpc>
              <a:spcBef>
                <a:spcPts val="5"/>
              </a:spcBef>
              <a:tabLst>
                <a:tab pos="1845945" algn="l"/>
              </a:tabLst>
            </a:pPr>
            <a:r>
              <a:rPr sz="1800" spc="-20" dirty="0">
                <a:solidFill>
                  <a:srgbClr val="D3D3D3"/>
                </a:solidFill>
                <a:latin typeface="Consolas"/>
                <a:cs typeface="Consolas"/>
              </a:rPr>
              <a:t>type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	=</a:t>
            </a:r>
            <a:r>
              <a:rPr sz="18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D3D3D3"/>
                </a:solidFill>
                <a:latin typeface="Consolas"/>
                <a:cs typeface="Consolas"/>
              </a:rPr>
              <a:t>string default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	=</a:t>
            </a:r>
            <a:r>
              <a:rPr sz="18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"sample.txt"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341630" marR="1601470" indent="-250190">
              <a:lnSpc>
                <a:spcPct val="100000"/>
              </a:lnSpc>
              <a:spcBef>
                <a:spcPts val="5"/>
              </a:spcBef>
              <a:tabLst>
                <a:tab pos="1845945" algn="l"/>
              </a:tabLst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variable</a:t>
            </a:r>
            <a:r>
              <a:rPr sz="1800" spc="-3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9CDCFD"/>
                </a:solidFill>
                <a:latin typeface="Consolas"/>
                <a:cs typeface="Consolas"/>
              </a:rPr>
              <a:t>content</a:t>
            </a:r>
            <a:r>
              <a:rPr sz="1800" spc="-35" dirty="0">
                <a:solidFill>
                  <a:srgbClr val="9CDCFD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{ </a:t>
            </a:r>
            <a:r>
              <a:rPr sz="1800" spc="-20" dirty="0">
                <a:solidFill>
                  <a:srgbClr val="D3D3D3"/>
                </a:solidFill>
                <a:latin typeface="Consolas"/>
                <a:cs typeface="Consolas"/>
              </a:rPr>
              <a:t>type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	=</a:t>
            </a:r>
            <a:r>
              <a:rPr sz="18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D3D3D3"/>
                </a:solidFill>
                <a:latin typeface="Consolas"/>
                <a:cs typeface="Consolas"/>
              </a:rPr>
              <a:t>string</a:t>
            </a:r>
            <a:endParaRPr sz="1800">
              <a:latin typeface="Consolas"/>
              <a:cs typeface="Consolas"/>
            </a:endParaRPr>
          </a:p>
          <a:p>
            <a:pPr marL="341630">
              <a:lnSpc>
                <a:spcPct val="100000"/>
              </a:lnSpc>
              <a:tabLst>
                <a:tab pos="1845945" algn="l"/>
              </a:tabLst>
            </a:pPr>
            <a:r>
              <a:rPr sz="1800" spc="-10" dirty="0">
                <a:solidFill>
                  <a:srgbClr val="D3D3D3"/>
                </a:solidFill>
                <a:latin typeface="Consolas"/>
                <a:cs typeface="Consolas"/>
              </a:rPr>
              <a:t>default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	=</a:t>
            </a:r>
            <a:r>
              <a:rPr sz="1800" spc="-3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"I</a:t>
            </a:r>
            <a:r>
              <a:rPr sz="1800" spc="-1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Love 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Terraform"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97508" y="2162555"/>
            <a:ext cx="4318000" cy="1199515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342265" marR="206375" indent="-250190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resource</a:t>
            </a:r>
            <a:r>
              <a:rPr sz="1800" spc="-5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local_file</a:t>
            </a:r>
            <a:r>
              <a:rPr sz="1800" spc="-3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sample_res</a:t>
            </a:r>
            <a:r>
              <a:rPr sz="1800" spc="-4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{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filename</a:t>
            </a:r>
            <a:r>
              <a:rPr sz="1800" spc="-3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“sample.txt"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content</a:t>
            </a:r>
            <a:r>
              <a:rPr sz="18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"I</a:t>
            </a:r>
            <a:r>
              <a:rPr sz="1800" spc="-2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love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 Terraform"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Types</a:t>
            </a:r>
            <a:r>
              <a:rPr b="1" spc="-200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of</a:t>
            </a:r>
            <a:r>
              <a:rPr b="1" spc="-190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8223" y="1544167"/>
            <a:ext cx="5504180" cy="4696460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26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string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“cat”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234,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6.5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5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bool</a:t>
            </a:r>
            <a:r>
              <a:rPr sz="2000" spc="4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true/false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list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sequence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15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list(string)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=&gt;[“red”,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“green”,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“blue”]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37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Tuple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non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homogeneous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type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15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tuple([string,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number,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bool])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=&gt;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[“dog”,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23,</a:t>
            </a:r>
            <a:r>
              <a:rPr sz="2000" spc="3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true]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6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map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Dictionary</a:t>
            </a:r>
            <a:endParaRPr sz="2000">
              <a:latin typeface="Calibri"/>
              <a:cs typeface="Calibri"/>
            </a:endParaRPr>
          </a:p>
          <a:p>
            <a:pPr marL="528320" lvl="1" indent="-314960">
              <a:lnSpc>
                <a:spcPct val="100000"/>
              </a:lnSpc>
              <a:spcBef>
                <a:spcPts val="165"/>
              </a:spcBef>
              <a:buClr>
                <a:srgbClr val="E38312"/>
              </a:buClr>
              <a:buFont typeface="Wingdings"/>
              <a:buChar char=""/>
              <a:tabLst>
                <a:tab pos="52832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{name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“Ankit",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age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32}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35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set –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unique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7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complex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type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9318" y="1693926"/>
            <a:ext cx="8248650" cy="0"/>
          </a:xfrm>
          <a:custGeom>
            <a:avLst/>
            <a:gdLst/>
            <a:ahLst/>
            <a:cxnLst/>
            <a:rect l="l" t="t" r="r" b="b"/>
            <a:pathLst>
              <a:path w="8248650">
                <a:moveTo>
                  <a:pt x="0" y="0"/>
                </a:moveTo>
                <a:lnTo>
                  <a:pt x="8248650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820" y="569163"/>
            <a:ext cx="47371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Use</a:t>
            </a:r>
            <a:r>
              <a:rPr b="1" spc="-180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Variables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6991" y="3208401"/>
            <a:ext cx="25317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variable</a:t>
            </a:r>
            <a:r>
              <a:rPr sz="1800" spc="-4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9CDCFD"/>
                </a:solidFill>
                <a:latin typeface="Consolas"/>
                <a:cs typeface="Consolas"/>
              </a:rPr>
              <a:t>filename</a:t>
            </a:r>
            <a:r>
              <a:rPr sz="1800" spc="-30" dirty="0">
                <a:solidFill>
                  <a:srgbClr val="9CDCFD"/>
                </a:solidFill>
                <a:latin typeface="Consolas"/>
                <a:cs typeface="Consolas"/>
              </a:rPr>
              <a:t> </a:t>
            </a:r>
            <a:r>
              <a:rPr sz="1800" spc="-25" dirty="0">
                <a:solidFill>
                  <a:srgbClr val="D3D3D3"/>
                </a:solidFill>
                <a:latin typeface="Consolas"/>
                <a:cs typeface="Consolas"/>
              </a:rPr>
              <a:t>{}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60772" y="2136140"/>
            <a:ext cx="1531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EC8AF"/>
                </a:solidFill>
                <a:latin typeface="Consolas"/>
                <a:cs typeface="Consolas"/>
              </a:rPr>
              <a:t>var</a:t>
            </a:r>
            <a:r>
              <a:rPr sz="1800" spc="-10" dirty="0">
                <a:solidFill>
                  <a:srgbClr val="D3D3D3"/>
                </a:solidFill>
                <a:latin typeface="Consolas"/>
                <a:cs typeface="Consolas"/>
              </a:rPr>
              <a:t>.</a:t>
            </a:r>
            <a:r>
              <a:rPr sz="1800" spc="-10" dirty="0">
                <a:solidFill>
                  <a:srgbClr val="9CDCFD"/>
                </a:solidFill>
                <a:latin typeface="Consolas"/>
                <a:cs typeface="Consolas"/>
              </a:rPr>
              <a:t>filename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65296" y="3237103"/>
            <a:ext cx="3033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EC8AF"/>
                </a:solidFill>
                <a:latin typeface="Consolas"/>
                <a:cs typeface="Consolas"/>
              </a:rPr>
              <a:t>Terraform</a:t>
            </a:r>
            <a:r>
              <a:rPr sz="1800" spc="-4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4EC8AF"/>
                </a:solidFill>
                <a:latin typeface="Consolas"/>
                <a:cs typeface="Consolas"/>
              </a:rPr>
              <a:t>apply</a:t>
            </a:r>
            <a:r>
              <a:rPr sz="1800" spc="-3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4EC8AF"/>
                </a:solidFill>
                <a:latin typeface="Consolas"/>
                <a:cs typeface="Consolas"/>
              </a:rPr>
              <a:t>will</a:t>
            </a:r>
            <a:r>
              <a:rPr sz="1800" spc="-20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1800" spc="-25" dirty="0">
                <a:solidFill>
                  <a:srgbClr val="4EC8AF"/>
                </a:solidFill>
                <a:latin typeface="Consolas"/>
                <a:cs typeface="Consolas"/>
              </a:rPr>
              <a:t>ask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5642" y="1781683"/>
            <a:ext cx="2407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variable</a:t>
            </a:r>
            <a:r>
              <a:rPr sz="1800" spc="-4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9CDCFD"/>
                </a:solidFill>
                <a:latin typeface="Consolas"/>
                <a:cs typeface="Consolas"/>
              </a:rPr>
              <a:t>filename</a:t>
            </a:r>
            <a:r>
              <a:rPr sz="1800" spc="-30" dirty="0">
                <a:solidFill>
                  <a:srgbClr val="9CDCFD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5578" y="2055698"/>
            <a:ext cx="9042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D3D3D3"/>
                </a:solidFill>
                <a:latin typeface="Consolas"/>
                <a:cs typeface="Consolas"/>
              </a:rPr>
              <a:t>type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D3D3D3"/>
                </a:solidFill>
                <a:latin typeface="Consolas"/>
                <a:cs typeface="Consolas"/>
              </a:rPr>
              <a:t>default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00122" y="2055698"/>
            <a:ext cx="178053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D3D3D3"/>
                </a:solidFill>
                <a:latin typeface="Consolas"/>
                <a:cs typeface="Consolas"/>
              </a:rPr>
              <a:t>string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"sample.txt"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5642" y="2604896"/>
            <a:ext cx="151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6991" y="3842715"/>
            <a:ext cx="5290185" cy="1014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terraform</a:t>
            </a:r>
            <a:r>
              <a:rPr sz="1800" spc="-4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apply</a:t>
            </a:r>
            <a:r>
              <a:rPr sz="1800" spc="-4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4EC8AF"/>
                </a:solidFill>
                <a:latin typeface="Consolas"/>
                <a:cs typeface="Consolas"/>
              </a:rPr>
              <a:t>-var</a:t>
            </a:r>
            <a:r>
              <a:rPr sz="1800" spc="-35" dirty="0">
                <a:solidFill>
                  <a:srgbClr val="4EC8AF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4EC8AF"/>
                </a:solidFill>
                <a:latin typeface="Consolas"/>
                <a:cs typeface="Consolas"/>
              </a:rPr>
              <a:t>"filename=sample.txt"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355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export</a:t>
            </a:r>
            <a:r>
              <a:rPr sz="1800" spc="-4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559CD5"/>
                </a:solidFill>
                <a:latin typeface="Consolas"/>
                <a:cs typeface="Consolas"/>
              </a:rPr>
              <a:t>TF_VAR_filename=</a:t>
            </a:r>
            <a:r>
              <a:rPr sz="1800" spc="-10" dirty="0">
                <a:solidFill>
                  <a:srgbClr val="4EC8AF"/>
                </a:solidFill>
                <a:latin typeface="Consolas"/>
                <a:cs typeface="Consolas"/>
              </a:rPr>
              <a:t>sample.txt"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9318" y="3007614"/>
            <a:ext cx="8305800" cy="0"/>
          </a:xfrm>
          <a:custGeom>
            <a:avLst/>
            <a:gdLst/>
            <a:ahLst/>
            <a:cxnLst/>
            <a:rect l="l" t="t" r="r" b="b"/>
            <a:pathLst>
              <a:path w="8305800">
                <a:moveTo>
                  <a:pt x="0" y="0"/>
                </a:moveTo>
                <a:lnTo>
                  <a:pt x="8305800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9318" y="3659885"/>
            <a:ext cx="8296275" cy="0"/>
          </a:xfrm>
          <a:custGeom>
            <a:avLst/>
            <a:gdLst/>
            <a:ahLst/>
            <a:cxnLst/>
            <a:rect l="l" t="t" r="r" b="b"/>
            <a:pathLst>
              <a:path w="8296275">
                <a:moveTo>
                  <a:pt x="0" y="0"/>
                </a:moveTo>
                <a:lnTo>
                  <a:pt x="8296275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68273" y="4264914"/>
            <a:ext cx="8267700" cy="0"/>
          </a:xfrm>
          <a:custGeom>
            <a:avLst/>
            <a:gdLst/>
            <a:ahLst/>
            <a:cxnLst/>
            <a:rect l="l" t="t" r="r" b="b"/>
            <a:pathLst>
              <a:path w="8267700">
                <a:moveTo>
                  <a:pt x="0" y="0"/>
                </a:moveTo>
                <a:lnTo>
                  <a:pt x="8267700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8273" y="5150358"/>
            <a:ext cx="8267700" cy="0"/>
          </a:xfrm>
          <a:custGeom>
            <a:avLst/>
            <a:gdLst/>
            <a:ahLst/>
            <a:cxnLst/>
            <a:rect l="l" t="t" r="r" b="b"/>
            <a:pathLst>
              <a:path w="8267700">
                <a:moveTo>
                  <a:pt x="0" y="0"/>
                </a:moveTo>
                <a:lnTo>
                  <a:pt x="8267700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Variable</a:t>
            </a:r>
            <a:r>
              <a:rPr spc="-600" dirty="0"/>
              <a:t> </a:t>
            </a:r>
            <a:r>
              <a:rPr dirty="0"/>
              <a:t>Definition</a:t>
            </a:r>
            <a:r>
              <a:rPr spc="-590" dirty="0"/>
              <a:t> </a:t>
            </a:r>
            <a:r>
              <a:rPr spc="-20" dirty="0"/>
              <a:t>File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8223" y="1544684"/>
            <a:ext cx="2413635" cy="195643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terraform.tfvars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terraform.tfvars.json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*.auto.tfvars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*.auto.tfvars.json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3540" y="649604"/>
            <a:ext cx="969835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dirty="0"/>
              <a:t>Which</a:t>
            </a:r>
            <a:r>
              <a:rPr sz="4300" spc="-355" dirty="0"/>
              <a:t> </a:t>
            </a:r>
            <a:r>
              <a:rPr sz="4300" dirty="0"/>
              <a:t>Variable</a:t>
            </a:r>
            <a:r>
              <a:rPr sz="4300" spc="-340" dirty="0"/>
              <a:t> </a:t>
            </a:r>
            <a:r>
              <a:rPr sz="4300" dirty="0"/>
              <a:t>will</a:t>
            </a:r>
            <a:r>
              <a:rPr sz="4300" spc="-345" dirty="0"/>
              <a:t> </a:t>
            </a:r>
            <a:r>
              <a:rPr sz="4300" dirty="0"/>
              <a:t>load</a:t>
            </a:r>
            <a:r>
              <a:rPr sz="4300" spc="-340" dirty="0"/>
              <a:t> </a:t>
            </a:r>
            <a:r>
              <a:rPr sz="4300" spc="-10" dirty="0"/>
              <a:t>first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668223" y="1544684"/>
            <a:ext cx="5295900" cy="195643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525780" indent="-513080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Calibri"/>
              <a:buAutoNum type="arabicPeriod"/>
              <a:tabLst>
                <a:tab pos="525780" algn="l"/>
              </a:tabLst>
            </a:pPr>
            <a:r>
              <a:rPr sz="2000" dirty="0">
                <a:solidFill>
                  <a:srgbClr val="559CD5"/>
                </a:solidFill>
                <a:latin typeface="Consolas"/>
                <a:cs typeface="Consolas"/>
              </a:rPr>
              <a:t>export</a:t>
            </a:r>
            <a:r>
              <a:rPr sz="2000" spc="-4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559CD5"/>
                </a:solidFill>
                <a:latin typeface="Consolas"/>
                <a:cs typeface="Consolas"/>
              </a:rPr>
              <a:t>TF_VAR_filename=</a:t>
            </a:r>
            <a:r>
              <a:rPr sz="2000" spc="-10" dirty="0">
                <a:solidFill>
                  <a:srgbClr val="4EC8AF"/>
                </a:solidFill>
                <a:latin typeface="Consolas"/>
                <a:cs typeface="Consolas"/>
              </a:rPr>
              <a:t>sample.txt“</a:t>
            </a:r>
            <a:endParaRPr sz="2000">
              <a:latin typeface="Consolas"/>
              <a:cs typeface="Consolas"/>
            </a:endParaRPr>
          </a:p>
          <a:p>
            <a:pPr marL="609600" indent="-596900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Consolas"/>
              <a:buAutoNum type="arabicPeriod"/>
              <a:tabLst>
                <a:tab pos="609600" algn="l"/>
              </a:tabLst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terraform.tfvars</a:t>
            </a:r>
            <a:r>
              <a:rPr sz="200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endParaRPr sz="2000">
              <a:latin typeface="Calibri"/>
              <a:cs typeface="Calibri"/>
            </a:endParaRPr>
          </a:p>
          <a:p>
            <a:pPr marL="583565" indent="-57086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AutoNum type="arabicPeriod"/>
              <a:tabLst>
                <a:tab pos="583565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variable.auto.tfvars</a:t>
            </a:r>
            <a:r>
              <a:rPr sz="2000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endParaRPr sz="2000">
              <a:latin typeface="Calibri"/>
              <a:cs typeface="Calibri"/>
            </a:endParaRPr>
          </a:p>
          <a:p>
            <a:pPr marL="525780" indent="-51308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AutoNum type="arabicPeriod"/>
              <a:tabLst>
                <a:tab pos="52578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terraform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apply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var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"filename=sample.txt”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Multiple</a:t>
            </a:r>
            <a:r>
              <a:rPr b="1" spc="-409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Provider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3820" y="1955114"/>
            <a:ext cx="6908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main.tf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6027" y="2430779"/>
            <a:ext cx="4692650" cy="1201420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341630" marR="330200" indent="-250190">
              <a:lnSpc>
                <a:spcPct val="100000"/>
              </a:lnSpc>
              <a:spcBef>
                <a:spcPts val="254"/>
              </a:spcBef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resource</a:t>
            </a:r>
            <a:r>
              <a:rPr sz="1800" spc="-4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"local_file"</a:t>
            </a:r>
            <a:r>
              <a:rPr sz="1800" spc="-5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"rand_res"</a:t>
            </a:r>
            <a:r>
              <a:rPr sz="1800" spc="-3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{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filename</a:t>
            </a:r>
            <a:r>
              <a:rPr sz="18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“sample.txt"</a:t>
            </a:r>
            <a:endParaRPr sz="1800">
              <a:latin typeface="Consolas"/>
              <a:cs typeface="Consolas"/>
            </a:endParaRPr>
          </a:p>
          <a:p>
            <a:pPr marL="34163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content</a:t>
            </a:r>
            <a:r>
              <a:rPr sz="1800" spc="-25" dirty="0">
                <a:solidFill>
                  <a:srgbClr val="D3D3D3"/>
                </a:solidFill>
                <a:latin typeface="Consolas"/>
                <a:cs typeface="Consolas"/>
              </a:rPr>
              <a:t> 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"I</a:t>
            </a:r>
            <a:r>
              <a:rPr sz="1800" spc="-3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love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 terraform”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6027" y="4242815"/>
            <a:ext cx="5006340" cy="922019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341630" marR="142240" indent="-250190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resource</a:t>
            </a:r>
            <a:r>
              <a:rPr sz="1800" spc="-5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"random_string"</a:t>
            </a:r>
            <a:r>
              <a:rPr sz="1800" spc="-4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"rand_name"</a:t>
            </a:r>
            <a:r>
              <a:rPr sz="1800" spc="-4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{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length</a:t>
            </a:r>
            <a:r>
              <a:rPr sz="18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35" dirty="0">
                <a:solidFill>
                  <a:srgbClr val="B5CEA8"/>
                </a:solidFill>
                <a:latin typeface="Consolas"/>
                <a:cs typeface="Consolas"/>
              </a:rPr>
              <a:t>20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Implicit</a:t>
            </a:r>
            <a:r>
              <a:rPr b="1" spc="-409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Dependency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7304" y="1694688"/>
            <a:ext cx="4738370" cy="1201420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341630" marR="376555" indent="-250825">
              <a:lnSpc>
                <a:spcPct val="100000"/>
              </a:lnSpc>
              <a:spcBef>
                <a:spcPts val="254"/>
              </a:spcBef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resource</a:t>
            </a:r>
            <a:r>
              <a:rPr sz="1800" spc="-4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"local_file"</a:t>
            </a:r>
            <a:r>
              <a:rPr sz="1800" spc="-4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"rand_res"</a:t>
            </a:r>
            <a:r>
              <a:rPr sz="1800" spc="-3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{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filename</a:t>
            </a:r>
            <a:r>
              <a:rPr sz="18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"implicit.txt"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content</a:t>
            </a:r>
            <a:r>
              <a:rPr sz="1800" spc="-30" dirty="0">
                <a:solidFill>
                  <a:srgbClr val="D3D3D3"/>
                </a:solidFill>
                <a:latin typeface="Consolas"/>
                <a:cs typeface="Consolas"/>
              </a:rPr>
              <a:t> 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"I</a:t>
            </a:r>
            <a:r>
              <a:rPr sz="1800" spc="-3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love</a:t>
            </a:r>
            <a:r>
              <a:rPr sz="1800" spc="-2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terraform</a:t>
            </a:r>
            <a:r>
              <a:rPr sz="1800" spc="-3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CE9178"/>
                </a:solidFill>
                <a:latin typeface="Consolas"/>
                <a:cs typeface="Consolas"/>
              </a:rPr>
              <a:t>"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6259" y="3313176"/>
            <a:ext cx="5005070" cy="923925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340360" marR="142240" indent="-250190">
              <a:lnSpc>
                <a:spcPct val="100000"/>
              </a:lnSpc>
              <a:spcBef>
                <a:spcPts val="260"/>
              </a:spcBef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resource</a:t>
            </a:r>
            <a:r>
              <a:rPr sz="1800" spc="-5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"random_string"</a:t>
            </a:r>
            <a:r>
              <a:rPr sz="1800" spc="-4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"rand_name"</a:t>
            </a:r>
            <a:r>
              <a:rPr sz="1800" spc="-4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{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length</a:t>
            </a:r>
            <a:r>
              <a:rPr sz="18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35" dirty="0">
                <a:solidFill>
                  <a:srgbClr val="B5CEA8"/>
                </a:solidFill>
                <a:latin typeface="Consolas"/>
                <a:cs typeface="Consolas"/>
              </a:rPr>
              <a:t>20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6259" y="4701540"/>
            <a:ext cx="8274050" cy="1201420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340360" marR="3912870" indent="-250190">
              <a:lnSpc>
                <a:spcPct val="100000"/>
              </a:lnSpc>
              <a:spcBef>
                <a:spcPts val="254"/>
              </a:spcBef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resource</a:t>
            </a:r>
            <a:r>
              <a:rPr sz="1800" spc="-4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"local_file"</a:t>
            </a:r>
            <a:r>
              <a:rPr sz="1800" spc="-5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"rand_res"</a:t>
            </a:r>
            <a:r>
              <a:rPr sz="1800" spc="-3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{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filename</a:t>
            </a:r>
            <a:r>
              <a:rPr sz="18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"implicit.txt"</a:t>
            </a:r>
            <a:endParaRPr sz="1800">
              <a:latin typeface="Consolas"/>
              <a:cs typeface="Consolas"/>
            </a:endParaRPr>
          </a:p>
          <a:p>
            <a:pPr marL="340360">
              <a:lnSpc>
                <a:spcPct val="100000"/>
              </a:lnSpc>
            </a:pP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content</a:t>
            </a:r>
            <a:r>
              <a:rPr sz="1800" spc="-20" dirty="0">
                <a:solidFill>
                  <a:srgbClr val="D3D3D3"/>
                </a:solidFill>
                <a:latin typeface="Consolas"/>
                <a:cs typeface="Consolas"/>
              </a:rPr>
              <a:t> 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"I</a:t>
            </a:r>
            <a:r>
              <a:rPr sz="1800" spc="-2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love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random</a:t>
            </a:r>
            <a:r>
              <a:rPr sz="1800" spc="-2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text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559CD5"/>
                </a:solidFill>
                <a:latin typeface="Consolas"/>
                <a:cs typeface="Consolas"/>
              </a:rPr>
              <a:t>${</a:t>
            </a:r>
            <a:r>
              <a:rPr sz="1800" spc="-10" dirty="0">
                <a:solidFill>
                  <a:srgbClr val="D3D3D3"/>
                </a:solidFill>
                <a:latin typeface="Consolas"/>
                <a:cs typeface="Consolas"/>
              </a:rPr>
              <a:t>random_string.rand_name.id</a:t>
            </a:r>
            <a:r>
              <a:rPr sz="1800" spc="-10" dirty="0">
                <a:solidFill>
                  <a:srgbClr val="559CD5"/>
                </a:solidFill>
                <a:latin typeface="Consolas"/>
                <a:cs typeface="Consolas"/>
              </a:rPr>
              <a:t>}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"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Explicit</a:t>
            </a:r>
            <a:r>
              <a:rPr b="1" spc="-409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Dependency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7304" y="1694688"/>
            <a:ext cx="4738370" cy="1201420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341630" marR="376555" indent="-250825">
              <a:lnSpc>
                <a:spcPct val="100000"/>
              </a:lnSpc>
              <a:spcBef>
                <a:spcPts val="254"/>
              </a:spcBef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resource</a:t>
            </a:r>
            <a:r>
              <a:rPr sz="1800" spc="-4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"local_file"</a:t>
            </a:r>
            <a:r>
              <a:rPr sz="1800" spc="-4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"rand_res"</a:t>
            </a:r>
            <a:r>
              <a:rPr sz="1800" spc="-3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{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filename</a:t>
            </a:r>
            <a:r>
              <a:rPr sz="18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“explicit.txt"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content</a:t>
            </a:r>
            <a:r>
              <a:rPr sz="1800" spc="-30" dirty="0">
                <a:solidFill>
                  <a:srgbClr val="D3D3D3"/>
                </a:solidFill>
                <a:latin typeface="Consolas"/>
                <a:cs typeface="Consolas"/>
              </a:rPr>
              <a:t> 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"I</a:t>
            </a:r>
            <a:r>
              <a:rPr sz="1800" spc="-3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love</a:t>
            </a:r>
            <a:r>
              <a:rPr sz="1800" spc="-2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terraform</a:t>
            </a:r>
            <a:r>
              <a:rPr sz="1800" spc="-3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CE9178"/>
                </a:solidFill>
                <a:latin typeface="Consolas"/>
                <a:cs typeface="Consolas"/>
              </a:rPr>
              <a:t>"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6259" y="3313176"/>
            <a:ext cx="5005070" cy="923925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340360" marR="142240" indent="-250190">
              <a:lnSpc>
                <a:spcPct val="100000"/>
              </a:lnSpc>
              <a:spcBef>
                <a:spcPts val="260"/>
              </a:spcBef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resource</a:t>
            </a:r>
            <a:r>
              <a:rPr sz="1800" spc="-5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"random_string"</a:t>
            </a:r>
            <a:r>
              <a:rPr sz="1800" spc="-4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"rand_name"</a:t>
            </a:r>
            <a:r>
              <a:rPr sz="1800" spc="-4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{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length</a:t>
            </a:r>
            <a:r>
              <a:rPr sz="18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35" dirty="0">
                <a:solidFill>
                  <a:srgbClr val="B5CEA8"/>
                </a:solidFill>
                <a:latin typeface="Consolas"/>
                <a:cs typeface="Consolas"/>
              </a:rPr>
              <a:t>20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6259" y="4701540"/>
            <a:ext cx="8274050" cy="1477010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340360" marR="3912870" indent="-250190">
              <a:lnSpc>
                <a:spcPct val="100000"/>
              </a:lnSpc>
              <a:spcBef>
                <a:spcPts val="254"/>
              </a:spcBef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resource</a:t>
            </a:r>
            <a:r>
              <a:rPr sz="1800" spc="-4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"local_file"</a:t>
            </a:r>
            <a:r>
              <a:rPr sz="1800" spc="-5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"rand_res"</a:t>
            </a:r>
            <a:r>
              <a:rPr sz="1800" spc="-3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{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filename</a:t>
            </a:r>
            <a:r>
              <a:rPr sz="18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"implicit.txt"</a:t>
            </a:r>
            <a:endParaRPr sz="1800">
              <a:latin typeface="Consolas"/>
              <a:cs typeface="Consolas"/>
            </a:endParaRPr>
          </a:p>
          <a:p>
            <a:pPr marL="340360">
              <a:lnSpc>
                <a:spcPct val="100000"/>
              </a:lnSpc>
            </a:pP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content</a:t>
            </a:r>
            <a:r>
              <a:rPr sz="1800" spc="-20" dirty="0">
                <a:solidFill>
                  <a:srgbClr val="D3D3D3"/>
                </a:solidFill>
                <a:latin typeface="Consolas"/>
                <a:cs typeface="Consolas"/>
              </a:rPr>
              <a:t> 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"I</a:t>
            </a:r>
            <a:r>
              <a:rPr sz="1800" spc="-2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love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random</a:t>
            </a:r>
            <a:r>
              <a:rPr sz="1800" spc="-2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text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559CD5"/>
                </a:solidFill>
                <a:latin typeface="Consolas"/>
                <a:cs typeface="Consolas"/>
              </a:rPr>
              <a:t>${</a:t>
            </a:r>
            <a:r>
              <a:rPr sz="1800" spc="-10" dirty="0">
                <a:solidFill>
                  <a:srgbClr val="D3D3D3"/>
                </a:solidFill>
                <a:latin typeface="Consolas"/>
                <a:cs typeface="Consolas"/>
              </a:rPr>
              <a:t>random_string.rand_name.id</a:t>
            </a:r>
            <a:r>
              <a:rPr sz="1800" spc="-10" dirty="0">
                <a:solidFill>
                  <a:srgbClr val="559CD5"/>
                </a:solidFill>
                <a:latin typeface="Consolas"/>
                <a:cs typeface="Consolas"/>
              </a:rPr>
              <a:t>}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“</a:t>
            </a:r>
            <a:endParaRPr sz="1800">
              <a:latin typeface="Consolas"/>
              <a:cs typeface="Consolas"/>
            </a:endParaRPr>
          </a:p>
          <a:p>
            <a:pPr marL="35242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depend_on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[random_string.rand_name]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6259" y="1869948"/>
            <a:ext cx="5005070" cy="923925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340360" marR="142240" indent="-250190">
              <a:lnSpc>
                <a:spcPct val="100000"/>
              </a:lnSpc>
              <a:spcBef>
                <a:spcPts val="254"/>
              </a:spcBef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resource</a:t>
            </a:r>
            <a:r>
              <a:rPr sz="1800" spc="-5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"random_string"</a:t>
            </a:r>
            <a:r>
              <a:rPr sz="1800" spc="-4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"rand_name"</a:t>
            </a:r>
            <a:r>
              <a:rPr sz="1800" spc="-4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{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length</a:t>
            </a:r>
            <a:r>
              <a:rPr sz="18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35" dirty="0">
                <a:solidFill>
                  <a:srgbClr val="B5CEA8"/>
                </a:solidFill>
                <a:latin typeface="Consolas"/>
                <a:cs typeface="Consolas"/>
              </a:rPr>
              <a:t>20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6259" y="3343655"/>
            <a:ext cx="4806950" cy="923925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54"/>
              </a:spcBef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output</a:t>
            </a:r>
            <a:r>
              <a:rPr sz="1800" spc="-4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name</a:t>
            </a:r>
            <a:r>
              <a:rPr sz="1800" spc="-1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036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value</a:t>
            </a:r>
            <a:r>
              <a:rPr sz="18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D3D3D3"/>
                </a:solidFill>
                <a:latin typeface="Consolas"/>
                <a:cs typeface="Consolas"/>
              </a:rPr>
              <a:t>random_string.rand_name.id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3067" y="4397755"/>
            <a:ext cx="859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output.tf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820" y="569163"/>
            <a:ext cx="543941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Lifecycle</a:t>
            </a:r>
            <a:r>
              <a:rPr spc="-600" dirty="0"/>
              <a:t> </a:t>
            </a:r>
            <a:r>
              <a:rPr spc="-10" dirty="0"/>
              <a:t>Rules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8223" y="1544684"/>
            <a:ext cx="7801609" cy="195643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lifecycle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resource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attributes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create_before_destroy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000" spc="3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resource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destroy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older</a:t>
            </a:r>
            <a:endParaRPr sz="20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98450" algn="l"/>
              </a:tabLst>
            </a:pPr>
            <a:r>
              <a:rPr sz="20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prevent_destroy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Prevents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destroy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resource</a:t>
            </a:r>
            <a:endParaRPr sz="20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98450" algn="l"/>
              </a:tabLst>
            </a:pPr>
            <a:r>
              <a:rPr sz="20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ignore_changes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000" spc="3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Ignore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Changes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Resource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Specific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tag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all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Provider</a:t>
            </a:r>
            <a:r>
              <a:rPr spc="-535" dirty="0"/>
              <a:t> </a:t>
            </a:r>
            <a:r>
              <a:rPr spc="-30" dirty="0"/>
              <a:t>version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5652" y="1997964"/>
            <a:ext cx="4811395" cy="3416935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340995" marR="1954530" indent="-250190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terraform</a:t>
            </a:r>
            <a:r>
              <a:rPr sz="1800" spc="-4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{ </a:t>
            </a: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required_providers</a:t>
            </a:r>
            <a:r>
              <a:rPr sz="1800" spc="-6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055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local</a:t>
            </a:r>
            <a:r>
              <a:rPr sz="18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842010" marR="699135">
              <a:lnSpc>
                <a:spcPct val="100000"/>
              </a:lnSpc>
            </a:pP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source</a:t>
            </a:r>
            <a:r>
              <a:rPr sz="18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"hashicorp/local"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version</a:t>
            </a:r>
            <a:r>
              <a:rPr sz="18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"2.1.0"</a:t>
            </a:r>
            <a:endParaRPr sz="1800">
              <a:latin typeface="Consolas"/>
              <a:cs typeface="Consolas"/>
            </a:endParaRPr>
          </a:p>
          <a:p>
            <a:pPr marL="590550">
              <a:lnSpc>
                <a:spcPct val="100000"/>
              </a:lnSpc>
            </a:pP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340995">
              <a:lnSpc>
                <a:spcPct val="100000"/>
              </a:lnSpc>
            </a:pP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provider</a:t>
            </a:r>
            <a:r>
              <a:rPr sz="1800" spc="-3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"local"</a:t>
            </a:r>
            <a:r>
              <a:rPr sz="1800" spc="-2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0995">
              <a:lnSpc>
                <a:spcPct val="100000"/>
              </a:lnSpc>
            </a:pPr>
            <a:r>
              <a:rPr sz="1800" dirty="0">
                <a:solidFill>
                  <a:srgbClr val="6A9954"/>
                </a:solidFill>
                <a:latin typeface="Consolas"/>
                <a:cs typeface="Consolas"/>
              </a:rPr>
              <a:t>#</a:t>
            </a:r>
            <a:r>
              <a:rPr sz="1800" spc="-4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6A9954"/>
                </a:solidFill>
                <a:latin typeface="Consolas"/>
                <a:cs typeface="Consolas"/>
              </a:rPr>
              <a:t>Configuration</a:t>
            </a:r>
            <a:r>
              <a:rPr sz="1800" spc="-2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6A9954"/>
                </a:solidFill>
                <a:latin typeface="Consolas"/>
                <a:cs typeface="Consolas"/>
              </a:rPr>
              <a:t>options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91004" y="5832449"/>
            <a:ext cx="7352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25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https://www.terraform.io/docs/language/expressions/version-</a:t>
            </a:r>
            <a:r>
              <a:rPr sz="18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constraints.html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820" y="569163"/>
            <a:ext cx="399796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295" dirty="0"/>
              <a:t> </a:t>
            </a:r>
            <a:r>
              <a:rPr spc="-30" dirty="0"/>
              <a:t>source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8223" y="1721866"/>
            <a:ext cx="50482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local_file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reads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local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filesystem.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5064" y="2229611"/>
            <a:ext cx="1696212" cy="169621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74775" y="2644139"/>
            <a:ext cx="4913630" cy="2032000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4"/>
              </a:spcBef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data</a:t>
            </a:r>
            <a:r>
              <a:rPr sz="1800" spc="-3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"local_file"</a:t>
            </a:r>
            <a:r>
              <a:rPr sz="1800" spc="-3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"foo"</a:t>
            </a:r>
            <a:r>
              <a:rPr sz="1800" spc="-3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1185">
              <a:lnSpc>
                <a:spcPct val="100000"/>
              </a:lnSpc>
            </a:pP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filename</a:t>
            </a:r>
            <a:r>
              <a:rPr sz="18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"sample1.txt"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output</a:t>
            </a:r>
            <a:r>
              <a:rPr sz="1800" spc="-4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name1</a:t>
            </a:r>
            <a:r>
              <a:rPr sz="1800" spc="-1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1630">
              <a:lnSpc>
                <a:spcPct val="100000"/>
              </a:lnSpc>
            </a:pP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value</a:t>
            </a:r>
            <a:r>
              <a:rPr sz="18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4EC8AF"/>
                </a:solidFill>
                <a:latin typeface="Consolas"/>
                <a:cs typeface="Consolas"/>
              </a:rPr>
              <a:t>data</a:t>
            </a:r>
            <a:r>
              <a:rPr sz="1800" spc="-10" dirty="0">
                <a:solidFill>
                  <a:srgbClr val="D3D3D3"/>
                </a:solidFill>
                <a:latin typeface="Consolas"/>
                <a:cs typeface="Consolas"/>
              </a:rPr>
              <a:t>.local_file.foo.content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0681" y="3427933"/>
            <a:ext cx="614870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Terraform</a:t>
            </a:r>
            <a:r>
              <a:rPr sz="5400" b="1" spc="-280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+</a:t>
            </a:r>
            <a:r>
              <a:rPr sz="5400" b="1" spc="-270" dirty="0">
                <a:latin typeface="Courier New"/>
                <a:cs typeface="Courier New"/>
              </a:rPr>
              <a:t> </a:t>
            </a:r>
            <a:r>
              <a:rPr sz="5400" b="1" spc="-25" dirty="0">
                <a:latin typeface="Courier New"/>
                <a:cs typeface="Courier New"/>
              </a:rPr>
              <a:t>GCP</a:t>
            </a:r>
            <a:endParaRPr sz="5400">
              <a:latin typeface="Courier New"/>
              <a:cs typeface="Courier New"/>
            </a:endParaRPr>
          </a:p>
        </p:txBody>
      </p:sp>
      <p:pic>
        <p:nvPicPr>
          <p:cNvPr id="3" name="object 3" descr="File:Google &lt;strong&gt;Cloud&lt;/strong&gt; Logo.svg - Wikipedia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85119" y="2324100"/>
            <a:ext cx="1345692" cy="112318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0681" y="3427933"/>
            <a:ext cx="696404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solidFill>
                  <a:srgbClr val="FFFFFF"/>
                </a:solidFill>
                <a:latin typeface="Courier New"/>
                <a:cs typeface="Courier New"/>
              </a:rPr>
              <a:t>Setup</a:t>
            </a:r>
            <a:r>
              <a:rPr sz="5400" b="1" spc="-229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5400" b="1" dirty="0">
                <a:solidFill>
                  <a:srgbClr val="FFFFFF"/>
                </a:solidFill>
                <a:latin typeface="Courier New"/>
                <a:cs typeface="Courier New"/>
              </a:rPr>
              <a:t>GCP</a:t>
            </a:r>
            <a:r>
              <a:rPr sz="5400" b="1" spc="-2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5400" b="1" spc="-10" dirty="0">
                <a:solidFill>
                  <a:srgbClr val="FFFFFF"/>
                </a:solidFill>
                <a:latin typeface="Courier New"/>
                <a:cs typeface="Courier New"/>
              </a:rPr>
              <a:t>Project</a:t>
            </a:r>
            <a:endParaRPr sz="54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9067" y="4595825"/>
            <a:ext cx="26777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55" dirty="0">
                <a:solidFill>
                  <a:srgbClr val="626F52"/>
                </a:solidFill>
                <a:latin typeface="Calibri Light"/>
                <a:cs typeface="Calibri Light"/>
              </a:rPr>
              <a:t>SERVICE</a:t>
            </a:r>
            <a:r>
              <a:rPr sz="2400" spc="370" dirty="0">
                <a:solidFill>
                  <a:srgbClr val="626F52"/>
                </a:solidFill>
                <a:latin typeface="Calibri Light"/>
                <a:cs typeface="Calibri Light"/>
              </a:rPr>
              <a:t> </a:t>
            </a:r>
            <a:r>
              <a:rPr sz="2400" spc="145" dirty="0">
                <a:solidFill>
                  <a:srgbClr val="626F52"/>
                </a:solidFill>
                <a:latin typeface="Calibri Light"/>
                <a:cs typeface="Calibri Light"/>
              </a:rPr>
              <a:t>ACCOUNT</a:t>
            </a:r>
            <a:endParaRPr sz="2400">
              <a:latin typeface="Calibri Light"/>
              <a:cs typeface="Calibri Light"/>
            </a:endParaRPr>
          </a:p>
        </p:txBody>
      </p:sp>
      <p:pic>
        <p:nvPicPr>
          <p:cNvPr id="4" name="object 4" descr="File:Google &lt;strong&gt;Cloud&lt;/strong&gt; Logo.svg - Wikipedia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85119" y="2324100"/>
            <a:ext cx="1345692" cy="112318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Google</a:t>
            </a:r>
            <a:r>
              <a:rPr spc="-415" dirty="0"/>
              <a:t> </a:t>
            </a:r>
            <a:r>
              <a:rPr spc="-35" dirty="0"/>
              <a:t>Provider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8223" y="1544684"/>
            <a:ext cx="7355205" cy="147320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Terraform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provider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intract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public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Infrastructure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provision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inside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GCP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Terraform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https://registry.terraform.io/providers/hashicorp/google/latest/docs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File:Google &lt;strong&gt;Cloud&lt;/strong&gt; Logo.svg - Wikipedia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11611" y="2147316"/>
            <a:ext cx="1344168" cy="11231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81227" y="3320796"/>
            <a:ext cx="4491355" cy="3139440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terraform</a:t>
            </a:r>
            <a:r>
              <a:rPr sz="1800" spc="-4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340995">
              <a:lnSpc>
                <a:spcPct val="100000"/>
              </a:lnSpc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required_providers</a:t>
            </a:r>
            <a:r>
              <a:rPr sz="1800" spc="-11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055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google</a:t>
            </a:r>
            <a:r>
              <a:rPr sz="18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 </a:t>
            </a: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842644" marR="255270">
              <a:lnSpc>
                <a:spcPct val="100000"/>
              </a:lnSpc>
            </a:pP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source</a:t>
            </a:r>
            <a:r>
              <a:rPr sz="18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"hashicorp/google"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version</a:t>
            </a:r>
            <a:r>
              <a:rPr sz="18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"3.84.0"</a:t>
            </a:r>
            <a:endParaRPr sz="1800">
              <a:latin typeface="Consolas"/>
              <a:cs typeface="Consolas"/>
            </a:endParaRPr>
          </a:p>
          <a:p>
            <a:pPr marL="590550">
              <a:lnSpc>
                <a:spcPct val="100000"/>
              </a:lnSpc>
            </a:pP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340995">
              <a:lnSpc>
                <a:spcPct val="100000"/>
              </a:lnSpc>
            </a:pP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340995" marR="1510030" indent="-25019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provider</a:t>
            </a:r>
            <a:r>
              <a:rPr sz="1800" spc="-4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"google"</a:t>
            </a:r>
            <a:r>
              <a:rPr sz="1800" spc="-3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{ </a:t>
            </a:r>
            <a:r>
              <a:rPr sz="1800" dirty="0">
                <a:solidFill>
                  <a:srgbClr val="6A9954"/>
                </a:solidFill>
                <a:latin typeface="Consolas"/>
                <a:cs typeface="Consolas"/>
              </a:rPr>
              <a:t>project,</a:t>
            </a:r>
            <a:r>
              <a:rPr sz="1800" spc="-4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6A9954"/>
                </a:solidFill>
                <a:latin typeface="Consolas"/>
                <a:cs typeface="Consolas"/>
              </a:rPr>
              <a:t>region,</a:t>
            </a:r>
            <a:r>
              <a:rPr sz="1800" spc="-3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1800" spc="-20" dirty="0">
                <a:solidFill>
                  <a:srgbClr val="6A9954"/>
                </a:solidFill>
                <a:latin typeface="Consolas"/>
                <a:cs typeface="Consolas"/>
              </a:rPr>
              <a:t>zone</a:t>
            </a:r>
            <a:endParaRPr sz="18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Connect</a:t>
            </a:r>
            <a:r>
              <a:rPr spc="-390" dirty="0"/>
              <a:t> </a:t>
            </a:r>
            <a:r>
              <a:rPr dirty="0"/>
              <a:t>with</a:t>
            </a:r>
            <a:r>
              <a:rPr spc="-375" dirty="0"/>
              <a:t> </a:t>
            </a:r>
            <a:r>
              <a:rPr spc="-25" dirty="0"/>
              <a:t>GCP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8223" y="1672183"/>
            <a:ext cx="6953884" cy="287020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4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Provider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Configuration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Projectid,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zone,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region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ways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authenticate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GCP</a:t>
            </a:r>
            <a:endParaRPr sz="2000">
              <a:latin typeface="Calibri"/>
              <a:cs typeface="Calibri"/>
            </a:endParaRPr>
          </a:p>
          <a:p>
            <a:pPr marL="762635" indent="-457834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AutoNum type="arabicPeriod"/>
              <a:tabLst>
                <a:tab pos="76263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Username/Password</a:t>
            </a:r>
            <a:r>
              <a:rPr sz="2000" spc="3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gcloud</a:t>
            </a:r>
            <a:r>
              <a:rPr sz="20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auth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application-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default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login</a:t>
            </a:r>
            <a:endParaRPr sz="2000">
              <a:latin typeface="Calibri"/>
              <a:cs typeface="Calibri"/>
            </a:endParaRPr>
          </a:p>
          <a:p>
            <a:pPr marL="762635" indent="-457834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AutoNum type="arabicPeriod"/>
              <a:tabLst>
                <a:tab pos="76263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VM</a:t>
            </a:r>
            <a:endParaRPr sz="2000">
              <a:latin typeface="Calibri"/>
              <a:cs typeface="Calibri"/>
            </a:endParaRPr>
          </a:p>
          <a:p>
            <a:pPr marL="762635" indent="-457834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AutoNum type="arabicPeriod"/>
              <a:tabLst>
                <a:tab pos="76263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Keys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Preferred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Production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Bucket.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File:Google &lt;strong&gt;Cloud&lt;/strong&gt; Logo.svg - Wikipedia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73511" y="2110739"/>
            <a:ext cx="1345692" cy="11231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02791" y="4892040"/>
            <a:ext cx="5366385" cy="923925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591185" marR="252729" indent="-500380">
              <a:lnSpc>
                <a:spcPct val="100000"/>
              </a:lnSpc>
              <a:spcBef>
                <a:spcPts val="254"/>
              </a:spcBef>
            </a:pP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resource</a:t>
            </a:r>
            <a:r>
              <a:rPr sz="1800" spc="-7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CE9178"/>
                </a:solidFill>
                <a:latin typeface="Consolas"/>
                <a:cs typeface="Consolas"/>
              </a:rPr>
              <a:t>"google_storage_bucket"</a:t>
            </a:r>
            <a:r>
              <a:rPr sz="1800" spc="-6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"gcs1"</a:t>
            </a:r>
            <a:r>
              <a:rPr sz="1800" spc="-10" dirty="0">
                <a:solidFill>
                  <a:srgbClr val="D3D3D3"/>
                </a:solidFill>
                <a:latin typeface="Consolas"/>
                <a:cs typeface="Consolas"/>
              </a:rPr>
              <a:t>{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name</a:t>
            </a:r>
            <a:r>
              <a:rPr sz="18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8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CE9178"/>
                </a:solidFill>
                <a:latin typeface="Consolas"/>
                <a:cs typeface="Consolas"/>
              </a:rPr>
              <a:t>"bucketname"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606" y="649604"/>
            <a:ext cx="969835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dirty="0"/>
              <a:t>Approach</a:t>
            </a:r>
            <a:r>
              <a:rPr sz="4300" spc="-415" dirty="0"/>
              <a:t> </a:t>
            </a:r>
            <a:r>
              <a:rPr sz="4300" dirty="0"/>
              <a:t>to</a:t>
            </a:r>
            <a:r>
              <a:rPr sz="4300" spc="-405" dirty="0"/>
              <a:t> </a:t>
            </a:r>
            <a:r>
              <a:rPr sz="4300" dirty="0"/>
              <a:t>Provision</a:t>
            </a:r>
            <a:r>
              <a:rPr sz="4300" spc="-400" dirty="0"/>
              <a:t> </a:t>
            </a:r>
            <a:r>
              <a:rPr sz="4300" spc="-25" dirty="0"/>
              <a:t>resource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668223" y="1544684"/>
            <a:ext cx="6160770" cy="195643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AutoNum type="arabicPeriod"/>
              <a:tabLst>
                <a:tab pos="46926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resource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AutoNum type="arabicPeriod"/>
              <a:tabLst>
                <a:tab pos="46926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Console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resource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provisioning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AutoNum type="arabicPeriod"/>
              <a:tabLst>
                <a:tab pos="469265" algn="l"/>
              </a:tabLst>
            </a:pP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Terraform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script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minimum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attributes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(all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required)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AutoNum type="arabicPeriod"/>
              <a:tabLst>
                <a:tab pos="46926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Add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arguments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File:Google &lt;strong&gt;Cloud&lt;/strong&gt; Logo.svg - Wikipedia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3323" y="2147316"/>
            <a:ext cx="1344168" cy="112318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File:Google &lt;strong&gt;Cloud&lt;/strong&gt; Logo.svg - Wikipedia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037587"/>
            <a:ext cx="1345692" cy="112318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Google</a:t>
            </a:r>
            <a:r>
              <a:rPr spc="-380" dirty="0"/>
              <a:t> </a:t>
            </a:r>
            <a:r>
              <a:rPr dirty="0"/>
              <a:t>Cloud</a:t>
            </a:r>
            <a:r>
              <a:rPr spc="-375" dirty="0"/>
              <a:t> </a:t>
            </a:r>
            <a:r>
              <a:rPr spc="-25" dirty="0"/>
              <a:t>Storage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7321" y="1417684"/>
            <a:ext cx="6075045" cy="358267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solution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GCP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Unstructured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Image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Video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Binary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File,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etc…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long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term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archival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over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http,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Rest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endParaRPr sz="2000">
              <a:latin typeface="Calibri"/>
              <a:cs typeface="Calibri"/>
            </a:endParaRPr>
          </a:p>
          <a:p>
            <a:pPr marL="327660" indent="-31496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32766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Let’s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0681" y="3427933"/>
            <a:ext cx="614870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GCS</a:t>
            </a:r>
            <a:r>
              <a:rPr sz="5400" b="1" spc="-12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+</a:t>
            </a:r>
            <a:r>
              <a:rPr sz="5400" b="1" spc="-125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Terraform</a:t>
            </a:r>
            <a:endParaRPr sz="5400">
              <a:latin typeface="Courier New"/>
              <a:cs typeface="Courier New"/>
            </a:endParaRPr>
          </a:p>
        </p:txBody>
      </p:sp>
      <p:pic>
        <p:nvPicPr>
          <p:cNvPr id="3" name="object 3" descr="File:Google &lt;strong&gt;Cloud&lt;/strong&gt; Logo.svg - Wikipedia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85119" y="2324100"/>
            <a:ext cx="1345692" cy="112318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File:Google &lt;strong&gt;Cloud&lt;/strong&gt; Logo.svg - Wikipedia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6080" y="2037587"/>
            <a:ext cx="1345692" cy="112318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Google</a:t>
            </a:r>
            <a:r>
              <a:rPr spc="-380" dirty="0"/>
              <a:t> </a:t>
            </a:r>
            <a:r>
              <a:rPr dirty="0"/>
              <a:t>Cloud</a:t>
            </a:r>
            <a:r>
              <a:rPr spc="-375" dirty="0"/>
              <a:t> </a:t>
            </a:r>
            <a:r>
              <a:rPr spc="-25" dirty="0"/>
              <a:t>Network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26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dirty="0"/>
              <a:t>No</a:t>
            </a:r>
            <a:r>
              <a:rPr spc="-30" dirty="0"/>
              <a:t> </a:t>
            </a:r>
            <a:r>
              <a:rPr dirty="0"/>
              <a:t>Network</a:t>
            </a:r>
            <a:r>
              <a:rPr spc="-2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No</a:t>
            </a:r>
            <a:r>
              <a:rPr spc="-25" dirty="0"/>
              <a:t> </a:t>
            </a:r>
            <a:r>
              <a:rPr spc="-10" dirty="0"/>
              <a:t>Cloud</a:t>
            </a:r>
          </a:p>
          <a:p>
            <a:pPr marL="269240" indent="-256540">
              <a:lnSpc>
                <a:spcPct val="100000"/>
              </a:lnSpc>
              <a:spcBef>
                <a:spcPts val="116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pc="-85" dirty="0"/>
              <a:t>To</a:t>
            </a:r>
            <a:r>
              <a:rPr spc="-30" dirty="0"/>
              <a:t> </a:t>
            </a:r>
            <a:r>
              <a:rPr spc="-10" dirty="0"/>
              <a:t>create</a:t>
            </a:r>
            <a:r>
              <a:rPr spc="-40" dirty="0"/>
              <a:t> </a:t>
            </a:r>
            <a:r>
              <a:rPr dirty="0"/>
              <a:t>any</a:t>
            </a:r>
            <a:r>
              <a:rPr spc="-55" dirty="0"/>
              <a:t> </a:t>
            </a:r>
            <a:r>
              <a:rPr spc="-10" dirty="0"/>
              <a:t>resource,</a:t>
            </a:r>
            <a:r>
              <a:rPr spc="-35" dirty="0"/>
              <a:t> </a:t>
            </a:r>
            <a:r>
              <a:rPr dirty="0"/>
              <a:t>Network</a:t>
            </a:r>
            <a:r>
              <a:rPr spc="-55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spc="-20" dirty="0"/>
              <a:t>must</a:t>
            </a:r>
          </a:p>
          <a:p>
            <a:pPr marL="269875" indent="-257175">
              <a:lnSpc>
                <a:spcPct val="100000"/>
              </a:lnSpc>
              <a:spcBef>
                <a:spcPts val="115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dirty="0"/>
              <a:t>VPC</a:t>
            </a:r>
            <a:r>
              <a:rPr spc="-3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Virtual</a:t>
            </a:r>
            <a:r>
              <a:rPr spc="-35" dirty="0"/>
              <a:t> </a:t>
            </a:r>
            <a:r>
              <a:rPr spc="-10" dirty="0"/>
              <a:t>Private Network</a:t>
            </a:r>
          </a:p>
          <a:p>
            <a:pPr marL="269875" indent="-257175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dirty="0"/>
              <a:t>VPC</a:t>
            </a:r>
            <a:r>
              <a:rPr spc="-25" dirty="0"/>
              <a:t> </a:t>
            </a:r>
            <a:r>
              <a:rPr spc="-10" dirty="0"/>
              <a:t>contains</a:t>
            </a:r>
            <a:r>
              <a:rPr spc="-35" dirty="0"/>
              <a:t> </a:t>
            </a:r>
            <a:r>
              <a:rPr dirty="0"/>
              <a:t>subnets</a:t>
            </a:r>
            <a:r>
              <a:rPr spc="-10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dirty="0"/>
              <a:t>Logical</a:t>
            </a:r>
            <a:r>
              <a:rPr spc="-35" dirty="0"/>
              <a:t> </a:t>
            </a:r>
            <a:r>
              <a:rPr dirty="0"/>
              <a:t>grouping</a:t>
            </a:r>
            <a:r>
              <a:rPr spc="-4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IP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dirty="0"/>
              <a:t>single</a:t>
            </a:r>
            <a:r>
              <a:rPr spc="-20" dirty="0"/>
              <a:t> </a:t>
            </a:r>
            <a:r>
              <a:rPr spc="-10" dirty="0"/>
              <a:t>region</a:t>
            </a:r>
          </a:p>
          <a:p>
            <a:pPr marL="269875" indent="-257175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dirty="0"/>
              <a:t>3</a:t>
            </a:r>
            <a:r>
              <a:rPr spc="-30" dirty="0"/>
              <a:t> </a:t>
            </a:r>
            <a:r>
              <a:rPr spc="-10" dirty="0"/>
              <a:t>Types</a:t>
            </a:r>
            <a:r>
              <a:rPr spc="-3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25" dirty="0"/>
              <a:t>VPC</a:t>
            </a:r>
          </a:p>
          <a:p>
            <a:pPr marL="470534" lvl="1" indent="-257175">
              <a:lnSpc>
                <a:spcPct val="100000"/>
              </a:lnSpc>
              <a:spcBef>
                <a:spcPts val="355"/>
              </a:spcBef>
              <a:buClr>
                <a:srgbClr val="E38312"/>
              </a:buClr>
              <a:buSzPct val="111111"/>
              <a:buFont typeface="Wingdings"/>
              <a:buChar char=""/>
              <a:tabLst>
                <a:tab pos="470534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Default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VPC</a:t>
            </a:r>
            <a:endParaRPr sz="1800">
              <a:latin typeface="Calibri"/>
              <a:cs typeface="Calibri"/>
            </a:endParaRPr>
          </a:p>
          <a:p>
            <a:pPr marL="447675" lvl="1" indent="-234315">
              <a:lnSpc>
                <a:spcPct val="100000"/>
              </a:lnSpc>
              <a:spcBef>
                <a:spcPts val="434"/>
              </a:spcBef>
              <a:buClr>
                <a:srgbClr val="E38312"/>
              </a:buClr>
              <a:buFont typeface="Wingdings"/>
              <a:buChar char=""/>
              <a:tabLst>
                <a:tab pos="44767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Auto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Mode</a:t>
            </a:r>
            <a:endParaRPr sz="1800">
              <a:latin typeface="Calibri"/>
              <a:cs typeface="Calibri"/>
            </a:endParaRPr>
          </a:p>
          <a:p>
            <a:pPr marL="447675" lvl="1" indent="-234315">
              <a:lnSpc>
                <a:spcPct val="100000"/>
              </a:lnSpc>
              <a:spcBef>
                <a:spcPts val="384"/>
              </a:spcBef>
              <a:buClr>
                <a:srgbClr val="E38312"/>
              </a:buClr>
              <a:buFont typeface="Wingdings"/>
              <a:buChar char=""/>
              <a:tabLst>
                <a:tab pos="44767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Custom</a:t>
            </a:r>
            <a:r>
              <a:rPr sz="18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Mode</a:t>
            </a:r>
            <a:endParaRPr sz="18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4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dirty="0"/>
              <a:t>Let’s</a:t>
            </a:r>
            <a:r>
              <a:rPr spc="-40" dirty="0"/>
              <a:t> </a:t>
            </a:r>
            <a:r>
              <a:rPr dirty="0"/>
              <a:t>see</a:t>
            </a:r>
            <a:r>
              <a:rPr spc="-35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action</a:t>
            </a:r>
            <a:r>
              <a:rPr spc="-45" dirty="0"/>
              <a:t> </a:t>
            </a:r>
            <a:r>
              <a:rPr spc="-50" dirty="0"/>
              <a:t>–</a:t>
            </a:r>
          </a:p>
          <a:p>
            <a:pPr marL="470534" lvl="1" indent="-257175">
              <a:lnSpc>
                <a:spcPct val="100000"/>
              </a:lnSpc>
              <a:spcBef>
                <a:spcPts val="17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VPC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200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Subnet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200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firewall</a:t>
            </a:r>
            <a:r>
              <a:rPr sz="20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Policy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0681" y="3427933"/>
            <a:ext cx="777875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Network</a:t>
            </a:r>
            <a:r>
              <a:rPr sz="5400" b="1" spc="-229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+</a:t>
            </a:r>
            <a:r>
              <a:rPr sz="5400" b="1" spc="-220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Terraform</a:t>
            </a:r>
            <a:endParaRPr sz="5400">
              <a:latin typeface="Courier New"/>
              <a:cs typeface="Courier New"/>
            </a:endParaRPr>
          </a:p>
        </p:txBody>
      </p:sp>
      <p:pic>
        <p:nvPicPr>
          <p:cNvPr id="3" name="object 3" descr="File:Google &lt;strong&gt;Cloud&lt;/strong&gt; Logo.svg - Wikipedia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85119" y="2324100"/>
            <a:ext cx="1345692" cy="112318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0681" y="3427933"/>
            <a:ext cx="614997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GCE</a:t>
            </a:r>
            <a:r>
              <a:rPr sz="5400" b="1" spc="-130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+</a:t>
            </a:r>
            <a:r>
              <a:rPr sz="5400" b="1" spc="-125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Terraform</a:t>
            </a:r>
            <a:endParaRPr sz="5400">
              <a:latin typeface="Courier New"/>
              <a:cs typeface="Courier New"/>
            </a:endParaRPr>
          </a:p>
        </p:txBody>
      </p:sp>
      <p:pic>
        <p:nvPicPr>
          <p:cNvPr id="3" name="object 3" descr="File:Google &lt;strong&gt;Cloud&lt;/strong&gt; Logo.svg - Wikipedia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85119" y="2324100"/>
            <a:ext cx="1345692" cy="112318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0681" y="3427933"/>
            <a:ext cx="859536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Cloud</a:t>
            </a:r>
            <a:r>
              <a:rPr sz="5400" b="1" spc="-18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Run</a:t>
            </a:r>
            <a:r>
              <a:rPr sz="5400" b="1" spc="-17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+</a:t>
            </a:r>
            <a:r>
              <a:rPr sz="5400" b="1" spc="-170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Terraform</a:t>
            </a:r>
            <a:endParaRPr sz="5400">
              <a:latin typeface="Courier New"/>
              <a:cs typeface="Courier New"/>
            </a:endParaRPr>
          </a:p>
        </p:txBody>
      </p:sp>
      <p:pic>
        <p:nvPicPr>
          <p:cNvPr id="3" name="object 3" descr="File:Google &lt;strong&gt;Cloud&lt;/strong&gt; Logo.svg - Wikipedia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85119" y="2324100"/>
            <a:ext cx="1345692" cy="112318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0681" y="3538473"/>
            <a:ext cx="106406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Cloud</a:t>
            </a:r>
            <a:r>
              <a:rPr sz="5400" b="1" spc="-250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Function</a:t>
            </a:r>
            <a:r>
              <a:rPr sz="5400" b="1" spc="-23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+</a:t>
            </a:r>
            <a:r>
              <a:rPr sz="5400" b="1" spc="-220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Terraform</a:t>
            </a:r>
            <a:endParaRPr sz="5400">
              <a:latin typeface="Courier New"/>
              <a:cs typeface="Courier New"/>
            </a:endParaRPr>
          </a:p>
        </p:txBody>
      </p:sp>
      <p:pic>
        <p:nvPicPr>
          <p:cNvPr id="3" name="object 3" descr="File:Google &lt;strong&gt;Cloud&lt;/strong&gt; Logo.svg - Wikipedia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85119" y="2324100"/>
            <a:ext cx="1345692" cy="112318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0681" y="3538473"/>
            <a:ext cx="81915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BigQuery</a:t>
            </a:r>
            <a:r>
              <a:rPr sz="5400" b="1" spc="-23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+</a:t>
            </a:r>
            <a:r>
              <a:rPr sz="5400" b="1" spc="-220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Terraform</a:t>
            </a:r>
            <a:endParaRPr sz="5400">
              <a:latin typeface="Courier New"/>
              <a:cs typeface="Courier New"/>
            </a:endParaRPr>
          </a:p>
        </p:txBody>
      </p:sp>
      <p:pic>
        <p:nvPicPr>
          <p:cNvPr id="3" name="object 3" descr="File:Google &lt;strong&gt;Cloud&lt;/strong&gt; Logo.svg - Wikipedia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85119" y="2324100"/>
            <a:ext cx="1345692" cy="112318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0681" y="3538473"/>
            <a:ext cx="737615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PubSub</a:t>
            </a:r>
            <a:r>
              <a:rPr sz="5400" b="1" spc="-190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+</a:t>
            </a:r>
            <a:r>
              <a:rPr sz="5400" b="1" spc="-180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Terraform</a:t>
            </a:r>
            <a:endParaRPr sz="5400">
              <a:latin typeface="Courier New"/>
              <a:cs typeface="Courier New"/>
            </a:endParaRPr>
          </a:p>
        </p:txBody>
      </p:sp>
      <p:pic>
        <p:nvPicPr>
          <p:cNvPr id="3" name="object 3" descr="File:Google &lt;strong&gt;Cloud&lt;/strong&gt; Logo.svg - Wikipedia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85119" y="2324100"/>
            <a:ext cx="1345692" cy="112318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0681" y="3538473"/>
            <a:ext cx="778383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Spanner</a:t>
            </a:r>
            <a:r>
              <a:rPr sz="5400" b="1" spc="-200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+</a:t>
            </a:r>
            <a:r>
              <a:rPr sz="5400" b="1" spc="-204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Terraform</a:t>
            </a:r>
            <a:endParaRPr sz="5400">
              <a:latin typeface="Courier New"/>
              <a:cs typeface="Courier New"/>
            </a:endParaRPr>
          </a:p>
        </p:txBody>
      </p:sp>
      <p:pic>
        <p:nvPicPr>
          <p:cNvPr id="3" name="object 3" descr="File:Google &lt;strong&gt;Cloud&lt;/strong&gt; Logo.svg - Wikipedia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85119" y="2324100"/>
            <a:ext cx="1345692" cy="112318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0681" y="3538473"/>
            <a:ext cx="86010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Cloud</a:t>
            </a:r>
            <a:r>
              <a:rPr sz="5400" b="1" spc="-170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SQL</a:t>
            </a:r>
            <a:r>
              <a:rPr sz="5400" b="1" spc="-160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+</a:t>
            </a:r>
            <a:r>
              <a:rPr sz="5400" b="1" spc="-160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Terraform</a:t>
            </a:r>
            <a:endParaRPr sz="5400">
              <a:latin typeface="Courier New"/>
              <a:cs typeface="Courier New"/>
            </a:endParaRPr>
          </a:p>
        </p:txBody>
      </p:sp>
      <p:pic>
        <p:nvPicPr>
          <p:cNvPr id="3" name="object 3" descr="File:Google &lt;strong&gt;Cloud&lt;/strong&gt; Logo.svg - Wikipedia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85119" y="2324100"/>
            <a:ext cx="1345692" cy="112318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0681" y="3538473"/>
            <a:ext cx="819213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BigTable</a:t>
            </a:r>
            <a:r>
              <a:rPr sz="5400" b="1" spc="-235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+</a:t>
            </a:r>
            <a:r>
              <a:rPr sz="5400" b="1" spc="-215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Terraform</a:t>
            </a:r>
            <a:endParaRPr sz="5400">
              <a:latin typeface="Courier New"/>
              <a:cs typeface="Courier New"/>
            </a:endParaRPr>
          </a:p>
        </p:txBody>
      </p:sp>
      <p:pic>
        <p:nvPicPr>
          <p:cNvPr id="3" name="object 3" descr="File:Google &lt;strong&gt;Cloud&lt;/strong&gt; Logo.svg - Wikipedia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85119" y="2324100"/>
            <a:ext cx="1345692" cy="112318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0681" y="3538473"/>
            <a:ext cx="941578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ourier New"/>
                <a:cs typeface="Courier New"/>
              </a:rPr>
              <a:t>MemoryStore</a:t>
            </a:r>
            <a:r>
              <a:rPr sz="5400" b="1" spc="-320" dirty="0">
                <a:latin typeface="Courier New"/>
                <a:cs typeface="Courier New"/>
              </a:rPr>
              <a:t> </a:t>
            </a:r>
            <a:r>
              <a:rPr sz="5400" b="1" dirty="0">
                <a:latin typeface="Courier New"/>
                <a:cs typeface="Courier New"/>
              </a:rPr>
              <a:t>+</a:t>
            </a:r>
            <a:r>
              <a:rPr sz="5400" b="1" spc="-280" dirty="0">
                <a:latin typeface="Courier New"/>
                <a:cs typeface="Courier New"/>
              </a:rPr>
              <a:t> </a:t>
            </a:r>
            <a:r>
              <a:rPr sz="5400" b="1" spc="-10" dirty="0">
                <a:latin typeface="Courier New"/>
                <a:cs typeface="Courier New"/>
              </a:rPr>
              <a:t>Terraform</a:t>
            </a:r>
            <a:endParaRPr sz="5400">
              <a:latin typeface="Courier New"/>
              <a:cs typeface="Courier New"/>
            </a:endParaRPr>
          </a:p>
        </p:txBody>
      </p:sp>
      <p:pic>
        <p:nvPicPr>
          <p:cNvPr id="3" name="object 3" descr="File:Google &lt;strong&gt;Cloud&lt;/strong&gt; Logo.svg - Wikipedia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85119" y="2324100"/>
            <a:ext cx="1345692" cy="112318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7620" y="-7620"/>
            <a:ext cx="4112260" cy="6873240"/>
            <a:chOff x="-7620" y="-7620"/>
            <a:chExt cx="4112260" cy="68732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4051300" cy="6858000"/>
            </a:xfrm>
            <a:custGeom>
              <a:avLst/>
              <a:gdLst/>
              <a:ahLst/>
              <a:cxnLst/>
              <a:rect l="l" t="t" r="r" b="b"/>
              <a:pathLst>
                <a:path w="4051300" h="6858000">
                  <a:moveTo>
                    <a:pt x="40507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050791" y="6858000"/>
                  </a:lnTo>
                  <a:lnTo>
                    <a:pt x="4050791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4051300" cy="6858000"/>
            </a:xfrm>
            <a:custGeom>
              <a:avLst/>
              <a:gdLst/>
              <a:ahLst/>
              <a:cxnLst/>
              <a:rect l="l" t="t" r="r" b="b"/>
              <a:pathLst>
                <a:path w="4051300" h="6858000">
                  <a:moveTo>
                    <a:pt x="0" y="6858000"/>
                  </a:moveTo>
                  <a:lnTo>
                    <a:pt x="4050791" y="6858000"/>
                  </a:lnTo>
                  <a:lnTo>
                    <a:pt x="4050791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15240">
              <a:solidFill>
                <a:srgbClr val="FABB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40124" y="0"/>
              <a:ext cx="64135" cy="6858000"/>
            </a:xfrm>
            <a:custGeom>
              <a:avLst/>
              <a:gdLst/>
              <a:ahLst/>
              <a:cxnLst/>
              <a:rect l="l" t="t" r="r" b="b"/>
              <a:pathLst>
                <a:path w="64135" h="6858000">
                  <a:moveTo>
                    <a:pt x="64008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4008" y="6858000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FABB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11968" y="120395"/>
            <a:ext cx="1761744" cy="1760219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447243" y="2404618"/>
            <a:ext cx="30048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Courier New"/>
                <a:cs typeface="Courier New"/>
              </a:rPr>
              <a:t>THANK</a:t>
            </a:r>
            <a:r>
              <a:rPr sz="4400" b="1" spc="-315" dirty="0">
                <a:latin typeface="Courier New"/>
                <a:cs typeface="Courier New"/>
              </a:rPr>
              <a:t> </a:t>
            </a:r>
            <a:r>
              <a:rPr sz="4400" b="1" spc="-25" dirty="0">
                <a:latin typeface="Courier New"/>
                <a:cs typeface="Courier New"/>
              </a:rPr>
              <a:t>YOU</a:t>
            </a:r>
            <a:endParaRPr sz="4400">
              <a:latin typeface="Courier New"/>
              <a:cs typeface="Courier New"/>
            </a:endParaRPr>
          </a:p>
        </p:txBody>
      </p:sp>
      <p:pic>
        <p:nvPicPr>
          <p:cNvPr id="9" name="object 9" descr="i.pinimg.com/originals/28/ec/74/28ec7440a57536e..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2506979"/>
            <a:ext cx="2217420" cy="2218944"/>
          </a:xfrm>
          <a:prstGeom prst="rect">
            <a:avLst/>
          </a:prstGeom>
        </p:spPr>
      </p:pic>
      <p:pic>
        <p:nvPicPr>
          <p:cNvPr id="10" name="object 10" descr="File:Google &lt;strong&gt;Cloud&lt;/strong&gt; Logo.svg - Wikipedia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80931" y="2688335"/>
            <a:ext cx="2293620" cy="191414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7567421" y="3282315"/>
            <a:ext cx="864235" cy="714375"/>
            <a:chOff x="7567421" y="3282315"/>
            <a:chExt cx="864235" cy="714375"/>
          </a:xfrm>
        </p:grpSpPr>
        <p:sp>
          <p:nvSpPr>
            <p:cNvPr id="12" name="object 12"/>
            <p:cNvSpPr/>
            <p:nvPr/>
          </p:nvSpPr>
          <p:spPr>
            <a:xfrm>
              <a:off x="7575042" y="3290569"/>
              <a:ext cx="848994" cy="698500"/>
            </a:xfrm>
            <a:custGeom>
              <a:avLst/>
              <a:gdLst/>
              <a:ahLst/>
              <a:cxnLst/>
              <a:rect l="l" t="t" r="r" b="b"/>
              <a:pathLst>
                <a:path w="848995" h="698500">
                  <a:moveTo>
                    <a:pt x="848868" y="237490"/>
                  </a:moveTo>
                  <a:lnTo>
                    <a:pt x="536321" y="237490"/>
                  </a:lnTo>
                  <a:lnTo>
                    <a:pt x="536321" y="0"/>
                  </a:lnTo>
                  <a:lnTo>
                    <a:pt x="312547" y="0"/>
                  </a:lnTo>
                  <a:lnTo>
                    <a:pt x="312547" y="237490"/>
                  </a:lnTo>
                  <a:lnTo>
                    <a:pt x="0" y="237490"/>
                  </a:lnTo>
                  <a:lnTo>
                    <a:pt x="0" y="461010"/>
                  </a:lnTo>
                  <a:lnTo>
                    <a:pt x="312547" y="461010"/>
                  </a:lnTo>
                  <a:lnTo>
                    <a:pt x="312547" y="698500"/>
                  </a:lnTo>
                  <a:lnTo>
                    <a:pt x="536321" y="698500"/>
                  </a:lnTo>
                  <a:lnTo>
                    <a:pt x="536321" y="461010"/>
                  </a:lnTo>
                  <a:lnTo>
                    <a:pt x="848868" y="461010"/>
                  </a:lnTo>
                  <a:lnTo>
                    <a:pt x="848868" y="2374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75041" y="3289935"/>
              <a:ext cx="848994" cy="699135"/>
            </a:xfrm>
            <a:custGeom>
              <a:avLst/>
              <a:gdLst/>
              <a:ahLst/>
              <a:cxnLst/>
              <a:rect l="l" t="t" r="r" b="b"/>
              <a:pathLst>
                <a:path w="848995" h="699135">
                  <a:moveTo>
                    <a:pt x="0" y="237489"/>
                  </a:moveTo>
                  <a:lnTo>
                    <a:pt x="312547" y="237489"/>
                  </a:lnTo>
                  <a:lnTo>
                    <a:pt x="312547" y="0"/>
                  </a:lnTo>
                  <a:lnTo>
                    <a:pt x="536321" y="0"/>
                  </a:lnTo>
                  <a:lnTo>
                    <a:pt x="536321" y="237489"/>
                  </a:lnTo>
                  <a:lnTo>
                    <a:pt x="848867" y="237489"/>
                  </a:lnTo>
                  <a:lnTo>
                    <a:pt x="848867" y="461263"/>
                  </a:lnTo>
                  <a:lnTo>
                    <a:pt x="536321" y="461263"/>
                  </a:lnTo>
                  <a:lnTo>
                    <a:pt x="536321" y="698753"/>
                  </a:lnTo>
                  <a:lnTo>
                    <a:pt x="312547" y="698753"/>
                  </a:lnTo>
                  <a:lnTo>
                    <a:pt x="312547" y="461263"/>
                  </a:lnTo>
                  <a:lnTo>
                    <a:pt x="0" y="461263"/>
                  </a:lnTo>
                  <a:lnTo>
                    <a:pt x="0" y="237489"/>
                  </a:lnTo>
                  <a:close/>
                </a:path>
              </a:pathLst>
            </a:custGeom>
            <a:ln w="15240">
              <a:solidFill>
                <a:srgbClr val="404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997E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1779</Words>
  <Application>Microsoft Office PowerPoint</Application>
  <PresentationFormat>Widescreen</PresentationFormat>
  <Paragraphs>314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Aptos</vt:lpstr>
      <vt:lpstr>Calibri</vt:lpstr>
      <vt:lpstr>Calibri Light</vt:lpstr>
      <vt:lpstr>Consolas</vt:lpstr>
      <vt:lpstr>Courier New</vt:lpstr>
      <vt:lpstr>Lucida Console</vt:lpstr>
      <vt:lpstr>Wingdings</vt:lpstr>
      <vt:lpstr>Office Theme</vt:lpstr>
      <vt:lpstr>TERRAFORM</vt:lpstr>
      <vt:lpstr>Terraform Using Google Cloud Platform</vt:lpstr>
      <vt:lpstr>Course Introduction</vt:lpstr>
      <vt:lpstr>IAC, Terraform &amp; Installation</vt:lpstr>
      <vt:lpstr>Traditional IT</vt:lpstr>
      <vt:lpstr>Interaction with Cloud</vt:lpstr>
      <vt:lpstr>IAC</vt:lpstr>
      <vt:lpstr>Terraform</vt:lpstr>
      <vt:lpstr>Terraform is idempotent</vt:lpstr>
      <vt:lpstr>Native tool</vt:lpstr>
      <vt:lpstr>Terraform Installation</vt:lpstr>
      <vt:lpstr>Terraform Basics - I</vt:lpstr>
      <vt:lpstr>Terraform Workflow</vt:lpstr>
      <vt:lpstr>Scope &amp; Author</vt:lpstr>
      <vt:lpstr>init, Plan &amp; apply</vt:lpstr>
      <vt:lpstr>argument</vt:lpstr>
      <vt:lpstr>Multiple Resource</vt:lpstr>
      <vt:lpstr>Random Provider</vt:lpstr>
      <vt:lpstr>Variables</vt:lpstr>
      <vt:lpstr>Types of variables</vt:lpstr>
      <vt:lpstr>Use Variables</vt:lpstr>
      <vt:lpstr>Variable Definition File</vt:lpstr>
      <vt:lpstr>Which Variable will load first</vt:lpstr>
      <vt:lpstr>Multiple Provider</vt:lpstr>
      <vt:lpstr>Implicit Dependency</vt:lpstr>
      <vt:lpstr>Explicit Dependency</vt:lpstr>
      <vt:lpstr>Output</vt:lpstr>
      <vt:lpstr>Lifecycle Rules</vt:lpstr>
      <vt:lpstr>Provider version</vt:lpstr>
      <vt:lpstr>Data source</vt:lpstr>
      <vt:lpstr>Terraform + GCP</vt:lpstr>
      <vt:lpstr>PowerPoint Presentation</vt:lpstr>
      <vt:lpstr>Google Provider</vt:lpstr>
      <vt:lpstr>Connect with GCP</vt:lpstr>
      <vt:lpstr>Approach to Provision resource</vt:lpstr>
      <vt:lpstr>Google Cloud Storage</vt:lpstr>
      <vt:lpstr>GCS + Terraform</vt:lpstr>
      <vt:lpstr>Google Cloud Network</vt:lpstr>
      <vt:lpstr>Network + Terraform</vt:lpstr>
      <vt:lpstr>GCE + Terraform</vt:lpstr>
      <vt:lpstr>Cloud Run + Terraform</vt:lpstr>
      <vt:lpstr>Cloud Function + Terraform</vt:lpstr>
      <vt:lpstr>BigQuery + Terraform</vt:lpstr>
      <vt:lpstr>PubSub + Terraform</vt:lpstr>
      <vt:lpstr>Spanner + Terraform</vt:lpstr>
      <vt:lpstr>Cloud SQL + Terraform</vt:lpstr>
      <vt:lpstr>BigTable + Terraform</vt:lpstr>
      <vt:lpstr>MemoryStore + Terraform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LAMBDA</dc:title>
  <dc:creator>ankit mistry</dc:creator>
  <cp:lastModifiedBy>Vikash Verma</cp:lastModifiedBy>
  <cp:revision>2</cp:revision>
  <dcterms:created xsi:type="dcterms:W3CDTF">2026-04-15T05:03:56Z</dcterms:created>
  <dcterms:modified xsi:type="dcterms:W3CDTF">2026-04-15T05:06:13Z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2021-10-01T00:00:00Z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2026-04-15T00:00:00Z</vt:filetime>
  </property>
  <property fmtid="{D5CDD505-2E9C-101B-9397-08002B2CF9AE}" pid="6" name="Producer">
    <vt:lpwstr>Microsoft® PowerPoint® 2016</vt:lpwstr>
  </property>
</Properties>
</file>
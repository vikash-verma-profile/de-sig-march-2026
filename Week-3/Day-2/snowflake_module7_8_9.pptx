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64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0063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7356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5634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562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0183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7185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6580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458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651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78314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332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733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Performance &amp; Internal Mechanics</a:t>
            </a:r>
          </a:p>
        </p:txBody>
      </p:sp>
      <p:sp>
        <p:nvSpPr>
          <p:cNvPr id="3" name="Content Placeholder 2"/>
          <p:cNvSpPr>
            <a:spLocks noGrp="1"/>
          </p:cNvSpPr>
          <p:nvPr>
            <p:ph idx="1"/>
          </p:nvPr>
        </p:nvSpPr>
        <p:spPr/>
        <p:txBody>
          <a:bodyPr/>
          <a:lstStyle/>
          <a:p>
            <a:r>
              <a:rPr dirty="0"/>
              <a:t>This module explains how Snowflake internally optimizes query performance using caching, storage design, and compute tuning. Understanding these concepts helps in designing efficient and cost-effective data pipelines.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Query Result Cache</a:t>
            </a:r>
          </a:p>
        </p:txBody>
      </p:sp>
      <p:sp>
        <p:nvSpPr>
          <p:cNvPr id="3" name="Content Placeholder 2"/>
          <p:cNvSpPr>
            <a:spLocks noGrp="1"/>
          </p:cNvSpPr>
          <p:nvPr>
            <p:ph idx="1"/>
          </p:nvPr>
        </p:nvSpPr>
        <p:spPr/>
        <p:txBody>
          <a:bodyPr/>
          <a:lstStyle/>
          <a:p>
            <a:r>
              <a:t>Snowflake stores results of executed queries for 24 hours. If the same query is executed again without changes in underlying data, the result is returned instantly without re-execution, significantly improving performance and reducing compute cost.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Metadata Cache</a:t>
            </a:r>
          </a:p>
        </p:txBody>
      </p:sp>
      <p:sp>
        <p:nvSpPr>
          <p:cNvPr id="3" name="Content Placeholder 2"/>
          <p:cNvSpPr>
            <a:spLocks noGrp="1"/>
          </p:cNvSpPr>
          <p:nvPr>
            <p:ph idx="1"/>
          </p:nvPr>
        </p:nvSpPr>
        <p:spPr/>
        <p:txBody>
          <a:bodyPr/>
          <a:lstStyle/>
          <a:p>
            <a:r>
              <a:t>Metadata cache stores table structure, statistics, and query planning information. It helps Snowflake quickly determine how to access data without scanning entire datasets, improving query planning efficiency.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Cache</a:t>
            </a:r>
          </a:p>
        </p:txBody>
      </p:sp>
      <p:sp>
        <p:nvSpPr>
          <p:cNvPr id="3" name="Content Placeholder 2"/>
          <p:cNvSpPr>
            <a:spLocks noGrp="1"/>
          </p:cNvSpPr>
          <p:nvPr>
            <p:ph idx="1"/>
          </p:nvPr>
        </p:nvSpPr>
        <p:spPr/>
        <p:txBody>
          <a:bodyPr/>
          <a:lstStyle/>
          <a:p>
            <a:r>
              <a:t>Data cache is maintained at the virtual warehouse level. Frequently accessed data is stored in local SSD cache of compute nodes, reducing the need to read from remote storage and improving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Caching Works Internally</a:t>
            </a:r>
          </a:p>
        </p:txBody>
      </p:sp>
      <p:sp>
        <p:nvSpPr>
          <p:cNvPr id="3" name="Content Placeholder 2"/>
          <p:cNvSpPr>
            <a:spLocks noGrp="1"/>
          </p:cNvSpPr>
          <p:nvPr>
            <p:ph idx="1"/>
          </p:nvPr>
        </p:nvSpPr>
        <p:spPr/>
        <p:txBody>
          <a:bodyPr/>
          <a:lstStyle/>
          <a:p>
            <a:r>
              <a:t>Snowflake uses a multi-layer caching mechanism: result cache (global), metadata cache (cloud services layer), and data cache (compute layer). Together, they minimize redundant computation and optimize data access paths.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Cache Invalidation Rules</a:t>
            </a:r>
          </a:p>
        </p:txBody>
      </p:sp>
      <p:sp>
        <p:nvSpPr>
          <p:cNvPr id="3" name="Content Placeholder 2"/>
          <p:cNvSpPr>
            <a:spLocks noGrp="1"/>
          </p:cNvSpPr>
          <p:nvPr>
            <p:ph idx="1"/>
          </p:nvPr>
        </p:nvSpPr>
        <p:spPr/>
        <p:txBody>
          <a:bodyPr/>
          <a:lstStyle/>
          <a:p>
            <a:r>
              <a:t>Cache is invalidated when underlying data changes, query text changes, or session parameters differ. Result cache is also invalidated after 24 hours. Understanding these rules is key for performance tuning.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Micro-Partitions</a:t>
            </a:r>
          </a:p>
        </p:txBody>
      </p:sp>
      <p:sp>
        <p:nvSpPr>
          <p:cNvPr id="3" name="Content Placeholder 2"/>
          <p:cNvSpPr>
            <a:spLocks noGrp="1"/>
          </p:cNvSpPr>
          <p:nvPr>
            <p:ph idx="1"/>
          </p:nvPr>
        </p:nvSpPr>
        <p:spPr/>
        <p:txBody>
          <a:bodyPr/>
          <a:lstStyle/>
          <a:p>
            <a:r>
              <a:t>Snowflake stores data in compressed columnar micro-partitions. Each partition contains metadata like min/max values, enabling efficient pruning and reducing data scanned during queries.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Clustering Keys</a:t>
            </a:r>
          </a:p>
        </p:txBody>
      </p:sp>
      <p:sp>
        <p:nvSpPr>
          <p:cNvPr id="3" name="Content Placeholder 2"/>
          <p:cNvSpPr>
            <a:spLocks noGrp="1"/>
          </p:cNvSpPr>
          <p:nvPr>
            <p:ph idx="1"/>
          </p:nvPr>
        </p:nvSpPr>
        <p:spPr/>
        <p:txBody>
          <a:bodyPr/>
          <a:lstStyle/>
          <a:p>
            <a:r>
              <a:t>Clustering keys define how data is physically organized within micro-partitions. Proper clustering improves query performance by reducing scan size, especially for large tables with frequent filtering.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Query Performance Optimization</a:t>
            </a:r>
          </a:p>
        </p:txBody>
      </p:sp>
      <p:sp>
        <p:nvSpPr>
          <p:cNvPr id="3" name="Content Placeholder 2"/>
          <p:cNvSpPr>
            <a:spLocks noGrp="1"/>
          </p:cNvSpPr>
          <p:nvPr>
            <p:ph idx="1"/>
          </p:nvPr>
        </p:nvSpPr>
        <p:spPr/>
        <p:txBody>
          <a:bodyPr/>
          <a:lstStyle/>
          <a:p>
            <a:r>
              <a:t>Performance can be improved by minimizing data scans, using proper filters, leveraging clustering, and avoiding unnecessary joins. Writing efficient SQL plays a major role in optimization.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Warehouse Tuning Basics</a:t>
            </a:r>
          </a:p>
        </p:txBody>
      </p:sp>
      <p:sp>
        <p:nvSpPr>
          <p:cNvPr id="3" name="Content Placeholder 2"/>
          <p:cNvSpPr>
            <a:spLocks noGrp="1"/>
          </p:cNvSpPr>
          <p:nvPr>
            <p:ph idx="1"/>
          </p:nvPr>
        </p:nvSpPr>
        <p:spPr/>
        <p:txBody>
          <a:bodyPr/>
          <a:lstStyle/>
          <a:p>
            <a:r>
              <a:t>Virtual warehouses control compute power. Increasing size improves performance but increases cost. Auto-suspend and auto-resume help optimize cost while maintaining responsiveness.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Query Profile Analysis</a:t>
            </a:r>
          </a:p>
        </p:txBody>
      </p:sp>
      <p:sp>
        <p:nvSpPr>
          <p:cNvPr id="3" name="Content Placeholder 2"/>
          <p:cNvSpPr>
            <a:spLocks noGrp="1"/>
          </p:cNvSpPr>
          <p:nvPr>
            <p:ph idx="1"/>
          </p:nvPr>
        </p:nvSpPr>
        <p:spPr/>
        <p:txBody>
          <a:bodyPr/>
          <a:lstStyle/>
          <a:p>
            <a:r>
              <a:t>Snowflake provides detailed query profiles showing execution steps, time spent, and data scanned. This helps identify bottlenecks such as large scans or inefficient joins.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8: Data Sharing &amp; Governance</a:t>
            </a:r>
          </a:p>
        </p:txBody>
      </p:sp>
      <p:sp>
        <p:nvSpPr>
          <p:cNvPr id="3" name="Content Placeholder 2"/>
          <p:cNvSpPr>
            <a:spLocks noGrp="1"/>
          </p:cNvSpPr>
          <p:nvPr>
            <p:ph idx="1"/>
          </p:nvPr>
        </p:nvSpPr>
        <p:spPr/>
        <p:txBody>
          <a:bodyPr/>
          <a:lstStyle/>
          <a:p>
            <a:r>
              <a:t>This module focuses on securely sharing data across accounts and enforcing governance using policies. It ensures data security, compliance, and controlled access.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Secure Data Sharing</a:t>
            </a:r>
          </a:p>
        </p:txBody>
      </p:sp>
      <p:sp>
        <p:nvSpPr>
          <p:cNvPr id="3" name="Content Placeholder 2"/>
          <p:cNvSpPr>
            <a:spLocks noGrp="1"/>
          </p:cNvSpPr>
          <p:nvPr>
            <p:ph idx="1"/>
          </p:nvPr>
        </p:nvSpPr>
        <p:spPr/>
        <p:txBody>
          <a:bodyPr/>
          <a:lstStyle/>
          <a:p>
            <a:r>
              <a:t>Snowflake allows sharing live data without copying. Providers can share datasets with consumers securely while maintaining a single source of truth.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Cross-Account Sharing</a:t>
            </a:r>
          </a:p>
        </p:txBody>
      </p:sp>
      <p:sp>
        <p:nvSpPr>
          <p:cNvPr id="3" name="Content Placeholder 2"/>
          <p:cNvSpPr>
            <a:spLocks noGrp="1"/>
          </p:cNvSpPr>
          <p:nvPr>
            <p:ph idx="1"/>
          </p:nvPr>
        </p:nvSpPr>
        <p:spPr/>
        <p:txBody>
          <a:bodyPr/>
          <a:lstStyle/>
          <a:p>
            <a:r>
              <a:t>Data can be shared across Snowflake accounts and even across regions/clouds. This enables collaboration between organizations without data duplication.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Masking Policies</a:t>
            </a:r>
          </a:p>
        </p:txBody>
      </p:sp>
      <p:sp>
        <p:nvSpPr>
          <p:cNvPr id="3" name="Content Placeholder 2"/>
          <p:cNvSpPr>
            <a:spLocks noGrp="1"/>
          </p:cNvSpPr>
          <p:nvPr>
            <p:ph idx="1"/>
          </p:nvPr>
        </p:nvSpPr>
        <p:spPr/>
        <p:txBody>
          <a:bodyPr/>
          <a:lstStyle/>
          <a:p>
            <a:r>
              <a:t>Masking policies protect sensitive data by dynamically masking values based on user roles. For example, showing partial or hidden data for unauthorized users.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Row Access Policies</a:t>
            </a:r>
          </a:p>
        </p:txBody>
      </p:sp>
      <p:sp>
        <p:nvSpPr>
          <p:cNvPr id="3" name="Content Placeholder 2"/>
          <p:cNvSpPr>
            <a:spLocks noGrp="1"/>
          </p:cNvSpPr>
          <p:nvPr>
            <p:ph idx="1"/>
          </p:nvPr>
        </p:nvSpPr>
        <p:spPr/>
        <p:txBody>
          <a:bodyPr/>
          <a:lstStyle/>
          <a:p>
            <a:r>
              <a:t>Row-level security ensures users can only see data they are authorized to access. This is useful for multi-tenant systems and compliance requirements.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Governance Concepts</a:t>
            </a:r>
          </a:p>
        </p:txBody>
      </p:sp>
      <p:sp>
        <p:nvSpPr>
          <p:cNvPr id="3" name="Content Placeholder 2"/>
          <p:cNvSpPr>
            <a:spLocks noGrp="1"/>
          </p:cNvSpPr>
          <p:nvPr>
            <p:ph idx="1"/>
          </p:nvPr>
        </p:nvSpPr>
        <p:spPr/>
        <p:txBody>
          <a:bodyPr/>
          <a:lstStyle/>
          <a:p>
            <a:r>
              <a:t>Governance includes access control, auditing, lineage, and compliance. Snowflake provides centralized control to manage data securely across the organization.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Advanced </a:t>
            </a:r>
            <a:r>
              <a:rPr dirty="0"/>
              <a:t>Concepts</a:t>
            </a:r>
          </a:p>
        </p:txBody>
      </p:sp>
      <p:sp>
        <p:nvSpPr>
          <p:cNvPr id="3" name="Content Placeholder 2"/>
          <p:cNvSpPr>
            <a:spLocks noGrp="1"/>
          </p:cNvSpPr>
          <p:nvPr>
            <p:ph idx="1"/>
          </p:nvPr>
        </p:nvSpPr>
        <p:spPr/>
        <p:txBody>
          <a:bodyPr/>
          <a:lstStyle/>
          <a:p>
            <a:r>
              <a:t>This module covers advanced features and best practices for production-grade Snowflake implementations including cost control and architectural patterns.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Sampling</a:t>
            </a:r>
          </a:p>
        </p:txBody>
      </p:sp>
      <p:sp>
        <p:nvSpPr>
          <p:cNvPr id="3" name="Content Placeholder 2"/>
          <p:cNvSpPr>
            <a:spLocks noGrp="1"/>
          </p:cNvSpPr>
          <p:nvPr>
            <p:ph idx="1"/>
          </p:nvPr>
        </p:nvSpPr>
        <p:spPr/>
        <p:txBody>
          <a:bodyPr/>
          <a:lstStyle/>
          <a:p>
            <a:r>
              <a:t>Sampling allows querying a subset of data for faster analysis. It is useful for testing, exploration, and reducing compute cost during development.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Container Services Overview</a:t>
            </a:r>
          </a:p>
        </p:txBody>
      </p:sp>
      <p:sp>
        <p:nvSpPr>
          <p:cNvPr id="3" name="Content Placeholder 2"/>
          <p:cNvSpPr>
            <a:spLocks noGrp="1"/>
          </p:cNvSpPr>
          <p:nvPr>
            <p:ph idx="1"/>
          </p:nvPr>
        </p:nvSpPr>
        <p:spPr/>
        <p:txBody>
          <a:bodyPr/>
          <a:lstStyle/>
          <a:p>
            <a:r>
              <a:t>Snowflake supports container services to run custom workloads close to data. This enables integration with machine learning and advanced processing frameworks.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Advanced Best Practices</a:t>
            </a:r>
          </a:p>
        </p:txBody>
      </p:sp>
      <p:sp>
        <p:nvSpPr>
          <p:cNvPr id="3" name="Content Placeholder 2"/>
          <p:cNvSpPr>
            <a:spLocks noGrp="1"/>
          </p:cNvSpPr>
          <p:nvPr>
            <p:ph idx="1"/>
          </p:nvPr>
        </p:nvSpPr>
        <p:spPr/>
        <p:txBody>
          <a:bodyPr/>
          <a:lstStyle/>
          <a:p>
            <a:r>
              <a:t>Best practices include proper file sizing, partitioning, using streams and tasks effectively, and minimizing data movement to improve performance and maintainability.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Cost Optimization</a:t>
            </a:r>
          </a:p>
        </p:txBody>
      </p:sp>
      <p:sp>
        <p:nvSpPr>
          <p:cNvPr id="3" name="Content Placeholder 2"/>
          <p:cNvSpPr>
            <a:spLocks noGrp="1"/>
          </p:cNvSpPr>
          <p:nvPr>
            <p:ph idx="1"/>
          </p:nvPr>
        </p:nvSpPr>
        <p:spPr/>
        <p:txBody>
          <a:bodyPr/>
          <a:lstStyle/>
          <a:p>
            <a:r>
              <a:t>Cost can be optimized by right-sizing warehouses, using auto-suspend, leveraging caching, and avoiding unnecessary data scans. Monitoring usage is critical.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Production Architecture Patterns</a:t>
            </a:r>
          </a:p>
        </p:txBody>
      </p:sp>
      <p:sp>
        <p:nvSpPr>
          <p:cNvPr id="3" name="Content Placeholder 2"/>
          <p:cNvSpPr>
            <a:spLocks noGrp="1"/>
          </p:cNvSpPr>
          <p:nvPr>
            <p:ph idx="1"/>
          </p:nvPr>
        </p:nvSpPr>
        <p:spPr/>
        <p:txBody>
          <a:bodyPr/>
          <a:lstStyle/>
          <a:p>
            <a:r>
              <a:t>Typical production patterns include batch pipelines (COPY INTO), real-time ingestion (Snowpipe), and transformation layers using Streams and Tasks. These patterns ensure scalability and reliability.</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TotalTime>
  <Words>709</Words>
  <Application>Microsoft Office PowerPoint</Application>
  <PresentationFormat>On-screen Show (4:3)</PresentationFormat>
  <Paragraphs>46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Tw Cen MT</vt:lpstr>
      <vt:lpstr>Tw Cen MT Condensed</vt:lpstr>
      <vt:lpstr>Wingdings 3</vt:lpstr>
      <vt:lpstr>Integral</vt:lpstr>
      <vt:lpstr>Performance &amp; Internal Mechanics</vt:lpstr>
      <vt:lpstr>Query Result Cache</vt:lpstr>
      <vt:lpstr>Metadata Cache</vt:lpstr>
      <vt:lpstr>Data Cache</vt:lpstr>
      <vt:lpstr>How Caching Works Internally</vt:lpstr>
      <vt:lpstr>Cache Invalidation Rules</vt:lpstr>
      <vt:lpstr>Micro-Partitions</vt:lpstr>
      <vt:lpstr>Clustering Keys</vt:lpstr>
      <vt:lpstr>Query Performance Optimization</vt:lpstr>
      <vt:lpstr>Warehouse Tuning Basics</vt:lpstr>
      <vt:lpstr>Query Profile Analysis</vt:lpstr>
      <vt:lpstr>Module 8: Data Sharing &amp; Governance</vt:lpstr>
      <vt:lpstr>Secure Data Sharing</vt:lpstr>
      <vt:lpstr>Cross-Account Sharing</vt:lpstr>
      <vt:lpstr>Data Masking Policies</vt:lpstr>
      <vt:lpstr>Row Access Policies</vt:lpstr>
      <vt:lpstr>Governance Concepts</vt:lpstr>
      <vt:lpstr>Advanced Concepts</vt:lpstr>
      <vt:lpstr>Data Sampling</vt:lpstr>
      <vt:lpstr>Container Services Overview</vt:lpstr>
      <vt:lpstr>Advanced Best Practices</vt:lpstr>
      <vt:lpstr>Cost Optimization</vt:lpstr>
      <vt:lpstr>Production Architecture Patterns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Vikash Verma</cp:lastModifiedBy>
  <cp:revision>3</cp:revision>
  <dcterms:created xsi:type="dcterms:W3CDTF">2013-01-27T09:14:16Z</dcterms:created>
  <dcterms:modified xsi:type="dcterms:W3CDTF">2026-04-10T05:56:58Z</dcterms:modified>
  <cp:category/>
</cp:coreProperties>
</file>